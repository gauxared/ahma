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продуктовый паспорт
Уровень доказательности: Целевой состав + продемонстрированная методология
Ограничение: Программный контур требует пилота и приёмки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разделы 1–2
Уровень доказательности: Целевой состав внедрения
Ограничение: Система поддерживает решение и не заменяет специалистов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Клиентская презентация, слайд 2
Уровень доказательности: Методологический конфликт
Ограничение: Различия иллюстративны и проверяются на документах заказчика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GTM, раздел 3; универсальное КП, раздел 4.3
Уровень доказательности: Причинно-следственная модель
Ограничение: Не является заявлением о реализованной экономии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Продуктовый паспорт, разделы 1 и 11
Уровень доказательности: Утверждённое позиционирование
Ограничение: Не заменяет экспертизу, проектировщика, юриста, сметчика и технического заказчика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разделы 2 и 6
Уровень доказательности: Целевая операционная модель
Ограничение: Фактическая модель подтверждается приёмкой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7
Уровень доказательности: Целевой результат по ролям
Ограничение: Состав ролей уточняется индивидуальным проектом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3; продуктовый паспорт, раздел 8
Уровень доказательности: Целевой модульный состав
Ограничение: Глубокие расширения включаются только договором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Продуктовый паспорт, раздел 8.2
Уровень доказательности: Зафиксированные типы источников
Ограничение: Распознавание сканов не входит в базовую поставку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разделы 4.2 и 6
Уровень доказательности: Целевой процесс
Ограничение: Неполные строки и спорные соответствия подтверждает пользователь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Клиентская презентация, слайд 6
Уровень доказательности: Иллюстративный пример
Ограничение: Значения не относятся к конкретному клиенту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4.2; product truth, раздел 6
Уровень доказательности: Целевой контрактный scope
Ограничение: Результат следует согласованной методике, согласованной иерархии источников, калибровке и протоколу точности на данных заказчика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Продуктовый паспорт, раздел 8.4
Уровень доказательности: Целевой расчётный модуль
Ограничение: Production-сервис требует реализации и приёмки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5
Уровень доказательности: Продемонстрированная методология + целевой scope
Ограничение: Компетенции не означают замену девяти сотрудников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разделы 4.1 и 5
Уровень доказательности: Продемонстрированная методология
Ограничение: Результаты требуют проверки специалистами заказчика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разделы 4.2 и 5
Уровень доказательности: Целевой сравнительный контур
Ограничение: Поиск новых подрядчиков является отдельно регулируемым процессом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4.3
Уровень доказательности: Целевые финансовые расчёты
Ограничение: Цена продажи и спрос задаются заказчиком и не прогнозируются системой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5
Уровень доказательности: Целевые функциональные зоны
Ограничение: Юридически значимое решение остаётся за специалистами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Продуктовый паспорт, раздел 7
Уровень доказательности: Целевой сквозной процесс
Ограничение: Автоматизированная оркестрация требует промышленной реализации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Продуктовый паспорт, раздел 7; product truth, раздел 7
Уровень доказательности: Контрактная цель
Ограничение: Время зависит от состава документов и инфраструктуры; программная квота не равна производительности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8
Уровень доказательности: Продемонстрированные форматы + целевой scope
Ограничение: Состав и шаблоны утверждаются в проекте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Клиентская презентация, слайд 8; product truth, раздел 9
Уровень доказательности: Продемонстрированная методология
Ограничение: Не показатель промышленной точности и не обещание экономии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Product truth, разделы 5–6
Уровень доказательности: Продемонстрировано / Требует пилота и приёмки
Ограничение: Нельзя выдавать прототипы и целевую архитектуру за production-runtime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3
Уровень доказательности: Прототип целевых экранов
Ограничение: Макет не является работающим веб-приложением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4.5; продуктовый паспорт, раздел 8.6
Уровень доказательности: Целевой контур знаний
Ограничение: Структура, актуальность и процесс подтверждения согласуются отдельно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14
Уровень доказательности: Целевое состояние данных
Ограничение: Внешние процессы запускаются только после регламента; передаваться могут только минимизированные и маскированные данные после проверки безопасности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14; product truth, раздел 11
Уровень доказательности: Целевая архитектура
Ограничение: Фактическая безопасность и эксплуатационные регламенты подтверждаются приёмкой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14
Уровень доказательности: Контрактный scope с fallback
Ограничение: Индивидуальная корпоративная система подключается при наличии документации, тестового контура и доступов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10
Уровень доказательности: Референсная этапность
Ограничение: 135 дней — пример прошлого предложения, а не универсальное обещание срока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11; GTM, раздел 8
Уровень доказательности: Референсные критерии
Ограничение: Порог независимой оценки определяется до итоговой приёмки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Клиентская презентация, слайд 11; решение владельца продукта
Уровень доказательности: Утверждённая минимальная рамка
Ограничение: Диагностика — отдельное платное предложение. Доказательный пилот — отдельное платное предложение. Они не входят в базовое внедрение. Права использования, гарантия и сопровождение определяются индивидуально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Универсальное КП, раздел 15
Уровень доказательности: Конкретный призыв к действию
Ограничение: Переход к диагностике оформляется отдельным предложением
Владелец проверки: Владелец продукта / руководитель проекта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500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ctr" indent="0" marL="0">
              <a:buNone/>
            </a:pPr>
            <a:r>
              <a:rPr lang="ru-RU" altLang="en-US" sz="1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ctr" indent="0" marL="0">
              <a:buNone/>
            </a:pPr>
            <a:r>
              <a:rPr lang="ru-RU" alt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1700" dirty="0"/>
          </a:p>
        </p:txBody>
      </p:sp>
      <p:sp>
        <p:nvSpPr>
          <p:cNvPr id="3" name="Shape 1"/>
          <p:cNvSpPr/>
          <p:nvPr/>
        </p:nvSpPr>
        <p:spPr>
          <a:xfrm>
            <a:off x="3822192" y="658368"/>
            <a:ext cx="0" cy="379476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4528" y="713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spc="125" kern="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СЛУЖБА ТЕХНИЧЕСКОГО ЗАКАЗЧИКА</a:t>
            </a:r>
            <a:endParaRPr lang="ru-RU" sz="820" dirty="0"/>
          </a:p>
        </p:txBody>
      </p:sp>
      <p:sp>
        <p:nvSpPr>
          <p:cNvPr id="5" name="Text 3"/>
          <p:cNvSpPr/>
          <p:nvPr/>
        </p:nvSpPr>
        <p:spPr>
          <a:xfrm>
            <a:off x="4224528" y="1170432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2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Проверьте объект до того, как расхождение станет договором, оплатой или кассовым разрывом</a:t>
            </a:r>
            <a:endParaRPr lang="ru-RU" sz="2350" dirty="0"/>
          </a:p>
        </p:txBody>
      </p:sp>
      <p:sp>
        <p:nvSpPr>
          <p:cNvPr id="6" name="Text 4"/>
          <p:cNvSpPr/>
          <p:nvPr/>
        </p:nvSpPr>
        <p:spPr>
          <a:xfrm>
            <a:off x="4242816" y="28803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система поддержки финансово-технических решений для девелопера и застройщика</a:t>
            </a:r>
            <a:endParaRPr lang="ru-RU" sz="1020" dirty="0"/>
          </a:p>
        </p:txBody>
      </p:sp>
      <p:sp>
        <p:nvSpPr>
          <p:cNvPr id="7" name="Shape 5"/>
          <p:cNvSpPr/>
          <p:nvPr/>
        </p:nvSpPr>
        <p:spPr>
          <a:xfrm>
            <a:off x="4224528" y="3730752"/>
            <a:ext cx="941832" cy="768096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384048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объект</a:t>
            </a:r>
            <a:endParaRPr lang="ru-RU" sz="1150" dirty="0"/>
          </a:p>
        </p:txBody>
      </p:sp>
      <p:sp>
        <p:nvSpPr>
          <p:cNvPr id="9" name="Text 7"/>
          <p:cNvSpPr/>
          <p:nvPr/>
        </p:nvSpPr>
        <p:spPr>
          <a:xfrm>
            <a:off x="4279392" y="4178808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7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минимальный предмет</a:t>
            </a:r>
            <a:endParaRPr lang="ru-RU" sz="670" dirty="0"/>
          </a:p>
        </p:txBody>
      </p:sp>
      <p:sp>
        <p:nvSpPr>
          <p:cNvPr id="10" name="Shape 8"/>
          <p:cNvSpPr/>
          <p:nvPr/>
        </p:nvSpPr>
        <p:spPr>
          <a:xfrm>
            <a:off x="5294376" y="3730752"/>
            <a:ext cx="941832" cy="768096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7528" y="384048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компетенций</a:t>
            </a:r>
            <a:endParaRPr lang="ru-RU" sz="1150" dirty="0"/>
          </a:p>
        </p:txBody>
      </p:sp>
      <p:sp>
        <p:nvSpPr>
          <p:cNvPr id="12" name="Text 10"/>
          <p:cNvSpPr/>
          <p:nvPr/>
        </p:nvSpPr>
        <p:spPr>
          <a:xfrm>
            <a:off x="5349240" y="4178808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7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вывод</a:t>
            </a:r>
            <a:endParaRPr lang="ru-RU" sz="670" dirty="0"/>
          </a:p>
        </p:txBody>
      </p:sp>
      <p:sp>
        <p:nvSpPr>
          <p:cNvPr id="13" name="Shape 11"/>
          <p:cNvSpPr/>
          <p:nvPr/>
        </p:nvSpPr>
        <p:spPr>
          <a:xfrm>
            <a:off x="6364224" y="3730752"/>
            <a:ext cx="941832" cy="768096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84048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1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документа</a:t>
            </a:r>
            <a:endParaRPr lang="ru-RU" sz="1150" dirty="0"/>
          </a:p>
        </p:txBody>
      </p:sp>
      <p:sp>
        <p:nvSpPr>
          <p:cNvPr id="15" name="Text 13"/>
          <p:cNvSpPr/>
          <p:nvPr/>
        </p:nvSpPr>
        <p:spPr>
          <a:xfrm>
            <a:off x="6419088" y="4178808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7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и Word</a:t>
            </a:r>
            <a:endParaRPr lang="ru-RU" sz="670" dirty="0"/>
          </a:p>
        </p:txBody>
      </p:sp>
      <p:sp>
        <p:nvSpPr>
          <p:cNvPr id="16" name="Shape 14"/>
          <p:cNvSpPr/>
          <p:nvPr/>
        </p:nvSpPr>
        <p:spPr>
          <a:xfrm>
            <a:off x="7434072" y="3730752"/>
            <a:ext cx="941832" cy="768096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7224" y="384048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3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20 млн ₽</a:t>
            </a:r>
            <a:endParaRPr lang="ru-RU" sz="1300" dirty="0"/>
          </a:p>
        </p:txBody>
      </p:sp>
      <p:sp>
        <p:nvSpPr>
          <p:cNvPr id="18" name="Text 16"/>
          <p:cNvSpPr/>
          <p:nvPr/>
        </p:nvSpPr>
        <p:spPr>
          <a:xfrm>
            <a:off x="7488936" y="4178808"/>
            <a:ext cx="8321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7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базовое внедрение</a:t>
            </a:r>
            <a:endParaRPr lang="ru-RU" sz="670" dirty="0"/>
          </a:p>
        </p:txBody>
      </p:sp>
      <p:sp>
        <p:nvSpPr>
          <p:cNvPr id="19" name="Text 17"/>
          <p:cNvSpPr/>
          <p:nvPr/>
        </p:nvSpPr>
        <p:spPr>
          <a:xfrm>
            <a:off x="4242816" y="47274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1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Методология и рабочие Word/Excel-артефакты продемонстрированы. Программный контур подтверждается пилотом и приёмкой.</a:t>
            </a:r>
            <a:endParaRPr lang="ru-RU" sz="7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5" name="Text 3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l" indent="0" marL="0">
              <a:buNone/>
            </a:pPr>
            <a:r>
              <a:rPr lang="ru-RU" altLang="en-US" sz="11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l" indent="0" marL="0">
              <a:buNone/>
            </a:pPr>
            <a:r>
              <a:rPr lang="ru-RU" alt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spc="120" kern="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ИСПОЛНИТЕЛЬНЫЙ ВЫВОД</a:t>
            </a:r>
            <a:endParaRPr lang="ru-RU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5532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пакет решения показывает, где расходятся документы, сколько может стоить отклонение и что закрыть до подписания</a:t>
            </a:r>
            <a:endParaRPr lang="ru-RU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367588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ru-RU" alt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Смета, ведомость объёмов, предложения подрядчиков, договор и модель финансирования соединяются через источники, формулы и явные статусы данных.</a:t>
            </a:r>
            <a:endParaRPr lang="ru-RU" sz="1050" dirty="0"/>
          </a:p>
        </p:txBody>
      </p:sp>
      <p:sp>
        <p:nvSpPr>
          <p:cNvPr id="11" name="Shape 9"/>
          <p:cNvSpPr/>
          <p:nvPr/>
        </p:nvSpPr>
        <p:spPr>
          <a:xfrm>
            <a:off x="6053328" y="1024128"/>
            <a:ext cx="0" cy="3419856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44752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ru-RU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606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 → один проверяемый материал для руководителя, строительства и финансов</a:t>
            </a:r>
            <a:endParaRPr lang="ru-RU" sz="1050" dirty="0"/>
          </a:p>
        </p:txBody>
      </p:sp>
      <p:sp>
        <p:nvSpPr>
          <p:cNvPr id="14" name="Shape 12"/>
          <p:cNvSpPr/>
          <p:nvPr/>
        </p:nvSpPr>
        <p:spPr>
          <a:xfrm>
            <a:off x="6565392" y="3886200"/>
            <a:ext cx="960120" cy="256032"/>
          </a:xfrm>
          <a:prstGeom prst="rect">
            <a:avLst/>
          </a:prstGeom>
          <a:solidFill>
            <a:srgbClr val="F5F5F5"/>
          </a:solidFill>
          <a:ln w="10160">
            <a:solidFill>
              <a:srgbClr val="FF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38544" y="3968496"/>
            <a:ext cx="73152" cy="7315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3945636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Целевой состав</a:t>
            </a:r>
            <a:endParaRPr lang="ru-RU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объект часто существует сразу в четырёх версиях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5029200" cy="53035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2529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 И ВЕДОМОСТИ</a:t>
            </a:r>
            <a:endParaRPr lang="ru-RU" sz="800" dirty="0"/>
          </a:p>
        </p:txBody>
      </p:sp>
      <p:sp>
        <p:nvSpPr>
          <p:cNvPr id="10" name="Text 8"/>
          <p:cNvSpPr/>
          <p:nvPr/>
        </p:nvSpPr>
        <p:spPr>
          <a:xfrm>
            <a:off x="2148840" y="1207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объёмы · состав · комплектность</a:t>
            </a:r>
            <a:endParaRPr lang="ru-RU" sz="840" dirty="0"/>
          </a:p>
        </p:txBody>
      </p:sp>
      <p:sp>
        <p:nvSpPr>
          <p:cNvPr id="11" name="Shape 9"/>
          <p:cNvSpPr/>
          <p:nvPr/>
        </p:nvSpPr>
        <p:spPr>
          <a:xfrm>
            <a:off x="5504688" y="1380744"/>
            <a:ext cx="658368" cy="1481328"/>
          </a:xfrm>
          <a:prstGeom prst="line">
            <a:avLst/>
          </a:prstGeom>
          <a:noFill/>
          <a:ln w="11430">
            <a:solidFill>
              <a:srgbClr val="E0E0E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" y="1865376"/>
            <a:ext cx="4718304" cy="53035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197510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СМЕТА</a:t>
            </a:r>
            <a:endParaRPr lang="ru-RU" sz="800" dirty="0"/>
          </a:p>
        </p:txBody>
      </p:sp>
      <p:sp>
        <p:nvSpPr>
          <p:cNvPr id="14" name="Text 12"/>
          <p:cNvSpPr/>
          <p:nvPr/>
        </p:nvSpPr>
        <p:spPr>
          <a:xfrm>
            <a:off x="2295144" y="195681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коэффициенты · расценки · двойной учёт</a:t>
            </a:r>
            <a:endParaRPr lang="ru-RU" sz="840" dirty="0"/>
          </a:p>
        </p:txBody>
      </p:sp>
      <p:sp>
        <p:nvSpPr>
          <p:cNvPr id="15" name="Shape 13"/>
          <p:cNvSpPr/>
          <p:nvPr/>
        </p:nvSpPr>
        <p:spPr>
          <a:xfrm>
            <a:off x="5504688" y="2130552"/>
            <a:ext cx="658368" cy="987552"/>
          </a:xfrm>
          <a:prstGeom prst="line">
            <a:avLst/>
          </a:prstGeom>
          <a:noFill/>
          <a:ln w="11430">
            <a:solidFill>
              <a:srgbClr val="E0E0E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" y="2615184"/>
            <a:ext cx="4407408" cy="53035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72491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ПРЕДЛОЖЕНИЯ</a:t>
            </a:r>
            <a:endParaRPr lang="ru-RU" sz="800" dirty="0"/>
          </a:p>
        </p:txBody>
      </p:sp>
      <p:sp>
        <p:nvSpPr>
          <p:cNvPr id="18" name="Text 16"/>
          <p:cNvSpPr/>
          <p:nvPr/>
        </p:nvSpPr>
        <p:spPr>
          <a:xfrm>
            <a:off x="2441448" y="27066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единицы · исключения · доставка</a:t>
            </a:r>
            <a:endParaRPr lang="ru-RU" sz="840" dirty="0"/>
          </a:p>
        </p:txBody>
      </p:sp>
      <p:sp>
        <p:nvSpPr>
          <p:cNvPr id="19" name="Shape 17"/>
          <p:cNvSpPr/>
          <p:nvPr/>
        </p:nvSpPr>
        <p:spPr>
          <a:xfrm>
            <a:off x="5504688" y="2880360"/>
            <a:ext cx="658368" cy="493776"/>
          </a:xfrm>
          <a:prstGeom prst="line">
            <a:avLst/>
          </a:prstGeom>
          <a:noFill/>
          <a:ln w="2032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" y="3364992"/>
            <a:ext cx="4096512" cy="530352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4747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ФИНАНСОВАЯ МОДЕЛЬ</a:t>
            </a:r>
            <a:endParaRPr lang="ru-RU" sz="800" dirty="0"/>
          </a:p>
        </p:txBody>
      </p:sp>
      <p:sp>
        <p:nvSpPr>
          <p:cNvPr id="22" name="Text 20"/>
          <p:cNvSpPr/>
          <p:nvPr/>
        </p:nvSpPr>
        <p:spPr>
          <a:xfrm>
            <a:off x="2587752" y="34564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₽/м² · кредит · эскроу · срок</a:t>
            </a:r>
            <a:endParaRPr lang="ru-RU" sz="840" dirty="0"/>
          </a:p>
        </p:txBody>
      </p:sp>
      <p:sp>
        <p:nvSpPr>
          <p:cNvPr id="23" name="Shape 21"/>
          <p:cNvSpPr/>
          <p:nvPr/>
        </p:nvSpPr>
        <p:spPr>
          <a:xfrm>
            <a:off x="5504688" y="3630168"/>
            <a:ext cx="658368" cy="0"/>
          </a:xfrm>
          <a:prstGeom prst="line">
            <a:avLst/>
          </a:prstGeom>
          <a:noFill/>
          <a:ln w="11430">
            <a:solidFill>
              <a:srgbClr val="E0E0E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73952" y="1847088"/>
            <a:ext cx="1828800" cy="1207008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121408"/>
            <a:ext cx="1335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УПРАВЛЕНЧЕСКОЕ</a:t>
            </a:r>
            <a:endParaRPr lang="ru-RU" sz="1350" dirty="0"/>
          </a:p>
          <a:p>
            <a:pPr algn="ctr" indent="0" marL="0">
              <a:buNone/>
            </a:pPr>
            <a:r>
              <a:rPr lang="ru-RU" alt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ru-RU" sz="1350" dirty="0"/>
          </a:p>
        </p:txBody>
      </p:sp>
      <p:sp>
        <p:nvSpPr>
          <p:cNvPr id="26" name="Text 24"/>
          <p:cNvSpPr/>
          <p:nvPr/>
        </p:nvSpPr>
        <p:spPr>
          <a:xfrm>
            <a:off x="6062472" y="343814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Итоговая сумма не доказывает, что сравнивается один предмет работ.</a:t>
            </a:r>
            <a:endParaRPr lang="ru-RU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079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Клиентская презентация, слайд 2 · методологический конфликт</a:t>
            </a:r>
            <a:endParaRPr lang="ru-RU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Разрыв между документами становится ценой, сроком и стоимостью денег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777240" y="2084832"/>
            <a:ext cx="7360920" cy="0"/>
          </a:xfrm>
          <a:prstGeom prst="line">
            <a:avLst/>
          </a:prstGeom>
          <a:noFill/>
          <a:ln w="27940">
            <a:solidFill>
              <a:srgbClr val="FF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892808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984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ru-RU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11155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Техническая дельта</a:t>
            </a:r>
            <a:endParaRPr lang="ru-RU" sz="920" dirty="0"/>
          </a:p>
        </p:txBody>
      </p:sp>
      <p:sp>
        <p:nvSpPr>
          <p:cNvPr id="12" name="Text 10"/>
          <p:cNvSpPr/>
          <p:nvPr/>
        </p:nvSpPr>
        <p:spPr>
          <a:xfrm>
            <a:off x="475488" y="14813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 / состав</a:t>
            </a:r>
            <a:endParaRPr lang="ru-RU" sz="740" dirty="0"/>
          </a:p>
        </p:txBody>
      </p:sp>
      <p:sp>
        <p:nvSpPr>
          <p:cNvPr id="13" name="Shape 11"/>
          <p:cNvSpPr/>
          <p:nvPr/>
        </p:nvSpPr>
        <p:spPr>
          <a:xfrm>
            <a:off x="1124712" y="1810512"/>
            <a:ext cx="0" cy="-256032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1892808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6584" y="1984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ru-RU" sz="750" dirty="0"/>
          </a:p>
        </p:txBody>
      </p:sp>
      <p:sp>
        <p:nvSpPr>
          <p:cNvPr id="16" name="Text 14"/>
          <p:cNvSpPr/>
          <p:nvPr/>
        </p:nvSpPr>
        <p:spPr>
          <a:xfrm>
            <a:off x="1847088" y="30815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Договорная цена</a:t>
            </a:r>
            <a:endParaRPr lang="ru-RU" sz="920" dirty="0"/>
          </a:p>
        </p:txBody>
      </p:sp>
      <p:sp>
        <p:nvSpPr>
          <p:cNvPr id="17" name="Text 15"/>
          <p:cNvSpPr/>
          <p:nvPr/>
        </p:nvSpPr>
        <p:spPr>
          <a:xfrm>
            <a:off x="1847088" y="34472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условия и доплаты</a:t>
            </a:r>
            <a:endParaRPr lang="ru-RU" sz="740" dirty="0"/>
          </a:p>
        </p:txBody>
      </p:sp>
      <p:sp>
        <p:nvSpPr>
          <p:cNvPr id="18" name="Shape 16"/>
          <p:cNvSpPr/>
          <p:nvPr/>
        </p:nvSpPr>
        <p:spPr>
          <a:xfrm>
            <a:off x="2496312" y="2286000"/>
            <a:ext cx="0" cy="68580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75888" y="1892808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984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ru-RU" sz="750" dirty="0"/>
          </a:p>
        </p:txBody>
      </p:sp>
      <p:sp>
        <p:nvSpPr>
          <p:cNvPr id="21" name="Text 19"/>
          <p:cNvSpPr/>
          <p:nvPr/>
        </p:nvSpPr>
        <p:spPr>
          <a:xfrm>
            <a:off x="3218688" y="11155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</a:t>
            </a:r>
            <a:endParaRPr lang="ru-RU" sz="920" dirty="0"/>
          </a:p>
        </p:txBody>
      </p:sp>
      <p:sp>
        <p:nvSpPr>
          <p:cNvPr id="22" name="Text 20"/>
          <p:cNvSpPr/>
          <p:nvPr/>
        </p:nvSpPr>
        <p:spPr>
          <a:xfrm>
            <a:off x="3218688" y="14813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рубли на метр</a:t>
            </a:r>
            <a:endParaRPr lang="ru-RU" sz="740" dirty="0"/>
          </a:p>
        </p:txBody>
      </p:sp>
      <p:sp>
        <p:nvSpPr>
          <p:cNvPr id="23" name="Shape 21"/>
          <p:cNvSpPr/>
          <p:nvPr/>
        </p:nvSpPr>
        <p:spPr>
          <a:xfrm>
            <a:off x="3867912" y="1810512"/>
            <a:ext cx="0" cy="-256032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7488" y="1892808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9784" y="1984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ru-RU" sz="750" dirty="0"/>
          </a:p>
        </p:txBody>
      </p:sp>
      <p:sp>
        <p:nvSpPr>
          <p:cNvPr id="26" name="Text 24"/>
          <p:cNvSpPr/>
          <p:nvPr/>
        </p:nvSpPr>
        <p:spPr>
          <a:xfrm>
            <a:off x="4590288" y="30815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Финансирование</a:t>
            </a:r>
            <a:endParaRPr lang="ru-RU" sz="920" dirty="0"/>
          </a:p>
        </p:txBody>
      </p:sp>
      <p:sp>
        <p:nvSpPr>
          <p:cNvPr id="27" name="Text 25"/>
          <p:cNvSpPr/>
          <p:nvPr/>
        </p:nvSpPr>
        <p:spPr>
          <a:xfrm>
            <a:off x="4590288" y="34472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график выборки</a:t>
            </a:r>
            <a:endParaRPr lang="ru-RU" sz="740" dirty="0"/>
          </a:p>
        </p:txBody>
      </p:sp>
      <p:sp>
        <p:nvSpPr>
          <p:cNvPr id="28" name="Shape 26"/>
          <p:cNvSpPr/>
          <p:nvPr/>
        </p:nvSpPr>
        <p:spPr>
          <a:xfrm>
            <a:off x="5239512" y="2286000"/>
            <a:ext cx="0" cy="68580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088" y="1892808"/>
            <a:ext cx="384048" cy="3840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1384" y="1984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ru-RU" sz="750" dirty="0"/>
          </a:p>
        </p:txBody>
      </p:sp>
      <p:sp>
        <p:nvSpPr>
          <p:cNvPr id="31" name="Text 29"/>
          <p:cNvSpPr/>
          <p:nvPr/>
        </p:nvSpPr>
        <p:spPr>
          <a:xfrm>
            <a:off x="5961888" y="11155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Маржа и разрыв</a:t>
            </a:r>
            <a:endParaRPr lang="ru-RU" sz="920" dirty="0"/>
          </a:p>
        </p:txBody>
      </p:sp>
      <p:sp>
        <p:nvSpPr>
          <p:cNvPr id="32" name="Text 30"/>
          <p:cNvSpPr/>
          <p:nvPr/>
        </p:nvSpPr>
        <p:spPr>
          <a:xfrm>
            <a:off x="5961888" y="148132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сценарии денег</a:t>
            </a:r>
            <a:endParaRPr lang="ru-RU" sz="740" dirty="0"/>
          </a:p>
        </p:txBody>
      </p:sp>
      <p:sp>
        <p:nvSpPr>
          <p:cNvPr id="33" name="Shape 31"/>
          <p:cNvSpPr/>
          <p:nvPr/>
        </p:nvSpPr>
        <p:spPr>
          <a:xfrm>
            <a:off x="6611112" y="1810512"/>
            <a:ext cx="0" cy="-256032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90688" y="1892808"/>
            <a:ext cx="384048" cy="384048"/>
          </a:xfrm>
          <a:prstGeom prst="ellipse">
            <a:avLst/>
          </a:prstGeom>
          <a:solidFill>
            <a:srgbClr val="FF0000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72984" y="198424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ru-RU" sz="750" dirty="0"/>
          </a:p>
        </p:txBody>
      </p:sp>
      <p:sp>
        <p:nvSpPr>
          <p:cNvPr id="36" name="Text 34"/>
          <p:cNvSpPr/>
          <p:nvPr/>
        </p:nvSpPr>
        <p:spPr>
          <a:xfrm>
            <a:off x="7333488" y="30815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ru-RU" sz="920" dirty="0"/>
          </a:p>
        </p:txBody>
      </p:sp>
      <p:sp>
        <p:nvSpPr>
          <p:cNvPr id="37" name="Text 35"/>
          <p:cNvSpPr/>
          <p:nvPr/>
        </p:nvSpPr>
        <p:spPr>
          <a:xfrm>
            <a:off x="7333488" y="34472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подписать / изменить / запросить</a:t>
            </a:r>
            <a:endParaRPr lang="ru-RU" sz="740" dirty="0"/>
          </a:p>
        </p:txBody>
      </p:sp>
      <p:sp>
        <p:nvSpPr>
          <p:cNvPr id="38" name="Shape 36"/>
          <p:cNvSpPr/>
          <p:nvPr/>
        </p:nvSpPr>
        <p:spPr>
          <a:xfrm>
            <a:off x="7982712" y="2286000"/>
            <a:ext cx="0" cy="68580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160520"/>
            <a:ext cx="960120" cy="47548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3068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42" name="Text 40"/>
          <p:cNvSpPr/>
          <p:nvPr/>
        </p:nvSpPr>
        <p:spPr>
          <a:xfrm>
            <a:off x="1600200" y="4270248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Ценность проверки появляется только тогда, когда технический вывод доведён до управленческого действия.</a:t>
            </a:r>
            <a:endParaRPr lang="ru-RU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 — система поддержки решения, а не цифровая замена службы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457200" y="1133856"/>
            <a:ext cx="3986784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33856"/>
            <a:ext cx="3986784" cy="45720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710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ЯВЛЯЕТСЯ</a:t>
            </a:r>
            <a:endParaRPr lang="ru-RU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0594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13" name="Text 11"/>
          <p:cNvSpPr/>
          <p:nvPr/>
        </p:nvSpPr>
        <p:spPr>
          <a:xfrm>
            <a:off x="905256" y="1792224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автономным лицом, принимающим решения</a:t>
            </a:r>
            <a:endParaRPr lang="ru-RU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2262226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5765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16" name="Text 14"/>
          <p:cNvSpPr/>
          <p:nvPr/>
        </p:nvSpPr>
        <p:spPr>
          <a:xfrm>
            <a:off x="905256" y="224393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строительной или юридической экспертизой</a:t>
            </a:r>
            <a:endParaRPr lang="ru-RU" sz="880" dirty="0"/>
          </a:p>
        </p:txBody>
      </p:sp>
      <p:sp>
        <p:nvSpPr>
          <p:cNvPr id="17" name="Shape 15"/>
          <p:cNvSpPr/>
          <p:nvPr/>
        </p:nvSpPr>
        <p:spPr>
          <a:xfrm>
            <a:off x="640080" y="2713939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709367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19" name="Text 17"/>
          <p:cNvSpPr/>
          <p:nvPr/>
        </p:nvSpPr>
        <p:spPr>
          <a:xfrm>
            <a:off x="905256" y="2695651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заменой проектировщика, сметчика или юриста</a:t>
            </a:r>
            <a:endParaRPr lang="ru-RU" sz="880" dirty="0"/>
          </a:p>
        </p:txBody>
      </p:sp>
      <p:sp>
        <p:nvSpPr>
          <p:cNvPr id="20" name="Shape 18"/>
          <p:cNvSpPr/>
          <p:nvPr/>
        </p:nvSpPr>
        <p:spPr>
          <a:xfrm>
            <a:off x="640080" y="3165653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6108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22" name="Text 20"/>
          <p:cNvSpPr/>
          <p:nvPr/>
        </p:nvSpPr>
        <p:spPr>
          <a:xfrm>
            <a:off x="905256" y="3147365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системой визуального контроля площадки</a:t>
            </a:r>
            <a:endParaRPr lang="ru-RU" sz="880" dirty="0"/>
          </a:p>
        </p:txBody>
      </p:sp>
      <p:sp>
        <p:nvSpPr>
          <p:cNvPr id="23" name="Shape 21"/>
          <p:cNvSpPr/>
          <p:nvPr/>
        </p:nvSpPr>
        <p:spPr>
          <a:xfrm>
            <a:off x="640080" y="3617366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1279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25" name="Text 23"/>
          <p:cNvSpPr/>
          <p:nvPr/>
        </p:nvSpPr>
        <p:spPr>
          <a:xfrm>
            <a:off x="905256" y="359907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гарантией экономии или отсутствия ошибок</a:t>
            </a:r>
            <a:endParaRPr lang="ru-RU" sz="880" dirty="0"/>
          </a:p>
        </p:txBody>
      </p:sp>
      <p:sp>
        <p:nvSpPr>
          <p:cNvPr id="26" name="Shape 24"/>
          <p:cNvSpPr/>
          <p:nvPr/>
        </p:nvSpPr>
        <p:spPr>
          <a:xfrm>
            <a:off x="4700016" y="1133856"/>
            <a:ext cx="3986784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1133856"/>
            <a:ext cx="398678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12710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ЯВЛЯЕТСЯ</a:t>
            </a:r>
            <a:endParaRPr lang="ru-RU" sz="1000" dirty="0"/>
          </a:p>
        </p:txBody>
      </p:sp>
      <p:sp>
        <p:nvSpPr>
          <p:cNvPr id="29" name="Shape 27"/>
          <p:cNvSpPr/>
          <p:nvPr/>
        </p:nvSpPr>
        <p:spPr>
          <a:xfrm>
            <a:off x="4882896" y="1810512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80594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31" name="Text 29"/>
          <p:cNvSpPr/>
          <p:nvPr/>
        </p:nvSpPr>
        <p:spPr>
          <a:xfrm>
            <a:off x="5148072" y="1792224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корпоративной системой поддержки решения</a:t>
            </a:r>
            <a:endParaRPr lang="ru-RU" sz="880" dirty="0"/>
          </a:p>
        </p:txBody>
      </p:sp>
      <p:sp>
        <p:nvSpPr>
          <p:cNvPr id="32" name="Shape 30"/>
          <p:cNvSpPr/>
          <p:nvPr/>
        </p:nvSpPr>
        <p:spPr>
          <a:xfrm>
            <a:off x="4882896" y="2262226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25765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34" name="Text 32"/>
          <p:cNvSpPr/>
          <p:nvPr/>
        </p:nvSpPr>
        <p:spPr>
          <a:xfrm>
            <a:off x="5148072" y="224393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контуром сопоставления документов и предложений</a:t>
            </a:r>
            <a:endParaRPr lang="ru-RU" sz="880" dirty="0"/>
          </a:p>
        </p:txBody>
      </p:sp>
      <p:sp>
        <p:nvSpPr>
          <p:cNvPr id="35" name="Shape 33"/>
          <p:cNvSpPr/>
          <p:nvPr/>
        </p:nvSpPr>
        <p:spPr>
          <a:xfrm>
            <a:off x="4882896" y="2713939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709367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37" name="Text 35"/>
          <p:cNvSpPr/>
          <p:nvPr/>
        </p:nvSpPr>
        <p:spPr>
          <a:xfrm>
            <a:off x="5148072" y="2695651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расчётным следом для экономики объекта</a:t>
            </a:r>
            <a:endParaRPr lang="ru-RU" sz="880" dirty="0"/>
          </a:p>
        </p:txBody>
      </p:sp>
      <p:sp>
        <p:nvSpPr>
          <p:cNvPr id="38" name="Shape 36"/>
          <p:cNvSpPr/>
          <p:nvPr/>
        </p:nvSpPr>
        <p:spPr>
          <a:xfrm>
            <a:off x="4882896" y="3165653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161081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40" name="Text 38"/>
          <p:cNvSpPr/>
          <p:nvPr/>
        </p:nvSpPr>
        <p:spPr>
          <a:xfrm>
            <a:off x="5148072" y="3147365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рабочей средой для девяти компетенций</a:t>
            </a:r>
            <a:endParaRPr lang="ru-RU" sz="880" dirty="0"/>
          </a:p>
        </p:txBody>
      </p:sp>
      <p:sp>
        <p:nvSpPr>
          <p:cNvPr id="41" name="Shape 39"/>
          <p:cNvSpPr/>
          <p:nvPr/>
        </p:nvSpPr>
        <p:spPr>
          <a:xfrm>
            <a:off x="4882896" y="3617366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61279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43" name="Text 41"/>
          <p:cNvSpPr/>
          <p:nvPr/>
        </p:nvSpPr>
        <p:spPr>
          <a:xfrm>
            <a:off x="5148072" y="359907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источником проверяемых Excel/Word-результатов</a:t>
            </a:r>
            <a:endParaRPr lang="ru-RU" sz="880" dirty="0"/>
          </a:p>
        </p:txBody>
      </p:sp>
      <p:sp>
        <p:nvSpPr>
          <p:cNvPr id="44" name="Text 42"/>
          <p:cNvSpPr/>
          <p:nvPr/>
        </p:nvSpPr>
        <p:spPr>
          <a:xfrm>
            <a:off x="960120" y="4315968"/>
            <a:ext cx="7223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 не заменяет специалистов: ответственность за техническое, юридическое и управленческое решение остаётся у людей.</a:t>
            </a:r>
            <a:endParaRPr lang="ru-RU" sz="780" dirty="0"/>
          </a:p>
        </p:txBody>
      </p:sp>
      <p:sp>
        <p:nvSpPr>
          <p:cNvPr id="45" name="Text 43"/>
          <p:cNvSpPr/>
          <p:nvPr/>
        </p:nvSpPr>
        <p:spPr>
          <a:xfrm>
            <a:off x="457200" y="45079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Продуктовый паспорт, разделы 1 и 11 · утверждённое позиционирование</a:t>
            </a:r>
            <a:endParaRPr lang="ru-RU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Рабочая модель меняется: от ручной сверки версий — к единому расчётному следу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3986784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3986784" cy="45720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34440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ДО: РАЗРОЗНЕННЫЕ ВЕРСИИ</a:t>
            </a:r>
            <a:endParaRPr lang="ru-RU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773936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6936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13" name="Text 11"/>
          <p:cNvSpPr/>
          <p:nvPr/>
        </p:nvSpPr>
        <p:spPr>
          <a:xfrm>
            <a:off x="905256" y="175564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файлы и переписка по подразделениям</a:t>
            </a:r>
            <a:endParaRPr lang="ru-RU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2198218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9364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16" name="Text 14"/>
          <p:cNvSpPr/>
          <p:nvPr/>
        </p:nvSpPr>
        <p:spPr>
          <a:xfrm>
            <a:off x="905256" y="217993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итогов без единого состава</a:t>
            </a:r>
            <a:endParaRPr lang="ru-RU" sz="880" dirty="0"/>
          </a:p>
        </p:txBody>
      </p:sp>
      <p:sp>
        <p:nvSpPr>
          <p:cNvPr id="17" name="Shape 15"/>
          <p:cNvSpPr/>
          <p:nvPr/>
        </p:nvSpPr>
        <p:spPr>
          <a:xfrm>
            <a:off x="640080" y="2622499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17927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19" name="Text 17"/>
          <p:cNvSpPr/>
          <p:nvPr/>
        </p:nvSpPr>
        <p:spPr>
          <a:xfrm>
            <a:off x="905256" y="2604211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формулы и допущения живут отдельно</a:t>
            </a:r>
            <a:endParaRPr lang="ru-RU" sz="880" dirty="0"/>
          </a:p>
        </p:txBody>
      </p:sp>
      <p:sp>
        <p:nvSpPr>
          <p:cNvPr id="20" name="Shape 18"/>
          <p:cNvSpPr/>
          <p:nvPr/>
        </p:nvSpPr>
        <p:spPr>
          <a:xfrm>
            <a:off x="640080" y="3046781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042209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22" name="Text 20"/>
          <p:cNvSpPr/>
          <p:nvPr/>
        </p:nvSpPr>
        <p:spPr>
          <a:xfrm>
            <a:off x="905256" y="3028493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объекта теряется между итерациями</a:t>
            </a:r>
            <a:endParaRPr lang="ru-RU" sz="880" dirty="0"/>
          </a:p>
        </p:txBody>
      </p:sp>
      <p:sp>
        <p:nvSpPr>
          <p:cNvPr id="23" name="Shape 21"/>
          <p:cNvSpPr/>
          <p:nvPr/>
        </p:nvSpPr>
        <p:spPr>
          <a:xfrm>
            <a:off x="640080" y="3471062"/>
            <a:ext cx="146304" cy="14630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6649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ru-RU" sz="750" dirty="0"/>
          </a:p>
        </p:txBody>
      </p:sp>
      <p:sp>
        <p:nvSpPr>
          <p:cNvPr id="25" name="Text 23"/>
          <p:cNvSpPr/>
          <p:nvPr/>
        </p:nvSpPr>
        <p:spPr>
          <a:xfrm>
            <a:off x="905256" y="3452774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собирается вручную перед комитетом</a:t>
            </a:r>
            <a:endParaRPr lang="ru-RU" sz="880" dirty="0"/>
          </a:p>
        </p:txBody>
      </p:sp>
      <p:sp>
        <p:nvSpPr>
          <p:cNvPr id="26" name="Shape 24"/>
          <p:cNvSpPr/>
          <p:nvPr/>
        </p:nvSpPr>
        <p:spPr>
          <a:xfrm>
            <a:off x="4700016" y="1097280"/>
            <a:ext cx="3986784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1097280"/>
            <a:ext cx="3986784" cy="4572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1234440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ПОСЛЕ: ЕДИНЫЙ СЛЕД</a:t>
            </a:r>
            <a:endParaRPr lang="ru-RU" sz="1000" dirty="0"/>
          </a:p>
        </p:txBody>
      </p:sp>
      <p:sp>
        <p:nvSpPr>
          <p:cNvPr id="29" name="Shape 27"/>
          <p:cNvSpPr/>
          <p:nvPr/>
        </p:nvSpPr>
        <p:spPr>
          <a:xfrm>
            <a:off x="4882896" y="1773936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6936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31" name="Text 29"/>
          <p:cNvSpPr/>
          <p:nvPr/>
        </p:nvSpPr>
        <p:spPr>
          <a:xfrm>
            <a:off x="5148072" y="175564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карточка объекта и подтверждённые входы</a:t>
            </a:r>
            <a:endParaRPr lang="ru-RU" sz="880" dirty="0"/>
          </a:p>
        </p:txBody>
      </p:sp>
      <p:sp>
        <p:nvSpPr>
          <p:cNvPr id="32" name="Shape 30"/>
          <p:cNvSpPr/>
          <p:nvPr/>
        </p:nvSpPr>
        <p:spPr>
          <a:xfrm>
            <a:off x="4882896" y="2198218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19364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34" name="Text 32"/>
          <p:cNvSpPr/>
          <p:nvPr/>
        </p:nvSpPr>
        <p:spPr>
          <a:xfrm>
            <a:off x="5148072" y="217993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нормализация перед сравнением</a:t>
            </a:r>
            <a:endParaRPr lang="ru-RU" sz="880" dirty="0"/>
          </a:p>
        </p:txBody>
      </p:sp>
      <p:sp>
        <p:nvSpPr>
          <p:cNvPr id="35" name="Shape 33"/>
          <p:cNvSpPr/>
          <p:nvPr/>
        </p:nvSpPr>
        <p:spPr>
          <a:xfrm>
            <a:off x="4882896" y="2622499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617927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37" name="Text 35"/>
          <p:cNvSpPr/>
          <p:nvPr/>
        </p:nvSpPr>
        <p:spPr>
          <a:xfrm>
            <a:off x="5148072" y="2604211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детерминированный расчёт</a:t>
            </a:r>
            <a:endParaRPr lang="ru-RU" sz="880" dirty="0"/>
          </a:p>
        </p:txBody>
      </p:sp>
      <p:sp>
        <p:nvSpPr>
          <p:cNvPr id="38" name="Shape 36"/>
          <p:cNvSpPr/>
          <p:nvPr/>
        </p:nvSpPr>
        <p:spPr>
          <a:xfrm>
            <a:off x="4882896" y="3046781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3042209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40" name="Text 38"/>
          <p:cNvSpPr/>
          <p:nvPr/>
        </p:nvSpPr>
        <p:spPr>
          <a:xfrm>
            <a:off x="5148072" y="3028493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 и статус каждого числа</a:t>
            </a:r>
            <a:endParaRPr lang="ru-RU" sz="880" dirty="0"/>
          </a:p>
        </p:txBody>
      </p:sp>
      <p:sp>
        <p:nvSpPr>
          <p:cNvPr id="41" name="Shape 39"/>
          <p:cNvSpPr/>
          <p:nvPr/>
        </p:nvSpPr>
        <p:spPr>
          <a:xfrm>
            <a:off x="4882896" y="3471062"/>
            <a:ext cx="146304" cy="14630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46649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ru-RU" sz="750" dirty="0"/>
          </a:p>
        </p:txBody>
      </p:sp>
      <p:sp>
        <p:nvSpPr>
          <p:cNvPr id="43" name="Text 41"/>
          <p:cNvSpPr/>
          <p:nvPr/>
        </p:nvSpPr>
        <p:spPr>
          <a:xfrm>
            <a:off x="5148072" y="3452774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8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свод по бюджету, рискам и действиям</a:t>
            </a:r>
            <a:endParaRPr lang="ru-RU" sz="880" dirty="0"/>
          </a:p>
        </p:txBody>
      </p:sp>
      <p:sp>
        <p:nvSpPr>
          <p:cNvPr id="44" name="Shape 42"/>
          <p:cNvSpPr/>
          <p:nvPr/>
        </p:nvSpPr>
        <p:spPr>
          <a:xfrm>
            <a:off x="1143000" y="4160520"/>
            <a:ext cx="1313078" cy="320040"/>
          </a:xfrm>
          <a:prstGeom prst="chevron">
            <a:avLst/>
          </a:prstGeom>
          <a:solidFill>
            <a:srgbClr val="F5F5F5"/>
          </a:solidFill>
          <a:ln w="7620">
            <a:solidFill>
              <a:srgbClr val="F5F5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0160" y="4270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ru-RU" sz="1050" dirty="0"/>
          </a:p>
        </p:txBody>
      </p:sp>
      <p:sp>
        <p:nvSpPr>
          <p:cNvPr id="46" name="Text 44"/>
          <p:cNvSpPr/>
          <p:nvPr/>
        </p:nvSpPr>
        <p:spPr>
          <a:xfrm>
            <a:off x="1280160" y="4517136"/>
            <a:ext cx="993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</a:t>
            </a:r>
            <a:endParaRPr lang="ru-RU" sz="950" dirty="0"/>
          </a:p>
        </p:txBody>
      </p:sp>
      <p:sp>
        <p:nvSpPr>
          <p:cNvPr id="47" name="Shape 45"/>
          <p:cNvSpPr/>
          <p:nvPr/>
        </p:nvSpPr>
        <p:spPr>
          <a:xfrm>
            <a:off x="2529230" y="4160520"/>
            <a:ext cx="1313078" cy="320040"/>
          </a:xfrm>
          <a:prstGeom prst="chevron">
            <a:avLst/>
          </a:prstGeom>
          <a:solidFill>
            <a:srgbClr val="F5F5F5"/>
          </a:solidFill>
          <a:ln w="7620">
            <a:solidFill>
              <a:srgbClr val="F5F5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66390" y="4270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1050" dirty="0"/>
          </a:p>
        </p:txBody>
      </p:sp>
      <p:sp>
        <p:nvSpPr>
          <p:cNvPr id="49" name="Text 47"/>
          <p:cNvSpPr/>
          <p:nvPr/>
        </p:nvSpPr>
        <p:spPr>
          <a:xfrm>
            <a:off x="2666390" y="4517136"/>
            <a:ext cx="993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позиция</a:t>
            </a:r>
            <a:endParaRPr lang="ru-RU" sz="950" dirty="0"/>
          </a:p>
        </p:txBody>
      </p:sp>
      <p:sp>
        <p:nvSpPr>
          <p:cNvPr id="50" name="Shape 48"/>
          <p:cNvSpPr/>
          <p:nvPr/>
        </p:nvSpPr>
        <p:spPr>
          <a:xfrm>
            <a:off x="3915461" y="4160520"/>
            <a:ext cx="1313078" cy="320040"/>
          </a:xfrm>
          <a:prstGeom prst="chevron">
            <a:avLst/>
          </a:prstGeom>
          <a:solidFill>
            <a:srgbClr val="F5F5F5"/>
          </a:solidFill>
          <a:ln w="7620">
            <a:solidFill>
              <a:srgbClr val="F5F5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52621" y="4270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1050" dirty="0"/>
          </a:p>
        </p:txBody>
      </p:sp>
      <p:sp>
        <p:nvSpPr>
          <p:cNvPr id="52" name="Text 50"/>
          <p:cNvSpPr/>
          <p:nvPr/>
        </p:nvSpPr>
        <p:spPr>
          <a:xfrm>
            <a:off x="4052621" y="4517136"/>
            <a:ext cx="993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формула</a:t>
            </a:r>
            <a:endParaRPr lang="ru-RU" sz="950" dirty="0"/>
          </a:p>
        </p:txBody>
      </p:sp>
      <p:sp>
        <p:nvSpPr>
          <p:cNvPr id="53" name="Shape 51"/>
          <p:cNvSpPr/>
          <p:nvPr/>
        </p:nvSpPr>
        <p:spPr>
          <a:xfrm>
            <a:off x="5301691" y="4160520"/>
            <a:ext cx="1313078" cy="320040"/>
          </a:xfrm>
          <a:prstGeom prst="chevron">
            <a:avLst/>
          </a:prstGeom>
          <a:solidFill>
            <a:srgbClr val="F5F5F5"/>
          </a:solidFill>
          <a:ln w="7620">
            <a:solidFill>
              <a:srgbClr val="F5F5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38851" y="4270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ru-RU" sz="1050" dirty="0"/>
          </a:p>
        </p:txBody>
      </p:sp>
      <p:sp>
        <p:nvSpPr>
          <p:cNvPr id="55" name="Text 53"/>
          <p:cNvSpPr/>
          <p:nvPr/>
        </p:nvSpPr>
        <p:spPr>
          <a:xfrm>
            <a:off x="5438851" y="4517136"/>
            <a:ext cx="993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950" dirty="0"/>
          </a:p>
        </p:txBody>
      </p:sp>
      <p:sp>
        <p:nvSpPr>
          <p:cNvPr id="56" name="Shape 54"/>
          <p:cNvSpPr/>
          <p:nvPr/>
        </p:nvSpPr>
        <p:spPr>
          <a:xfrm>
            <a:off x="6687922" y="4160520"/>
            <a:ext cx="1313078" cy="320040"/>
          </a:xfrm>
          <a:prstGeom prst="chevron">
            <a:avLst/>
          </a:prstGeom>
          <a:solidFill>
            <a:srgbClr val="FF0000"/>
          </a:solidFill>
          <a:ln w="7620">
            <a:solidFill>
              <a:srgbClr val="FF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25082" y="4270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ru-RU" sz="1050" dirty="0"/>
          </a:p>
        </p:txBody>
      </p:sp>
      <p:sp>
        <p:nvSpPr>
          <p:cNvPr id="58" name="Text 56"/>
          <p:cNvSpPr/>
          <p:nvPr/>
        </p:nvSpPr>
        <p:spPr>
          <a:xfrm>
            <a:off x="6825082" y="4517136"/>
            <a:ext cx="993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ru-RU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роль видит своё влияние на одно управленческое решение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3707892" y="2203704"/>
            <a:ext cx="1737360" cy="95097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8204" y="24505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пакет</a:t>
            </a:r>
            <a:endParaRPr lang="ru-RU" sz="1000" dirty="0"/>
          </a:p>
          <a:p>
            <a:pPr algn="ctr" indent="0" marL="0">
              <a:buNone/>
            </a:pPr>
            <a:r>
              <a:rPr lang="ru-RU" alt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решения</a:t>
            </a:r>
            <a:endParaRPr lang="ru-RU" sz="1000" dirty="0"/>
          </a:p>
        </p:txBody>
      </p:sp>
      <p:sp>
        <p:nvSpPr>
          <p:cNvPr id="10" name="Shape 8"/>
          <p:cNvSpPr/>
          <p:nvPr/>
        </p:nvSpPr>
        <p:spPr>
          <a:xfrm>
            <a:off x="4576572" y="2679192"/>
            <a:ext cx="-3058668" cy="-1225296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078992"/>
            <a:ext cx="1965960" cy="749808"/>
          </a:xfrm>
          <a:prstGeom prst="rect">
            <a:avLst/>
          </a:prstGeom>
          <a:solidFill>
            <a:srgbClr val="F5F5F5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2161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Собственник / директор</a:t>
            </a:r>
            <a:endParaRPr lang="ru-RU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1481328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 и условия продолжения</a:t>
            </a:r>
            <a:endParaRPr lang="ru-RU" sz="1050" dirty="0"/>
          </a:p>
        </p:txBody>
      </p:sp>
      <p:sp>
        <p:nvSpPr>
          <p:cNvPr id="14" name="Shape 12"/>
          <p:cNvSpPr/>
          <p:nvPr/>
        </p:nvSpPr>
        <p:spPr>
          <a:xfrm>
            <a:off x="4576572" y="2679192"/>
            <a:ext cx="3067812" cy="-1225296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1078992"/>
            <a:ext cx="1965960" cy="7498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2161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Финансовый директор</a:t>
            </a:r>
            <a:endParaRPr lang="ru-RU" sz="900" dirty="0"/>
          </a:p>
        </p:txBody>
      </p:sp>
      <p:sp>
        <p:nvSpPr>
          <p:cNvPr id="17" name="Text 15"/>
          <p:cNvSpPr/>
          <p:nvPr/>
        </p:nvSpPr>
        <p:spPr>
          <a:xfrm>
            <a:off x="6803136" y="1481328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маржа, БДДС, стоимость денег</a:t>
            </a:r>
            <a:endParaRPr lang="ru-RU" sz="1050" dirty="0"/>
          </a:p>
        </p:txBody>
      </p:sp>
      <p:sp>
        <p:nvSpPr>
          <p:cNvPr id="18" name="Shape 16"/>
          <p:cNvSpPr/>
          <p:nvPr/>
        </p:nvSpPr>
        <p:spPr>
          <a:xfrm>
            <a:off x="4576572" y="2679192"/>
            <a:ext cx="-3058668" cy="1225296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529584"/>
            <a:ext cx="1965960" cy="7498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66674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Директор по строительству</a:t>
            </a:r>
            <a:endParaRPr lang="ru-RU" sz="900" dirty="0"/>
          </a:p>
        </p:txBody>
      </p:sp>
      <p:sp>
        <p:nvSpPr>
          <p:cNvPr id="21" name="Text 19"/>
          <p:cNvSpPr/>
          <p:nvPr/>
        </p:nvSpPr>
        <p:spPr>
          <a:xfrm>
            <a:off x="676656" y="393192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объёмы, подрядчики, сроки</a:t>
            </a:r>
            <a:endParaRPr lang="ru-RU" sz="1050" dirty="0"/>
          </a:p>
        </p:txBody>
      </p:sp>
      <p:sp>
        <p:nvSpPr>
          <p:cNvPr id="22" name="Shape 20"/>
          <p:cNvSpPr/>
          <p:nvPr/>
        </p:nvSpPr>
        <p:spPr>
          <a:xfrm>
            <a:off x="4576572" y="2679192"/>
            <a:ext cx="3067812" cy="1225296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3529584"/>
            <a:ext cx="1965960" cy="7498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366674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Технический заказчик</a:t>
            </a:r>
            <a:endParaRPr lang="ru-RU" sz="900" dirty="0"/>
          </a:p>
        </p:txBody>
      </p:sp>
      <p:sp>
        <p:nvSpPr>
          <p:cNvPr id="25" name="Text 23"/>
          <p:cNvSpPr/>
          <p:nvPr/>
        </p:nvSpPr>
        <p:spPr>
          <a:xfrm>
            <a:off x="6803136" y="393192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 стандарт проверки</a:t>
            </a:r>
            <a:endParaRPr lang="ru-RU" sz="1050" dirty="0"/>
          </a:p>
        </p:txBody>
      </p:sp>
      <p:sp>
        <p:nvSpPr>
          <p:cNvPr id="26" name="Shape 24"/>
          <p:cNvSpPr/>
          <p:nvPr/>
        </p:nvSpPr>
        <p:spPr>
          <a:xfrm>
            <a:off x="4576572" y="2679192"/>
            <a:ext cx="0" cy="-1225296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89020" y="1078992"/>
            <a:ext cx="1965960" cy="7498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5324" y="121615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Сметы и закупки</a:t>
            </a:r>
            <a:endParaRPr lang="ru-RU" sz="900" dirty="0"/>
          </a:p>
        </p:txBody>
      </p:sp>
      <p:sp>
        <p:nvSpPr>
          <p:cNvPr id="29" name="Text 27"/>
          <p:cNvSpPr/>
          <p:nvPr/>
        </p:nvSpPr>
        <p:spPr>
          <a:xfrm>
            <a:off x="3735324" y="1481328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строки, цены, сопоставимость</a:t>
            </a:r>
            <a:endParaRPr lang="ru-RU" sz="1050" dirty="0"/>
          </a:p>
        </p:txBody>
      </p:sp>
      <p:sp>
        <p:nvSpPr>
          <p:cNvPr id="30" name="Shape 28"/>
          <p:cNvSpPr/>
          <p:nvPr/>
        </p:nvSpPr>
        <p:spPr>
          <a:xfrm>
            <a:off x="4576572" y="2679192"/>
            <a:ext cx="0" cy="1225296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89020" y="3529584"/>
            <a:ext cx="1965960" cy="7498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5324" y="3666744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 и безопасность</a:t>
            </a:r>
            <a:endParaRPr lang="ru-RU" sz="900" dirty="0"/>
          </a:p>
        </p:txBody>
      </p:sp>
      <p:sp>
        <p:nvSpPr>
          <p:cNvPr id="33" name="Text 31"/>
          <p:cNvSpPr/>
          <p:nvPr/>
        </p:nvSpPr>
        <p:spPr>
          <a:xfrm>
            <a:off x="3735324" y="3931920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контур, журнал, регламент</a:t>
            </a:r>
            <a:endParaRPr lang="ru-RU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5079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Универсальное КП, раздел 7 · целевой результат по ролям</a:t>
            </a:r>
            <a:endParaRPr lang="ru-RU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контур связывает документы, расчёты, компетенции и корпоративную память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457200" y="1133856"/>
            <a:ext cx="1901952" cy="281635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ru-RU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16459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РАБОЧАЯ СРЕДА</a:t>
            </a:r>
            <a:endParaRPr lang="ru-RU" sz="1030" dirty="0"/>
          </a:p>
        </p:txBody>
      </p:sp>
      <p:sp>
        <p:nvSpPr>
          <p:cNvPr id="11" name="Shape 9"/>
          <p:cNvSpPr/>
          <p:nvPr/>
        </p:nvSpPr>
        <p:spPr>
          <a:xfrm>
            <a:off x="621792" y="221284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396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объекты и документы</a:t>
            </a:r>
            <a:endParaRPr lang="ru-RU" sz="840" dirty="0"/>
          </a:p>
        </p:txBody>
      </p:sp>
      <p:sp>
        <p:nvSpPr>
          <p:cNvPr id="13" name="Shape 11"/>
          <p:cNvSpPr/>
          <p:nvPr/>
        </p:nvSpPr>
        <p:spPr>
          <a:xfrm>
            <a:off x="621792" y="271576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64261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очередь и журнал</a:t>
            </a:r>
            <a:endParaRPr lang="ru-RU" sz="840" dirty="0"/>
          </a:p>
        </p:txBody>
      </p:sp>
      <p:sp>
        <p:nvSpPr>
          <p:cNvPr id="15" name="Shape 13"/>
          <p:cNvSpPr/>
          <p:nvPr/>
        </p:nvSpPr>
        <p:spPr>
          <a:xfrm>
            <a:off x="621792" y="321868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455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выгрузки</a:t>
            </a:r>
            <a:endParaRPr lang="ru-RU" sz="840" dirty="0"/>
          </a:p>
        </p:txBody>
      </p:sp>
      <p:sp>
        <p:nvSpPr>
          <p:cNvPr id="17" name="Shape 15"/>
          <p:cNvSpPr/>
          <p:nvPr/>
        </p:nvSpPr>
        <p:spPr>
          <a:xfrm>
            <a:off x="2560320" y="1481328"/>
            <a:ext cx="1901952" cy="246888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06624" y="16276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900" dirty="0"/>
          </a:p>
        </p:txBody>
      </p:sp>
      <p:sp>
        <p:nvSpPr>
          <p:cNvPr id="19" name="Text 17"/>
          <p:cNvSpPr/>
          <p:nvPr/>
        </p:nvSpPr>
        <p:spPr>
          <a:xfrm>
            <a:off x="2706624" y="1993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</a:t>
            </a:r>
            <a:endParaRPr lang="ru-RU" sz="1030" dirty="0"/>
          </a:p>
        </p:txBody>
      </p:sp>
      <p:sp>
        <p:nvSpPr>
          <p:cNvPr id="20" name="Shape 18"/>
          <p:cNvSpPr/>
          <p:nvPr/>
        </p:nvSpPr>
        <p:spPr>
          <a:xfrm>
            <a:off x="2724912" y="2560320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7792" y="248716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разбор документов</a:t>
            </a:r>
            <a:endParaRPr lang="ru-RU" sz="840" dirty="0"/>
          </a:p>
        </p:txBody>
      </p:sp>
      <p:sp>
        <p:nvSpPr>
          <p:cNvPr id="22" name="Shape 20"/>
          <p:cNvSpPr/>
          <p:nvPr/>
        </p:nvSpPr>
        <p:spPr>
          <a:xfrm>
            <a:off x="2724912" y="3063240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99008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собственная база</a:t>
            </a:r>
            <a:endParaRPr lang="ru-RU" sz="840" dirty="0"/>
          </a:p>
        </p:txBody>
      </p:sp>
      <p:sp>
        <p:nvSpPr>
          <p:cNvPr id="24" name="Shape 22"/>
          <p:cNvSpPr/>
          <p:nvPr/>
        </p:nvSpPr>
        <p:spPr>
          <a:xfrm>
            <a:off x="2724912" y="3566160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34930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каналы получения</a:t>
            </a:r>
            <a:endParaRPr lang="ru-RU" sz="840" dirty="0"/>
          </a:p>
        </p:txBody>
      </p:sp>
      <p:sp>
        <p:nvSpPr>
          <p:cNvPr id="26" name="Shape 24"/>
          <p:cNvSpPr/>
          <p:nvPr/>
        </p:nvSpPr>
        <p:spPr>
          <a:xfrm>
            <a:off x="4663440" y="1133856"/>
            <a:ext cx="1901952" cy="2816352"/>
          </a:xfrm>
          <a:prstGeom prst="rect">
            <a:avLst/>
          </a:prstGeom>
          <a:solidFill>
            <a:srgbClr val="FFFFFF"/>
          </a:solidFill>
          <a:ln w="1524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9744" y="1280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900" dirty="0"/>
          </a:p>
        </p:txBody>
      </p:sp>
      <p:sp>
        <p:nvSpPr>
          <p:cNvPr id="28" name="Text 26"/>
          <p:cNvSpPr/>
          <p:nvPr/>
        </p:nvSpPr>
        <p:spPr>
          <a:xfrm>
            <a:off x="4809744" y="16459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ru-RU" sz="1030" dirty="0"/>
          </a:p>
        </p:txBody>
      </p:sp>
      <p:sp>
        <p:nvSpPr>
          <p:cNvPr id="29" name="Shape 27"/>
          <p:cNvSpPr/>
          <p:nvPr/>
        </p:nvSpPr>
        <p:spPr>
          <a:xfrm>
            <a:off x="4828032" y="221284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13969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сопоставление КП</a:t>
            </a:r>
            <a:endParaRPr lang="ru-RU" sz="840" dirty="0"/>
          </a:p>
        </p:txBody>
      </p:sp>
      <p:sp>
        <p:nvSpPr>
          <p:cNvPr id="31" name="Shape 29"/>
          <p:cNvSpPr/>
          <p:nvPr/>
        </p:nvSpPr>
        <p:spPr>
          <a:xfrm>
            <a:off x="4828032" y="2715768"/>
            <a:ext cx="73152" cy="7315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64261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независимая оценка</a:t>
            </a:r>
            <a:endParaRPr lang="ru-RU" sz="840" dirty="0"/>
          </a:p>
        </p:txBody>
      </p:sp>
      <p:sp>
        <p:nvSpPr>
          <p:cNvPr id="33" name="Shape 31"/>
          <p:cNvSpPr/>
          <p:nvPr/>
        </p:nvSpPr>
        <p:spPr>
          <a:xfrm>
            <a:off x="4828032" y="321868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1455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расчётный модуль</a:t>
            </a:r>
            <a:endParaRPr lang="ru-RU" sz="840" dirty="0"/>
          </a:p>
        </p:txBody>
      </p:sp>
      <p:sp>
        <p:nvSpPr>
          <p:cNvPr id="35" name="Shape 33"/>
          <p:cNvSpPr/>
          <p:nvPr/>
        </p:nvSpPr>
        <p:spPr>
          <a:xfrm>
            <a:off x="6766560" y="1481328"/>
            <a:ext cx="1901952" cy="246888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12864" y="16276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ru-RU" sz="900" dirty="0"/>
          </a:p>
        </p:txBody>
      </p:sp>
      <p:sp>
        <p:nvSpPr>
          <p:cNvPr id="37" name="Text 35"/>
          <p:cNvSpPr/>
          <p:nvPr/>
        </p:nvSpPr>
        <p:spPr>
          <a:xfrm>
            <a:off x="6912864" y="19933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</a:t>
            </a:r>
            <a:endParaRPr lang="ru-RU" sz="1030" dirty="0"/>
          </a:p>
        </p:txBody>
      </p:sp>
      <p:sp>
        <p:nvSpPr>
          <p:cNvPr id="38" name="Shape 36"/>
          <p:cNvSpPr/>
          <p:nvPr/>
        </p:nvSpPr>
        <p:spPr>
          <a:xfrm>
            <a:off x="6931152" y="2560320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248716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компетенций</a:t>
            </a:r>
            <a:endParaRPr lang="ru-RU" sz="840" dirty="0"/>
          </a:p>
        </p:txBody>
      </p:sp>
      <p:sp>
        <p:nvSpPr>
          <p:cNvPr id="40" name="Shape 38"/>
          <p:cNvSpPr/>
          <p:nvPr/>
        </p:nvSpPr>
        <p:spPr>
          <a:xfrm>
            <a:off x="6931152" y="3063240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14032" y="299008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опорная база</a:t>
            </a:r>
            <a:endParaRPr lang="ru-RU" sz="840" dirty="0"/>
          </a:p>
        </p:txBody>
      </p:sp>
      <p:sp>
        <p:nvSpPr>
          <p:cNvPr id="42" name="Shape 40"/>
          <p:cNvSpPr/>
          <p:nvPr/>
        </p:nvSpPr>
        <p:spPr>
          <a:xfrm>
            <a:off x="6931152" y="3566160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34930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маскирование</a:t>
            </a:r>
            <a:endParaRPr lang="ru-RU" sz="840" dirty="0"/>
          </a:p>
        </p:txBody>
      </p:sp>
      <p:sp>
        <p:nvSpPr>
          <p:cNvPr id="44" name="Shape 42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251960"/>
            <a:ext cx="960120" cy="34747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3982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47" name="Text 45"/>
          <p:cNvSpPr/>
          <p:nvPr/>
        </p:nvSpPr>
        <p:spPr>
          <a:xfrm>
            <a:off x="1600200" y="4361688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Модули не продаются как набор экранов: они образуют проверяемый маршрут от источника до решения.</a:t>
            </a:r>
            <a:endParaRPr lang="ru-RU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начинается с первичных документов, а не с готового вывода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1261872" cy="22128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6656" y="1298448"/>
            <a:ext cx="256032" cy="256032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3716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ru-RU" sz="650" dirty="0"/>
          </a:p>
        </p:txBody>
      </p:sp>
      <p:sp>
        <p:nvSpPr>
          <p:cNvPr id="11" name="Text 9"/>
          <p:cNvSpPr/>
          <p:nvPr/>
        </p:nvSpPr>
        <p:spPr>
          <a:xfrm>
            <a:off x="676656" y="17373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СМЕТА</a:t>
            </a:r>
            <a:endParaRPr lang="ru-RU" sz="920" dirty="0"/>
          </a:p>
        </p:txBody>
      </p:sp>
      <p:sp>
        <p:nvSpPr>
          <p:cNvPr id="12" name="Text 10"/>
          <p:cNvSpPr/>
          <p:nvPr/>
        </p:nvSpPr>
        <p:spPr>
          <a:xfrm>
            <a:off x="676656" y="22311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/ XML</a:t>
            </a:r>
            <a:endParaRPr lang="ru-RU" sz="730" dirty="0"/>
          </a:p>
        </p:txBody>
      </p:sp>
      <p:sp>
        <p:nvSpPr>
          <p:cNvPr id="13" name="Shape 11"/>
          <p:cNvSpPr/>
          <p:nvPr/>
        </p:nvSpPr>
        <p:spPr>
          <a:xfrm>
            <a:off x="676656" y="2596896"/>
            <a:ext cx="102412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76148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позиции · коэффициенты · итоги</a:t>
            </a:r>
            <a:endParaRPr lang="ru-RU" sz="750" dirty="0"/>
          </a:p>
        </p:txBody>
      </p:sp>
      <p:sp>
        <p:nvSpPr>
          <p:cNvPr id="15" name="Shape 13"/>
          <p:cNvSpPr/>
          <p:nvPr/>
        </p:nvSpPr>
        <p:spPr>
          <a:xfrm>
            <a:off x="1975104" y="1417320"/>
            <a:ext cx="1261872" cy="22128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84832" y="1545336"/>
            <a:ext cx="256032" cy="256032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0552" y="161848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650" dirty="0"/>
          </a:p>
        </p:txBody>
      </p:sp>
      <p:sp>
        <p:nvSpPr>
          <p:cNvPr id="18" name="Text 16"/>
          <p:cNvSpPr/>
          <p:nvPr/>
        </p:nvSpPr>
        <p:spPr>
          <a:xfrm>
            <a:off x="2084832" y="19842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ВЕДОМОСТЬ</a:t>
            </a:r>
            <a:endParaRPr lang="ru-RU" sz="920" dirty="0"/>
          </a:p>
        </p:txBody>
      </p:sp>
      <p:sp>
        <p:nvSpPr>
          <p:cNvPr id="19" name="Text 17"/>
          <p:cNvSpPr/>
          <p:nvPr/>
        </p:nvSpPr>
        <p:spPr>
          <a:xfrm>
            <a:off x="2084832" y="24780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/ CSV</a:t>
            </a:r>
            <a:endParaRPr lang="ru-RU" sz="730" dirty="0"/>
          </a:p>
        </p:txBody>
      </p:sp>
      <p:sp>
        <p:nvSpPr>
          <p:cNvPr id="20" name="Shape 18"/>
          <p:cNvSpPr/>
          <p:nvPr/>
        </p:nvSpPr>
        <p:spPr>
          <a:xfrm>
            <a:off x="2084832" y="2843784"/>
            <a:ext cx="102412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30083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объёмы · единицы · разделы</a:t>
            </a:r>
            <a:endParaRPr lang="ru-RU" sz="750" dirty="0"/>
          </a:p>
        </p:txBody>
      </p:sp>
      <p:sp>
        <p:nvSpPr>
          <p:cNvPr id="22" name="Shape 20"/>
          <p:cNvSpPr/>
          <p:nvPr/>
        </p:nvSpPr>
        <p:spPr>
          <a:xfrm>
            <a:off x="3383280" y="1170432"/>
            <a:ext cx="1261872" cy="2212848"/>
          </a:xfrm>
          <a:prstGeom prst="rect">
            <a:avLst/>
          </a:prstGeom>
          <a:solidFill>
            <a:srgbClr val="FFFFFF"/>
          </a:solidFill>
          <a:ln w="1524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93008" y="1298448"/>
            <a:ext cx="256032" cy="256032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13716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650" dirty="0"/>
          </a:p>
        </p:txBody>
      </p:sp>
      <p:sp>
        <p:nvSpPr>
          <p:cNvPr id="25" name="Text 23"/>
          <p:cNvSpPr/>
          <p:nvPr/>
        </p:nvSpPr>
        <p:spPr>
          <a:xfrm>
            <a:off x="3493008" y="17373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ПРЕДЛОЖЕНИЯ</a:t>
            </a:r>
            <a:endParaRPr lang="ru-RU" sz="920" dirty="0"/>
          </a:p>
        </p:txBody>
      </p:sp>
      <p:sp>
        <p:nvSpPr>
          <p:cNvPr id="26" name="Text 24"/>
          <p:cNvSpPr/>
          <p:nvPr/>
        </p:nvSpPr>
        <p:spPr>
          <a:xfrm>
            <a:off x="3493008" y="22311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/ Word / PDF</a:t>
            </a:r>
            <a:endParaRPr lang="ru-RU" sz="730" dirty="0"/>
          </a:p>
        </p:txBody>
      </p:sp>
      <p:sp>
        <p:nvSpPr>
          <p:cNvPr id="27" name="Shape 25"/>
          <p:cNvSpPr/>
          <p:nvPr/>
        </p:nvSpPr>
        <p:spPr>
          <a:xfrm>
            <a:off x="3493008" y="2596896"/>
            <a:ext cx="102412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76148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состав · цены · исключения</a:t>
            </a:r>
            <a:endParaRPr lang="ru-RU" sz="750" dirty="0"/>
          </a:p>
        </p:txBody>
      </p:sp>
      <p:sp>
        <p:nvSpPr>
          <p:cNvPr id="29" name="Shape 27"/>
          <p:cNvSpPr/>
          <p:nvPr/>
        </p:nvSpPr>
        <p:spPr>
          <a:xfrm>
            <a:off x="4791456" y="1417320"/>
            <a:ext cx="1261872" cy="22128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01184" y="1545336"/>
            <a:ext cx="256032" cy="256032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161848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ru-RU" sz="650" dirty="0"/>
          </a:p>
        </p:txBody>
      </p:sp>
      <p:sp>
        <p:nvSpPr>
          <p:cNvPr id="32" name="Text 30"/>
          <p:cNvSpPr/>
          <p:nvPr/>
        </p:nvSpPr>
        <p:spPr>
          <a:xfrm>
            <a:off x="4901184" y="19842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ДОГОВОР</a:t>
            </a:r>
            <a:endParaRPr lang="ru-RU" sz="920" dirty="0"/>
          </a:p>
        </p:txBody>
      </p:sp>
      <p:sp>
        <p:nvSpPr>
          <p:cNvPr id="33" name="Text 31"/>
          <p:cNvSpPr/>
          <p:nvPr/>
        </p:nvSpPr>
        <p:spPr>
          <a:xfrm>
            <a:off x="4901184" y="247802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 / PDF</a:t>
            </a:r>
            <a:endParaRPr lang="ru-RU" sz="730" dirty="0"/>
          </a:p>
        </p:txBody>
      </p:sp>
      <p:sp>
        <p:nvSpPr>
          <p:cNvPr id="34" name="Shape 32"/>
          <p:cNvSpPr/>
          <p:nvPr/>
        </p:nvSpPr>
        <p:spPr>
          <a:xfrm>
            <a:off x="4901184" y="2843784"/>
            <a:ext cx="102412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0083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аванс · удержания · гарантии</a:t>
            </a:r>
            <a:endParaRPr lang="ru-RU" sz="750" dirty="0"/>
          </a:p>
        </p:txBody>
      </p:sp>
      <p:sp>
        <p:nvSpPr>
          <p:cNvPr id="36" name="Shape 34"/>
          <p:cNvSpPr/>
          <p:nvPr/>
        </p:nvSpPr>
        <p:spPr>
          <a:xfrm>
            <a:off x="6199632" y="1170432"/>
            <a:ext cx="1261872" cy="22128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1298448"/>
            <a:ext cx="256032" cy="256032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3716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ru-RU" sz="650" dirty="0"/>
          </a:p>
        </p:txBody>
      </p:sp>
      <p:sp>
        <p:nvSpPr>
          <p:cNvPr id="39" name="Text 37"/>
          <p:cNvSpPr/>
          <p:nvPr/>
        </p:nvSpPr>
        <p:spPr>
          <a:xfrm>
            <a:off x="6309360" y="17373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ФИНАНСИРОВАНИЕ</a:t>
            </a:r>
            <a:endParaRPr lang="ru-RU" sz="920" dirty="0"/>
          </a:p>
        </p:txBody>
      </p:sp>
      <p:sp>
        <p:nvSpPr>
          <p:cNvPr id="40" name="Text 38"/>
          <p:cNvSpPr/>
          <p:nvPr/>
        </p:nvSpPr>
        <p:spPr>
          <a:xfrm>
            <a:off x="6309360" y="223113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структурированные параметры</a:t>
            </a:r>
            <a:endParaRPr lang="ru-RU" sz="730" dirty="0"/>
          </a:p>
        </p:txBody>
      </p:sp>
      <p:sp>
        <p:nvSpPr>
          <p:cNvPr id="41" name="Shape 39"/>
          <p:cNvSpPr/>
          <p:nvPr/>
        </p:nvSpPr>
        <p:spPr>
          <a:xfrm>
            <a:off x="6309360" y="2596896"/>
            <a:ext cx="102412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76148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 · график · площадь</a:t>
            </a:r>
            <a:endParaRPr lang="ru-RU" sz="750" dirty="0"/>
          </a:p>
        </p:txBody>
      </p:sp>
      <p:sp>
        <p:nvSpPr>
          <p:cNvPr id="43" name="Shape 41"/>
          <p:cNvSpPr/>
          <p:nvPr/>
        </p:nvSpPr>
        <p:spPr>
          <a:xfrm>
            <a:off x="7772400" y="1417320"/>
            <a:ext cx="658368" cy="2212848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 rot="16200000">
            <a:off x="7882128" y="1847088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ПОДТВЕРЖДЁННЫЕ</a:t>
            </a:r>
            <a:endParaRPr lang="ru-RU" sz="820" dirty="0"/>
          </a:p>
          <a:p>
            <a:pPr algn="ctr" indent="0" marL="0">
              <a:buNone/>
            </a:pPr>
            <a:r>
              <a:rPr lang="ru-RU" alt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ВХОДЫ</a:t>
            </a:r>
            <a:endParaRPr lang="ru-RU" sz="820" dirty="0"/>
          </a:p>
        </p:txBody>
      </p:sp>
      <p:sp>
        <p:nvSpPr>
          <p:cNvPr id="45" name="Text 43"/>
          <p:cNvSpPr/>
          <p:nvPr/>
        </p:nvSpPr>
        <p:spPr>
          <a:xfrm>
            <a:off x="566928" y="3959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Сканы без текстового слоя требуют отдельного контура распознавания.</a:t>
            </a:r>
            <a:endParaRPr lang="ru-RU" sz="820" dirty="0"/>
          </a:p>
        </p:txBody>
      </p:sp>
      <p:sp>
        <p:nvSpPr>
          <p:cNvPr id="46" name="Text 44"/>
          <p:cNvSpPr/>
          <p:nvPr/>
        </p:nvSpPr>
        <p:spPr>
          <a:xfrm>
            <a:off x="457200" y="45079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Продуктовый паспорт, раздел 8.2 · зафиксированные источники</a:t>
            </a:r>
            <a:endParaRPr lang="ru-RU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становится допустимым только после нормализации и подтверждения пользователем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12064" y="1371600"/>
            <a:ext cx="1719072" cy="129844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361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6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ИСХОДНАЯ СТРОКА</a:t>
            </a:r>
            <a:endParaRPr lang="ru-RU" sz="760" dirty="0"/>
          </a:p>
        </p:txBody>
      </p:sp>
      <p:sp>
        <p:nvSpPr>
          <p:cNvPr id="10" name="Text 8"/>
          <p:cNvSpPr/>
          <p:nvPr/>
        </p:nvSpPr>
        <p:spPr>
          <a:xfrm>
            <a:off x="649224" y="19202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Насос. компл. 2 шт.</a:t>
            </a:r>
            <a:endParaRPr lang="ru-RU" sz="920" dirty="0"/>
          </a:p>
        </p:txBody>
      </p:sp>
      <p:sp>
        <p:nvSpPr>
          <p:cNvPr id="11" name="Shape 9"/>
          <p:cNvSpPr/>
          <p:nvPr/>
        </p:nvSpPr>
        <p:spPr>
          <a:xfrm>
            <a:off x="2249424" y="2011680"/>
            <a:ext cx="274320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42032" y="1371600"/>
            <a:ext cx="1719072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5361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6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ИЗВЛЕЧЕНИЕ</a:t>
            </a:r>
            <a:endParaRPr lang="ru-RU" sz="760" dirty="0"/>
          </a:p>
        </p:txBody>
      </p:sp>
      <p:sp>
        <p:nvSpPr>
          <p:cNvPr id="14" name="Text 12"/>
          <p:cNvSpPr/>
          <p:nvPr/>
        </p:nvSpPr>
        <p:spPr>
          <a:xfrm>
            <a:off x="2679192" y="19202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наименование · ед. · объём</a:t>
            </a:r>
            <a:endParaRPr lang="ru-RU" sz="920" dirty="0"/>
          </a:p>
        </p:txBody>
      </p:sp>
      <p:sp>
        <p:nvSpPr>
          <p:cNvPr id="15" name="Shape 13"/>
          <p:cNvSpPr/>
          <p:nvPr/>
        </p:nvSpPr>
        <p:spPr>
          <a:xfrm>
            <a:off x="4279392" y="2011680"/>
            <a:ext cx="274320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371600"/>
            <a:ext cx="1719072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361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НОРМАЛИЗАЦИЯ</a:t>
            </a:r>
            <a:endParaRPr lang="ru-RU" sz="76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насосный комплект / штука / 2</a:t>
            </a:r>
            <a:endParaRPr lang="ru-RU" sz="92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274320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01968" y="1371600"/>
            <a:ext cx="1719072" cy="1298448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153619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ПОДТВЕРЖДЕНИЕ</a:t>
            </a:r>
            <a:endParaRPr lang="ru-RU" sz="760" dirty="0"/>
          </a:p>
        </p:txBody>
      </p:sp>
      <p:sp>
        <p:nvSpPr>
          <p:cNvPr id="22" name="Text 20"/>
          <p:cNvSpPr/>
          <p:nvPr/>
        </p:nvSpPr>
        <p:spPr>
          <a:xfrm>
            <a:off x="6739128" y="19202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пользователь принимает или исправляет</a:t>
            </a:r>
            <a:endParaRPr lang="ru-RU" sz="920" dirty="0"/>
          </a:p>
        </p:txBody>
      </p:sp>
      <p:sp>
        <p:nvSpPr>
          <p:cNvPr id="23" name="Shape 21"/>
          <p:cNvSpPr/>
          <p:nvPr/>
        </p:nvSpPr>
        <p:spPr>
          <a:xfrm>
            <a:off x="1188720" y="3182112"/>
            <a:ext cx="6766560" cy="841248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3538728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34290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спорная единица</a:t>
            </a:r>
            <a:endParaRPr lang="ru-RU" sz="820" dirty="0"/>
          </a:p>
        </p:txBody>
      </p:sp>
      <p:sp>
        <p:nvSpPr>
          <p:cNvPr id="26" name="Shape 24"/>
          <p:cNvSpPr/>
          <p:nvPr/>
        </p:nvSpPr>
        <p:spPr>
          <a:xfrm>
            <a:off x="3026664" y="3538728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9544" y="34290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неполная строка</a:t>
            </a:r>
            <a:endParaRPr lang="ru-RU" sz="820" dirty="0"/>
          </a:p>
        </p:txBody>
      </p:sp>
      <p:sp>
        <p:nvSpPr>
          <p:cNvPr id="28" name="Shape 26"/>
          <p:cNvSpPr/>
          <p:nvPr/>
        </p:nvSpPr>
        <p:spPr>
          <a:xfrm>
            <a:off x="4636008" y="3538728"/>
            <a:ext cx="82296" cy="8229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4290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несопоставимый состав</a:t>
            </a:r>
            <a:endParaRPr lang="ru-RU" sz="820" dirty="0"/>
          </a:p>
        </p:txBody>
      </p:sp>
      <p:sp>
        <p:nvSpPr>
          <p:cNvPr id="30" name="Shape 28"/>
          <p:cNvSpPr/>
          <p:nvPr/>
        </p:nvSpPr>
        <p:spPr>
          <a:xfrm>
            <a:off x="6245352" y="3538728"/>
            <a:ext cx="82296" cy="82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4290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источника</a:t>
            </a:r>
            <a:endParaRPr lang="ru-RU" sz="82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06240"/>
            <a:ext cx="960120" cy="34747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525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5" name="Text 33"/>
          <p:cNvSpPr/>
          <p:nvPr/>
        </p:nvSpPr>
        <p:spPr>
          <a:xfrm>
            <a:off x="1600200" y="4315968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Неуверенность не скрывается: проблемная строка возвращается пользователю до расчёта.</a:t>
            </a:r>
            <a:endParaRPr lang="ru-RU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Сравнивать нужно одинаковый предмет работ, а не нижнюю строку предложения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600200" cy="438912"/>
          </a:xfrm>
          <a:prstGeom prst="rect">
            <a:avLst/>
          </a:prstGeom>
          <a:solidFill>
            <a:srgbClr val="00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80160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ПОЗИЦИЯ</a:t>
            </a:r>
            <a:endParaRPr lang="ru-RU" sz="720" dirty="0"/>
          </a:p>
        </p:txBody>
      </p:sp>
      <p:sp>
        <p:nvSpPr>
          <p:cNvPr id="10" name="Shape 8"/>
          <p:cNvSpPr/>
          <p:nvPr/>
        </p:nvSpPr>
        <p:spPr>
          <a:xfrm>
            <a:off x="2057400" y="1143000"/>
            <a:ext cx="1417320" cy="438912"/>
          </a:xfrm>
          <a:prstGeom prst="rect">
            <a:avLst/>
          </a:prstGeom>
          <a:solidFill>
            <a:srgbClr val="00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28016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 1</a:t>
            </a:r>
            <a:endParaRPr lang="ru-RU" sz="720" dirty="0"/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1417320" cy="438912"/>
          </a:xfrm>
          <a:prstGeom prst="rect">
            <a:avLst/>
          </a:prstGeom>
          <a:solidFill>
            <a:srgbClr val="00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28016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 2</a:t>
            </a:r>
            <a:endParaRPr lang="ru-RU" sz="720" dirty="0"/>
          </a:p>
        </p:txBody>
      </p:sp>
      <p:sp>
        <p:nvSpPr>
          <p:cNvPr id="14" name="Shape 12"/>
          <p:cNvSpPr/>
          <p:nvPr/>
        </p:nvSpPr>
        <p:spPr>
          <a:xfrm>
            <a:off x="4892040" y="1143000"/>
            <a:ext cx="1417320" cy="438912"/>
          </a:xfrm>
          <a:prstGeom prst="rect">
            <a:avLst/>
          </a:prstGeom>
          <a:solidFill>
            <a:srgbClr val="00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128016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 3</a:t>
            </a:r>
            <a:endParaRPr lang="ru-RU" sz="720" dirty="0"/>
          </a:p>
        </p:txBody>
      </p:sp>
      <p:sp>
        <p:nvSpPr>
          <p:cNvPr id="16" name="Shape 14"/>
          <p:cNvSpPr/>
          <p:nvPr/>
        </p:nvSpPr>
        <p:spPr>
          <a:xfrm>
            <a:off x="6309360" y="1143000"/>
            <a:ext cx="2331720" cy="438912"/>
          </a:xfrm>
          <a:prstGeom prst="rect">
            <a:avLst/>
          </a:prstGeom>
          <a:solidFill>
            <a:srgbClr val="00000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280160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581912"/>
            <a:ext cx="16002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74650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Основные работы</a:t>
            </a:r>
            <a:endParaRPr lang="ru-RU" sz="780" dirty="0"/>
          </a:p>
        </p:txBody>
      </p:sp>
      <p:sp>
        <p:nvSpPr>
          <p:cNvPr id="20" name="Shape 18"/>
          <p:cNvSpPr/>
          <p:nvPr/>
        </p:nvSpPr>
        <p:spPr>
          <a:xfrm>
            <a:off x="2057400" y="1581912"/>
            <a:ext cx="1417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0552" y="174650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включены</a:t>
            </a:r>
            <a:endParaRPr lang="ru-RU" sz="780" dirty="0"/>
          </a:p>
        </p:txBody>
      </p:sp>
      <p:sp>
        <p:nvSpPr>
          <p:cNvPr id="22" name="Shape 20"/>
          <p:cNvSpPr/>
          <p:nvPr/>
        </p:nvSpPr>
        <p:spPr>
          <a:xfrm>
            <a:off x="3474720" y="1581912"/>
            <a:ext cx="1417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74650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включены</a:t>
            </a:r>
            <a:endParaRPr lang="ru-RU" sz="780" dirty="0"/>
          </a:p>
        </p:txBody>
      </p:sp>
      <p:sp>
        <p:nvSpPr>
          <p:cNvPr id="24" name="Shape 22"/>
          <p:cNvSpPr/>
          <p:nvPr/>
        </p:nvSpPr>
        <p:spPr>
          <a:xfrm>
            <a:off x="4892040" y="1581912"/>
            <a:ext cx="1417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74650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частично</a:t>
            </a:r>
            <a:endParaRPr lang="ru-RU" sz="780" dirty="0"/>
          </a:p>
        </p:txBody>
      </p:sp>
      <p:sp>
        <p:nvSpPr>
          <p:cNvPr id="26" name="Shape 24"/>
          <p:cNvSpPr/>
          <p:nvPr/>
        </p:nvSpPr>
        <p:spPr>
          <a:xfrm>
            <a:off x="6309360" y="1581912"/>
            <a:ext cx="23317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74650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нормализовать</a:t>
            </a:r>
            <a:endParaRPr lang="ru-RU" sz="780" dirty="0"/>
          </a:p>
        </p:txBody>
      </p:sp>
      <p:sp>
        <p:nvSpPr>
          <p:cNvPr id="28" name="Shape 26"/>
          <p:cNvSpPr/>
          <p:nvPr/>
        </p:nvSpPr>
        <p:spPr>
          <a:xfrm>
            <a:off x="457200" y="2148840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313432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</a:t>
            </a:r>
            <a:endParaRPr lang="ru-RU" sz="780" dirty="0"/>
          </a:p>
        </p:txBody>
      </p:sp>
      <p:sp>
        <p:nvSpPr>
          <p:cNvPr id="30" name="Shape 28"/>
          <p:cNvSpPr/>
          <p:nvPr/>
        </p:nvSpPr>
        <p:spPr>
          <a:xfrm>
            <a:off x="2057400" y="214884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23134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включены</a:t>
            </a:r>
            <a:endParaRPr lang="ru-RU" sz="780" dirty="0"/>
          </a:p>
        </p:txBody>
      </p:sp>
      <p:sp>
        <p:nvSpPr>
          <p:cNvPr id="32" name="Shape 30"/>
          <p:cNvSpPr/>
          <p:nvPr/>
        </p:nvSpPr>
        <p:spPr>
          <a:xfrm>
            <a:off x="3474720" y="214884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23134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часть исключена</a:t>
            </a:r>
            <a:endParaRPr lang="ru-RU" sz="780" dirty="0"/>
          </a:p>
        </p:txBody>
      </p:sp>
      <p:sp>
        <p:nvSpPr>
          <p:cNvPr id="34" name="Shape 32"/>
          <p:cNvSpPr/>
          <p:nvPr/>
        </p:nvSpPr>
        <p:spPr>
          <a:xfrm>
            <a:off x="4892040" y="2148840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313432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включены</a:t>
            </a:r>
            <a:endParaRPr lang="ru-RU" sz="78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2313432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состав различается</a:t>
            </a:r>
            <a:endParaRPr lang="ru-RU" sz="780" dirty="0"/>
          </a:p>
        </p:txBody>
      </p:sp>
      <p:sp>
        <p:nvSpPr>
          <p:cNvPr id="38" name="Shape 36"/>
          <p:cNvSpPr/>
          <p:nvPr/>
        </p:nvSpPr>
        <p:spPr>
          <a:xfrm>
            <a:off x="457200" y="2715768"/>
            <a:ext cx="16002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288036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Доставка</a:t>
            </a:r>
            <a:endParaRPr lang="ru-RU" sz="780" dirty="0"/>
          </a:p>
        </p:txBody>
      </p:sp>
      <p:sp>
        <p:nvSpPr>
          <p:cNvPr id="40" name="Shape 38"/>
          <p:cNvSpPr/>
          <p:nvPr/>
        </p:nvSpPr>
        <p:spPr>
          <a:xfrm>
            <a:off x="2057400" y="2715768"/>
            <a:ext cx="1417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0552" y="288036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включена</a:t>
            </a:r>
            <a:endParaRPr lang="ru-RU" sz="780" dirty="0"/>
          </a:p>
        </p:txBody>
      </p:sp>
      <p:sp>
        <p:nvSpPr>
          <p:cNvPr id="42" name="Shape 40"/>
          <p:cNvSpPr/>
          <p:nvPr/>
        </p:nvSpPr>
        <p:spPr>
          <a:xfrm>
            <a:off x="3474720" y="2715768"/>
            <a:ext cx="1417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288036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отдельно</a:t>
            </a:r>
            <a:endParaRPr lang="ru-RU" sz="780" dirty="0"/>
          </a:p>
        </p:txBody>
      </p:sp>
      <p:sp>
        <p:nvSpPr>
          <p:cNvPr id="44" name="Shape 42"/>
          <p:cNvSpPr/>
          <p:nvPr/>
        </p:nvSpPr>
        <p:spPr>
          <a:xfrm>
            <a:off x="4892040" y="2715768"/>
            <a:ext cx="1417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65192" y="288036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указана</a:t>
            </a:r>
            <a:endParaRPr lang="ru-RU" sz="780" dirty="0"/>
          </a:p>
        </p:txBody>
      </p:sp>
      <p:sp>
        <p:nvSpPr>
          <p:cNvPr id="46" name="Shape 44"/>
          <p:cNvSpPr/>
          <p:nvPr/>
        </p:nvSpPr>
        <p:spPr>
          <a:xfrm>
            <a:off x="6309360" y="2715768"/>
            <a:ext cx="23317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2880360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 не сравнивать</a:t>
            </a:r>
            <a:endParaRPr lang="ru-RU" sz="780" dirty="0"/>
          </a:p>
        </p:txBody>
      </p:sp>
      <p:sp>
        <p:nvSpPr>
          <p:cNvPr id="48" name="Shape 46"/>
          <p:cNvSpPr/>
          <p:nvPr/>
        </p:nvSpPr>
        <p:spPr>
          <a:xfrm>
            <a:off x="457200" y="3282696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44728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Пусконаладка</a:t>
            </a:r>
            <a:endParaRPr lang="ru-RU" sz="780" dirty="0"/>
          </a:p>
        </p:txBody>
      </p:sp>
      <p:sp>
        <p:nvSpPr>
          <p:cNvPr id="50" name="Shape 48"/>
          <p:cNvSpPr/>
          <p:nvPr/>
        </p:nvSpPr>
        <p:spPr>
          <a:xfrm>
            <a:off x="2057400" y="328269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34472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включена</a:t>
            </a:r>
            <a:endParaRPr lang="ru-RU" sz="780" dirty="0"/>
          </a:p>
        </p:txBody>
      </p:sp>
      <p:sp>
        <p:nvSpPr>
          <p:cNvPr id="52" name="Shape 50"/>
          <p:cNvSpPr/>
          <p:nvPr/>
        </p:nvSpPr>
        <p:spPr>
          <a:xfrm>
            <a:off x="3474720" y="328269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47872" y="34472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включена</a:t>
            </a:r>
            <a:endParaRPr lang="ru-RU" sz="780" dirty="0"/>
          </a:p>
        </p:txBody>
      </p:sp>
      <p:sp>
        <p:nvSpPr>
          <p:cNvPr id="54" name="Shape 52"/>
          <p:cNvSpPr/>
          <p:nvPr/>
        </p:nvSpPr>
        <p:spPr>
          <a:xfrm>
            <a:off x="4892040" y="3282696"/>
            <a:ext cx="1417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65192" y="34472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8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отсутствует</a:t>
            </a:r>
            <a:endParaRPr lang="ru-RU" sz="780" dirty="0"/>
          </a:p>
        </p:txBody>
      </p:sp>
      <p:sp>
        <p:nvSpPr>
          <p:cNvPr id="56" name="Shape 54"/>
          <p:cNvSpPr/>
          <p:nvPr/>
        </p:nvSpPr>
        <p:spPr>
          <a:xfrm>
            <a:off x="6309360" y="3282696"/>
            <a:ext cx="2331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344728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 доплаты</a:t>
            </a:r>
            <a:endParaRPr lang="ru-RU" sz="780" dirty="0"/>
          </a:p>
        </p:txBody>
      </p:sp>
      <p:sp>
        <p:nvSpPr>
          <p:cNvPr id="58" name="Shape 56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041648"/>
            <a:ext cx="960120" cy="47548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1879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61" name="Text 59"/>
          <p:cNvSpPr/>
          <p:nvPr/>
        </p:nvSpPr>
        <p:spPr>
          <a:xfrm>
            <a:off x="1600200" y="4151376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Сначала раскрывается комплектация; только затем считаются минимум, максимум, медиана и разброс.</a:t>
            </a:r>
            <a:endParaRPr lang="ru-RU" sz="950" dirty="0"/>
          </a:p>
        </p:txBody>
      </p:sp>
      <p:sp>
        <p:nvSpPr>
          <p:cNvPr id="62" name="Text 60"/>
          <p:cNvSpPr/>
          <p:nvPr/>
        </p:nvSpPr>
        <p:spPr>
          <a:xfrm>
            <a:off x="5806440" y="455371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Иллюстративный пример — не данные конкретного клиента</a:t>
            </a:r>
            <a:endParaRPr lang="ru-RU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Независимая оценка даёт диапазон только по заранее согласованной методике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Text 6"/>
          <p:cNvSpPr/>
          <p:nvPr/>
        </p:nvSpPr>
        <p:spPr>
          <a:xfrm>
            <a:off x="530352" y="1207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spc="100" kern="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РАСЧЁТНЫЙ ДИАПАЗОН</a:t>
            </a:r>
            <a:endParaRPr lang="ru-RU" sz="8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52578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1901952"/>
            <a:ext cx="0" cy="49377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5146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НИЖНЯЯ ГРАНИЦА</a:t>
            </a:r>
            <a:endParaRPr lang="ru-RU" sz="760" dirty="0"/>
          </a:p>
        </p:txBody>
      </p:sp>
      <p:sp>
        <p:nvSpPr>
          <p:cNvPr id="12" name="Text 10"/>
          <p:cNvSpPr/>
          <p:nvPr/>
        </p:nvSpPr>
        <p:spPr>
          <a:xfrm>
            <a:off x="850392" y="2834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подтверждённые минимумы</a:t>
            </a:r>
            <a:endParaRPr lang="ru-RU" sz="720" dirty="0"/>
          </a:p>
        </p:txBody>
      </p:sp>
      <p:sp>
        <p:nvSpPr>
          <p:cNvPr id="13" name="Shape 11"/>
          <p:cNvSpPr/>
          <p:nvPr/>
        </p:nvSpPr>
        <p:spPr>
          <a:xfrm>
            <a:off x="3685032" y="1901952"/>
            <a:ext cx="0" cy="493776"/>
          </a:xfrm>
          <a:prstGeom prst="line">
            <a:avLst/>
          </a:prstGeom>
          <a:noFill/>
          <a:ln w="27940">
            <a:solidFill>
              <a:srgbClr val="FF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25146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БАЗОВАЯ ОЦЕНКА</a:t>
            </a:r>
            <a:endParaRPr lang="ru-RU" sz="760" dirty="0"/>
          </a:p>
        </p:txBody>
      </p:sp>
      <p:sp>
        <p:nvSpPr>
          <p:cNvPr id="15" name="Text 13"/>
          <p:cNvSpPr/>
          <p:nvPr/>
        </p:nvSpPr>
        <p:spPr>
          <a:xfrm>
            <a:off x="2999232" y="2834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согласованный сценарий</a:t>
            </a:r>
            <a:endParaRPr lang="ru-RU" sz="720" dirty="0"/>
          </a:p>
        </p:txBody>
      </p:sp>
      <p:sp>
        <p:nvSpPr>
          <p:cNvPr id="16" name="Shape 14"/>
          <p:cNvSpPr/>
          <p:nvPr/>
        </p:nvSpPr>
        <p:spPr>
          <a:xfrm>
            <a:off x="5925312" y="1901952"/>
            <a:ext cx="0" cy="493776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251460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ВЕРХНЯЯ ГРАНИЦА</a:t>
            </a:r>
            <a:endParaRPr lang="ru-RU" sz="760" dirty="0"/>
          </a:p>
        </p:txBody>
      </p:sp>
      <p:sp>
        <p:nvSpPr>
          <p:cNvPr id="18" name="Text 16"/>
          <p:cNvSpPr/>
          <p:nvPr/>
        </p:nvSpPr>
        <p:spPr>
          <a:xfrm>
            <a:off x="5239512" y="2834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риски и неопределённость</a:t>
            </a:r>
            <a:endParaRPr lang="ru-RU" sz="720" dirty="0"/>
          </a:p>
        </p:txBody>
      </p:sp>
      <p:sp>
        <p:nvSpPr>
          <p:cNvPr id="19" name="Shape 17"/>
          <p:cNvSpPr/>
          <p:nvPr/>
        </p:nvSpPr>
        <p:spPr>
          <a:xfrm>
            <a:off x="6492240" y="1161288"/>
            <a:ext cx="2121408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3441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ru-RU" sz="800" dirty="0"/>
          </a:p>
        </p:txBody>
      </p:sp>
      <p:sp>
        <p:nvSpPr>
          <p:cNvPr id="21" name="Text 19"/>
          <p:cNvSpPr/>
          <p:nvPr/>
        </p:nvSpPr>
        <p:spPr>
          <a:xfrm>
            <a:off x="6967728" y="12527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Методика</a:t>
            </a:r>
            <a:endParaRPr lang="ru-RU" sz="880" dirty="0"/>
          </a:p>
        </p:txBody>
      </p:sp>
      <p:sp>
        <p:nvSpPr>
          <p:cNvPr id="22" name="Text 20"/>
          <p:cNvSpPr/>
          <p:nvPr/>
        </p:nvSpPr>
        <p:spPr>
          <a:xfrm>
            <a:off x="6967728" y="147218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правила нормализации и расчёта</a:t>
            </a:r>
            <a:endParaRPr lang="ru-RU" sz="710" dirty="0"/>
          </a:p>
        </p:txBody>
      </p:sp>
      <p:sp>
        <p:nvSpPr>
          <p:cNvPr id="23" name="Shape 21"/>
          <p:cNvSpPr/>
          <p:nvPr/>
        </p:nvSpPr>
        <p:spPr>
          <a:xfrm>
            <a:off x="6492240" y="1920240"/>
            <a:ext cx="2121408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103120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ru-RU" sz="800" dirty="0"/>
          </a:p>
        </p:txBody>
      </p:sp>
      <p:sp>
        <p:nvSpPr>
          <p:cNvPr id="25" name="Text 23"/>
          <p:cNvSpPr/>
          <p:nvPr/>
        </p:nvSpPr>
        <p:spPr>
          <a:xfrm>
            <a:off x="6967728" y="201168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Иерархия источников</a:t>
            </a:r>
            <a:endParaRPr lang="ru-RU" sz="880" dirty="0"/>
          </a:p>
        </p:txBody>
      </p:sp>
      <p:sp>
        <p:nvSpPr>
          <p:cNvPr id="26" name="Text 24"/>
          <p:cNvSpPr/>
          <p:nvPr/>
        </p:nvSpPr>
        <p:spPr>
          <a:xfrm>
            <a:off x="6967728" y="223113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важнее при конфликте данных</a:t>
            </a:r>
            <a:endParaRPr lang="ru-RU" sz="710" dirty="0"/>
          </a:p>
        </p:txBody>
      </p:sp>
      <p:sp>
        <p:nvSpPr>
          <p:cNvPr id="27" name="Shape 25"/>
          <p:cNvSpPr/>
          <p:nvPr/>
        </p:nvSpPr>
        <p:spPr>
          <a:xfrm>
            <a:off x="6492240" y="2679192"/>
            <a:ext cx="2121408" cy="6035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86207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ru-RU" sz="800" dirty="0"/>
          </a:p>
        </p:txBody>
      </p:sp>
      <p:sp>
        <p:nvSpPr>
          <p:cNvPr id="29" name="Text 27"/>
          <p:cNvSpPr/>
          <p:nvPr/>
        </p:nvSpPr>
        <p:spPr>
          <a:xfrm>
            <a:off x="6967728" y="27706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Калибровка</a:t>
            </a:r>
            <a:endParaRPr lang="ru-RU" sz="880" dirty="0"/>
          </a:p>
        </p:txBody>
      </p:sp>
      <p:sp>
        <p:nvSpPr>
          <p:cNvPr id="30" name="Text 28"/>
          <p:cNvSpPr/>
          <p:nvPr/>
        </p:nvSpPr>
        <p:spPr>
          <a:xfrm>
            <a:off x="6967728" y="299008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исторические и контрольные объекты</a:t>
            </a:r>
            <a:endParaRPr lang="ru-RU" sz="710" dirty="0"/>
          </a:p>
        </p:txBody>
      </p:sp>
      <p:sp>
        <p:nvSpPr>
          <p:cNvPr id="31" name="Shape 29"/>
          <p:cNvSpPr/>
          <p:nvPr/>
        </p:nvSpPr>
        <p:spPr>
          <a:xfrm>
            <a:off x="6492240" y="3438144"/>
            <a:ext cx="2121408" cy="603504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62102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ru-RU" sz="800" dirty="0"/>
          </a:p>
        </p:txBody>
      </p:sp>
      <p:sp>
        <p:nvSpPr>
          <p:cNvPr id="33" name="Text 31"/>
          <p:cNvSpPr/>
          <p:nvPr/>
        </p:nvSpPr>
        <p:spPr>
          <a:xfrm>
            <a:off x="6967728" y="352958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Протокол точности</a:t>
            </a:r>
            <a:endParaRPr lang="ru-RU" sz="880" dirty="0"/>
          </a:p>
        </p:txBody>
      </p:sp>
      <p:sp>
        <p:nvSpPr>
          <p:cNvPr id="34" name="Text 32"/>
          <p:cNvSpPr/>
          <p:nvPr/>
        </p:nvSpPr>
        <p:spPr>
          <a:xfrm>
            <a:off x="6967728" y="374904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порог, допуск и порядок приёмки</a:t>
            </a:r>
            <a:endParaRPr lang="ru-RU" sz="710" dirty="0"/>
          </a:p>
        </p:txBody>
      </p:sp>
      <p:sp>
        <p:nvSpPr>
          <p:cNvPr id="35" name="Shape 33"/>
          <p:cNvSpPr/>
          <p:nvPr/>
        </p:nvSpPr>
        <p:spPr>
          <a:xfrm>
            <a:off x="457200" y="4178808"/>
            <a:ext cx="82296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78808"/>
            <a:ext cx="960120" cy="3657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3251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8" name="Text 36"/>
          <p:cNvSpPr/>
          <p:nvPr/>
        </p:nvSpPr>
        <p:spPr>
          <a:xfrm>
            <a:off x="1600200" y="4288536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этих четырёх соглашений диапазон не используется как критерий приёмки.</a:t>
            </a:r>
            <a:endParaRPr lang="ru-RU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Арифметика отделена от интерпретации и оставляет воспроизводимый расчётный след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1371600" cy="12070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</a:t>
            </a:r>
            <a:endParaRPr lang="ru-RU" sz="740" dirty="0"/>
          </a:p>
        </p:txBody>
      </p:sp>
      <p:sp>
        <p:nvSpPr>
          <p:cNvPr id="10" name="Text 8"/>
          <p:cNvSpPr/>
          <p:nvPr/>
        </p:nvSpPr>
        <p:spPr>
          <a:xfrm>
            <a:off x="640080" y="2048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ВОР · строка 184</a:t>
            </a:r>
            <a:endParaRPr lang="ru-RU" sz="1020" dirty="0"/>
          </a:p>
        </p:txBody>
      </p:sp>
      <p:sp>
        <p:nvSpPr>
          <p:cNvPr id="11" name="Shape 9"/>
          <p:cNvSpPr/>
          <p:nvPr/>
        </p:nvSpPr>
        <p:spPr>
          <a:xfrm>
            <a:off x="1892808" y="2231136"/>
            <a:ext cx="228600" cy="274320"/>
          </a:xfrm>
          <a:prstGeom prst="line">
            <a:avLst/>
          </a:prstGeom>
          <a:noFill/>
          <a:ln w="1651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0552" y="1755648"/>
            <a:ext cx="1371600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938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</a:t>
            </a:r>
            <a:endParaRPr lang="ru-RU" sz="740" dirty="0"/>
          </a:p>
        </p:txBody>
      </p:sp>
      <p:sp>
        <p:nvSpPr>
          <p:cNvPr id="14" name="Text 12"/>
          <p:cNvSpPr/>
          <p:nvPr/>
        </p:nvSpPr>
        <p:spPr>
          <a:xfrm>
            <a:off x="2267712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 м² × 3 840 ₽</a:t>
            </a:r>
            <a:endParaRPr lang="ru-RU" sz="1020" dirty="0"/>
          </a:p>
        </p:txBody>
      </p:sp>
      <p:sp>
        <p:nvSpPr>
          <p:cNvPr id="15" name="Shape 13"/>
          <p:cNvSpPr/>
          <p:nvPr/>
        </p:nvSpPr>
        <p:spPr>
          <a:xfrm>
            <a:off x="3520440" y="2231136"/>
            <a:ext cx="228600" cy="-274320"/>
          </a:xfrm>
          <a:prstGeom prst="line">
            <a:avLst/>
          </a:prstGeom>
          <a:noFill/>
          <a:ln w="1651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58184" y="1481328"/>
            <a:ext cx="1371600" cy="1207008"/>
          </a:xfrm>
          <a:prstGeom prst="rect">
            <a:avLst/>
          </a:prstGeom>
          <a:solidFill>
            <a:srgbClr val="F5F5F5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ФОРМУЛА</a:t>
            </a:r>
            <a:endParaRPr lang="ru-RU" sz="740" dirty="0"/>
          </a:p>
        </p:txBody>
      </p:sp>
      <p:sp>
        <p:nvSpPr>
          <p:cNvPr id="18" name="Text 16"/>
          <p:cNvSpPr/>
          <p:nvPr/>
        </p:nvSpPr>
        <p:spPr>
          <a:xfrm>
            <a:off x="3895344" y="2048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объём × цена</a:t>
            </a:r>
            <a:endParaRPr lang="ru-RU" sz="1020" dirty="0"/>
          </a:p>
        </p:txBody>
      </p:sp>
      <p:sp>
        <p:nvSpPr>
          <p:cNvPr id="19" name="Shape 17"/>
          <p:cNvSpPr/>
          <p:nvPr/>
        </p:nvSpPr>
        <p:spPr>
          <a:xfrm>
            <a:off x="5148072" y="2231136"/>
            <a:ext cx="228600" cy="274320"/>
          </a:xfrm>
          <a:prstGeom prst="line">
            <a:avLst/>
          </a:prstGeom>
          <a:noFill/>
          <a:ln w="1651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85816" y="1755648"/>
            <a:ext cx="1371600" cy="1207008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938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ru-RU" sz="740" dirty="0"/>
          </a:p>
        </p:txBody>
      </p:sp>
      <p:sp>
        <p:nvSpPr>
          <p:cNvPr id="22" name="Text 20"/>
          <p:cNvSpPr/>
          <p:nvPr/>
        </p:nvSpPr>
        <p:spPr>
          <a:xfrm>
            <a:off x="5522976" y="23225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480 000 ₽</a:t>
            </a:r>
            <a:endParaRPr lang="ru-RU" sz="1020" dirty="0"/>
          </a:p>
        </p:txBody>
      </p:sp>
      <p:sp>
        <p:nvSpPr>
          <p:cNvPr id="23" name="Shape 21"/>
          <p:cNvSpPr/>
          <p:nvPr/>
        </p:nvSpPr>
        <p:spPr>
          <a:xfrm>
            <a:off x="6775704" y="2231136"/>
            <a:ext cx="228600" cy="-274320"/>
          </a:xfrm>
          <a:prstGeom prst="line">
            <a:avLst/>
          </a:prstGeom>
          <a:noFill/>
          <a:ln w="1651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13448" y="1481328"/>
            <a:ext cx="1371600" cy="120700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6642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ВЛИЯНИЕ</a:t>
            </a:r>
            <a:endParaRPr lang="ru-RU" sz="740" dirty="0"/>
          </a:p>
        </p:txBody>
      </p:sp>
      <p:sp>
        <p:nvSpPr>
          <p:cNvPr id="26" name="Text 24"/>
          <p:cNvSpPr/>
          <p:nvPr/>
        </p:nvSpPr>
        <p:spPr>
          <a:xfrm>
            <a:off x="7150608" y="2048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+ 320 ₽/м²</a:t>
            </a:r>
            <a:endParaRPr lang="ru-RU" sz="1020" dirty="0"/>
          </a:p>
        </p:txBody>
      </p:sp>
      <p:sp>
        <p:nvSpPr>
          <p:cNvPr id="27" name="Shape 25"/>
          <p:cNvSpPr/>
          <p:nvPr/>
        </p:nvSpPr>
        <p:spPr>
          <a:xfrm>
            <a:off x="685800" y="3337560"/>
            <a:ext cx="7772400" cy="621792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547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сходимость разделов</a:t>
            </a:r>
            <a:endParaRPr lang="ru-RU" sz="750" dirty="0"/>
          </a:p>
        </p:txBody>
      </p:sp>
      <p:sp>
        <p:nvSpPr>
          <p:cNvPr id="29" name="Text 27"/>
          <p:cNvSpPr/>
          <p:nvPr/>
        </p:nvSpPr>
        <p:spPr>
          <a:xfrm>
            <a:off x="2377440" y="3547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минимум / максимум / медиана</a:t>
            </a:r>
            <a:endParaRPr lang="ru-RU" sz="750" dirty="0"/>
          </a:p>
        </p:txBody>
      </p:sp>
      <p:sp>
        <p:nvSpPr>
          <p:cNvPr id="30" name="Text 28"/>
          <p:cNvSpPr/>
          <p:nvPr/>
        </p:nvSpPr>
        <p:spPr>
          <a:xfrm>
            <a:off x="3886200" y="3547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 и ₽/м²</a:t>
            </a:r>
            <a:endParaRPr lang="ru-RU" sz="750" dirty="0"/>
          </a:p>
        </p:txBody>
      </p:sp>
      <p:sp>
        <p:nvSpPr>
          <p:cNvPr id="31" name="Text 29"/>
          <p:cNvSpPr/>
          <p:nvPr/>
        </p:nvSpPr>
        <p:spPr>
          <a:xfrm>
            <a:off x="5394960" y="3547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БДДС и кассовые разрывы</a:t>
            </a:r>
            <a:endParaRPr lang="ru-RU" sz="750" dirty="0"/>
          </a:p>
        </p:txBody>
      </p:sp>
      <p:sp>
        <p:nvSpPr>
          <p:cNvPr id="32" name="Text 30"/>
          <p:cNvSpPr/>
          <p:nvPr/>
        </p:nvSpPr>
        <p:spPr>
          <a:xfrm>
            <a:off x="6903720" y="35478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проценты и график кредита</a:t>
            </a:r>
            <a:endParaRPr lang="ru-RU" sz="750" dirty="0"/>
          </a:p>
        </p:txBody>
      </p:sp>
      <p:sp>
        <p:nvSpPr>
          <p:cNvPr id="33" name="Text 31"/>
          <p:cNvSpPr/>
          <p:nvPr/>
        </p:nvSpPr>
        <p:spPr>
          <a:xfrm>
            <a:off x="457200" y="45079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Продуктовый паспорт, раздел 8.4 · целевой расчётный модуль</a:t>
            </a:r>
            <a:endParaRPr lang="ru-RU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Девять функциональных компетенций собираются вокруг одного результата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057400" cy="12984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23113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· МАРЖА</a:t>
            </a:r>
            <a:endParaRPr lang="ru-RU" sz="1100" dirty="0"/>
          </a:p>
          <a:p>
            <a:pPr algn="ctr" indent="0" marL="0">
              <a:buNone/>
            </a:pPr>
            <a:r>
              <a:rPr lang="ru-RU" alt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РИСКИ · ДЕЙСТВИЯ</a:t>
            </a:r>
            <a:endParaRPr lang="ru-RU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152144"/>
            <a:ext cx="2240280" cy="102412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29844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ТЕХНИЧЕСКИЙ КОНТУР</a:t>
            </a:r>
            <a:endParaRPr lang="ru-RU" sz="750" dirty="0"/>
          </a:p>
        </p:txBody>
      </p:sp>
      <p:sp>
        <p:nvSpPr>
          <p:cNvPr id="12" name="Text 10"/>
          <p:cNvSpPr/>
          <p:nvPr/>
        </p:nvSpPr>
        <p:spPr>
          <a:xfrm>
            <a:off x="722376" y="16367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ГИП</a:t>
            </a:r>
            <a:endParaRPr lang="ru-RU" sz="850" dirty="0"/>
          </a:p>
        </p:txBody>
      </p:sp>
      <p:sp>
        <p:nvSpPr>
          <p:cNvPr id="13" name="Text 11"/>
          <p:cNvSpPr/>
          <p:nvPr/>
        </p:nvSpPr>
        <p:spPr>
          <a:xfrm>
            <a:off x="1709928" y="16367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Сметчик</a:t>
            </a:r>
            <a:endParaRPr lang="ru-RU" sz="850" dirty="0"/>
          </a:p>
        </p:txBody>
      </p:sp>
      <p:sp>
        <p:nvSpPr>
          <p:cNvPr id="14" name="Shape 12"/>
          <p:cNvSpPr/>
          <p:nvPr/>
        </p:nvSpPr>
        <p:spPr>
          <a:xfrm>
            <a:off x="2807208" y="1664208"/>
            <a:ext cx="1280160" cy="859536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1152144"/>
            <a:ext cx="2240280" cy="1024128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29844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КОММЕРЧЕСКИЙ КОНТУР</a:t>
            </a:r>
            <a:endParaRPr lang="ru-RU" sz="750" dirty="0"/>
          </a:p>
        </p:txBody>
      </p:sp>
      <p:sp>
        <p:nvSpPr>
          <p:cNvPr id="17" name="Text 15"/>
          <p:cNvSpPr/>
          <p:nvPr/>
        </p:nvSpPr>
        <p:spPr>
          <a:xfrm>
            <a:off x="6446520" y="16367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Снабжение</a:t>
            </a:r>
            <a:endParaRPr lang="ru-RU" sz="850" dirty="0"/>
          </a:p>
        </p:txBody>
      </p:sp>
      <p:sp>
        <p:nvSpPr>
          <p:cNvPr id="18" name="Text 16"/>
          <p:cNvSpPr/>
          <p:nvPr/>
        </p:nvSpPr>
        <p:spPr>
          <a:xfrm>
            <a:off x="7434072" y="163677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Подряд</a:t>
            </a:r>
            <a:endParaRPr lang="ru-RU" sz="850" dirty="0"/>
          </a:p>
        </p:txBody>
      </p:sp>
      <p:sp>
        <p:nvSpPr>
          <p:cNvPr id="19" name="Shape 17"/>
          <p:cNvSpPr/>
          <p:nvPr/>
        </p:nvSpPr>
        <p:spPr>
          <a:xfrm>
            <a:off x="5577840" y="1664208"/>
            <a:ext cx="713232" cy="859536"/>
          </a:xfrm>
          <a:prstGeom prst="line">
            <a:avLst/>
          </a:prstGeom>
          <a:noFill/>
          <a:ln w="16510">
            <a:solidFill>
              <a:srgbClr val="FF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090672"/>
            <a:ext cx="2240280" cy="102412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36976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ФИНАНСОВЫЙ КОНТУР</a:t>
            </a:r>
            <a:endParaRPr lang="ru-RU" sz="750" dirty="0"/>
          </a:p>
        </p:txBody>
      </p:sp>
      <p:sp>
        <p:nvSpPr>
          <p:cNvPr id="22" name="Text 20"/>
          <p:cNvSpPr/>
          <p:nvPr/>
        </p:nvSpPr>
        <p:spPr>
          <a:xfrm>
            <a:off x="722376" y="3575304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Экономист</a:t>
            </a:r>
            <a:endParaRPr lang="ru-RU" sz="850" dirty="0"/>
          </a:p>
        </p:txBody>
      </p:sp>
      <p:sp>
        <p:nvSpPr>
          <p:cNvPr id="23" name="Shape 21"/>
          <p:cNvSpPr/>
          <p:nvPr/>
        </p:nvSpPr>
        <p:spPr>
          <a:xfrm>
            <a:off x="2807208" y="3602736"/>
            <a:ext cx="1280160" cy="-1078992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2880360"/>
            <a:ext cx="2240280" cy="135331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026664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УПРАВЛЕНЧЕСКИЙ КОНТУР</a:t>
            </a:r>
            <a:endParaRPr lang="ru-RU" sz="750" dirty="0"/>
          </a:p>
        </p:txBody>
      </p:sp>
      <p:sp>
        <p:nvSpPr>
          <p:cNvPr id="26" name="Text 24"/>
          <p:cNvSpPr/>
          <p:nvPr/>
        </p:nvSpPr>
        <p:spPr>
          <a:xfrm>
            <a:off x="6446520" y="336499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ПТО</a:t>
            </a:r>
            <a:endParaRPr lang="ru-RU" sz="850" dirty="0"/>
          </a:p>
        </p:txBody>
      </p:sp>
      <p:sp>
        <p:nvSpPr>
          <p:cNvPr id="27" name="Text 25"/>
          <p:cNvSpPr/>
          <p:nvPr/>
        </p:nvSpPr>
        <p:spPr>
          <a:xfrm>
            <a:off x="7434072" y="336499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Юрист</a:t>
            </a:r>
            <a:endParaRPr lang="ru-RU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374904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Руководитель проекта</a:t>
            </a:r>
            <a:endParaRPr lang="ru-RU" sz="850" dirty="0"/>
          </a:p>
        </p:txBody>
      </p:sp>
      <p:sp>
        <p:nvSpPr>
          <p:cNvPr id="29" name="Text 27"/>
          <p:cNvSpPr/>
          <p:nvPr/>
        </p:nvSpPr>
        <p:spPr>
          <a:xfrm>
            <a:off x="7434072" y="3749040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Администратор</a:t>
            </a:r>
            <a:endParaRPr lang="ru-RU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3557016"/>
            <a:ext cx="713232" cy="-1033272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435254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Функциональные зоны анализа — не обещание заменить соответствующих сотрудников.</a:t>
            </a:r>
            <a:endParaRPr lang="ru-RU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Инженерия и сметы сначала проверяют физику, объёмы и основания цены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1920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371600"/>
            <a:ext cx="274320" cy="274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371600"/>
            <a:ext cx="274320" cy="274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711" y="1453896"/>
            <a:ext cx="137160" cy="1417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" y="1487729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972" y="1531620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9264" y="1487729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1531620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14264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ВЕДОМОСТЬ РАБОТ</a:t>
            </a:r>
            <a:endParaRPr lang="ru-RU" sz="750" dirty="0"/>
          </a:p>
        </p:txBody>
      </p:sp>
      <p:sp>
        <p:nvSpPr>
          <p:cNvPr id="17" name="Shape 15"/>
          <p:cNvSpPr/>
          <p:nvPr/>
        </p:nvSpPr>
        <p:spPr>
          <a:xfrm>
            <a:off x="841248" y="1847088"/>
            <a:ext cx="1554480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172821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ru-RU" sz="650" dirty="0"/>
          </a:p>
        </p:txBody>
      </p:sp>
      <p:sp>
        <p:nvSpPr>
          <p:cNvPr id="19" name="Shape 17"/>
          <p:cNvSpPr/>
          <p:nvPr/>
        </p:nvSpPr>
        <p:spPr>
          <a:xfrm>
            <a:off x="841248" y="2066544"/>
            <a:ext cx="1554480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19476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650" dirty="0"/>
          </a:p>
        </p:txBody>
      </p:sp>
      <p:sp>
        <p:nvSpPr>
          <p:cNvPr id="21" name="Shape 19"/>
          <p:cNvSpPr/>
          <p:nvPr/>
        </p:nvSpPr>
        <p:spPr>
          <a:xfrm>
            <a:off x="841248" y="2286000"/>
            <a:ext cx="1554480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1671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650" dirty="0"/>
          </a:p>
        </p:txBody>
      </p:sp>
      <p:sp>
        <p:nvSpPr>
          <p:cNvPr id="23" name="Shape 21"/>
          <p:cNvSpPr/>
          <p:nvPr/>
        </p:nvSpPr>
        <p:spPr>
          <a:xfrm>
            <a:off x="841248" y="2505456"/>
            <a:ext cx="1554480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2386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ru-RU" sz="650" dirty="0"/>
          </a:p>
        </p:txBody>
      </p:sp>
      <p:sp>
        <p:nvSpPr>
          <p:cNvPr id="25" name="Shape 23"/>
          <p:cNvSpPr/>
          <p:nvPr/>
        </p:nvSpPr>
        <p:spPr>
          <a:xfrm>
            <a:off x="841248" y="2724912"/>
            <a:ext cx="1554480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60604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ru-RU" sz="650" dirty="0"/>
          </a:p>
        </p:txBody>
      </p:sp>
      <p:sp>
        <p:nvSpPr>
          <p:cNvPr id="27" name="Shape 25"/>
          <p:cNvSpPr/>
          <p:nvPr/>
        </p:nvSpPr>
        <p:spPr>
          <a:xfrm>
            <a:off x="841248" y="2944368"/>
            <a:ext cx="1554480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2825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ru-RU" sz="650" dirty="0"/>
          </a:p>
        </p:txBody>
      </p:sp>
      <p:sp>
        <p:nvSpPr>
          <p:cNvPr id="29" name="Shape 27"/>
          <p:cNvSpPr/>
          <p:nvPr/>
        </p:nvSpPr>
        <p:spPr>
          <a:xfrm>
            <a:off x="841248" y="3163824"/>
            <a:ext cx="1554480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30449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ru-RU" sz="650" dirty="0"/>
          </a:p>
        </p:txBody>
      </p:sp>
      <p:sp>
        <p:nvSpPr>
          <p:cNvPr id="31" name="Text 29"/>
          <p:cNvSpPr/>
          <p:nvPr/>
        </p:nvSpPr>
        <p:spPr>
          <a:xfrm>
            <a:off x="841248" y="347472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ИТОГО</a:t>
            </a:r>
            <a:endParaRPr lang="ru-RU" sz="700" dirty="0"/>
          </a:p>
        </p:txBody>
      </p:sp>
      <p:sp>
        <p:nvSpPr>
          <p:cNvPr id="32" name="Text 30"/>
          <p:cNvSpPr/>
          <p:nvPr/>
        </p:nvSpPr>
        <p:spPr>
          <a:xfrm>
            <a:off x="1408176" y="34472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равно составу</a:t>
            </a:r>
            <a:endParaRPr lang="ru-RU" sz="800" dirty="0"/>
          </a:p>
        </p:txBody>
      </p:sp>
      <p:sp>
        <p:nvSpPr>
          <p:cNvPr id="33" name="Shape 31"/>
          <p:cNvSpPr/>
          <p:nvPr/>
        </p:nvSpPr>
        <p:spPr>
          <a:xfrm>
            <a:off x="2624328" y="2011680"/>
            <a:ext cx="3200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88366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основания</a:t>
            </a:r>
            <a:endParaRPr lang="ru-RU" sz="750" dirty="0"/>
          </a:p>
        </p:txBody>
      </p:sp>
      <p:sp>
        <p:nvSpPr>
          <p:cNvPr id="35" name="Shape 33"/>
          <p:cNvSpPr/>
          <p:nvPr/>
        </p:nvSpPr>
        <p:spPr>
          <a:xfrm>
            <a:off x="2624328" y="2615184"/>
            <a:ext cx="3200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2487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двойной учёт</a:t>
            </a:r>
            <a:endParaRPr lang="ru-RU" sz="750" dirty="0"/>
          </a:p>
        </p:txBody>
      </p:sp>
      <p:sp>
        <p:nvSpPr>
          <p:cNvPr id="37" name="Shape 35"/>
          <p:cNvSpPr/>
          <p:nvPr/>
        </p:nvSpPr>
        <p:spPr>
          <a:xfrm>
            <a:off x="2624328" y="3218688"/>
            <a:ext cx="320040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309067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коэффициент</a:t>
            </a:r>
            <a:endParaRPr lang="ru-RU" sz="750" dirty="0"/>
          </a:p>
        </p:txBody>
      </p:sp>
      <p:sp>
        <p:nvSpPr>
          <p:cNvPr id="39" name="Shape 37"/>
          <p:cNvSpPr/>
          <p:nvPr/>
        </p:nvSpPr>
        <p:spPr>
          <a:xfrm>
            <a:off x="4023360" y="1216152"/>
            <a:ext cx="4251960" cy="676656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4528" y="136245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ГИП</a:t>
            </a:r>
            <a:endParaRPr lang="ru-RU" sz="800" dirty="0"/>
          </a:p>
        </p:txBody>
      </p:sp>
      <p:sp>
        <p:nvSpPr>
          <p:cNvPr id="41" name="Text 39"/>
          <p:cNvSpPr/>
          <p:nvPr/>
        </p:nvSpPr>
        <p:spPr>
          <a:xfrm>
            <a:off x="5257800" y="13258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 · комплектность · подтверждение работ</a:t>
            </a:r>
            <a:endParaRPr lang="ru-RU" sz="920" dirty="0"/>
          </a:p>
        </p:txBody>
      </p:sp>
      <p:sp>
        <p:nvSpPr>
          <p:cNvPr id="42" name="Shape 40"/>
          <p:cNvSpPr/>
          <p:nvPr/>
        </p:nvSpPr>
        <p:spPr>
          <a:xfrm>
            <a:off x="6126480" y="1892808"/>
            <a:ext cx="0" cy="256032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023360" y="2148840"/>
            <a:ext cx="4251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24528" y="22951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СМЕТЧИК</a:t>
            </a:r>
            <a:endParaRPr lang="ru-RU" sz="800" dirty="0"/>
          </a:p>
        </p:txBody>
      </p:sp>
      <p:sp>
        <p:nvSpPr>
          <p:cNvPr id="45" name="Text 43"/>
          <p:cNvSpPr/>
          <p:nvPr/>
        </p:nvSpPr>
        <p:spPr>
          <a:xfrm>
            <a:off x="5257800" y="22585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сходимость · объёмы · расценки · отклонения</a:t>
            </a:r>
            <a:endParaRPr lang="ru-RU" sz="920" dirty="0"/>
          </a:p>
        </p:txBody>
      </p:sp>
      <p:sp>
        <p:nvSpPr>
          <p:cNvPr id="46" name="Shape 44"/>
          <p:cNvSpPr/>
          <p:nvPr/>
        </p:nvSpPr>
        <p:spPr>
          <a:xfrm>
            <a:off x="6126480" y="2825496"/>
            <a:ext cx="0" cy="256032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023360" y="3081528"/>
            <a:ext cx="4251960" cy="676656"/>
          </a:xfrm>
          <a:prstGeom prst="rect">
            <a:avLst/>
          </a:prstGeom>
          <a:solidFill>
            <a:srgbClr val="FF0000"/>
          </a:solidFill>
          <a:ln w="7620">
            <a:solidFill>
              <a:srgbClr val="FF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24528" y="322783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</a:t>
            </a:r>
            <a:endParaRPr lang="ru-RU" sz="800" dirty="0"/>
          </a:p>
        </p:txBody>
      </p:sp>
      <p:sp>
        <p:nvSpPr>
          <p:cNvPr id="49" name="Text 47"/>
          <p:cNvSpPr/>
          <p:nvPr/>
        </p:nvSpPr>
        <p:spPr>
          <a:xfrm>
            <a:off x="5257800" y="31912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реестр вопросов и денежное влияние</a:t>
            </a:r>
            <a:endParaRPr lang="ru-RU" sz="920" dirty="0"/>
          </a:p>
        </p:txBody>
      </p:sp>
      <p:sp>
        <p:nvSpPr>
          <p:cNvPr id="50" name="Shape 4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160520"/>
            <a:ext cx="960120" cy="3657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3068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53" name="Text 51"/>
          <p:cNvSpPr/>
          <p:nvPr/>
        </p:nvSpPr>
        <p:spPr>
          <a:xfrm>
            <a:off x="1600200" y="4270248"/>
            <a:ext cx="690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Сначала подтверждается физика объекта; только затем денежный вывод становится пригодным для переговоров.</a:t>
            </a:r>
            <a:endParaRPr lang="ru-RU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Снабжение и подряд раскрывают состав цены до переговоров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1874520" cy="2615184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38074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 1</a:t>
            </a:r>
            <a:endParaRPr lang="ru-RU" sz="820" dirty="0"/>
          </a:p>
        </p:txBody>
      </p:sp>
      <p:sp>
        <p:nvSpPr>
          <p:cNvPr id="10" name="Shape 8"/>
          <p:cNvSpPr/>
          <p:nvPr/>
        </p:nvSpPr>
        <p:spPr>
          <a:xfrm>
            <a:off x="667512" y="1929384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8379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 включены</a:t>
            </a:r>
            <a:endParaRPr lang="ru-RU" sz="800" dirty="0"/>
          </a:p>
        </p:txBody>
      </p:sp>
      <p:sp>
        <p:nvSpPr>
          <p:cNvPr id="12" name="Shape 10"/>
          <p:cNvSpPr/>
          <p:nvPr/>
        </p:nvSpPr>
        <p:spPr>
          <a:xfrm>
            <a:off x="667512" y="2368296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276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доставка включена</a:t>
            </a:r>
            <a:endParaRPr lang="ru-RU" sz="800" dirty="0"/>
          </a:p>
        </p:txBody>
      </p:sp>
      <p:sp>
        <p:nvSpPr>
          <p:cNvPr id="14" name="Shape 12"/>
          <p:cNvSpPr/>
          <p:nvPr/>
        </p:nvSpPr>
        <p:spPr>
          <a:xfrm>
            <a:off x="667512" y="280720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715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пусконаладка включена</a:t>
            </a:r>
            <a:endParaRPr lang="ru-RU" sz="800" dirty="0"/>
          </a:p>
        </p:txBody>
      </p:sp>
      <p:sp>
        <p:nvSpPr>
          <p:cNvPr id="16" name="Shape 14"/>
          <p:cNvSpPr/>
          <p:nvPr/>
        </p:nvSpPr>
        <p:spPr>
          <a:xfrm>
            <a:off x="649224" y="3200400"/>
            <a:ext cx="1581912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40156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состав</a:t>
            </a:r>
            <a:endParaRPr lang="ru-RU" sz="840" dirty="0"/>
          </a:p>
        </p:txBody>
      </p:sp>
      <p:sp>
        <p:nvSpPr>
          <p:cNvPr id="18" name="Shape 16"/>
          <p:cNvSpPr/>
          <p:nvPr/>
        </p:nvSpPr>
        <p:spPr>
          <a:xfrm>
            <a:off x="2651760" y="1307592"/>
            <a:ext cx="1874520" cy="2615184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8064" y="151790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 2</a:t>
            </a:r>
            <a:endParaRPr lang="ru-RU" sz="820" dirty="0"/>
          </a:p>
        </p:txBody>
      </p:sp>
      <p:sp>
        <p:nvSpPr>
          <p:cNvPr id="20" name="Shape 18"/>
          <p:cNvSpPr/>
          <p:nvPr/>
        </p:nvSpPr>
        <p:spPr>
          <a:xfrm>
            <a:off x="2816352" y="2066544"/>
            <a:ext cx="73152" cy="7315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19751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 частично</a:t>
            </a:r>
            <a:endParaRPr lang="ru-RU" sz="800" dirty="0"/>
          </a:p>
        </p:txBody>
      </p:sp>
      <p:sp>
        <p:nvSpPr>
          <p:cNvPr id="22" name="Shape 20"/>
          <p:cNvSpPr/>
          <p:nvPr/>
        </p:nvSpPr>
        <p:spPr>
          <a:xfrm>
            <a:off x="2816352" y="2505456"/>
            <a:ext cx="73152" cy="7315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24140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доставка отдельно</a:t>
            </a:r>
            <a:endParaRPr lang="ru-RU" sz="800" dirty="0"/>
          </a:p>
        </p:txBody>
      </p:sp>
      <p:sp>
        <p:nvSpPr>
          <p:cNvPr id="24" name="Shape 22"/>
          <p:cNvSpPr/>
          <p:nvPr/>
        </p:nvSpPr>
        <p:spPr>
          <a:xfrm>
            <a:off x="2816352" y="2944368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852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пусконаладка включена</a:t>
            </a:r>
            <a:endParaRPr lang="ru-RU" sz="800" dirty="0"/>
          </a:p>
        </p:txBody>
      </p:sp>
      <p:sp>
        <p:nvSpPr>
          <p:cNvPr id="26" name="Shape 24"/>
          <p:cNvSpPr/>
          <p:nvPr/>
        </p:nvSpPr>
        <p:spPr>
          <a:xfrm>
            <a:off x="2798064" y="3337560"/>
            <a:ext cx="1581912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98064" y="353872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нужна корректировка</a:t>
            </a:r>
            <a:endParaRPr lang="ru-RU" sz="840" dirty="0"/>
          </a:p>
        </p:txBody>
      </p:sp>
      <p:sp>
        <p:nvSpPr>
          <p:cNvPr id="28" name="Shape 26"/>
          <p:cNvSpPr/>
          <p:nvPr/>
        </p:nvSpPr>
        <p:spPr>
          <a:xfrm>
            <a:off x="4800600" y="1444752"/>
            <a:ext cx="1874520" cy="2615184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16550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ПРЕДЛОЖЕНИЕ 3</a:t>
            </a:r>
            <a:endParaRPr lang="ru-RU" sz="820" dirty="0"/>
          </a:p>
        </p:txBody>
      </p:sp>
      <p:sp>
        <p:nvSpPr>
          <p:cNvPr id="30" name="Shape 28"/>
          <p:cNvSpPr/>
          <p:nvPr/>
        </p:nvSpPr>
        <p:spPr>
          <a:xfrm>
            <a:off x="4965192" y="2203704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8072" y="21122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 включены</a:t>
            </a:r>
            <a:endParaRPr lang="ru-RU" sz="800" dirty="0"/>
          </a:p>
        </p:txBody>
      </p:sp>
      <p:sp>
        <p:nvSpPr>
          <p:cNvPr id="32" name="Shape 30"/>
          <p:cNvSpPr/>
          <p:nvPr/>
        </p:nvSpPr>
        <p:spPr>
          <a:xfrm>
            <a:off x="4965192" y="2642616"/>
            <a:ext cx="73152" cy="7315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8072" y="25511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доставка не указана</a:t>
            </a:r>
            <a:endParaRPr lang="ru-RU" sz="800" dirty="0"/>
          </a:p>
        </p:txBody>
      </p:sp>
      <p:sp>
        <p:nvSpPr>
          <p:cNvPr id="34" name="Shape 32"/>
          <p:cNvSpPr/>
          <p:nvPr/>
        </p:nvSpPr>
        <p:spPr>
          <a:xfrm>
            <a:off x="4965192" y="3081528"/>
            <a:ext cx="73152" cy="7315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29900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пусконаладка отсутствует</a:t>
            </a:r>
            <a:endParaRPr lang="ru-RU" sz="800" dirty="0"/>
          </a:p>
        </p:txBody>
      </p:sp>
      <p:sp>
        <p:nvSpPr>
          <p:cNvPr id="36" name="Shape 34"/>
          <p:cNvSpPr/>
          <p:nvPr/>
        </p:nvSpPr>
        <p:spPr>
          <a:xfrm>
            <a:off x="4946904" y="3474720"/>
            <a:ext cx="1581912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46904" y="367588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4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риск доплаты</a:t>
            </a:r>
            <a:endParaRPr lang="ru-RU" sz="840" dirty="0"/>
          </a:p>
        </p:txBody>
      </p:sp>
      <p:sp>
        <p:nvSpPr>
          <p:cNvPr id="38" name="Shape 36"/>
          <p:cNvSpPr/>
          <p:nvPr/>
        </p:nvSpPr>
        <p:spPr>
          <a:xfrm>
            <a:off x="7040880" y="2304288"/>
            <a:ext cx="41148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543800" y="1435608"/>
            <a:ext cx="1069848" cy="1783080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1856232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ЕДИНЫЙ</a:t>
            </a:r>
            <a:endParaRPr lang="ru-RU" sz="1030" dirty="0"/>
          </a:p>
          <a:p>
            <a:pPr algn="ctr" indent="0" marL="0">
              <a:buNone/>
            </a:pPr>
            <a:r>
              <a:rPr lang="ru-RU" altLang="en-US" sz="10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ПРЕДМЕТ</a:t>
            </a:r>
            <a:endParaRPr lang="ru-RU" sz="1030" dirty="0"/>
          </a:p>
          <a:p>
            <a:pPr algn="ctr" indent="0" marL="0">
              <a:buNone/>
            </a:pPr>
            <a:r>
              <a:rPr lang="ru-RU" altLang="en-US" sz="10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ПЕРЕГОВОРОВ</a:t>
            </a:r>
            <a:endParaRPr lang="ru-RU" sz="1030" dirty="0"/>
          </a:p>
        </p:txBody>
      </p:sp>
      <p:sp>
        <p:nvSpPr>
          <p:cNvPr id="41" name="Text 39"/>
          <p:cNvSpPr/>
          <p:nvPr/>
        </p:nvSpPr>
        <p:spPr>
          <a:xfrm>
            <a:off x="7077456" y="35021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3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Внешний поиск подрядчиков — отдельный регулируемый процесс, не автоматическая часть каждого проекта.</a:t>
            </a:r>
            <a:endParaRPr lang="ru-RU" sz="730" dirty="0"/>
          </a:p>
        </p:txBody>
      </p:sp>
      <p:sp>
        <p:nvSpPr>
          <p:cNvPr id="42" name="Text 40"/>
          <p:cNvSpPr/>
          <p:nvPr/>
        </p:nvSpPr>
        <p:spPr>
          <a:xfrm>
            <a:off x="457200" y="45079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Универсальное КП, разделы 4.2 и 5 · целевой сравнительный контур</a:t>
            </a:r>
            <a:endParaRPr lang="ru-RU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Экономика переводит отклонение в рубли на метр, маржу и график денег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941832" y="1399032"/>
            <a:ext cx="4507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863090"/>
            <a:ext cx="4507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327148"/>
            <a:ext cx="4507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791206"/>
            <a:ext cx="4507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3255264"/>
            <a:ext cx="450799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050908"/>
            <a:ext cx="1126998" cy="-272474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8830" y="2778434"/>
            <a:ext cx="1126998" cy="-391682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5828" y="2386752"/>
            <a:ext cx="1126998" cy="-425741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2826" y="1961010"/>
            <a:ext cx="1126998" cy="-272474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6824" y="14507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· 92 млн ₽</a:t>
            </a:r>
            <a:endParaRPr lang="ru-RU" sz="750" dirty="0"/>
          </a:p>
        </p:txBody>
      </p:sp>
      <p:sp>
        <p:nvSpPr>
          <p:cNvPr id="18" name="Shape 16"/>
          <p:cNvSpPr/>
          <p:nvPr/>
        </p:nvSpPr>
        <p:spPr>
          <a:xfrm>
            <a:off x="941832" y="3050908"/>
            <a:ext cx="1126998" cy="-357623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8830" y="2693286"/>
            <a:ext cx="1126998" cy="-45980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5828" y="2233485"/>
            <a:ext cx="1126998" cy="-47683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2826" y="1756655"/>
            <a:ext cx="1126998" cy="-357623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6824" y="11612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Сценарий отклонения · 109 млн ₽</a:t>
            </a:r>
            <a:endParaRPr lang="ru-RU" sz="750" dirty="0"/>
          </a:p>
        </p:txBody>
      </p:sp>
      <p:sp>
        <p:nvSpPr>
          <p:cNvPr id="23" name="Text 21"/>
          <p:cNvSpPr/>
          <p:nvPr/>
        </p:nvSpPr>
        <p:spPr>
          <a:xfrm>
            <a:off x="713232" y="33741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М1</a:t>
            </a:r>
            <a:endParaRPr lang="ru-RU" sz="700" dirty="0"/>
          </a:p>
        </p:txBody>
      </p:sp>
      <p:sp>
        <p:nvSpPr>
          <p:cNvPr id="24" name="Text 22"/>
          <p:cNvSpPr/>
          <p:nvPr/>
        </p:nvSpPr>
        <p:spPr>
          <a:xfrm>
            <a:off x="1840230" y="33741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М3</a:t>
            </a:r>
            <a:endParaRPr lang="ru-RU" sz="700" dirty="0"/>
          </a:p>
        </p:txBody>
      </p:sp>
      <p:sp>
        <p:nvSpPr>
          <p:cNvPr id="25" name="Text 23"/>
          <p:cNvSpPr/>
          <p:nvPr/>
        </p:nvSpPr>
        <p:spPr>
          <a:xfrm>
            <a:off x="2967228" y="33741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М6</a:t>
            </a:r>
            <a:endParaRPr lang="ru-RU" sz="700" dirty="0"/>
          </a:p>
        </p:txBody>
      </p:sp>
      <p:sp>
        <p:nvSpPr>
          <p:cNvPr id="26" name="Text 24"/>
          <p:cNvSpPr/>
          <p:nvPr/>
        </p:nvSpPr>
        <p:spPr>
          <a:xfrm>
            <a:off x="4094226" y="33741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М9</a:t>
            </a:r>
            <a:endParaRPr lang="ru-RU" sz="700" dirty="0"/>
          </a:p>
        </p:txBody>
      </p:sp>
      <p:sp>
        <p:nvSpPr>
          <p:cNvPr id="27" name="Text 25"/>
          <p:cNvSpPr/>
          <p:nvPr/>
        </p:nvSpPr>
        <p:spPr>
          <a:xfrm>
            <a:off x="5221224" y="33741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М12</a:t>
            </a:r>
            <a:endParaRPr lang="ru-RU" sz="700" dirty="0"/>
          </a:p>
        </p:txBody>
      </p:sp>
      <p:sp>
        <p:nvSpPr>
          <p:cNvPr id="28" name="Shape 26"/>
          <p:cNvSpPr/>
          <p:nvPr/>
        </p:nvSpPr>
        <p:spPr>
          <a:xfrm>
            <a:off x="5897880" y="1188720"/>
            <a:ext cx="11887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12801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₽/м²</a:t>
            </a:r>
            <a:endParaRPr lang="ru-RU" sz="1050" dirty="0"/>
          </a:p>
        </p:txBody>
      </p:sp>
      <p:sp>
        <p:nvSpPr>
          <p:cNvPr id="30" name="Text 28"/>
          <p:cNvSpPr/>
          <p:nvPr/>
        </p:nvSpPr>
        <p:spPr>
          <a:xfrm>
            <a:off x="6007608" y="199339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полная себестоимость</a:t>
            </a:r>
            <a:endParaRPr lang="ru-RU" sz="1050" dirty="0"/>
          </a:p>
        </p:txBody>
      </p:sp>
      <p:sp>
        <p:nvSpPr>
          <p:cNvPr id="31" name="Shape 29"/>
          <p:cNvSpPr/>
          <p:nvPr/>
        </p:nvSpPr>
        <p:spPr>
          <a:xfrm>
            <a:off x="7242048" y="1188720"/>
            <a:ext cx="1188720" cy="10607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12801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сценария</a:t>
            </a:r>
            <a:endParaRPr lang="ru-RU" sz="1050" dirty="0"/>
          </a:p>
        </p:txBody>
      </p:sp>
      <p:sp>
        <p:nvSpPr>
          <p:cNvPr id="33" name="Text 31"/>
          <p:cNvSpPr/>
          <p:nvPr/>
        </p:nvSpPr>
        <p:spPr>
          <a:xfrm>
            <a:off x="7351776" y="199339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модельной маржи</a:t>
            </a:r>
            <a:endParaRPr lang="ru-RU" sz="1050" dirty="0"/>
          </a:p>
        </p:txBody>
      </p:sp>
      <p:sp>
        <p:nvSpPr>
          <p:cNvPr id="34" name="Shape 32"/>
          <p:cNvSpPr/>
          <p:nvPr/>
        </p:nvSpPr>
        <p:spPr>
          <a:xfrm>
            <a:off x="5897880" y="2487168"/>
            <a:ext cx="1188720" cy="10607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257860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БДДС</a:t>
            </a:r>
            <a:endParaRPr lang="ru-RU" sz="1050" dirty="0"/>
          </a:p>
        </p:txBody>
      </p:sp>
      <p:sp>
        <p:nvSpPr>
          <p:cNvPr id="36" name="Text 34"/>
          <p:cNvSpPr/>
          <p:nvPr/>
        </p:nvSpPr>
        <p:spPr>
          <a:xfrm>
            <a:off x="6007608" y="329184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помесячный график</a:t>
            </a:r>
            <a:endParaRPr lang="ru-RU" sz="1050" dirty="0"/>
          </a:p>
        </p:txBody>
      </p:sp>
      <p:sp>
        <p:nvSpPr>
          <p:cNvPr id="37" name="Shape 35"/>
          <p:cNvSpPr/>
          <p:nvPr/>
        </p:nvSpPr>
        <p:spPr>
          <a:xfrm>
            <a:off x="7242048" y="2487168"/>
            <a:ext cx="1188720" cy="106070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1776" y="257860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Кредит</a:t>
            </a:r>
            <a:endParaRPr lang="ru-RU" sz="1050" dirty="0"/>
          </a:p>
        </p:txBody>
      </p:sp>
      <p:sp>
        <p:nvSpPr>
          <p:cNvPr id="39" name="Text 37"/>
          <p:cNvSpPr/>
          <p:nvPr/>
        </p:nvSpPr>
        <p:spPr>
          <a:xfrm>
            <a:off x="7351776" y="329184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стоимость и выборка</a:t>
            </a:r>
            <a:endParaRPr lang="ru-RU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096512"/>
            <a:ext cx="822960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96512"/>
            <a:ext cx="960120" cy="47548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2428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43" name="Text 41"/>
          <p:cNvSpPr/>
          <p:nvPr/>
        </p:nvSpPr>
        <p:spPr>
          <a:xfrm>
            <a:off x="1600200" y="420624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Иллюстративная линия показывает механику влияния, а не прогноз конкретного объекта.</a:t>
            </a:r>
            <a:endParaRPr lang="ru-RU" sz="950" dirty="0"/>
          </a:p>
        </p:txBody>
      </p:sp>
      <p:sp>
        <p:nvSpPr>
          <p:cNvPr id="44" name="Text 42"/>
          <p:cNvSpPr/>
          <p:nvPr/>
        </p:nvSpPr>
        <p:spPr>
          <a:xfrm>
            <a:off x="5468112" y="4553712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продажи и прогноз спроса задаются заказчиком как входные параметры.</a:t>
            </a:r>
            <a:endParaRPr lang="ru-RU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ПТО, юристы, руководитель проекта и администратор превращают находку в действие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ПТО</a:t>
            </a:r>
            <a:endParaRPr lang="ru-RU" sz="820" dirty="0"/>
          </a:p>
        </p:txBody>
      </p:sp>
      <p:sp>
        <p:nvSpPr>
          <p:cNvPr id="9" name="Shape 7"/>
          <p:cNvSpPr/>
          <p:nvPr/>
        </p:nvSpPr>
        <p:spPr>
          <a:xfrm>
            <a:off x="2121408" y="1097280"/>
            <a:ext cx="2404872" cy="56692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126187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расхождения по исполнительным данным</a:t>
            </a:r>
            <a:endParaRPr lang="ru-RU" sz="810" dirty="0"/>
          </a:p>
        </p:txBody>
      </p:sp>
      <p:sp>
        <p:nvSpPr>
          <p:cNvPr id="11" name="Shape 9"/>
          <p:cNvSpPr/>
          <p:nvPr/>
        </p:nvSpPr>
        <p:spPr>
          <a:xfrm>
            <a:off x="4645152" y="1380744"/>
            <a:ext cx="566928" cy="0"/>
          </a:xfrm>
          <a:prstGeom prst="line">
            <a:avLst/>
          </a:prstGeom>
          <a:noFill/>
          <a:ln w="11430">
            <a:solidFill>
              <a:srgbClr val="E0E0E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30952" y="1097280"/>
            <a:ext cx="3236976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финансовое влияние</a:t>
            </a:r>
            <a:endParaRPr lang="ru-RU" sz="870" dirty="0"/>
          </a:p>
        </p:txBody>
      </p:sp>
      <p:sp>
        <p:nvSpPr>
          <p:cNvPr id="14" name="Text 12"/>
          <p:cNvSpPr/>
          <p:nvPr/>
        </p:nvSpPr>
        <p:spPr>
          <a:xfrm>
            <a:off x="548640" y="20574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ЮРИСТ</a:t>
            </a:r>
            <a:endParaRPr lang="ru-RU" sz="820" dirty="0"/>
          </a:p>
        </p:txBody>
      </p:sp>
      <p:sp>
        <p:nvSpPr>
          <p:cNvPr id="15" name="Shape 13"/>
          <p:cNvSpPr/>
          <p:nvPr/>
        </p:nvSpPr>
        <p:spPr>
          <a:xfrm>
            <a:off x="2121408" y="1874520"/>
            <a:ext cx="2404872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04288" y="203911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аванс · удержания · штрафы · гарантии</a:t>
            </a:r>
            <a:endParaRPr lang="ru-RU" sz="810" dirty="0"/>
          </a:p>
        </p:txBody>
      </p:sp>
      <p:sp>
        <p:nvSpPr>
          <p:cNvPr id="17" name="Shape 15"/>
          <p:cNvSpPr/>
          <p:nvPr/>
        </p:nvSpPr>
        <p:spPr>
          <a:xfrm>
            <a:off x="4645152" y="2157984"/>
            <a:ext cx="566928" cy="0"/>
          </a:xfrm>
          <a:prstGeom prst="line">
            <a:avLst/>
          </a:prstGeom>
          <a:noFill/>
          <a:ln w="11430">
            <a:solidFill>
              <a:srgbClr val="E0E0E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30952" y="1874520"/>
            <a:ext cx="3236976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03911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варианты урегулирования</a:t>
            </a:r>
            <a:endParaRPr lang="ru-RU" sz="87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РУКОВОДИТЕЛЬ ПРОЕКТА</a:t>
            </a:r>
            <a:endParaRPr lang="ru-RU" sz="820" dirty="0"/>
          </a:p>
        </p:txBody>
      </p:sp>
      <p:sp>
        <p:nvSpPr>
          <p:cNvPr id="21" name="Shape 19"/>
          <p:cNvSpPr/>
          <p:nvPr/>
        </p:nvSpPr>
        <p:spPr>
          <a:xfrm>
            <a:off x="2121408" y="2651760"/>
            <a:ext cx="2404872" cy="566928"/>
          </a:xfrm>
          <a:prstGeom prst="rect">
            <a:avLst/>
          </a:prstGeom>
          <a:solidFill>
            <a:srgbClr val="F5F5F5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04288" y="281635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свод компетенций и экономика</a:t>
            </a:r>
            <a:endParaRPr lang="ru-RU" sz="810" dirty="0"/>
          </a:p>
        </p:txBody>
      </p:sp>
      <p:sp>
        <p:nvSpPr>
          <p:cNvPr id="23" name="Shape 21"/>
          <p:cNvSpPr/>
          <p:nvPr/>
        </p:nvSpPr>
        <p:spPr>
          <a:xfrm>
            <a:off x="4645152" y="2935224"/>
            <a:ext cx="566928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30952" y="2651760"/>
            <a:ext cx="3236976" cy="566928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8163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приоритетные меры</a:t>
            </a:r>
            <a:endParaRPr lang="ru-RU" sz="870" dirty="0"/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АДМИНИСТРАТОР</a:t>
            </a:r>
            <a:endParaRPr lang="ru-RU" sz="820" dirty="0"/>
          </a:p>
        </p:txBody>
      </p:sp>
      <p:sp>
        <p:nvSpPr>
          <p:cNvPr id="27" name="Shape 25"/>
          <p:cNvSpPr/>
          <p:nvPr/>
        </p:nvSpPr>
        <p:spPr>
          <a:xfrm>
            <a:off x="2121408" y="3429000"/>
            <a:ext cx="2404872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4288" y="3593592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 · ответственные · даты</a:t>
            </a:r>
            <a:endParaRPr lang="ru-RU" sz="810" dirty="0"/>
          </a:p>
        </p:txBody>
      </p:sp>
      <p:sp>
        <p:nvSpPr>
          <p:cNvPr id="29" name="Shape 27"/>
          <p:cNvSpPr/>
          <p:nvPr/>
        </p:nvSpPr>
        <p:spPr>
          <a:xfrm>
            <a:off x="4645152" y="3712464"/>
            <a:ext cx="566928" cy="0"/>
          </a:xfrm>
          <a:prstGeom prst="line">
            <a:avLst/>
          </a:prstGeom>
          <a:noFill/>
          <a:ln w="11430">
            <a:solidFill>
              <a:srgbClr val="E0E0E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30952" y="3429000"/>
            <a:ext cx="3236976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5935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 исполнения</a:t>
            </a:r>
            <a:endParaRPr lang="ru-RU" sz="870" dirty="0"/>
          </a:p>
        </p:txBody>
      </p:sp>
      <p:sp>
        <p:nvSpPr>
          <p:cNvPr id="32" name="Shape 30"/>
          <p:cNvSpPr/>
          <p:nvPr/>
        </p:nvSpPr>
        <p:spPr>
          <a:xfrm>
            <a:off x="457200" y="4233672"/>
            <a:ext cx="8229600" cy="338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33672"/>
            <a:ext cx="960120" cy="3383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799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5" name="Text 33"/>
          <p:cNvSpPr/>
          <p:nvPr/>
        </p:nvSpPr>
        <p:spPr>
          <a:xfrm>
            <a:off x="1600200" y="4343400"/>
            <a:ext cx="6903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Находка становится управляемой, когда назначены действие, владелец и контрольная дата.</a:t>
            </a:r>
            <a:endParaRPr lang="ru-RU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объект проходит сквозной маршрут от загрузки до проверяемой выгрузки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30352" y="1115568"/>
            <a:ext cx="1673352" cy="93268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344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ru-RU" sz="700" dirty="0"/>
          </a:p>
        </p:txBody>
      </p:sp>
      <p:sp>
        <p:nvSpPr>
          <p:cNvPr id="10" name="Text 8"/>
          <p:cNvSpPr/>
          <p:nvPr/>
        </p:nvSpPr>
        <p:spPr>
          <a:xfrm>
            <a:off x="658368" y="1527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 и документы</a:t>
            </a:r>
            <a:endParaRPr lang="ru-RU" sz="880" dirty="0"/>
          </a:p>
        </p:txBody>
      </p:sp>
      <p:sp>
        <p:nvSpPr>
          <p:cNvPr id="11" name="Shape 9"/>
          <p:cNvSpPr/>
          <p:nvPr/>
        </p:nvSpPr>
        <p:spPr>
          <a:xfrm>
            <a:off x="2212848" y="1581912"/>
            <a:ext cx="310896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32888" y="1115568"/>
            <a:ext cx="1673352" cy="93268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12344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700" dirty="0"/>
          </a:p>
        </p:txBody>
      </p:sp>
      <p:sp>
        <p:nvSpPr>
          <p:cNvPr id="14" name="Text 12"/>
          <p:cNvSpPr/>
          <p:nvPr/>
        </p:nvSpPr>
        <p:spPr>
          <a:xfrm>
            <a:off x="2660904" y="1527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Извлечение</a:t>
            </a:r>
            <a:endParaRPr lang="ru-RU" sz="880" dirty="0"/>
          </a:p>
        </p:txBody>
      </p:sp>
      <p:sp>
        <p:nvSpPr>
          <p:cNvPr id="15" name="Shape 13"/>
          <p:cNvSpPr/>
          <p:nvPr/>
        </p:nvSpPr>
        <p:spPr>
          <a:xfrm>
            <a:off x="4215384" y="1581912"/>
            <a:ext cx="310896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35424" y="1115568"/>
            <a:ext cx="1673352" cy="93268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2344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700" dirty="0"/>
          </a:p>
        </p:txBody>
      </p:sp>
      <p:sp>
        <p:nvSpPr>
          <p:cNvPr id="18" name="Text 16"/>
          <p:cNvSpPr/>
          <p:nvPr/>
        </p:nvSpPr>
        <p:spPr>
          <a:xfrm>
            <a:off x="4663440" y="1527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Подтверждение</a:t>
            </a:r>
            <a:endParaRPr lang="ru-RU" sz="880" dirty="0"/>
          </a:p>
        </p:txBody>
      </p:sp>
      <p:sp>
        <p:nvSpPr>
          <p:cNvPr id="19" name="Shape 17"/>
          <p:cNvSpPr/>
          <p:nvPr/>
        </p:nvSpPr>
        <p:spPr>
          <a:xfrm>
            <a:off x="6217920" y="1581912"/>
            <a:ext cx="310896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1115568"/>
            <a:ext cx="167335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23444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ru-RU" sz="700" dirty="0"/>
          </a:p>
        </p:txBody>
      </p:sp>
      <p:sp>
        <p:nvSpPr>
          <p:cNvPr id="22" name="Text 20"/>
          <p:cNvSpPr/>
          <p:nvPr/>
        </p:nvSpPr>
        <p:spPr>
          <a:xfrm>
            <a:off x="6665976" y="1527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Расчёты</a:t>
            </a:r>
            <a:endParaRPr lang="ru-RU" sz="880" dirty="0"/>
          </a:p>
        </p:txBody>
      </p:sp>
      <p:sp>
        <p:nvSpPr>
          <p:cNvPr id="23" name="Shape 21"/>
          <p:cNvSpPr/>
          <p:nvPr/>
        </p:nvSpPr>
        <p:spPr>
          <a:xfrm>
            <a:off x="7379208" y="2057400"/>
            <a:ext cx="0" cy="603504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37960" y="2688336"/>
            <a:ext cx="1673352" cy="93268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2807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ru-RU" sz="700" dirty="0"/>
          </a:p>
        </p:txBody>
      </p:sp>
      <p:sp>
        <p:nvSpPr>
          <p:cNvPr id="26" name="Text 24"/>
          <p:cNvSpPr/>
          <p:nvPr/>
        </p:nvSpPr>
        <p:spPr>
          <a:xfrm>
            <a:off x="6665976" y="3099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Сопоставление</a:t>
            </a:r>
            <a:endParaRPr lang="ru-RU" sz="880" dirty="0"/>
          </a:p>
        </p:txBody>
      </p:sp>
      <p:sp>
        <p:nvSpPr>
          <p:cNvPr id="27" name="Shape 25"/>
          <p:cNvSpPr/>
          <p:nvPr/>
        </p:nvSpPr>
        <p:spPr>
          <a:xfrm>
            <a:off x="6217920" y="3154680"/>
            <a:ext cx="310896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4535424" y="2688336"/>
            <a:ext cx="1673352" cy="93268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807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ru-RU" sz="700" dirty="0"/>
          </a:p>
        </p:txBody>
      </p:sp>
      <p:sp>
        <p:nvSpPr>
          <p:cNvPr id="30" name="Text 28"/>
          <p:cNvSpPr/>
          <p:nvPr/>
        </p:nvSpPr>
        <p:spPr>
          <a:xfrm>
            <a:off x="4663440" y="3099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компетенций</a:t>
            </a:r>
            <a:endParaRPr lang="ru-RU" sz="880" dirty="0"/>
          </a:p>
        </p:txBody>
      </p:sp>
      <p:sp>
        <p:nvSpPr>
          <p:cNvPr id="31" name="Shape 29"/>
          <p:cNvSpPr/>
          <p:nvPr/>
        </p:nvSpPr>
        <p:spPr>
          <a:xfrm>
            <a:off x="4215384" y="3154680"/>
            <a:ext cx="310896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2532888" y="2688336"/>
            <a:ext cx="1673352" cy="93268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60904" y="2807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ru-RU" sz="700" dirty="0"/>
          </a:p>
        </p:txBody>
      </p:sp>
      <p:sp>
        <p:nvSpPr>
          <p:cNvPr id="34" name="Text 32"/>
          <p:cNvSpPr/>
          <p:nvPr/>
        </p:nvSpPr>
        <p:spPr>
          <a:xfrm>
            <a:off x="2660904" y="3099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Свод решения</a:t>
            </a:r>
            <a:endParaRPr lang="ru-RU" sz="880" dirty="0"/>
          </a:p>
        </p:txBody>
      </p:sp>
      <p:sp>
        <p:nvSpPr>
          <p:cNvPr id="35" name="Shape 33"/>
          <p:cNvSpPr/>
          <p:nvPr/>
        </p:nvSpPr>
        <p:spPr>
          <a:xfrm>
            <a:off x="2212848" y="3154680"/>
            <a:ext cx="310896" cy="0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530352" y="2688336"/>
            <a:ext cx="1673352" cy="932688"/>
          </a:xfrm>
          <a:prstGeom prst="rect">
            <a:avLst/>
          </a:prstGeom>
          <a:solidFill>
            <a:srgbClr val="FF0000"/>
          </a:solidFill>
          <a:ln w="7620">
            <a:solidFill>
              <a:srgbClr val="FF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28072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ru-RU" sz="700" dirty="0"/>
          </a:p>
        </p:txBody>
      </p:sp>
      <p:sp>
        <p:nvSpPr>
          <p:cNvPr id="38" name="Text 36"/>
          <p:cNvSpPr/>
          <p:nvPr/>
        </p:nvSpPr>
        <p:spPr>
          <a:xfrm>
            <a:off x="658368" y="30998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 / Word / журнал</a:t>
            </a:r>
            <a:endParaRPr lang="ru-RU" sz="880" dirty="0"/>
          </a:p>
        </p:txBody>
      </p:sp>
      <p:sp>
        <p:nvSpPr>
          <p:cNvPr id="39" name="Text 37"/>
          <p:cNvSpPr/>
          <p:nvPr/>
        </p:nvSpPr>
        <p:spPr>
          <a:xfrm>
            <a:off x="1298448" y="4224528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сохраняется в карточке объекта и может быть повторно запущен без повторной загрузки.</a:t>
            </a:r>
            <a:endParaRPr lang="ru-RU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Режимы глубины работают через очередь, статусы и повторный запуск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737360" cy="150876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07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ЭКСПРЕСС</a:t>
            </a:r>
            <a:endParaRPr lang="ru-RU" sz="840" dirty="0"/>
          </a:p>
        </p:txBody>
      </p:sp>
      <p:sp>
        <p:nvSpPr>
          <p:cNvPr id="10" name="Text 8"/>
          <p:cNvSpPr/>
          <p:nvPr/>
        </p:nvSpPr>
        <p:spPr>
          <a:xfrm>
            <a:off x="640080" y="1700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5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15 минут*</a:t>
            </a:r>
            <a:endParaRPr lang="ru-RU" sz="1500" dirty="0"/>
          </a:p>
        </p:txBody>
      </p:sp>
      <p:sp>
        <p:nvSpPr>
          <p:cNvPr id="11" name="Text 9"/>
          <p:cNvSpPr/>
          <p:nvPr/>
        </p:nvSpPr>
        <p:spPr>
          <a:xfrm>
            <a:off x="649224" y="213969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быстрая проверка ключевых рисков</a:t>
            </a:r>
            <a:endParaRPr lang="ru-RU" sz="740" dirty="0"/>
          </a:p>
        </p:txBody>
      </p:sp>
      <p:sp>
        <p:nvSpPr>
          <p:cNvPr id="12" name="Shape 10"/>
          <p:cNvSpPr/>
          <p:nvPr/>
        </p:nvSpPr>
        <p:spPr>
          <a:xfrm>
            <a:off x="2468880" y="1115568"/>
            <a:ext cx="1737360" cy="1508760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07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4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</a:t>
            </a:r>
            <a:endParaRPr lang="ru-RU" sz="840" dirty="0"/>
          </a:p>
        </p:txBody>
      </p:sp>
      <p:sp>
        <p:nvSpPr>
          <p:cNvPr id="14" name="Text 12"/>
          <p:cNvSpPr/>
          <p:nvPr/>
        </p:nvSpPr>
        <p:spPr>
          <a:xfrm>
            <a:off x="2606040" y="1700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5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1 часа*</a:t>
            </a:r>
            <a:endParaRPr lang="ru-RU" sz="1500" dirty="0"/>
          </a:p>
        </p:txBody>
      </p:sp>
      <p:sp>
        <p:nvSpPr>
          <p:cNvPr id="15" name="Text 13"/>
          <p:cNvSpPr/>
          <p:nvPr/>
        </p:nvSpPr>
        <p:spPr>
          <a:xfrm>
            <a:off x="2615184" y="213969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согласованный контур</a:t>
            </a:r>
            <a:endParaRPr lang="ru-RU" sz="740" dirty="0"/>
          </a:p>
        </p:txBody>
      </p:sp>
      <p:sp>
        <p:nvSpPr>
          <p:cNvPr id="16" name="Shape 14"/>
          <p:cNvSpPr/>
          <p:nvPr/>
        </p:nvSpPr>
        <p:spPr>
          <a:xfrm>
            <a:off x="4434840" y="1115568"/>
            <a:ext cx="1737360" cy="150876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07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</a:t>
            </a:r>
            <a:endParaRPr lang="ru-RU" sz="840" dirty="0"/>
          </a:p>
        </p:txBody>
      </p:sp>
      <p:sp>
        <p:nvSpPr>
          <p:cNvPr id="18" name="Text 16"/>
          <p:cNvSpPr/>
          <p:nvPr/>
        </p:nvSpPr>
        <p:spPr>
          <a:xfrm>
            <a:off x="4572000" y="1700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5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5 часов*</a:t>
            </a:r>
            <a:endParaRPr lang="ru-RU" sz="1500" dirty="0"/>
          </a:p>
        </p:txBody>
      </p:sp>
      <p:sp>
        <p:nvSpPr>
          <p:cNvPr id="19" name="Text 17"/>
          <p:cNvSpPr/>
          <p:nvPr/>
        </p:nvSpPr>
        <p:spPr>
          <a:xfrm>
            <a:off x="4581144" y="213969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углублённая межфункциональная проверка</a:t>
            </a:r>
            <a:endParaRPr lang="ru-RU" sz="740" dirty="0"/>
          </a:p>
        </p:txBody>
      </p:sp>
      <p:sp>
        <p:nvSpPr>
          <p:cNvPr id="20" name="Text 18"/>
          <p:cNvSpPr/>
          <p:nvPr/>
        </p:nvSpPr>
        <p:spPr>
          <a:xfrm>
            <a:off x="6656832" y="10972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ОЧЕРЕДЬ И СТАТУСЫ</a:t>
            </a:r>
            <a:endParaRPr lang="ru-RU" sz="800" dirty="0"/>
          </a:p>
        </p:txBody>
      </p:sp>
      <p:sp>
        <p:nvSpPr>
          <p:cNvPr id="21" name="Shape 19"/>
          <p:cNvSpPr/>
          <p:nvPr/>
        </p:nvSpPr>
        <p:spPr>
          <a:xfrm>
            <a:off x="6629400" y="1444752"/>
            <a:ext cx="1965960" cy="34747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45336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очереди</a:t>
            </a:r>
            <a:endParaRPr lang="ru-RU" sz="780" dirty="0"/>
          </a:p>
        </p:txBody>
      </p:sp>
      <p:sp>
        <p:nvSpPr>
          <p:cNvPr id="23" name="Shape 21"/>
          <p:cNvSpPr/>
          <p:nvPr/>
        </p:nvSpPr>
        <p:spPr>
          <a:xfrm>
            <a:off x="6629400" y="1947672"/>
            <a:ext cx="1965960" cy="347472"/>
          </a:xfrm>
          <a:prstGeom prst="rect">
            <a:avLst/>
          </a:prstGeom>
          <a:solidFill>
            <a:srgbClr val="FF0000"/>
          </a:solidFill>
          <a:ln w="762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048256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выполняется</a:t>
            </a:r>
            <a:endParaRPr lang="ru-RU" sz="780" dirty="0"/>
          </a:p>
        </p:txBody>
      </p:sp>
      <p:sp>
        <p:nvSpPr>
          <p:cNvPr id="25" name="Shape 23"/>
          <p:cNvSpPr/>
          <p:nvPr/>
        </p:nvSpPr>
        <p:spPr>
          <a:xfrm>
            <a:off x="6629400" y="2450592"/>
            <a:ext cx="1965960" cy="34747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551176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завершена</a:t>
            </a:r>
            <a:endParaRPr lang="ru-RU" sz="780" dirty="0"/>
          </a:p>
        </p:txBody>
      </p:sp>
      <p:sp>
        <p:nvSpPr>
          <p:cNvPr id="27" name="Shape 25"/>
          <p:cNvSpPr/>
          <p:nvPr/>
        </p:nvSpPr>
        <p:spPr>
          <a:xfrm>
            <a:off x="6629400" y="2953512"/>
            <a:ext cx="196596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054096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ошибка</a:t>
            </a:r>
            <a:endParaRPr lang="ru-RU" sz="780" dirty="0"/>
          </a:p>
        </p:txBody>
      </p:sp>
      <p:sp>
        <p:nvSpPr>
          <p:cNvPr id="29" name="Shape 27"/>
          <p:cNvSpPr/>
          <p:nvPr/>
        </p:nvSpPr>
        <p:spPr>
          <a:xfrm>
            <a:off x="6629400" y="3456432"/>
            <a:ext cx="1965960" cy="347472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557016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повторный запуск</a:t>
            </a:r>
            <a:endParaRPr lang="ru-RU" sz="780" dirty="0"/>
          </a:p>
        </p:txBody>
      </p:sp>
      <p:sp>
        <p:nvSpPr>
          <p:cNvPr id="31" name="Text 29"/>
          <p:cNvSpPr/>
          <p:nvPr/>
        </p:nvSpPr>
        <p:spPr>
          <a:xfrm>
            <a:off x="512064" y="39959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Референсная целевая глубина. Фактическое время зависит от документов, моделей и инфраструктуры.</a:t>
            </a:r>
            <a:endParaRPr lang="ru-RU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51960"/>
            <a:ext cx="960120" cy="32918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982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5" name="Text 33"/>
          <p:cNvSpPr/>
          <p:nvPr/>
        </p:nvSpPr>
        <p:spPr>
          <a:xfrm>
            <a:off x="1600200" y="4361688"/>
            <a:ext cx="6903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Отсутствие программной квоты не означает неограниченную производительность оборудования.</a:t>
            </a:r>
            <a:endParaRPr lang="ru-RU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Четыре рабочих документа продолжают жить после интерфейса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658368" y="1133856"/>
            <a:ext cx="1627632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271016"/>
            <a:ext cx="310896" cy="31089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5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ru-RU" sz="570" dirty="0"/>
          </a:p>
        </p:txBody>
      </p:sp>
      <p:sp>
        <p:nvSpPr>
          <p:cNvPr id="11" name="Text 9"/>
          <p:cNvSpPr/>
          <p:nvPr/>
        </p:nvSpPr>
        <p:spPr>
          <a:xfrm>
            <a:off x="777240" y="179222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1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ПРЕДЛОЖЕНИЙ</a:t>
            </a:r>
            <a:endParaRPr lang="ru-RU" sz="910" dirty="0"/>
          </a:p>
        </p:txBody>
      </p:sp>
      <p:sp>
        <p:nvSpPr>
          <p:cNvPr id="12" name="Shape 10"/>
          <p:cNvSpPr/>
          <p:nvPr/>
        </p:nvSpPr>
        <p:spPr>
          <a:xfrm>
            <a:off x="777240" y="2505456"/>
            <a:ext cx="138988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0662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состав · цены · аномалии</a:t>
            </a:r>
            <a:endParaRPr lang="ru-RU" sz="75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ПЕРЕГОВОРЫ</a:t>
            </a:r>
            <a:endParaRPr lang="ru-RU" sz="760" dirty="0"/>
          </a:p>
        </p:txBody>
      </p:sp>
      <p:sp>
        <p:nvSpPr>
          <p:cNvPr id="15" name="Shape 13"/>
          <p:cNvSpPr/>
          <p:nvPr/>
        </p:nvSpPr>
        <p:spPr>
          <a:xfrm>
            <a:off x="2542032" y="1252728"/>
            <a:ext cx="1627632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60904" y="1389888"/>
            <a:ext cx="310896" cy="31089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149047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5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ru-RU" sz="570" dirty="0"/>
          </a:p>
        </p:txBody>
      </p:sp>
      <p:sp>
        <p:nvSpPr>
          <p:cNvPr id="18" name="Text 16"/>
          <p:cNvSpPr/>
          <p:nvPr/>
        </p:nvSpPr>
        <p:spPr>
          <a:xfrm>
            <a:off x="2660904" y="191109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1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РЕЕСТР ОТКЛОНЕНИЙ</a:t>
            </a:r>
            <a:endParaRPr lang="ru-RU" sz="910" dirty="0"/>
          </a:p>
        </p:txBody>
      </p:sp>
      <p:sp>
        <p:nvSpPr>
          <p:cNvPr id="19" name="Shape 17"/>
          <p:cNvSpPr/>
          <p:nvPr/>
        </p:nvSpPr>
        <p:spPr>
          <a:xfrm>
            <a:off x="2660904" y="2624328"/>
            <a:ext cx="138988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82549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позиция · сумма · основание</a:t>
            </a:r>
            <a:endParaRPr lang="ru-RU" sz="750" dirty="0"/>
          </a:p>
        </p:txBody>
      </p:sp>
      <p:sp>
        <p:nvSpPr>
          <p:cNvPr id="21" name="Text 19"/>
          <p:cNvSpPr/>
          <p:nvPr/>
        </p:nvSpPr>
        <p:spPr>
          <a:xfrm>
            <a:off x="2660904" y="359359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УРЕГУЛИРОВАНИЕ</a:t>
            </a:r>
            <a:endParaRPr lang="ru-RU" sz="760" dirty="0"/>
          </a:p>
        </p:txBody>
      </p:sp>
      <p:sp>
        <p:nvSpPr>
          <p:cNvPr id="22" name="Shape 20"/>
          <p:cNvSpPr/>
          <p:nvPr/>
        </p:nvSpPr>
        <p:spPr>
          <a:xfrm>
            <a:off x="4425696" y="1371600"/>
            <a:ext cx="1627632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44568" y="1508760"/>
            <a:ext cx="310896" cy="31089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16093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5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ru-RU" sz="570" dirty="0"/>
          </a:p>
        </p:txBody>
      </p:sp>
      <p:sp>
        <p:nvSpPr>
          <p:cNvPr id="25" name="Text 23"/>
          <p:cNvSpPr/>
          <p:nvPr/>
        </p:nvSpPr>
        <p:spPr>
          <a:xfrm>
            <a:off x="4544568" y="202996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1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</a:t>
            </a:r>
            <a:endParaRPr lang="ru-RU" sz="910" dirty="0"/>
          </a:p>
        </p:txBody>
      </p:sp>
      <p:sp>
        <p:nvSpPr>
          <p:cNvPr id="26" name="Shape 24"/>
          <p:cNvSpPr/>
          <p:nvPr/>
        </p:nvSpPr>
        <p:spPr>
          <a:xfrm>
            <a:off x="4544568" y="2743200"/>
            <a:ext cx="138988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294436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входы · формулы · сценарии</a:t>
            </a:r>
            <a:endParaRPr lang="ru-RU" sz="750" dirty="0"/>
          </a:p>
        </p:txBody>
      </p:sp>
      <p:sp>
        <p:nvSpPr>
          <p:cNvPr id="28" name="Text 26"/>
          <p:cNvSpPr/>
          <p:nvPr/>
        </p:nvSpPr>
        <p:spPr>
          <a:xfrm>
            <a:off x="4544568" y="371246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</a:t>
            </a:r>
            <a:endParaRPr lang="ru-RU" sz="760" dirty="0"/>
          </a:p>
        </p:txBody>
      </p:sp>
      <p:sp>
        <p:nvSpPr>
          <p:cNvPr id="29" name="Shape 27"/>
          <p:cNvSpPr/>
          <p:nvPr/>
        </p:nvSpPr>
        <p:spPr>
          <a:xfrm>
            <a:off x="6309360" y="1490472"/>
            <a:ext cx="1627632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FF0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1627632"/>
            <a:ext cx="310896" cy="31089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172821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5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</a:t>
            </a:r>
            <a:endParaRPr lang="ru-RU" sz="570" dirty="0"/>
          </a:p>
        </p:txBody>
      </p:sp>
      <p:sp>
        <p:nvSpPr>
          <p:cNvPr id="32" name="Text 30"/>
          <p:cNvSpPr/>
          <p:nvPr/>
        </p:nvSpPr>
        <p:spPr>
          <a:xfrm>
            <a:off x="6428232" y="21488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1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АНАЛИТИЧЕСКАЯ ЗАПИСКА</a:t>
            </a:r>
            <a:endParaRPr lang="ru-RU" sz="910" dirty="0"/>
          </a:p>
        </p:txBody>
      </p:sp>
      <p:sp>
        <p:nvSpPr>
          <p:cNvPr id="33" name="Shape 31"/>
          <p:cNvSpPr/>
          <p:nvPr/>
        </p:nvSpPr>
        <p:spPr>
          <a:xfrm>
            <a:off x="6428232" y="2862072"/>
            <a:ext cx="1389888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06324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выводы · риски · меры</a:t>
            </a:r>
            <a:endParaRPr lang="ru-RU" sz="750" dirty="0"/>
          </a:p>
        </p:txBody>
      </p:sp>
      <p:sp>
        <p:nvSpPr>
          <p:cNvPr id="35" name="Text 33"/>
          <p:cNvSpPr/>
          <p:nvPr/>
        </p:nvSpPr>
        <p:spPr>
          <a:xfrm>
            <a:off x="6428232" y="383133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ru-RU" sz="760" dirty="0"/>
          </a:p>
        </p:txBody>
      </p:sp>
      <p:sp>
        <p:nvSpPr>
          <p:cNvPr id="36" name="Shape 34"/>
          <p:cNvSpPr/>
          <p:nvPr/>
        </p:nvSpPr>
        <p:spPr>
          <a:xfrm>
            <a:off x="457200" y="4224528"/>
            <a:ext cx="8229600" cy="338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224528"/>
            <a:ext cx="960120" cy="3383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370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9" name="Text 37"/>
          <p:cNvSpPr/>
          <p:nvPr/>
        </p:nvSpPr>
        <p:spPr>
          <a:xfrm>
            <a:off x="1600200" y="4334256"/>
            <a:ext cx="6903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Форматы привычны специалистам: результат можно проверить и использовать вне интерфейса.</a:t>
            </a:r>
            <a:endParaRPr lang="ru-RU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Обезличенный методологический прогон связал проектную коллизию с закупочным риском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30352" y="1261872"/>
            <a:ext cx="2395728" cy="248716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4813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</a:t>
            </a:r>
            <a:endParaRPr lang="ru-RU" sz="820" dirty="0"/>
          </a:p>
        </p:txBody>
      </p:sp>
      <p:sp>
        <p:nvSpPr>
          <p:cNvPr id="10" name="Shape 8"/>
          <p:cNvSpPr/>
          <p:nvPr/>
        </p:nvSpPr>
        <p:spPr>
          <a:xfrm>
            <a:off x="731520" y="199339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836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несколько разделов проекта</a:t>
            </a:r>
            <a:endParaRPr lang="ru-RU" sz="820" dirty="0"/>
          </a:p>
        </p:txBody>
      </p:sp>
      <p:sp>
        <p:nvSpPr>
          <p:cNvPr id="12" name="Shape 10"/>
          <p:cNvSpPr/>
          <p:nvPr/>
        </p:nvSpPr>
        <p:spPr>
          <a:xfrm>
            <a:off x="731520" y="249631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8658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ведомость договорной цены</a:t>
            </a:r>
            <a:endParaRPr lang="ru-RU" sz="820" dirty="0"/>
          </a:p>
        </p:txBody>
      </p:sp>
      <p:sp>
        <p:nvSpPr>
          <p:cNvPr id="14" name="Shape 12"/>
          <p:cNvSpPr/>
          <p:nvPr/>
        </p:nvSpPr>
        <p:spPr>
          <a:xfrm>
            <a:off x="731520" y="299923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950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обезличенные параметры объекта</a:t>
            </a:r>
            <a:endParaRPr lang="ru-RU" sz="820" dirty="0"/>
          </a:p>
        </p:txBody>
      </p:sp>
      <p:sp>
        <p:nvSpPr>
          <p:cNvPr id="16" name="Shape 14"/>
          <p:cNvSpPr/>
          <p:nvPr/>
        </p:nvSpPr>
        <p:spPr>
          <a:xfrm>
            <a:off x="2944368" y="2487168"/>
            <a:ext cx="356616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19272" y="1261872"/>
            <a:ext cx="2395728" cy="2487168"/>
          </a:xfrm>
          <a:prstGeom prst="rect">
            <a:avLst/>
          </a:prstGeom>
          <a:solidFill>
            <a:srgbClr val="FFFFFF"/>
          </a:solidFill>
          <a:ln w="16510">
            <a:solidFill>
              <a:srgbClr val="FF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864" y="14813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КОЛЛИЗИЯ</a:t>
            </a:r>
            <a:endParaRPr lang="ru-RU" sz="820" dirty="0"/>
          </a:p>
        </p:txBody>
      </p:sp>
      <p:sp>
        <p:nvSpPr>
          <p:cNvPr id="19" name="Shape 17"/>
          <p:cNvSpPr/>
          <p:nvPr/>
        </p:nvSpPr>
        <p:spPr>
          <a:xfrm>
            <a:off x="3520440" y="1993392"/>
            <a:ext cx="73152" cy="7315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8836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количество единиц различалось</a:t>
            </a:r>
            <a:endParaRPr lang="ru-RU" sz="820" dirty="0"/>
          </a:p>
        </p:txBody>
      </p:sp>
      <p:sp>
        <p:nvSpPr>
          <p:cNvPr id="21" name="Shape 19"/>
          <p:cNvSpPr/>
          <p:nvPr/>
        </p:nvSpPr>
        <p:spPr>
          <a:xfrm>
            <a:off x="3520440" y="249631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38658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состав работ требовал уточнения</a:t>
            </a:r>
            <a:endParaRPr lang="ru-RU" sz="820" dirty="0"/>
          </a:p>
        </p:txBody>
      </p:sp>
      <p:sp>
        <p:nvSpPr>
          <p:cNvPr id="23" name="Shape 21"/>
          <p:cNvSpPr/>
          <p:nvPr/>
        </p:nvSpPr>
        <p:spPr>
          <a:xfrm>
            <a:off x="3520440" y="299923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88950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возможен двойной учёт</a:t>
            </a:r>
            <a:endParaRPr lang="ru-RU" sz="820" dirty="0"/>
          </a:p>
        </p:txBody>
      </p:sp>
      <p:sp>
        <p:nvSpPr>
          <p:cNvPr id="25" name="Shape 23"/>
          <p:cNvSpPr/>
          <p:nvPr/>
        </p:nvSpPr>
        <p:spPr>
          <a:xfrm>
            <a:off x="5733288" y="2487168"/>
            <a:ext cx="356616" cy="0"/>
          </a:xfrm>
          <a:prstGeom prst="line">
            <a:avLst/>
          </a:prstGeom>
          <a:noFill/>
          <a:ln w="1778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08192" y="1261872"/>
            <a:ext cx="2395728" cy="248716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48132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ДЕЙСТВИЯ</a:t>
            </a:r>
            <a:endParaRPr lang="ru-RU" sz="820" dirty="0"/>
          </a:p>
        </p:txBody>
      </p:sp>
      <p:sp>
        <p:nvSpPr>
          <p:cNvPr id="28" name="Shape 26"/>
          <p:cNvSpPr/>
          <p:nvPr/>
        </p:nvSpPr>
        <p:spPr>
          <a:xfrm>
            <a:off x="6309360" y="199339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88366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 к исходным данным</a:t>
            </a:r>
            <a:endParaRPr lang="ru-RU" sz="820" dirty="0"/>
          </a:p>
        </p:txBody>
      </p:sp>
      <p:sp>
        <p:nvSpPr>
          <p:cNvPr id="30" name="Shape 28"/>
          <p:cNvSpPr/>
          <p:nvPr/>
        </p:nvSpPr>
        <p:spPr>
          <a:xfrm>
            <a:off x="6309360" y="249631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38658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закупочного состава</a:t>
            </a:r>
            <a:endParaRPr lang="ru-RU" sz="820" dirty="0"/>
          </a:p>
        </p:txBody>
      </p:sp>
      <p:sp>
        <p:nvSpPr>
          <p:cNvPr id="32" name="Shape 30"/>
          <p:cNvSpPr/>
          <p:nvPr/>
        </p:nvSpPr>
        <p:spPr>
          <a:xfrm>
            <a:off x="6309360" y="2999232"/>
            <a:ext cx="73152" cy="731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88950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условия до договора</a:t>
            </a:r>
            <a:endParaRPr lang="ru-RU" sz="820" dirty="0"/>
          </a:p>
        </p:txBody>
      </p:sp>
      <p:sp>
        <p:nvSpPr>
          <p:cNvPr id="34" name="Shape 32"/>
          <p:cNvSpPr/>
          <p:nvPr/>
        </p:nvSpPr>
        <p:spPr>
          <a:xfrm>
            <a:off x="530352" y="3986784"/>
            <a:ext cx="1044976" cy="256032"/>
          </a:xfrm>
          <a:prstGeom prst="rect">
            <a:avLst/>
          </a:prstGeom>
          <a:solidFill>
            <a:srgbClr val="F5F5F5"/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" y="4069080"/>
            <a:ext cx="73152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4046220"/>
            <a:ext cx="7615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Продемонстрировано</a:t>
            </a:r>
            <a:endParaRPr lang="ru-RU" sz="750" dirty="0"/>
          </a:p>
        </p:txBody>
      </p:sp>
      <p:sp>
        <p:nvSpPr>
          <p:cNvPr id="37" name="Text 35"/>
          <p:cNvSpPr/>
          <p:nvPr/>
        </p:nvSpPr>
        <p:spPr>
          <a:xfrm>
            <a:off x="2240280" y="40142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Доказывает путь от инженерной коллизии к коммерческому последствию — не промышленную точность и не экономию.</a:t>
            </a:r>
            <a:endParaRPr lang="ru-RU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Методология продемонстрирована; промышленный контур должен доказать качество на пилоте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30352" y="1097280"/>
            <a:ext cx="3822192" cy="3127248"/>
          </a:xfrm>
          <a:prstGeom prst="rect">
            <a:avLst/>
          </a:prstGeom>
          <a:solidFill>
            <a:srgbClr val="F5F5F5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4416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ПРОДЕМОНСТРИРОВАНО</a:t>
            </a:r>
            <a:endParaRPr lang="ru-RU" sz="920" dirty="0"/>
          </a:p>
        </p:txBody>
      </p:sp>
      <p:sp>
        <p:nvSpPr>
          <p:cNvPr id="10" name="Shape 8"/>
          <p:cNvSpPr/>
          <p:nvPr/>
        </p:nvSpPr>
        <p:spPr>
          <a:xfrm>
            <a:off x="740664" y="1828800"/>
            <a:ext cx="128016" cy="128016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7393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экспертная предметная методология</a:t>
            </a:r>
            <a:endParaRPr lang="ru-RU" sz="840" dirty="0"/>
          </a:p>
        </p:txBody>
      </p:sp>
      <p:sp>
        <p:nvSpPr>
          <p:cNvPr id="12" name="Shape 10"/>
          <p:cNvSpPr/>
          <p:nvPr/>
        </p:nvSpPr>
        <p:spPr>
          <a:xfrm>
            <a:off x="740664" y="2258568"/>
            <a:ext cx="128016" cy="128016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037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сквозные разборы строительных объектов</a:t>
            </a:r>
            <a:endParaRPr lang="ru-RU" sz="840" dirty="0"/>
          </a:p>
        </p:txBody>
      </p:sp>
      <p:sp>
        <p:nvSpPr>
          <p:cNvPr id="14" name="Shape 12"/>
          <p:cNvSpPr/>
          <p:nvPr/>
        </p:nvSpPr>
        <p:spPr>
          <a:xfrm>
            <a:off x="740664" y="2688336"/>
            <a:ext cx="128016" cy="128016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334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сложные Word/Excel-артефакты</a:t>
            </a:r>
            <a:endParaRPr lang="ru-RU" sz="840" dirty="0"/>
          </a:p>
        </p:txBody>
      </p:sp>
      <p:sp>
        <p:nvSpPr>
          <p:cNvPr id="16" name="Shape 14"/>
          <p:cNvSpPr/>
          <p:nvPr/>
        </p:nvSpPr>
        <p:spPr>
          <a:xfrm>
            <a:off x="740664" y="3118104"/>
            <a:ext cx="128016" cy="128016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63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девять профессиональных зон анализа</a:t>
            </a:r>
            <a:endParaRPr lang="ru-RU" sz="840" dirty="0"/>
          </a:p>
        </p:txBody>
      </p:sp>
      <p:sp>
        <p:nvSpPr>
          <p:cNvPr id="18" name="Shape 16"/>
          <p:cNvSpPr/>
          <p:nvPr/>
        </p:nvSpPr>
        <p:spPr>
          <a:xfrm>
            <a:off x="740664" y="3547872"/>
            <a:ext cx="128016" cy="128016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49300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источники, допущения и неизвестные</a:t>
            </a:r>
            <a:endParaRPr lang="ru-RU" sz="840" dirty="0"/>
          </a:p>
        </p:txBody>
      </p:sp>
      <p:sp>
        <p:nvSpPr>
          <p:cNvPr id="20" name="Shape 18"/>
          <p:cNvSpPr/>
          <p:nvPr/>
        </p:nvSpPr>
        <p:spPr>
          <a:xfrm>
            <a:off x="4782312" y="1097280"/>
            <a:ext cx="3822192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34416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ТРЕБУЕТ ПИЛОТА И ПРИЁМКИ</a:t>
            </a:r>
            <a:endParaRPr lang="ru-RU" sz="920" dirty="0"/>
          </a:p>
        </p:txBody>
      </p:sp>
      <p:sp>
        <p:nvSpPr>
          <p:cNvPr id="22" name="Shape 20"/>
          <p:cNvSpPr/>
          <p:nvPr/>
        </p:nvSpPr>
        <p:spPr>
          <a:xfrm>
            <a:off x="4992624" y="1828800"/>
            <a:ext cx="128016" cy="12801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77393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промышленное веб-приложение</a:t>
            </a:r>
            <a:endParaRPr lang="ru-RU" sz="840" dirty="0"/>
          </a:p>
        </p:txBody>
      </p:sp>
      <p:sp>
        <p:nvSpPr>
          <p:cNvPr id="24" name="Shape 22"/>
          <p:cNvSpPr/>
          <p:nvPr/>
        </p:nvSpPr>
        <p:spPr>
          <a:xfrm>
            <a:off x="4992624" y="2258568"/>
            <a:ext cx="128016" cy="12801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2037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автоматизированная оркестрация</a:t>
            </a:r>
            <a:endParaRPr lang="ru-RU" sz="840" dirty="0"/>
          </a:p>
        </p:txBody>
      </p:sp>
      <p:sp>
        <p:nvSpPr>
          <p:cNvPr id="26" name="Shape 24"/>
          <p:cNvSpPr/>
          <p:nvPr/>
        </p:nvSpPr>
        <p:spPr>
          <a:xfrm>
            <a:off x="4992624" y="2688336"/>
            <a:ext cx="128016" cy="12801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6334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локальный эксплуатационный контур</a:t>
            </a:r>
            <a:endParaRPr lang="ru-RU" sz="840" dirty="0"/>
          </a:p>
        </p:txBody>
      </p:sp>
      <p:sp>
        <p:nvSpPr>
          <p:cNvPr id="28" name="Shape 26"/>
          <p:cNvSpPr/>
          <p:nvPr/>
        </p:nvSpPr>
        <p:spPr>
          <a:xfrm>
            <a:off x="4992624" y="3118104"/>
            <a:ext cx="128016" cy="12801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06324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интеграции и безопасность</a:t>
            </a:r>
            <a:endParaRPr lang="ru-RU" sz="840" dirty="0"/>
          </a:p>
        </p:txBody>
      </p:sp>
      <p:sp>
        <p:nvSpPr>
          <p:cNvPr id="30" name="Shape 28"/>
          <p:cNvSpPr/>
          <p:nvPr/>
        </p:nvSpPr>
        <p:spPr>
          <a:xfrm>
            <a:off x="4992624" y="3547872"/>
            <a:ext cx="128016" cy="128016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49300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4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повторяемая точность и производительность</a:t>
            </a:r>
            <a:endParaRPr lang="ru-RU" sz="840" dirty="0"/>
          </a:p>
        </p:txBody>
      </p:sp>
      <p:sp>
        <p:nvSpPr>
          <p:cNvPr id="32" name="Text 30"/>
          <p:cNvSpPr/>
          <p:nvPr/>
        </p:nvSpPr>
        <p:spPr>
          <a:xfrm>
            <a:off x="1024128" y="4379976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Корректный этап продукта: пилотная продуктализация зрелой экспертной методологии.</a:t>
            </a:r>
            <a:endParaRPr lang="ru-RU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Интерфейс должен вести от объекта к решению, а не к новому набору файлов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7699248" y="329184"/>
            <a:ext cx="960120" cy="256032"/>
          </a:xfrm>
          <a:prstGeom prst="rect">
            <a:avLst/>
          </a:prstGeom>
          <a:solidFill>
            <a:srgbClr val="F5F5F5"/>
          </a:solidFill>
          <a:ln w="1016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11480"/>
            <a:ext cx="73152" cy="7315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388620"/>
            <a:ext cx="676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Прототип</a:t>
            </a:r>
            <a:endParaRPr lang="ru-RU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1078992"/>
            <a:ext cx="8010144" cy="3310128"/>
          </a:xfrm>
          <a:prstGeom prst="rect">
            <a:avLst/>
          </a:prstGeom>
          <a:solidFill>
            <a:srgbClr val="FFFFFF"/>
          </a:solidFill>
          <a:ln w="1143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1078992"/>
            <a:ext cx="1417320" cy="3310128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3075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720" dirty="0"/>
          </a:p>
        </p:txBody>
      </p:sp>
      <p:sp>
        <p:nvSpPr>
          <p:cNvPr id="14" name="Shape 12"/>
          <p:cNvSpPr/>
          <p:nvPr/>
        </p:nvSpPr>
        <p:spPr>
          <a:xfrm>
            <a:off x="685800" y="1709928"/>
            <a:ext cx="1124712" cy="292608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180136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Объекты</a:t>
            </a:r>
            <a:endParaRPr lang="ru-RU" sz="720" dirty="0"/>
          </a:p>
        </p:txBody>
      </p:sp>
      <p:sp>
        <p:nvSpPr>
          <p:cNvPr id="16" name="Text 14"/>
          <p:cNvSpPr/>
          <p:nvPr/>
        </p:nvSpPr>
        <p:spPr>
          <a:xfrm>
            <a:off x="813816" y="223113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</a:t>
            </a:r>
            <a:endParaRPr lang="ru-RU" sz="720" dirty="0"/>
          </a:p>
        </p:txBody>
      </p:sp>
      <p:sp>
        <p:nvSpPr>
          <p:cNvPr id="17" name="Text 15"/>
          <p:cNvSpPr/>
          <p:nvPr/>
        </p:nvSpPr>
        <p:spPr>
          <a:xfrm>
            <a:off x="813816" y="266090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Проверки</a:t>
            </a:r>
            <a:endParaRPr lang="ru-RU" sz="720" dirty="0"/>
          </a:p>
        </p:txBody>
      </p:sp>
      <p:sp>
        <p:nvSpPr>
          <p:cNvPr id="18" name="Text 16"/>
          <p:cNvSpPr/>
          <p:nvPr/>
        </p:nvSpPr>
        <p:spPr>
          <a:xfrm>
            <a:off x="813816" y="309067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Опорная база</a:t>
            </a:r>
            <a:endParaRPr lang="ru-RU" sz="720" dirty="0"/>
          </a:p>
        </p:txBody>
      </p:sp>
      <p:sp>
        <p:nvSpPr>
          <p:cNvPr id="19" name="Text 17"/>
          <p:cNvSpPr/>
          <p:nvPr/>
        </p:nvSpPr>
        <p:spPr>
          <a:xfrm>
            <a:off x="813816" y="352044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</a:t>
            </a:r>
            <a:endParaRPr lang="ru-RU" sz="720" dirty="0"/>
          </a:p>
        </p:txBody>
      </p:sp>
      <p:sp>
        <p:nvSpPr>
          <p:cNvPr id="20" name="Text 18"/>
          <p:cNvSpPr/>
          <p:nvPr/>
        </p:nvSpPr>
        <p:spPr>
          <a:xfrm>
            <a:off x="2286000" y="13258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Объект: жилой комплекс / корпус 01</a:t>
            </a:r>
            <a:endParaRPr lang="ru-RU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16733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 до договора · комплект документов подтверждён частично</a:t>
            </a:r>
            <a:endParaRPr lang="ru-RU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2148840"/>
            <a:ext cx="1627632" cy="8961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4016" y="23042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Смета</a:t>
            </a:r>
            <a:endParaRPr lang="ru-RU" sz="800" dirty="0"/>
          </a:p>
        </p:txBody>
      </p:sp>
      <p:sp>
        <p:nvSpPr>
          <p:cNvPr id="24" name="Text 22"/>
          <p:cNvSpPr/>
          <p:nvPr/>
        </p:nvSpPr>
        <p:spPr>
          <a:xfrm>
            <a:off x="2414016" y="25420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загружена</a:t>
            </a:r>
            <a:endParaRPr lang="ru-RU" sz="720" dirty="0"/>
          </a:p>
        </p:txBody>
      </p:sp>
      <p:sp>
        <p:nvSpPr>
          <p:cNvPr id="25" name="Text 23"/>
          <p:cNvSpPr/>
          <p:nvPr/>
        </p:nvSpPr>
        <p:spPr>
          <a:xfrm>
            <a:off x="2414016" y="277063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8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12 418 строк</a:t>
            </a:r>
            <a:endParaRPr lang="ru-RU" sz="680" dirty="0"/>
          </a:p>
        </p:txBody>
      </p:sp>
      <p:sp>
        <p:nvSpPr>
          <p:cNvPr id="26" name="Shape 24"/>
          <p:cNvSpPr/>
          <p:nvPr/>
        </p:nvSpPr>
        <p:spPr>
          <a:xfrm>
            <a:off x="4133088" y="2148840"/>
            <a:ext cx="1627632" cy="8961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1104" y="23042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Предложения</a:t>
            </a:r>
            <a:endParaRPr lang="ru-RU" sz="800" dirty="0"/>
          </a:p>
        </p:txBody>
      </p:sp>
      <p:sp>
        <p:nvSpPr>
          <p:cNvPr id="28" name="Text 26"/>
          <p:cNvSpPr/>
          <p:nvPr/>
        </p:nvSpPr>
        <p:spPr>
          <a:xfrm>
            <a:off x="4261104" y="25420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файла</a:t>
            </a:r>
            <a:endParaRPr lang="ru-RU" sz="720" dirty="0"/>
          </a:p>
        </p:txBody>
      </p:sp>
      <p:sp>
        <p:nvSpPr>
          <p:cNvPr id="29" name="Text 27"/>
          <p:cNvSpPr/>
          <p:nvPr/>
        </p:nvSpPr>
        <p:spPr>
          <a:xfrm>
            <a:off x="4261104" y="277063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8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несопоставимые зоны</a:t>
            </a:r>
            <a:endParaRPr lang="ru-RU" sz="680" dirty="0"/>
          </a:p>
        </p:txBody>
      </p:sp>
      <p:sp>
        <p:nvSpPr>
          <p:cNvPr id="30" name="Shape 28"/>
          <p:cNvSpPr/>
          <p:nvPr/>
        </p:nvSpPr>
        <p:spPr>
          <a:xfrm>
            <a:off x="5980176" y="2148840"/>
            <a:ext cx="1627632" cy="896112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3042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</a:t>
            </a:r>
            <a:endParaRPr lang="ru-RU" sz="800" dirty="0"/>
          </a:p>
        </p:txBody>
      </p:sp>
      <p:sp>
        <p:nvSpPr>
          <p:cNvPr id="32" name="Text 30"/>
          <p:cNvSpPr/>
          <p:nvPr/>
        </p:nvSpPr>
        <p:spPr>
          <a:xfrm>
            <a:off x="6108192" y="254203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выполняется</a:t>
            </a:r>
            <a:endParaRPr lang="ru-RU" sz="720" dirty="0"/>
          </a:p>
        </p:txBody>
      </p:sp>
      <p:sp>
        <p:nvSpPr>
          <p:cNvPr id="33" name="Text 31"/>
          <p:cNvSpPr/>
          <p:nvPr/>
        </p:nvSpPr>
        <p:spPr>
          <a:xfrm>
            <a:off x="6108192" y="277063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68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стандартный режим</a:t>
            </a:r>
            <a:endParaRPr lang="ru-RU" sz="680" dirty="0"/>
          </a:p>
        </p:txBody>
      </p:sp>
      <p:sp>
        <p:nvSpPr>
          <p:cNvPr id="34" name="Shape 32"/>
          <p:cNvSpPr/>
          <p:nvPr/>
        </p:nvSpPr>
        <p:spPr>
          <a:xfrm>
            <a:off x="2286000" y="3310128"/>
            <a:ext cx="5349240" cy="749808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34930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КЛЮЧЕВОЙ ВЫВОД</a:t>
            </a:r>
            <a:endParaRPr lang="ru-RU" sz="720" dirty="0"/>
          </a:p>
        </p:txBody>
      </p:sp>
      <p:sp>
        <p:nvSpPr>
          <p:cNvPr id="36" name="Text 34"/>
          <p:cNvSpPr/>
          <p:nvPr/>
        </p:nvSpPr>
        <p:spPr>
          <a:xfrm>
            <a:off x="3749040" y="342900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предложения требуют нормализации состава до расчёта диапазона.</a:t>
            </a:r>
            <a:endParaRPr lang="ru-RU" sz="920" dirty="0"/>
          </a:p>
        </p:txBody>
      </p:sp>
      <p:sp>
        <p:nvSpPr>
          <p:cNvPr id="37" name="Text 35"/>
          <p:cNvSpPr/>
          <p:nvPr/>
        </p:nvSpPr>
        <p:spPr>
          <a:xfrm>
            <a:off x="5486400" y="4535424"/>
            <a:ext cx="3063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Целевой макет — не работающая production-система</a:t>
            </a:r>
            <a:endParaRPr lang="ru-RU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база становится активом только при сохранённом происхождении каждого значения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1371600" cy="129844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</a:t>
            </a:r>
            <a:endParaRPr lang="ru-RU" sz="740" dirty="0"/>
          </a:p>
        </p:txBody>
      </p:sp>
      <p:sp>
        <p:nvSpPr>
          <p:cNvPr id="10" name="Text 8"/>
          <p:cNvSpPr/>
          <p:nvPr/>
        </p:nvSpPr>
        <p:spPr>
          <a:xfrm>
            <a:off x="640080" y="181051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закрытый объект / прайс / норматив</a:t>
            </a:r>
            <a:endParaRPr lang="ru-RU" sz="820" dirty="0"/>
          </a:p>
        </p:txBody>
      </p:sp>
      <p:sp>
        <p:nvSpPr>
          <p:cNvPr id="11" name="Shape 9"/>
          <p:cNvSpPr/>
          <p:nvPr/>
        </p:nvSpPr>
        <p:spPr>
          <a:xfrm>
            <a:off x="1892808" y="1892808"/>
            <a:ext cx="228600" cy="393192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0552" y="1645920"/>
            <a:ext cx="137160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810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ЗНАЧЕНИЕ</a:t>
            </a:r>
            <a:endParaRPr lang="ru-RU" sz="740" dirty="0"/>
          </a:p>
        </p:txBody>
      </p:sp>
      <p:sp>
        <p:nvSpPr>
          <p:cNvPr id="14" name="Text 12"/>
          <p:cNvSpPr/>
          <p:nvPr/>
        </p:nvSpPr>
        <p:spPr>
          <a:xfrm>
            <a:off x="2267712" y="22037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единица · период · регион</a:t>
            </a:r>
            <a:endParaRPr lang="ru-RU" sz="820" dirty="0"/>
          </a:p>
        </p:txBody>
      </p:sp>
      <p:sp>
        <p:nvSpPr>
          <p:cNvPr id="15" name="Shape 13"/>
          <p:cNvSpPr/>
          <p:nvPr/>
        </p:nvSpPr>
        <p:spPr>
          <a:xfrm>
            <a:off x="3520440" y="2286000"/>
            <a:ext cx="228600" cy="-393192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58184" y="1252728"/>
            <a:ext cx="1371600" cy="1298448"/>
          </a:xfrm>
          <a:prstGeom prst="rect">
            <a:avLst/>
          </a:prstGeom>
          <a:solidFill>
            <a:srgbClr val="F5F5F5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417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</a:t>
            </a:r>
            <a:endParaRPr lang="ru-RU" sz="740" dirty="0"/>
          </a:p>
        </p:txBody>
      </p:sp>
      <p:sp>
        <p:nvSpPr>
          <p:cNvPr id="18" name="Text 16"/>
          <p:cNvSpPr/>
          <p:nvPr/>
        </p:nvSpPr>
        <p:spPr>
          <a:xfrm>
            <a:off x="3895344" y="181051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 / ориентир / нет данных</a:t>
            </a:r>
            <a:endParaRPr lang="ru-RU" sz="820" dirty="0"/>
          </a:p>
        </p:txBody>
      </p:sp>
      <p:sp>
        <p:nvSpPr>
          <p:cNvPr id="19" name="Shape 17"/>
          <p:cNvSpPr/>
          <p:nvPr/>
        </p:nvSpPr>
        <p:spPr>
          <a:xfrm>
            <a:off x="5148072" y="1892808"/>
            <a:ext cx="228600" cy="393192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85816" y="1645920"/>
            <a:ext cx="137160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810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</a:t>
            </a:r>
            <a:endParaRPr lang="ru-RU" sz="740" dirty="0"/>
          </a:p>
        </p:txBody>
      </p:sp>
      <p:sp>
        <p:nvSpPr>
          <p:cNvPr id="22" name="Text 20"/>
          <p:cNvSpPr/>
          <p:nvPr/>
        </p:nvSpPr>
        <p:spPr>
          <a:xfrm>
            <a:off x="5522976" y="22037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дата и ответственный</a:t>
            </a:r>
            <a:endParaRPr lang="ru-RU" sz="820" dirty="0"/>
          </a:p>
        </p:txBody>
      </p:sp>
      <p:sp>
        <p:nvSpPr>
          <p:cNvPr id="23" name="Shape 21"/>
          <p:cNvSpPr/>
          <p:nvPr/>
        </p:nvSpPr>
        <p:spPr>
          <a:xfrm>
            <a:off x="6775704" y="2286000"/>
            <a:ext cx="228600" cy="-393192"/>
          </a:xfrm>
          <a:prstGeom prst="line">
            <a:avLst/>
          </a:prstGeom>
          <a:noFill/>
          <a:ln w="1524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13448" y="1252728"/>
            <a:ext cx="1371600" cy="1298448"/>
          </a:xfrm>
          <a:prstGeom prst="rect">
            <a:avLst/>
          </a:prstGeom>
          <a:solidFill>
            <a:srgbClr val="FF0000"/>
          </a:solidFill>
          <a:ln w="7620">
            <a:solidFill>
              <a:srgbClr val="FF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1417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ПРИМЕНЕНИЕ</a:t>
            </a:r>
            <a:endParaRPr lang="ru-RU" sz="740" dirty="0"/>
          </a:p>
        </p:txBody>
      </p:sp>
      <p:sp>
        <p:nvSpPr>
          <p:cNvPr id="26" name="Text 24"/>
          <p:cNvSpPr/>
          <p:nvPr/>
        </p:nvSpPr>
        <p:spPr>
          <a:xfrm>
            <a:off x="7150608" y="181051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8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позиция → расчёт → вывод</a:t>
            </a:r>
            <a:endParaRPr lang="ru-RU" sz="820" dirty="0"/>
          </a:p>
        </p:txBody>
      </p:sp>
      <p:sp>
        <p:nvSpPr>
          <p:cNvPr id="27" name="Shape 25"/>
          <p:cNvSpPr/>
          <p:nvPr/>
        </p:nvSpPr>
        <p:spPr>
          <a:xfrm>
            <a:off x="749808" y="3401568"/>
            <a:ext cx="7644384" cy="594360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расценки</a:t>
            </a:r>
            <a:endParaRPr lang="ru-RU" sz="770" dirty="0"/>
          </a:p>
        </p:txBody>
      </p:sp>
      <p:sp>
        <p:nvSpPr>
          <p:cNvPr id="29" name="Text 27"/>
          <p:cNvSpPr/>
          <p:nvPr/>
        </p:nvSpPr>
        <p:spPr>
          <a:xfrm>
            <a:off x="2167128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</a:t>
            </a:r>
            <a:endParaRPr lang="ru-RU" sz="770" dirty="0"/>
          </a:p>
        </p:txBody>
      </p:sp>
      <p:sp>
        <p:nvSpPr>
          <p:cNvPr id="30" name="Text 28"/>
          <p:cNvSpPr/>
          <p:nvPr/>
        </p:nvSpPr>
        <p:spPr>
          <a:xfrm>
            <a:off x="3374136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оборудование</a:t>
            </a:r>
            <a:endParaRPr lang="ru-RU" sz="770" dirty="0"/>
          </a:p>
        </p:txBody>
      </p:sp>
      <p:sp>
        <p:nvSpPr>
          <p:cNvPr id="31" name="Text 29"/>
          <p:cNvSpPr/>
          <p:nvPr/>
        </p:nvSpPr>
        <p:spPr>
          <a:xfrm>
            <a:off x="4581144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себестоимость</a:t>
            </a:r>
            <a:endParaRPr lang="ru-RU" sz="770" dirty="0"/>
          </a:p>
        </p:txBody>
      </p:sp>
      <p:sp>
        <p:nvSpPr>
          <p:cNvPr id="32" name="Text 30"/>
          <p:cNvSpPr/>
          <p:nvPr/>
        </p:nvSpPr>
        <p:spPr>
          <a:xfrm>
            <a:off x="5788152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финансирование</a:t>
            </a:r>
            <a:endParaRPr lang="ru-RU" sz="770" dirty="0"/>
          </a:p>
        </p:txBody>
      </p:sp>
      <p:sp>
        <p:nvSpPr>
          <p:cNvPr id="33" name="Text 31"/>
          <p:cNvSpPr/>
          <p:nvPr/>
        </p:nvSpPr>
        <p:spPr>
          <a:xfrm>
            <a:off x="6995160" y="360273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уроки объектов</a:t>
            </a:r>
            <a:endParaRPr lang="ru-RU" sz="770" dirty="0"/>
          </a:p>
        </p:txBody>
      </p:sp>
      <p:sp>
        <p:nvSpPr>
          <p:cNvPr id="34" name="Shape 32"/>
          <p:cNvSpPr/>
          <p:nvPr/>
        </p:nvSpPr>
        <p:spPr>
          <a:xfrm>
            <a:off x="457200" y="4224528"/>
            <a:ext cx="8229600" cy="338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24528"/>
            <a:ext cx="960120" cy="3383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3708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7" name="Text 35"/>
          <p:cNvSpPr/>
          <p:nvPr/>
        </p:nvSpPr>
        <p:spPr>
          <a:xfrm>
            <a:off x="1600200" y="4334256"/>
            <a:ext cx="6903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Устаревшее значение маркируется явно; число без происхождения не считается готовым результатом.</a:t>
            </a:r>
            <a:endParaRPr lang="ru-RU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Исходные данные остаются внутри; наружу выходят только разрешённые минимизированные сведения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4892040" cy="2971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26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ВНУТРЕННИЙ КОНТУР</a:t>
            </a:r>
            <a:endParaRPr lang="ru-RU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901952"/>
            <a:ext cx="17556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02082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исходные документы</a:t>
            </a:r>
            <a:endParaRPr lang="ru-RU" sz="770" dirty="0"/>
          </a:p>
        </p:txBody>
      </p:sp>
      <p:sp>
        <p:nvSpPr>
          <p:cNvPr id="12" name="Shape 10"/>
          <p:cNvSpPr/>
          <p:nvPr/>
        </p:nvSpPr>
        <p:spPr>
          <a:xfrm>
            <a:off x="2834640" y="1901952"/>
            <a:ext cx="17556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2020824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authoritative-хранилища</a:t>
            </a:r>
            <a:endParaRPr lang="ru-RU" sz="770" dirty="0"/>
          </a:p>
        </p:txBody>
      </p:sp>
      <p:sp>
        <p:nvSpPr>
          <p:cNvPr id="14" name="Shape 12"/>
          <p:cNvSpPr/>
          <p:nvPr/>
        </p:nvSpPr>
        <p:spPr>
          <a:xfrm>
            <a:off x="822960" y="2468880"/>
            <a:ext cx="17556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58775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база</a:t>
            </a:r>
            <a:endParaRPr lang="ru-RU" sz="770" dirty="0"/>
          </a:p>
        </p:txBody>
      </p:sp>
      <p:sp>
        <p:nvSpPr>
          <p:cNvPr id="16" name="Shape 14"/>
          <p:cNvSpPr/>
          <p:nvPr/>
        </p:nvSpPr>
        <p:spPr>
          <a:xfrm>
            <a:off x="2834640" y="2468880"/>
            <a:ext cx="17556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2587752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расчёты и история</a:t>
            </a:r>
            <a:endParaRPr lang="ru-RU" sz="770" dirty="0"/>
          </a:p>
        </p:txBody>
      </p:sp>
      <p:sp>
        <p:nvSpPr>
          <p:cNvPr id="18" name="Shape 16"/>
          <p:cNvSpPr/>
          <p:nvPr/>
        </p:nvSpPr>
        <p:spPr>
          <a:xfrm>
            <a:off x="822960" y="3035808"/>
            <a:ext cx="17556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15468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сформированные отчёты</a:t>
            </a:r>
            <a:endParaRPr lang="ru-RU" sz="770" dirty="0"/>
          </a:p>
        </p:txBody>
      </p:sp>
      <p:sp>
        <p:nvSpPr>
          <p:cNvPr id="20" name="Shape 18"/>
          <p:cNvSpPr/>
          <p:nvPr/>
        </p:nvSpPr>
        <p:spPr>
          <a:xfrm>
            <a:off x="6144768" y="1618488"/>
            <a:ext cx="2450592" cy="1993392"/>
          </a:xfrm>
          <a:prstGeom prst="rect">
            <a:avLst/>
          </a:prstGeom>
          <a:solidFill>
            <a:srgbClr val="FFFFFF"/>
          </a:solidFill>
          <a:ln w="1524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185623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92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РЕГУЛИРУЕМЫЙ ВНЕШНИЙ КОНТУР</a:t>
            </a:r>
            <a:endParaRPr lang="ru-RU" sz="920" dirty="0"/>
          </a:p>
        </p:txBody>
      </p:sp>
      <p:sp>
        <p:nvSpPr>
          <p:cNvPr id="22" name="Text 20"/>
          <p:cNvSpPr/>
          <p:nvPr/>
        </p:nvSpPr>
        <p:spPr>
          <a:xfrm>
            <a:off x="6437376" y="2404872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ru-RU" altLang="en-US" sz="78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минимизированные и маскированные данные для разрешённых внешних процессов</a:t>
            </a:r>
            <a:endParaRPr lang="ru-RU" sz="780" dirty="0"/>
          </a:p>
        </p:txBody>
      </p:sp>
      <p:sp>
        <p:nvSpPr>
          <p:cNvPr id="23" name="Shape 21"/>
          <p:cNvSpPr/>
          <p:nvPr/>
        </p:nvSpPr>
        <p:spPr>
          <a:xfrm>
            <a:off x="5413248" y="1316736"/>
            <a:ext cx="475488" cy="384048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1435608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ru-RU" sz="700" dirty="0"/>
          </a:p>
        </p:txBody>
      </p:sp>
      <p:sp>
        <p:nvSpPr>
          <p:cNvPr id="25" name="Shape 23"/>
          <p:cNvSpPr/>
          <p:nvPr/>
        </p:nvSpPr>
        <p:spPr>
          <a:xfrm>
            <a:off x="5596128" y="1938528"/>
            <a:ext cx="475488" cy="384048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51576" y="2057400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ru-RU" sz="700" dirty="0"/>
          </a:p>
        </p:txBody>
      </p:sp>
      <p:sp>
        <p:nvSpPr>
          <p:cNvPr id="27" name="Shape 25"/>
          <p:cNvSpPr/>
          <p:nvPr/>
        </p:nvSpPr>
        <p:spPr>
          <a:xfrm>
            <a:off x="5779008" y="2560320"/>
            <a:ext cx="475488" cy="384048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34456" y="2679192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ru-RU" sz="700" dirty="0"/>
          </a:p>
        </p:txBody>
      </p:sp>
      <p:sp>
        <p:nvSpPr>
          <p:cNvPr id="29" name="Shape 27"/>
          <p:cNvSpPr/>
          <p:nvPr/>
        </p:nvSpPr>
        <p:spPr>
          <a:xfrm>
            <a:off x="5961888" y="3182112"/>
            <a:ext cx="475488" cy="384048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3300984"/>
            <a:ext cx="1645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ru-RU" sz="700" dirty="0"/>
          </a:p>
        </p:txBody>
      </p:sp>
      <p:sp>
        <p:nvSpPr>
          <p:cNvPr id="31" name="Shape 29"/>
          <p:cNvSpPr/>
          <p:nvPr/>
        </p:nvSpPr>
        <p:spPr>
          <a:xfrm>
            <a:off x="5458968" y="2615184"/>
            <a:ext cx="603504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4270248"/>
            <a:ext cx="8229600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70248"/>
            <a:ext cx="960120" cy="31089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4165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5" name="Text 33"/>
          <p:cNvSpPr/>
          <p:nvPr/>
        </p:nvSpPr>
        <p:spPr>
          <a:xfrm>
            <a:off x="1600200" y="4379976"/>
            <a:ext cx="6903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Если утверждённого правила передачи нет, внешний процесс блокируется.</a:t>
            </a:r>
            <a:endParaRPr lang="ru-RU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Локальное размещение, журнал и блокировка передачи образуют целевой контур доверия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640080" y="1124712"/>
            <a:ext cx="5212080" cy="56692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29844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ru-RU" sz="780" dirty="0"/>
          </a:p>
        </p:txBody>
      </p:sp>
      <p:sp>
        <p:nvSpPr>
          <p:cNvPr id="10" name="Text 8"/>
          <p:cNvSpPr/>
          <p:nvPr/>
        </p:nvSpPr>
        <p:spPr>
          <a:xfrm>
            <a:off x="2240280" y="12801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базовые роли · расширение отдельно</a:t>
            </a:r>
            <a:endParaRPr lang="ru-RU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1627632"/>
            <a:ext cx="4553712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07592" y="180136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</a:t>
            </a:r>
            <a:endParaRPr lang="ru-RU" sz="780" dirty="0"/>
          </a:p>
        </p:txBody>
      </p:sp>
      <p:sp>
        <p:nvSpPr>
          <p:cNvPr id="13" name="Text 11"/>
          <p:cNvSpPr/>
          <p:nvPr/>
        </p:nvSpPr>
        <p:spPr>
          <a:xfrm>
            <a:off x="2743200" y="1783080"/>
            <a:ext cx="2770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карточки · очередь · выгрузки</a:t>
            </a:r>
            <a:endParaRPr lang="ru-RU" sz="800" dirty="0"/>
          </a:p>
        </p:txBody>
      </p:sp>
      <p:sp>
        <p:nvSpPr>
          <p:cNvPr id="14" name="Shape 12"/>
          <p:cNvSpPr/>
          <p:nvPr/>
        </p:nvSpPr>
        <p:spPr>
          <a:xfrm>
            <a:off x="1645920" y="2130552"/>
            <a:ext cx="3895344" cy="56692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10512" y="23042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</a:t>
            </a:r>
            <a:endParaRPr lang="ru-RU" sz="78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объекты · документы · результаты</a:t>
            </a:r>
            <a:endParaRPr lang="ru-RU" sz="800" dirty="0"/>
          </a:p>
        </p:txBody>
      </p:sp>
      <p:sp>
        <p:nvSpPr>
          <p:cNvPr id="17" name="Shape 15"/>
          <p:cNvSpPr/>
          <p:nvPr/>
        </p:nvSpPr>
        <p:spPr>
          <a:xfrm>
            <a:off x="2148840" y="2633472"/>
            <a:ext cx="3236976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F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13432" y="280720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МОДЕЛИ И РАСЧЁТЫ</a:t>
            </a:r>
            <a:endParaRPr lang="ru-RU" sz="780" dirty="0"/>
          </a:p>
        </p:txBody>
      </p:sp>
      <p:sp>
        <p:nvSpPr>
          <p:cNvPr id="19" name="Text 17"/>
          <p:cNvSpPr/>
          <p:nvPr/>
        </p:nvSpPr>
        <p:spPr>
          <a:xfrm>
            <a:off x="3749040" y="278892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локальный целевой runtime</a:t>
            </a:r>
            <a:endParaRPr lang="ru-RU" sz="800" dirty="0"/>
          </a:p>
        </p:txBody>
      </p:sp>
      <p:sp>
        <p:nvSpPr>
          <p:cNvPr id="20" name="Shape 18"/>
          <p:cNvSpPr/>
          <p:nvPr/>
        </p:nvSpPr>
        <p:spPr>
          <a:xfrm>
            <a:off x="2651760" y="3136392"/>
            <a:ext cx="2578608" cy="56692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331012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ИНФРАСТРУКТУРА</a:t>
            </a:r>
            <a:endParaRPr lang="ru-RU" sz="780" dirty="0"/>
          </a:p>
        </p:txBody>
      </p:sp>
      <p:sp>
        <p:nvSpPr>
          <p:cNvPr id="22" name="Text 20"/>
          <p:cNvSpPr/>
          <p:nvPr/>
        </p:nvSpPr>
        <p:spPr>
          <a:xfrm>
            <a:off x="4251960" y="3291840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 заказчика · сеть · контейнеры</a:t>
            </a:r>
            <a:endParaRPr lang="ru-RU" sz="800" dirty="0"/>
          </a:p>
        </p:txBody>
      </p:sp>
      <p:sp>
        <p:nvSpPr>
          <p:cNvPr id="23" name="Shape 21"/>
          <p:cNvSpPr/>
          <p:nvPr/>
        </p:nvSpPr>
        <p:spPr>
          <a:xfrm>
            <a:off x="6172200" y="1216152"/>
            <a:ext cx="2377440" cy="713232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35331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</a:t>
            </a:r>
            <a:endParaRPr lang="ru-RU" sz="800" dirty="0"/>
          </a:p>
        </p:txBody>
      </p:sp>
      <p:sp>
        <p:nvSpPr>
          <p:cNvPr id="25" name="Text 23"/>
          <p:cNvSpPr/>
          <p:nvPr/>
        </p:nvSpPr>
        <p:spPr>
          <a:xfrm>
            <a:off x="7296912" y="132588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· запросы · передачи · результаты</a:t>
            </a:r>
            <a:endParaRPr lang="ru-RU" sz="740" dirty="0"/>
          </a:p>
        </p:txBody>
      </p:sp>
      <p:sp>
        <p:nvSpPr>
          <p:cNvPr id="26" name="Shape 24"/>
          <p:cNvSpPr/>
          <p:nvPr/>
        </p:nvSpPr>
        <p:spPr>
          <a:xfrm>
            <a:off x="6172200" y="2157984"/>
            <a:ext cx="2377440" cy="713232"/>
          </a:xfrm>
          <a:prstGeom prst="rect">
            <a:avLst/>
          </a:prstGeom>
          <a:solidFill>
            <a:srgbClr val="FF0000"/>
          </a:solidFill>
          <a:ln w="8890">
            <a:solidFill>
              <a:srgbClr val="FF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2951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БЛОКИРОВКА</a:t>
            </a:r>
            <a:endParaRPr lang="ru-RU" sz="800" dirty="0"/>
          </a:p>
        </p:txBody>
      </p:sp>
      <p:sp>
        <p:nvSpPr>
          <p:cNvPr id="28" name="Text 26"/>
          <p:cNvSpPr/>
          <p:nvPr/>
        </p:nvSpPr>
        <p:spPr>
          <a:xfrm>
            <a:off x="7296912" y="2267712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регламента — нет внешней передачи</a:t>
            </a:r>
            <a:endParaRPr lang="ru-RU" sz="740" dirty="0"/>
          </a:p>
        </p:txBody>
      </p:sp>
      <p:sp>
        <p:nvSpPr>
          <p:cNvPr id="29" name="Shape 27"/>
          <p:cNvSpPr/>
          <p:nvPr/>
        </p:nvSpPr>
        <p:spPr>
          <a:xfrm>
            <a:off x="6172200" y="3099816"/>
            <a:ext cx="2377440" cy="713232"/>
          </a:xfrm>
          <a:prstGeom prst="rect">
            <a:avLst/>
          </a:prstGeom>
          <a:solidFill>
            <a:srgbClr val="F5F5F5"/>
          </a:solidFill>
          <a:ln w="8890">
            <a:solidFill>
              <a:srgbClr val="F5F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23697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ПРИЁМКА</a:t>
            </a:r>
            <a:endParaRPr lang="ru-RU" sz="800" dirty="0"/>
          </a:p>
        </p:txBody>
      </p:sp>
      <p:sp>
        <p:nvSpPr>
          <p:cNvPr id="31" name="Text 29"/>
          <p:cNvSpPr/>
          <p:nvPr/>
        </p:nvSpPr>
        <p:spPr>
          <a:xfrm>
            <a:off x="7296912" y="3209544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функциональная и security-проверка</a:t>
            </a:r>
            <a:endParaRPr lang="ru-RU" sz="740" dirty="0"/>
          </a:p>
        </p:txBody>
      </p:sp>
      <p:sp>
        <p:nvSpPr>
          <p:cNvPr id="32" name="Text 30"/>
          <p:cNvSpPr/>
          <p:nvPr/>
        </p:nvSpPr>
        <p:spPr>
          <a:xfrm>
            <a:off x="4983480" y="42793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Целевое состояние — не утверждение о текущем production-runtime.</a:t>
            </a:r>
            <a:endParaRPr lang="ru-RU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начинается со структурированных файлов и согласованного программного интерфейса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566928" y="1188720"/>
            <a:ext cx="2057400" cy="242316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135331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ru-RU" sz="800" dirty="0"/>
          </a:p>
        </p:txBody>
      </p:sp>
      <p:sp>
        <p:nvSpPr>
          <p:cNvPr id="10" name="Text 8"/>
          <p:cNvSpPr/>
          <p:nvPr/>
        </p:nvSpPr>
        <p:spPr>
          <a:xfrm>
            <a:off x="722376" y="1764792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СТРУКТУРИРОВАННЫЕ ФАЙЛЫ</a:t>
            </a:r>
            <a:endParaRPr lang="ru-RU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252374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выделенный каталог</a:t>
            </a:r>
            <a:endParaRPr lang="ru-RU" sz="800" dirty="0"/>
          </a:p>
        </p:txBody>
      </p:sp>
      <p:sp>
        <p:nvSpPr>
          <p:cNvPr id="12" name="Shape 10"/>
          <p:cNvSpPr/>
          <p:nvPr/>
        </p:nvSpPr>
        <p:spPr>
          <a:xfrm>
            <a:off x="722376" y="2852928"/>
            <a:ext cx="1746504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301752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базовый и устойчивый канал</a:t>
            </a:r>
            <a:endParaRPr lang="ru-RU" sz="750" dirty="0"/>
          </a:p>
        </p:txBody>
      </p:sp>
      <p:sp>
        <p:nvSpPr>
          <p:cNvPr id="14" name="Shape 12"/>
          <p:cNvSpPr/>
          <p:nvPr/>
        </p:nvSpPr>
        <p:spPr>
          <a:xfrm>
            <a:off x="2944368" y="1481328"/>
            <a:ext cx="2057400" cy="2423160"/>
          </a:xfrm>
          <a:prstGeom prst="rect">
            <a:avLst/>
          </a:prstGeom>
          <a:solidFill>
            <a:srgbClr val="FFFFFF"/>
          </a:solidFill>
          <a:ln w="13970">
            <a:solidFill>
              <a:srgbClr val="FF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9816" y="16459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ru-RU" sz="800" dirty="0"/>
          </a:p>
        </p:txBody>
      </p:sp>
      <p:sp>
        <p:nvSpPr>
          <p:cNvPr id="16" name="Text 14"/>
          <p:cNvSpPr/>
          <p:nvPr/>
        </p:nvSpPr>
        <p:spPr>
          <a:xfrm>
            <a:off x="3099816" y="2057400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ПРОГРАММНЫЙ ИНТЕРФЕЙС (API)</a:t>
            </a:r>
            <a:endParaRPr lang="ru-RU" sz="900" dirty="0"/>
          </a:p>
        </p:txBody>
      </p:sp>
      <p:sp>
        <p:nvSpPr>
          <p:cNvPr id="17" name="Text 15"/>
          <p:cNvSpPr/>
          <p:nvPr/>
        </p:nvSpPr>
        <p:spPr>
          <a:xfrm>
            <a:off x="3099816" y="281635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согласованный контракт</a:t>
            </a:r>
            <a:endParaRPr lang="ru-RU" sz="800" dirty="0"/>
          </a:p>
        </p:txBody>
      </p:sp>
      <p:sp>
        <p:nvSpPr>
          <p:cNvPr id="18" name="Shape 16"/>
          <p:cNvSpPr/>
          <p:nvPr/>
        </p:nvSpPr>
        <p:spPr>
          <a:xfrm>
            <a:off x="3099816" y="3145536"/>
            <a:ext cx="1746504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9816" y="331012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автоматизированная передача</a:t>
            </a:r>
            <a:endParaRPr lang="ru-RU" sz="750" dirty="0"/>
          </a:p>
        </p:txBody>
      </p:sp>
      <p:sp>
        <p:nvSpPr>
          <p:cNvPr id="20" name="Shape 18"/>
          <p:cNvSpPr/>
          <p:nvPr/>
        </p:nvSpPr>
        <p:spPr>
          <a:xfrm>
            <a:off x="5321808" y="1773936"/>
            <a:ext cx="2057400" cy="2423160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1938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ru-RU" sz="800" dirty="0"/>
          </a:p>
        </p:txBody>
      </p:sp>
      <p:sp>
        <p:nvSpPr>
          <p:cNvPr id="22" name="Text 20"/>
          <p:cNvSpPr/>
          <p:nvPr/>
        </p:nvSpPr>
        <p:spPr>
          <a:xfrm>
            <a:off x="5477256" y="235000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9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КОРПОРАТИВНАЯ СИСТЕМА</a:t>
            </a:r>
            <a:endParaRPr lang="ru-RU" sz="900" dirty="0"/>
          </a:p>
        </p:txBody>
      </p:sp>
      <p:sp>
        <p:nvSpPr>
          <p:cNvPr id="23" name="Text 21"/>
          <p:cNvSpPr/>
          <p:nvPr/>
        </p:nvSpPr>
        <p:spPr>
          <a:xfrm>
            <a:off x="5477256" y="31089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индивидуальный коннектор</a:t>
            </a:r>
            <a:endParaRPr lang="ru-RU" sz="800" dirty="0"/>
          </a:p>
        </p:txBody>
      </p:sp>
      <p:sp>
        <p:nvSpPr>
          <p:cNvPr id="24" name="Shape 22"/>
          <p:cNvSpPr/>
          <p:nvPr/>
        </p:nvSpPr>
        <p:spPr>
          <a:xfrm>
            <a:off x="5477256" y="3438144"/>
            <a:ext cx="1746504" cy="0"/>
          </a:xfrm>
          <a:prstGeom prst="line">
            <a:avLst/>
          </a:prstGeom>
          <a:noFill/>
          <a:ln w="889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3602736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наличии документации и тестового контура</a:t>
            </a:r>
            <a:endParaRPr lang="ru-RU" sz="750" dirty="0"/>
          </a:p>
        </p:txBody>
      </p:sp>
      <p:sp>
        <p:nvSpPr>
          <p:cNvPr id="26" name="Shape 24"/>
          <p:cNvSpPr/>
          <p:nvPr/>
        </p:nvSpPr>
        <p:spPr>
          <a:xfrm>
            <a:off x="7571232" y="2578608"/>
            <a:ext cx="384048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10144" y="1847088"/>
            <a:ext cx="585216" cy="1481328"/>
          </a:xfrm>
          <a:prstGeom prst="rect">
            <a:avLst/>
          </a:prstGeom>
          <a:solidFill>
            <a:srgbClr val="000000"/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167128"/>
            <a:ext cx="329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7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ЕДИНАЯ</a:t>
            </a:r>
            <a:endParaRPr lang="ru-RU" sz="760" dirty="0"/>
          </a:p>
          <a:p>
            <a:pPr algn="ctr" indent="0" marL="0">
              <a:buNone/>
            </a:pPr>
            <a:r>
              <a:rPr lang="ru-RU" altLang="en-US" sz="7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КАРТОЧКА</a:t>
            </a:r>
            <a:endParaRPr lang="ru-RU" sz="760" dirty="0"/>
          </a:p>
          <a:p>
            <a:pPr algn="ctr" indent="0" marL="0">
              <a:buNone/>
            </a:pPr>
            <a:r>
              <a:rPr lang="ru-RU" altLang="en-US" sz="7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ОБЪЕКТА</a:t>
            </a:r>
            <a:endParaRPr lang="ru-RU" sz="760" dirty="0"/>
          </a:p>
        </p:txBody>
      </p:sp>
      <p:sp>
        <p:nvSpPr>
          <p:cNvPr id="29" name="Shape 27"/>
          <p:cNvSpPr/>
          <p:nvPr/>
        </p:nvSpPr>
        <p:spPr>
          <a:xfrm>
            <a:off x="457200" y="4261104"/>
            <a:ext cx="822960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61104"/>
            <a:ext cx="960120" cy="32004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074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32" name="Text 30"/>
          <p:cNvSpPr/>
          <p:nvPr/>
        </p:nvSpPr>
        <p:spPr>
          <a:xfrm>
            <a:off x="1600200" y="4370832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Глубокие коннекторы, обратная запись и встраивание интерфейсов проектируются отдельно.</a:t>
            </a:r>
            <a:endParaRPr lang="ru-RU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Внедрение управляется этапами, артефактами и ответственными сторонами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1424178" y="1408176"/>
            <a:ext cx="6295644" cy="5486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9586" y="1271016"/>
            <a:ext cx="329184" cy="3291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4450" y="13395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ru-RU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1933956" cy="2048256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" y="1956816"/>
            <a:ext cx="274320" cy="274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" y="2039112"/>
            <a:ext cx="137160" cy="1417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" y="2072945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" y="2116836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072945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116836"/>
            <a:ext cx="22860" cy="22860"/>
          </a:xfrm>
          <a:prstGeom prst="rect">
            <a:avLst/>
          </a:prstGeom>
          <a:solidFill>
            <a:srgbClr val="FFFFFF">
              <a:alpha val="0"/>
            </a:srgbClr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1947672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Контур и база</a:t>
            </a:r>
            <a:endParaRPr lang="ru-RU" sz="1000" dirty="0"/>
          </a:p>
        </p:txBody>
      </p:sp>
      <p:sp>
        <p:nvSpPr>
          <p:cNvPr id="19" name="Text 17"/>
          <p:cNvSpPr/>
          <p:nvPr/>
        </p:nvSpPr>
        <p:spPr>
          <a:xfrm>
            <a:off x="603504" y="2377440"/>
            <a:ext cx="16413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ru-RU" alt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Развёртывание, данные, эталоны и чек-листы. Результат: согласованный фундамент.</a:t>
            </a:r>
            <a:endParaRPr lang="ru-RU" sz="1050" dirty="0"/>
          </a:p>
        </p:txBody>
      </p:sp>
      <p:sp>
        <p:nvSpPr>
          <p:cNvPr id="20" name="Shape 18"/>
          <p:cNvSpPr/>
          <p:nvPr/>
        </p:nvSpPr>
        <p:spPr>
          <a:xfrm>
            <a:off x="3358134" y="1271016"/>
            <a:ext cx="329184" cy="3291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2998" y="13395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ru-RU" sz="800" dirty="0"/>
          </a:p>
        </p:txBody>
      </p:sp>
      <p:sp>
        <p:nvSpPr>
          <p:cNvPr id="22" name="Shape 20"/>
          <p:cNvSpPr/>
          <p:nvPr/>
        </p:nvSpPr>
        <p:spPr>
          <a:xfrm>
            <a:off x="2555748" y="1810512"/>
            <a:ext cx="1933956" cy="2048256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02052" y="1956816"/>
            <a:ext cx="274320" cy="274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5204" y="2007108"/>
            <a:ext cx="118872" cy="1737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96235" y="2071116"/>
            <a:ext cx="768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96235" y="2112264"/>
            <a:ext cx="7681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6100" y="1947672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Расчёты и документы</a:t>
            </a:r>
            <a:endParaRPr lang="ru-RU" sz="1000" dirty="0"/>
          </a:p>
        </p:txBody>
      </p:sp>
      <p:sp>
        <p:nvSpPr>
          <p:cNvPr id="28" name="Text 26"/>
          <p:cNvSpPr/>
          <p:nvPr/>
        </p:nvSpPr>
        <p:spPr>
          <a:xfrm>
            <a:off x="2702052" y="2377440"/>
            <a:ext cx="16413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ru-RU" alt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Расчётный модуль, разбор входов и рабочие выгрузки.</a:t>
            </a:r>
            <a:endParaRPr lang="ru-RU" sz="1050" dirty="0"/>
          </a:p>
        </p:txBody>
      </p:sp>
      <p:sp>
        <p:nvSpPr>
          <p:cNvPr id="29" name="Shape 27"/>
          <p:cNvSpPr/>
          <p:nvPr/>
        </p:nvSpPr>
        <p:spPr>
          <a:xfrm>
            <a:off x="5456682" y="1271016"/>
            <a:ext cx="329184" cy="3291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1546" y="13395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ru-RU" sz="800" dirty="0"/>
          </a:p>
        </p:txBody>
      </p:sp>
      <p:sp>
        <p:nvSpPr>
          <p:cNvPr id="31" name="Shape 29"/>
          <p:cNvSpPr/>
          <p:nvPr/>
        </p:nvSpPr>
        <p:spPr>
          <a:xfrm>
            <a:off x="4654296" y="1810512"/>
            <a:ext cx="1933956" cy="2048256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956816"/>
            <a:ext cx="274320" cy="274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2098548"/>
            <a:ext cx="50292" cy="5029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3071" y="2148840"/>
            <a:ext cx="96012" cy="-10972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1947672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Сравнение и оценка</a:t>
            </a:r>
            <a:endParaRPr lang="ru-RU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377440"/>
            <a:ext cx="16413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ru-RU" alt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Нормализация КП, аномалии и диапазон по согласованной методике.</a:t>
            </a:r>
            <a:endParaRPr lang="ru-RU" sz="1050" dirty="0"/>
          </a:p>
        </p:txBody>
      </p:sp>
      <p:sp>
        <p:nvSpPr>
          <p:cNvPr id="37" name="Shape 35"/>
          <p:cNvSpPr/>
          <p:nvPr/>
        </p:nvSpPr>
        <p:spPr>
          <a:xfrm>
            <a:off x="7555230" y="1271016"/>
            <a:ext cx="329184" cy="32918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0094" y="1339596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ru-RU" sz="800" dirty="0"/>
          </a:p>
        </p:txBody>
      </p:sp>
      <p:sp>
        <p:nvSpPr>
          <p:cNvPr id="39" name="Shape 37"/>
          <p:cNvSpPr/>
          <p:nvPr/>
        </p:nvSpPr>
        <p:spPr>
          <a:xfrm>
            <a:off x="6752844" y="1810512"/>
            <a:ext cx="1933956" cy="2048256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99148" y="1956816"/>
            <a:ext cx="274320" cy="2743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08876" y="200710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36308" y="2061972"/>
            <a:ext cx="0" cy="100584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76872" y="2103120"/>
            <a:ext cx="118872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83196" y="1947672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Интерфейс и приёмка</a:t>
            </a:r>
            <a:endParaRPr lang="ru-RU" sz="1000" dirty="0"/>
          </a:p>
        </p:txBody>
      </p:sp>
      <p:sp>
        <p:nvSpPr>
          <p:cNvPr id="45" name="Text 43"/>
          <p:cNvSpPr/>
          <p:nvPr/>
        </p:nvSpPr>
        <p:spPr>
          <a:xfrm>
            <a:off x="6899148" y="2377440"/>
            <a:ext cx="16413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ru-RU" alt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Экраны, очередь, журнал, каналы данных, обучение и протокол.</a:t>
            </a:r>
            <a:endParaRPr lang="ru-RU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069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ПРОЕКТОМ</a:t>
            </a:r>
            <a:endParaRPr lang="ru-RU" sz="760" dirty="0"/>
          </a:p>
        </p:txBody>
      </p:sp>
      <p:sp>
        <p:nvSpPr>
          <p:cNvPr id="47" name="Text 45"/>
          <p:cNvSpPr/>
          <p:nvPr/>
        </p:nvSpPr>
        <p:spPr>
          <a:xfrm>
            <a:off x="2176272" y="404164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совместный комитет · владельцы данных · протоколы методики · управление изменениями · критерии перехода</a:t>
            </a:r>
            <a:endParaRPr lang="ru-RU" sz="800" dirty="0"/>
          </a:p>
        </p:txBody>
      </p:sp>
      <p:sp>
        <p:nvSpPr>
          <p:cNvPr id="48" name="Text 46"/>
          <p:cNvSpPr/>
          <p:nvPr/>
        </p:nvSpPr>
        <p:spPr>
          <a:xfrm>
            <a:off x="1965960" y="4498848"/>
            <a:ext cx="6583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Референс прошлого предложения: 135 календарных дней. Индивидуальный график определяется после диагностики.</a:t>
            </a:r>
            <a:endParaRPr lang="ru-RU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Приёмка измеряет качество результата и готовность заказчика одновременно</a:t>
            </a:r>
            <a:endParaRPr lang="ru-RU" sz="105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ru-RU" sz="1050" dirty="0"/>
          </a:p>
        </p:txBody>
      </p:sp>
      <p:sp>
        <p:nvSpPr>
          <p:cNvPr id="7" name="Text 5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8" name="Shape 6"/>
          <p:cNvSpPr/>
          <p:nvPr/>
        </p:nvSpPr>
        <p:spPr>
          <a:xfrm>
            <a:off x="1074420" y="1335024"/>
            <a:ext cx="0" cy="-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783" y="1339696"/>
            <a:ext cx="15735" cy="-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1685" y="1353597"/>
            <a:ext cx="31082" cy="-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6698" y="1376384"/>
            <a:ext cx="45664" cy="-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7470" y="1407497"/>
            <a:ext cx="59122" cy="-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2750" y="1446170"/>
            <a:ext cx="71124" cy="-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1423" y="1491450"/>
            <a:ext cx="81374" cy="-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2536" y="1542222"/>
            <a:ext cx="89621" cy="-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5323" y="1597235"/>
            <a:ext cx="95661" cy="-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9224" y="1655137"/>
            <a:ext cx="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53896" y="1714500"/>
            <a:ext cx="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9224" y="1773863"/>
            <a:ext cx="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323" y="1831765"/>
            <a:ext cx="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2536" y="1886778"/>
            <a:ext cx="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1423" y="1937550"/>
            <a:ext cx="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42750" y="1982830"/>
            <a:ext cx="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97470" y="2021503"/>
            <a:ext cx="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46698" y="2052616"/>
            <a:ext cx="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91685" y="2075403"/>
            <a:ext cx="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783" y="2089304"/>
            <a:ext cx="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4420" y="2093976"/>
            <a:ext cx="0" cy="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5057" y="2089304"/>
            <a:ext cx="-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7155" y="2075403"/>
            <a:ext cx="-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2142" y="2052616"/>
            <a:ext cx="-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1370" y="2021503"/>
            <a:ext cx="-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090" y="1982830"/>
            <a:ext cx="-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7417" y="1937550"/>
            <a:ext cx="-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304" y="1886778"/>
            <a:ext cx="-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517" y="1831765"/>
            <a:ext cx="-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616" y="1773863"/>
            <a:ext cx="-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" y="1714500"/>
            <a:ext cx="-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9616" y="1655137"/>
            <a:ext cx="-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517" y="1597235"/>
            <a:ext cx="-95661" cy="-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6304" y="1542222"/>
            <a:ext cx="-89621" cy="-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7417" y="1491450"/>
            <a:ext cx="-81374" cy="-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6090" y="1446170"/>
            <a:ext cx="-71124" cy="-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1370" y="1407497"/>
            <a:ext cx="-59122" cy="-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2142" y="1376384"/>
            <a:ext cx="-45664" cy="-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7155" y="1353597"/>
            <a:ext cx="-31082" cy="-95661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5057" y="1339696"/>
            <a:ext cx="-15735" cy="-99346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15133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≥95%</a:t>
            </a:r>
            <a:endParaRPr lang="ru-RU" sz="1800" dirty="0"/>
          </a:p>
        </p:txBody>
      </p:sp>
      <p:sp>
        <p:nvSpPr>
          <p:cNvPr id="49" name="Text 47"/>
          <p:cNvSpPr/>
          <p:nvPr/>
        </p:nvSpPr>
        <p:spPr>
          <a:xfrm>
            <a:off x="502920" y="2240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извлечение позиций</a:t>
            </a:r>
            <a:endParaRPr lang="ru-RU" sz="1050" dirty="0"/>
          </a:p>
        </p:txBody>
      </p:sp>
      <p:sp>
        <p:nvSpPr>
          <p:cNvPr id="50" name="Shape 48"/>
          <p:cNvSpPr/>
          <p:nvPr/>
        </p:nvSpPr>
        <p:spPr>
          <a:xfrm>
            <a:off x="2464308" y="1536192"/>
            <a:ext cx="0" cy="-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23671" y="1540864"/>
            <a:ext cx="15735" cy="-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81573" y="1554765"/>
            <a:ext cx="31082" cy="-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36586" y="1577552"/>
            <a:ext cx="45664" cy="-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87358" y="1608665"/>
            <a:ext cx="59122" cy="-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32638" y="1647338"/>
            <a:ext cx="71124" cy="-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71311" y="1692618"/>
            <a:ext cx="81374" cy="-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02424" y="1743390"/>
            <a:ext cx="89621" cy="-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25211" y="1798403"/>
            <a:ext cx="95661" cy="-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39112" y="1856305"/>
            <a:ext cx="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43784" y="1915668"/>
            <a:ext cx="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39112" y="1975031"/>
            <a:ext cx="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25211" y="2032933"/>
            <a:ext cx="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802424" y="2087946"/>
            <a:ext cx="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71311" y="2138718"/>
            <a:ext cx="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32638" y="2183998"/>
            <a:ext cx="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87358" y="2222671"/>
            <a:ext cx="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36586" y="2253784"/>
            <a:ext cx="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81573" y="2276571"/>
            <a:ext cx="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3671" y="2290472"/>
            <a:ext cx="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64308" y="2295144"/>
            <a:ext cx="0" cy="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04945" y="2290472"/>
            <a:ext cx="-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47043" y="2276571"/>
            <a:ext cx="-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92030" y="2253784"/>
            <a:ext cx="-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241258" y="2222671"/>
            <a:ext cx="-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5978" y="2183998"/>
            <a:ext cx="-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57305" y="2138718"/>
            <a:ext cx="-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26192" y="2087946"/>
            <a:ext cx="-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03405" y="2032933"/>
            <a:ext cx="-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89504" y="1975031"/>
            <a:ext cx="-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84832" y="1915668"/>
            <a:ext cx="-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089504" y="1856305"/>
            <a:ext cx="-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103405" y="1798403"/>
            <a:ext cx="-95661" cy="-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126192" y="1743390"/>
            <a:ext cx="-89621" cy="-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57305" y="1692618"/>
            <a:ext cx="-81374" cy="-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95978" y="1647338"/>
            <a:ext cx="-71124" cy="-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241258" y="1608665"/>
            <a:ext cx="-59122" cy="-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292030" y="1577552"/>
            <a:ext cx="-45664" cy="-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347043" y="1554765"/>
            <a:ext cx="-31082" cy="-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04945" y="1540864"/>
            <a:ext cx="-15735" cy="-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121408" y="17145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₽</a:t>
            </a:r>
            <a:endParaRPr lang="ru-RU" sz="1800" dirty="0"/>
          </a:p>
        </p:txBody>
      </p:sp>
      <p:sp>
        <p:nvSpPr>
          <p:cNvPr id="91" name="Text 89"/>
          <p:cNvSpPr/>
          <p:nvPr/>
        </p:nvSpPr>
        <p:spPr>
          <a:xfrm>
            <a:off x="1892808" y="24414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расхождение итогов</a:t>
            </a:r>
            <a:endParaRPr lang="ru-RU" sz="1050" dirty="0"/>
          </a:p>
        </p:txBody>
      </p:sp>
      <p:sp>
        <p:nvSpPr>
          <p:cNvPr id="92" name="Shape 90"/>
          <p:cNvSpPr/>
          <p:nvPr/>
        </p:nvSpPr>
        <p:spPr>
          <a:xfrm>
            <a:off x="3854196" y="1335024"/>
            <a:ext cx="0" cy="-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913559" y="1339696"/>
            <a:ext cx="15735" cy="-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971461" y="1353597"/>
            <a:ext cx="31082" cy="-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6474" y="1376384"/>
            <a:ext cx="45664" cy="-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77246" y="1407497"/>
            <a:ext cx="59122" cy="-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22526" y="1446170"/>
            <a:ext cx="71124" cy="-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61199" y="1491450"/>
            <a:ext cx="81374" cy="-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192312" y="1542222"/>
            <a:ext cx="89621" cy="-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15099" y="1597235"/>
            <a:ext cx="95661" cy="-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229000" y="1655137"/>
            <a:ext cx="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33672" y="1714500"/>
            <a:ext cx="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29000" y="1773863"/>
            <a:ext cx="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215099" y="1831765"/>
            <a:ext cx="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92312" y="1886778"/>
            <a:ext cx="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61199" y="1937550"/>
            <a:ext cx="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122526" y="1982830"/>
            <a:ext cx="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077246" y="2021503"/>
            <a:ext cx="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026474" y="2052616"/>
            <a:ext cx="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971461" y="2075403"/>
            <a:ext cx="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913559" y="2089304"/>
            <a:ext cx="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854196" y="2093976"/>
            <a:ext cx="0" cy="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794833" y="2089304"/>
            <a:ext cx="-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736931" y="2075403"/>
            <a:ext cx="-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681918" y="2052616"/>
            <a:ext cx="-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31146" y="2021503"/>
            <a:ext cx="-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585866" y="1982830"/>
            <a:ext cx="-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547193" y="1937550"/>
            <a:ext cx="-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516080" y="1886778"/>
            <a:ext cx="-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93293" y="1831765"/>
            <a:ext cx="-95661" cy="31082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79392" y="1773863"/>
            <a:ext cx="-99346" cy="15735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474720" y="1714500"/>
            <a:ext cx="-100584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479392" y="1655137"/>
            <a:ext cx="-99346" cy="-15735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493293" y="1597235"/>
            <a:ext cx="-95661" cy="-31082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516080" y="1542222"/>
            <a:ext cx="-89621" cy="-45664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547193" y="1491450"/>
            <a:ext cx="-81374" cy="-59122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585866" y="1446170"/>
            <a:ext cx="-71124" cy="-71124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631146" y="1407497"/>
            <a:ext cx="-59122" cy="-81374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681918" y="1376384"/>
            <a:ext cx="-45664" cy="-89621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736931" y="1353597"/>
            <a:ext cx="-31082" cy="-95661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94833" y="1339696"/>
            <a:ext cx="-15735" cy="-99346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511296" y="15133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≥70%</a:t>
            </a:r>
            <a:endParaRPr lang="ru-RU" sz="1800" dirty="0"/>
          </a:p>
        </p:txBody>
      </p:sp>
      <p:sp>
        <p:nvSpPr>
          <p:cNvPr id="133" name="Text 131"/>
          <p:cNvSpPr/>
          <p:nvPr/>
        </p:nvSpPr>
        <p:spPr>
          <a:xfrm>
            <a:off x="3282696" y="22402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покрытие ручного расчёта</a:t>
            </a:r>
            <a:endParaRPr lang="ru-RU" sz="1050" dirty="0"/>
          </a:p>
        </p:txBody>
      </p:sp>
      <p:sp>
        <p:nvSpPr>
          <p:cNvPr id="134" name="Shape 132"/>
          <p:cNvSpPr/>
          <p:nvPr/>
        </p:nvSpPr>
        <p:spPr>
          <a:xfrm>
            <a:off x="5244084" y="1536192"/>
            <a:ext cx="0" cy="-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303447" y="1540864"/>
            <a:ext cx="15735" cy="-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361349" y="1554765"/>
            <a:ext cx="31082" cy="-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416362" y="1577552"/>
            <a:ext cx="45664" cy="-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467134" y="1608665"/>
            <a:ext cx="59122" cy="-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12414" y="1647338"/>
            <a:ext cx="71124" cy="-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51087" y="1692618"/>
            <a:ext cx="81374" cy="-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582200" y="1743390"/>
            <a:ext cx="89621" cy="-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04987" y="1798403"/>
            <a:ext cx="95661" cy="-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618888" y="1856305"/>
            <a:ext cx="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623560" y="1915668"/>
            <a:ext cx="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618888" y="1975031"/>
            <a:ext cx="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604987" y="2032933"/>
            <a:ext cx="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582200" y="2087946"/>
            <a:ext cx="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51087" y="2138718"/>
            <a:ext cx="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12414" y="2183998"/>
            <a:ext cx="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67134" y="2222671"/>
            <a:ext cx="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16362" y="2253784"/>
            <a:ext cx="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361349" y="2276571"/>
            <a:ext cx="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303447" y="2290472"/>
            <a:ext cx="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44084" y="2295144"/>
            <a:ext cx="0" cy="10058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184721" y="2290472"/>
            <a:ext cx="-15735" cy="99346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126819" y="2276571"/>
            <a:ext cx="-31082" cy="9566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071806" y="2253784"/>
            <a:ext cx="-45664" cy="89621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021034" y="2222671"/>
            <a:ext cx="-59122" cy="8137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975754" y="2183998"/>
            <a:ext cx="-71124" cy="7112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937081" y="2138718"/>
            <a:ext cx="-81374" cy="5912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905968" y="2087946"/>
            <a:ext cx="-89621" cy="45664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883181" y="2032933"/>
            <a:ext cx="-95661" cy="31082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869280" y="1975031"/>
            <a:ext cx="-99346" cy="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864608" y="1915668"/>
            <a:ext cx="-100584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869280" y="1856305"/>
            <a:ext cx="-99346" cy="-15735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883181" y="1798403"/>
            <a:ext cx="-95661" cy="-31082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905968" y="1743390"/>
            <a:ext cx="-89621" cy="-45664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937081" y="1692618"/>
            <a:ext cx="-81374" cy="-59122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975754" y="1647338"/>
            <a:ext cx="-71124" cy="-71124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021034" y="1608665"/>
            <a:ext cx="-59122" cy="-81374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071806" y="1577552"/>
            <a:ext cx="-45664" cy="-89621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126819" y="1554765"/>
            <a:ext cx="-31082" cy="-95661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184721" y="1540864"/>
            <a:ext cx="-15735" cy="-99346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901184" y="17145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≥80%</a:t>
            </a:r>
            <a:endParaRPr lang="ru-RU" sz="1800" dirty="0"/>
          </a:p>
        </p:txBody>
      </p:sp>
      <p:sp>
        <p:nvSpPr>
          <p:cNvPr id="175" name="Text 173"/>
          <p:cNvSpPr/>
          <p:nvPr/>
        </p:nvSpPr>
        <p:spPr>
          <a:xfrm>
            <a:off x="4672584" y="24414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105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чек-листы компетенций</a:t>
            </a:r>
            <a:endParaRPr lang="ru-RU" sz="1050" dirty="0"/>
          </a:p>
        </p:txBody>
      </p:sp>
      <p:sp>
        <p:nvSpPr>
          <p:cNvPr id="176" name="Text 174"/>
          <p:cNvSpPr/>
          <p:nvPr/>
        </p:nvSpPr>
        <p:spPr>
          <a:xfrm>
            <a:off x="6080760" y="1078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ЗАВИСИМОСТИ ЗАКАЗЧИКА</a:t>
            </a:r>
            <a:endParaRPr lang="ru-RU" sz="800" dirty="0"/>
          </a:p>
        </p:txBody>
      </p:sp>
      <p:sp>
        <p:nvSpPr>
          <p:cNvPr id="177" name="Shape 175"/>
          <p:cNvSpPr/>
          <p:nvPr/>
        </p:nvSpPr>
        <p:spPr>
          <a:xfrm>
            <a:off x="6062472" y="1417320"/>
            <a:ext cx="2487168" cy="47548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217920" y="155448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</a:t>
            </a:r>
            <a:endParaRPr lang="ru-RU" sz="730" dirty="0"/>
          </a:p>
        </p:txBody>
      </p:sp>
      <p:sp>
        <p:nvSpPr>
          <p:cNvPr id="179" name="Text 177"/>
          <p:cNvSpPr/>
          <p:nvPr/>
        </p:nvSpPr>
        <p:spPr>
          <a:xfrm>
            <a:off x="7104888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контрольные объекты и качественные документы</a:t>
            </a:r>
            <a:endParaRPr lang="ru-RU" sz="710" dirty="0"/>
          </a:p>
        </p:txBody>
      </p:sp>
      <p:sp>
        <p:nvSpPr>
          <p:cNvPr id="180" name="Shape 178"/>
          <p:cNvSpPr/>
          <p:nvPr/>
        </p:nvSpPr>
        <p:spPr>
          <a:xfrm>
            <a:off x="6062472" y="2039112"/>
            <a:ext cx="248716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217920" y="217627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ЛЮДИ</a:t>
            </a:r>
            <a:endParaRPr lang="ru-RU" sz="730" dirty="0"/>
          </a:p>
        </p:txBody>
      </p:sp>
      <p:sp>
        <p:nvSpPr>
          <p:cNvPr id="182" name="Text 180"/>
          <p:cNvSpPr/>
          <p:nvPr/>
        </p:nvSpPr>
        <p:spPr>
          <a:xfrm>
            <a:off x="7104888" y="21305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назначенные специалисты и владельцы решений</a:t>
            </a:r>
            <a:endParaRPr lang="ru-RU" sz="710" dirty="0"/>
          </a:p>
        </p:txBody>
      </p:sp>
      <p:sp>
        <p:nvSpPr>
          <p:cNvPr id="183" name="Shape 181"/>
          <p:cNvSpPr/>
          <p:nvPr/>
        </p:nvSpPr>
        <p:spPr>
          <a:xfrm>
            <a:off x="6062472" y="2660904"/>
            <a:ext cx="2487168" cy="475488"/>
          </a:xfrm>
          <a:prstGeom prst="rect">
            <a:avLst/>
          </a:prstGeom>
          <a:solidFill>
            <a:srgbClr val="F5F5F5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217920" y="279806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МЕТОДИКА</a:t>
            </a:r>
            <a:endParaRPr lang="ru-RU" sz="730" dirty="0"/>
          </a:p>
        </p:txBody>
      </p:sp>
      <p:sp>
        <p:nvSpPr>
          <p:cNvPr id="185" name="Text 183"/>
          <p:cNvSpPr/>
          <p:nvPr/>
        </p:nvSpPr>
        <p:spPr>
          <a:xfrm>
            <a:off x="7104888" y="27523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ручной контрольный расчёт и допуски</a:t>
            </a:r>
            <a:endParaRPr lang="ru-RU" sz="710" dirty="0"/>
          </a:p>
        </p:txBody>
      </p:sp>
      <p:sp>
        <p:nvSpPr>
          <p:cNvPr id="186" name="Shape 184"/>
          <p:cNvSpPr/>
          <p:nvPr/>
        </p:nvSpPr>
        <p:spPr>
          <a:xfrm>
            <a:off x="6062472" y="3282696"/>
            <a:ext cx="248716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217920" y="3419856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ИНФРАСТРУКТУРА</a:t>
            </a:r>
            <a:endParaRPr lang="ru-RU" sz="730" dirty="0"/>
          </a:p>
        </p:txBody>
      </p:sp>
      <p:sp>
        <p:nvSpPr>
          <p:cNvPr id="188" name="Text 186"/>
          <p:cNvSpPr/>
          <p:nvPr/>
        </p:nvSpPr>
        <p:spPr>
          <a:xfrm>
            <a:off x="7104888" y="3374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1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вычислительный контур, сеть и доступы</a:t>
            </a:r>
            <a:endParaRPr lang="ru-RU" sz="710" dirty="0"/>
          </a:p>
        </p:txBody>
      </p:sp>
      <p:sp>
        <p:nvSpPr>
          <p:cNvPr id="189" name="Shape 187"/>
          <p:cNvSpPr/>
          <p:nvPr/>
        </p:nvSpPr>
        <p:spPr>
          <a:xfrm>
            <a:off x="457200" y="4096512"/>
            <a:ext cx="822960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57200" y="4096512"/>
            <a:ext cx="960120" cy="47548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94360" y="42428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</a:t>
            </a:r>
            <a:endParaRPr lang="ru-RU" sz="1050" dirty="0"/>
          </a:p>
        </p:txBody>
      </p:sp>
      <p:sp>
        <p:nvSpPr>
          <p:cNvPr id="192" name="Text 190"/>
          <p:cNvSpPr/>
          <p:nvPr/>
        </p:nvSpPr>
        <p:spPr>
          <a:xfrm>
            <a:off x="1600200" y="420624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 независимой оценки, скорость и допустимые отклонения фиксируются до итоговой приёмки.</a:t>
            </a:r>
            <a:endParaRPr lang="ru-RU" sz="950" dirty="0"/>
          </a:p>
        </p:txBody>
      </p:sp>
      <p:sp>
        <p:nvSpPr>
          <p:cNvPr id="193" name="Text 191"/>
          <p:cNvSpPr/>
          <p:nvPr/>
        </p:nvSpPr>
        <p:spPr>
          <a:xfrm>
            <a:off x="3017520" y="4544568"/>
            <a:ext cx="5504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7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Референсные критерии — окончательные пороги определяются индивидуальным техническим заданием.</a:t>
            </a:r>
            <a:endParaRPr lang="ru-RU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942332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СТРОЙИНТЕЛЛЕКТ</a:t>
            </a:r>
            <a:endParaRPr lang="ru-RU" sz="1050" dirty="0"/>
          </a:p>
        </p:txBody>
      </p:sp>
      <p:sp>
        <p:nvSpPr>
          <p:cNvPr id="5" name="Text 3"/>
          <p:cNvSpPr/>
          <p:nvPr/>
        </p:nvSpPr>
        <p:spPr>
          <a:xfrm>
            <a:off x="8028432" y="49423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ru-RU" sz="1050" dirty="0"/>
          </a:p>
        </p:txBody>
      </p:sp>
      <p:sp>
        <p:nvSpPr>
          <p:cNvPr id="6" name="Text 4"/>
          <p:cNvSpPr/>
          <p:nvPr/>
        </p:nvSpPr>
        <p:spPr>
          <a:xfrm>
            <a:off x="8339328" y="4919472"/>
            <a:ext cx="603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r" indent="0" marL="0">
              <a:buNone/>
            </a:pPr>
            <a:r>
              <a:rPr lang="ru-RU" alt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Базовое корпоративное внедрение начинается от 20 млн ₽</a:t>
            </a:r>
            <a:endParaRPr lang="ru-RU" sz="1050" dirty="0"/>
          </a:p>
        </p:txBody>
      </p:sp>
      <p:sp>
        <p:nvSpPr>
          <p:cNvPr id="8" name="Text 6"/>
          <p:cNvSpPr/>
          <p:nvPr/>
        </p:nvSpPr>
        <p:spPr>
          <a:xfrm>
            <a:off x="7590800" y="347472"/>
            <a:ext cx="109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КОММЕРЧЕСКАЯ СЦЕНА</a:t>
            </a:r>
            <a:endParaRPr lang="ru-RU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34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20 млн ₽</a:t>
            </a:r>
            <a:endParaRPr lang="ru-RU" sz="3400" dirty="0"/>
          </a:p>
        </p:txBody>
      </p:sp>
      <p:sp>
        <p:nvSpPr>
          <p:cNvPr id="10" name="Text 8"/>
          <p:cNvSpPr/>
          <p:nvPr/>
        </p:nvSpPr>
        <p:spPr>
          <a:xfrm>
            <a:off x="484632" y="20299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БАЗОВОЕ ВНЕДРЕНИЕ</a:t>
            </a:r>
            <a:endParaRPr lang="ru-RU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143000"/>
            <a:ext cx="0" cy="3127248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МОЖЕТ ВХОДИТЬ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810512"/>
            <a:ext cx="100584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7830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программный контур и база</a:t>
            </a:r>
            <a:endParaRPr lang="ru-RU" sz="870" dirty="0"/>
          </a:p>
        </p:txBody>
      </p:sp>
      <p:sp>
        <p:nvSpPr>
          <p:cNvPr id="15" name="Shape 13"/>
          <p:cNvSpPr/>
          <p:nvPr/>
        </p:nvSpPr>
        <p:spPr>
          <a:xfrm>
            <a:off x="4709160" y="2377440"/>
            <a:ext cx="100584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3500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расчёт и сравнение</a:t>
            </a:r>
            <a:endParaRPr lang="ru-RU" sz="870" dirty="0"/>
          </a:p>
        </p:txBody>
      </p:sp>
      <p:sp>
        <p:nvSpPr>
          <p:cNvPr id="17" name="Shape 15"/>
          <p:cNvSpPr/>
          <p:nvPr/>
        </p:nvSpPr>
        <p:spPr>
          <a:xfrm>
            <a:off x="4709160" y="2944368"/>
            <a:ext cx="100584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9169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компетенций</a:t>
            </a:r>
            <a:endParaRPr lang="ru-RU" sz="870" dirty="0"/>
          </a:p>
        </p:txBody>
      </p:sp>
      <p:sp>
        <p:nvSpPr>
          <p:cNvPr id="19" name="Shape 17"/>
          <p:cNvSpPr/>
          <p:nvPr/>
        </p:nvSpPr>
        <p:spPr>
          <a:xfrm>
            <a:off x="4709160" y="3511296"/>
            <a:ext cx="100584" cy="1005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4838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выгрузки, журнал, обучение</a:t>
            </a:r>
            <a:endParaRPr lang="ru-RU" sz="870" dirty="0"/>
          </a:p>
        </p:txBody>
      </p:sp>
      <p:sp>
        <p:nvSpPr>
          <p:cNvPr id="21" name="Text 19"/>
          <p:cNvSpPr/>
          <p:nvPr/>
        </p:nvSpPr>
        <p:spPr>
          <a:xfrm>
            <a:off x="67665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0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РАССЧИТЫВАЕТСЯ ОТДЕЛЬНО</a:t>
            </a:r>
            <a:endParaRPr lang="ru-RU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1810512"/>
            <a:ext cx="100584" cy="10058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178308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 — отдельное платное предложение</a:t>
            </a:r>
            <a:endParaRPr lang="ru-RU" sz="870" dirty="0"/>
          </a:p>
        </p:txBody>
      </p:sp>
      <p:sp>
        <p:nvSpPr>
          <p:cNvPr id="24" name="Shape 22"/>
          <p:cNvSpPr/>
          <p:nvPr/>
        </p:nvSpPr>
        <p:spPr>
          <a:xfrm>
            <a:off x="6766560" y="2377440"/>
            <a:ext cx="100584" cy="10058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35000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Доказательный пилот — отдельное платное предложение</a:t>
            </a:r>
            <a:endParaRPr lang="ru-RU" sz="870" dirty="0"/>
          </a:p>
        </p:txBody>
      </p:sp>
      <p:sp>
        <p:nvSpPr>
          <p:cNvPr id="26" name="Shape 24"/>
          <p:cNvSpPr/>
          <p:nvPr/>
        </p:nvSpPr>
        <p:spPr>
          <a:xfrm>
            <a:off x="6766560" y="2944368"/>
            <a:ext cx="100584" cy="10058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9169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оборудование и эксплуатация</a:t>
            </a:r>
            <a:endParaRPr lang="ru-RU" sz="870" dirty="0"/>
          </a:p>
        </p:txBody>
      </p:sp>
      <p:sp>
        <p:nvSpPr>
          <p:cNvPr id="28" name="Shape 26"/>
          <p:cNvSpPr/>
          <p:nvPr/>
        </p:nvSpPr>
        <p:spPr>
          <a:xfrm>
            <a:off x="6766560" y="3511296"/>
            <a:ext cx="100584" cy="10058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76872" y="34838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87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расширения, поддержка и развитие</a:t>
            </a:r>
            <a:endParaRPr lang="ru-RU" sz="870" dirty="0"/>
          </a:p>
        </p:txBody>
      </p:sp>
      <p:sp>
        <p:nvSpPr>
          <p:cNvPr id="30" name="Text 28"/>
          <p:cNvSpPr/>
          <p:nvPr/>
        </p:nvSpPr>
        <p:spPr>
          <a:xfrm>
            <a:off x="475488" y="3035808"/>
            <a:ext cx="3520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ru-RU" altLang="en-US" sz="10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 и Доказательный пилот имеют индивидуальные цены и не входят в базовое внедрение, если это прямо не закреплено договором.</a:t>
            </a:r>
            <a:endParaRPr lang="ru-RU" sz="1050" dirty="0"/>
          </a:p>
        </p:txBody>
      </p:sp>
      <p:sp>
        <p:nvSpPr>
          <p:cNvPr id="31" name="Shape 29"/>
          <p:cNvSpPr/>
          <p:nvPr/>
        </p:nvSpPr>
        <p:spPr>
          <a:xfrm>
            <a:off x="475488" y="4078224"/>
            <a:ext cx="1317102" cy="256032"/>
          </a:xfrm>
          <a:prstGeom prst="rect">
            <a:avLst/>
          </a:prstGeom>
          <a:solidFill>
            <a:srgbClr val="F5F5F5"/>
          </a:solidFill>
          <a:ln w="10160">
            <a:solidFill>
              <a:srgbClr val="FF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60520"/>
            <a:ext cx="73152" cy="7315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137660"/>
            <a:ext cx="103363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Целевой состав внедрения</a:t>
            </a:r>
            <a:endParaRPr lang="ru-RU" sz="750" dirty="0"/>
          </a:p>
        </p:txBody>
      </p:sp>
      <p:sp>
        <p:nvSpPr>
          <p:cNvPr id="34" name="Text 32"/>
          <p:cNvSpPr/>
          <p:nvPr/>
        </p:nvSpPr>
        <p:spPr>
          <a:xfrm>
            <a:off x="475488" y="36850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76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ПОЛНАЯ СТОИМОСТЬ ВЛАДЕНИЯ</a:t>
            </a:r>
            <a:endParaRPr lang="ru-RU" sz="760" dirty="0"/>
          </a:p>
        </p:txBody>
      </p:sp>
      <p:sp>
        <p:nvSpPr>
          <p:cNvPr id="35" name="Text 33"/>
          <p:cNvSpPr/>
          <p:nvPr/>
        </p:nvSpPr>
        <p:spPr>
          <a:xfrm>
            <a:off x="475488" y="39044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4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внедрение · лицензирование при наличии · оборудование · эксплуатация · сопровождение · база · внешний контур</a:t>
            </a:r>
            <a:endParaRPr lang="ru-RU" sz="740" dirty="0"/>
          </a:p>
        </p:txBody>
      </p:sp>
      <p:sp>
        <p:nvSpPr>
          <p:cNvPr id="36" name="Text 34"/>
          <p:cNvSpPr/>
          <p:nvPr/>
        </p:nvSpPr>
        <p:spPr>
          <a:xfrm>
            <a:off x="4718304" y="4041648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ru-RU" altLang="en-US" sz="7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Права использования, лицензирование, срок, территория, организационный периметр, инфраструктура, гарантия и сопровождение фиксируются индивидуально.</a:t>
            </a:r>
            <a:endParaRPr lang="ru-RU" sz="7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00600" y="640080"/>
            <a:ext cx="0" cy="38862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972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Начнём с одного объекта и одного управленческого вопроса</a:t>
            </a:r>
            <a:endParaRPr lang="ru-RU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1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Передать краткое описание объекта и перечень доступных документов</a:t>
            </a:r>
            <a:endParaRPr lang="ru-RU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 (495) 198-14-77</a:t>
            </a:r>
            <a:endParaRPr lang="ru-RU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info@7rlines.com</a:t>
            </a:r>
            <a:endParaRPr lang="ru-RU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36667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950" b="1" u="sng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7rlines.ru</a:t>
            </a:r>
            <a:endParaRPr lang="ru-RU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40142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ru-RU" alt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119049, Москва, ул. Шаболовка, 23к3</a:t>
            </a:r>
            <a:endParaRPr lang="ru-RU" sz="850" dirty="0"/>
          </a:p>
        </p:txBody>
      </p:sp>
      <p:sp>
        <p:nvSpPr>
          <p:cNvPr id="10" name="Text 8"/>
          <p:cNvSpPr/>
          <p:nvPr/>
        </p:nvSpPr>
        <p:spPr>
          <a:xfrm>
            <a:off x="5257800" y="221284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ru-RU" altLang="en-US" sz="2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</a:t>
            </a:r>
            <a:pPr algn="ctr" indent="0" marL="0">
              <a:buNone/>
            </a:pPr>
            <a:r>
              <a:rPr lang="ru-RU" altLang="en-US" sz="2200" b="1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КРАСНЫХ</a:t>
            </a:r>
            <a:pPr algn="ctr" indent="0" marL="0">
              <a:buNone/>
            </a:pPr>
            <a:r>
              <a:rPr lang="ru-RU" altLang="en-US" sz="2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ЛИНИЙ</a:t>
            </a:r>
            <a:endParaRPr lang="ru-RU" sz="2200" dirty="0"/>
          </a:p>
        </p:txBody>
      </p:sp>
      <p:sp>
        <p:nvSpPr>
          <p:cNvPr id="11" name="Text 9"/>
          <p:cNvSpPr/>
          <p:nvPr/>
        </p:nvSpPr>
        <p:spPr>
          <a:xfrm>
            <a:off x="667512" y="27066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ru-RU" altLang="en-US" sz="77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старта: решение и дата · сметы и ВОР · не менее трёх предложений при сравнении · договор · параметры финансирования · контрольный расчёт</a:t>
            </a:r>
            <a:endParaRPr lang="ru-RU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7 КРАСНЫХ ЛИНИЙ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СтройИнтеллект — универсальное коммерческое предложение</dc:title>
  <dc:subject>32-слайдовое коммерческое предложение для девелопера и застройщика</dc:subject>
  <dc:creator>7 КРАСНЫХ ЛИНИЙ</dc:creator>
  <cp:lastModifiedBy>7 КРАСНЫХ ЛИНИЙ</cp:lastModifiedBy>
  <cp:revision>1</cp:revision>
  <dcterms:created xsi:type="dcterms:W3CDTF">2026-08-12T00:04:05Z</dcterms:created>
  <dcterms:modified xsi:type="dcterms:W3CDTF">2026-08-12T00:04:05Z</dcterms:modified>
</cp:coreProperties>
</file>