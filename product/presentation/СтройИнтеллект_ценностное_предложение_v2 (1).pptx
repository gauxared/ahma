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12192000" cy="6858000"/>
  <p:defaultTextStyle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2" d="100"/>
          <a:sy n="122" d="100"/>
        </p:scale>
        <p:origin x="114" y="144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minimal_corporate_abstract_background_scene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51954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 bwMode="auto">
          <a:xfrm>
            <a:off x="411480" y="292608"/>
            <a:ext cx="320040" cy="3200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endParaRPr lang="en-US" sz="1900"/>
          </a:p>
        </p:txBody>
      </p:sp>
      <p:sp>
        <p:nvSpPr>
          <p:cNvPr id="5" name="Text 2"/>
          <p:cNvSpPr/>
          <p:nvPr/>
        </p:nvSpPr>
        <p:spPr bwMode="auto">
          <a:xfrm>
            <a:off x="731520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endParaRPr lang="en-US" sz="1200"/>
          </a:p>
        </p:txBody>
      </p:sp>
      <p:sp>
        <p:nvSpPr>
          <p:cNvPr id="6" name="Text 3"/>
          <p:cNvSpPr/>
          <p:nvPr/>
        </p:nvSpPr>
        <p:spPr bwMode="auto">
          <a:xfrm>
            <a:off x="11228832" y="6355080"/>
            <a:ext cx="548640" cy="25603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111827"/>
                </a:solidFill>
              </a:rPr>
              <a:t>1</a:t>
            </a:r>
            <a:endParaRPr lang="en-US" sz="1200"/>
          </a:p>
        </p:txBody>
      </p:sp>
      <p:sp>
        <p:nvSpPr>
          <p:cNvPr id="7" name="Text 4"/>
          <p:cNvSpPr/>
          <p:nvPr/>
        </p:nvSpPr>
        <p:spPr bwMode="auto">
          <a:xfrm>
            <a:off x="475488" y="1325880"/>
            <a:ext cx="7406640" cy="82296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4900" b="1">
                <a:solidFill>
                  <a:srgbClr val="111827"/>
                </a:solidFill>
              </a:rPr>
              <a:t>СтройИнтеллект</a:t>
            </a:r>
            <a:endParaRPr lang="en-US" sz="4900"/>
          </a:p>
        </p:txBody>
      </p:sp>
      <p:sp>
        <p:nvSpPr>
          <p:cNvPr id="8" name="Shape 5"/>
          <p:cNvSpPr/>
          <p:nvPr/>
        </p:nvSpPr>
        <p:spPr bwMode="auto">
          <a:xfrm>
            <a:off x="512064" y="2240280"/>
            <a:ext cx="2651760" cy="0"/>
          </a:xfrm>
          <a:prstGeom prst="line">
            <a:avLst/>
          </a:prstGeom>
          <a:noFill/>
          <a:ln w="25400">
            <a:solidFill>
              <a:srgbClr val="E30613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Text 6"/>
          <p:cNvSpPr/>
          <p:nvPr/>
        </p:nvSpPr>
        <p:spPr bwMode="auto">
          <a:xfrm>
            <a:off x="512064" y="2542032"/>
            <a:ext cx="6583680" cy="47548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2300">
                <a:solidFill>
                  <a:srgbClr val="111827"/>
                </a:solidFill>
              </a:rPr>
              <a:t>Цифровая служба технического заказчика</a:t>
            </a:r>
            <a:endParaRPr lang="en-US" sz="2300"/>
          </a:p>
        </p:txBody>
      </p:sp>
      <p:sp>
        <p:nvSpPr>
          <p:cNvPr id="10" name="Text 7"/>
          <p:cNvSpPr/>
          <p:nvPr/>
        </p:nvSpPr>
        <p:spPr bwMode="auto">
          <a:xfrm>
            <a:off x="512064" y="3337560"/>
            <a:ext cx="7863840" cy="6858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900">
                <a:solidFill>
                  <a:srgbClr val="4B5563"/>
                </a:solidFill>
              </a:rPr>
              <a:t>Быстрее финансово-технический контроль. Меньше ручной работы.</a:t>
            </a:r>
            <a:endParaRPr lang="en-US" sz="1900"/>
          </a:p>
          <a:p>
            <a:pPr marL="0" indent="0">
              <a:buNone/>
              <a:defRPr/>
            </a:pPr>
            <a:r>
              <a:rPr lang="en-US" sz="1900">
                <a:solidFill>
                  <a:srgbClr val="4B5563"/>
                </a:solidFill>
              </a:rPr>
              <a:t>Единая координация функций и действий по объекту.</a:t>
            </a:r>
            <a:endParaRPr lang="en-US" sz="1900"/>
          </a:p>
        </p:txBody>
      </p:sp>
      <p:sp>
        <p:nvSpPr>
          <p:cNvPr id="11" name="Shape 8"/>
          <p:cNvSpPr/>
          <p:nvPr/>
        </p:nvSpPr>
        <p:spPr bwMode="auto">
          <a:xfrm>
            <a:off x="512064" y="4617720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96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" name="Text 9"/>
          <p:cNvSpPr/>
          <p:nvPr/>
        </p:nvSpPr>
        <p:spPr bwMode="auto">
          <a:xfrm>
            <a:off x="694944" y="4782312"/>
            <a:ext cx="1536192" cy="47548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E30613"/>
                </a:solidFill>
              </a:rPr>
              <a:t>9</a:t>
            </a:r>
            <a:endParaRPr lang="en-US" sz="2600"/>
          </a:p>
        </p:txBody>
      </p:sp>
      <p:sp>
        <p:nvSpPr>
          <p:cNvPr id="13" name="Text 10"/>
          <p:cNvSpPr/>
          <p:nvPr/>
        </p:nvSpPr>
        <p:spPr bwMode="auto">
          <a:xfrm>
            <a:off x="694944" y="5321808"/>
            <a:ext cx="1581912" cy="356616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4B5563"/>
                </a:solidFill>
              </a:rPr>
              <a:t>ИИ-агентов</a:t>
            </a:r>
            <a:endParaRPr lang="en-US" sz="1050"/>
          </a:p>
        </p:txBody>
      </p:sp>
      <p:sp>
        <p:nvSpPr>
          <p:cNvPr id="14" name="Shape 11"/>
          <p:cNvSpPr/>
          <p:nvPr/>
        </p:nvSpPr>
        <p:spPr bwMode="auto">
          <a:xfrm>
            <a:off x="2642616" y="4617720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96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" name="Text 12"/>
          <p:cNvSpPr/>
          <p:nvPr/>
        </p:nvSpPr>
        <p:spPr bwMode="auto">
          <a:xfrm>
            <a:off x="2825496" y="4782312"/>
            <a:ext cx="1536192" cy="47548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E30613"/>
                </a:solidFill>
              </a:rPr>
              <a:t>250+</a:t>
            </a:r>
            <a:endParaRPr lang="en-US" sz="2600"/>
          </a:p>
        </p:txBody>
      </p:sp>
      <p:sp>
        <p:nvSpPr>
          <p:cNvPr id="16" name="Text 13"/>
          <p:cNvSpPr/>
          <p:nvPr/>
        </p:nvSpPr>
        <p:spPr bwMode="auto">
          <a:xfrm>
            <a:off x="2825496" y="5321808"/>
            <a:ext cx="1581912" cy="356616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4B5563"/>
                </a:solidFill>
              </a:rPr>
              <a:t>объектов</a:t>
            </a:r>
            <a:endParaRPr lang="en-US" sz="1050"/>
          </a:p>
          <a:p>
            <a:pPr marL="0" indent="0">
              <a:buNone/>
              <a:defRPr/>
            </a:pPr>
            <a:r>
              <a:rPr lang="en-US" sz="1050">
                <a:solidFill>
                  <a:srgbClr val="4B5563"/>
                </a:solidFill>
              </a:rPr>
              <a:t>в обучающем массиве</a:t>
            </a:r>
            <a:endParaRPr lang="en-US" sz="1050"/>
          </a:p>
        </p:txBody>
      </p:sp>
      <p:sp>
        <p:nvSpPr>
          <p:cNvPr id="17" name="Shape 14"/>
          <p:cNvSpPr/>
          <p:nvPr/>
        </p:nvSpPr>
        <p:spPr bwMode="auto">
          <a:xfrm>
            <a:off x="4773168" y="4617720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96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8" name="Text 15"/>
          <p:cNvSpPr/>
          <p:nvPr/>
        </p:nvSpPr>
        <p:spPr bwMode="auto">
          <a:xfrm>
            <a:off x="4956048" y="4782312"/>
            <a:ext cx="1536192" cy="47548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E30613"/>
                </a:solidFill>
              </a:rPr>
              <a:t>0 ₽</a:t>
            </a:r>
            <a:endParaRPr lang="en-US" sz="2600"/>
          </a:p>
        </p:txBody>
      </p:sp>
      <p:sp>
        <p:nvSpPr>
          <p:cNvPr id="19" name="Text 16"/>
          <p:cNvSpPr/>
          <p:nvPr/>
        </p:nvSpPr>
        <p:spPr bwMode="auto">
          <a:xfrm>
            <a:off x="4956048" y="5321808"/>
            <a:ext cx="1581912" cy="356616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4B5563"/>
                </a:solidFill>
              </a:rPr>
              <a:t>абонентских платежей</a:t>
            </a:r>
            <a:endParaRPr lang="en-US" sz="1050"/>
          </a:p>
          <a:p>
            <a:pPr marL="0" indent="0">
              <a:buNone/>
              <a:defRPr/>
            </a:pPr>
            <a:r>
              <a:rPr lang="en-US" sz="1050">
                <a:solidFill>
                  <a:srgbClr val="4B5563"/>
                </a:solidFill>
              </a:rPr>
              <a:t>за использование</a:t>
            </a:r>
            <a:endParaRPr lang="en-US" sz="1050"/>
          </a:p>
        </p:txBody>
      </p:sp>
      <p:sp>
        <p:nvSpPr>
          <p:cNvPr id="20" name="Shape 17"/>
          <p:cNvSpPr/>
          <p:nvPr/>
        </p:nvSpPr>
        <p:spPr bwMode="auto">
          <a:xfrm>
            <a:off x="6903720" y="4617720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96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1" name="Text 18"/>
          <p:cNvSpPr/>
          <p:nvPr/>
        </p:nvSpPr>
        <p:spPr bwMode="auto">
          <a:xfrm flipH="0" flipV="0">
            <a:off x="7086599" y="4782311"/>
            <a:ext cx="1766536" cy="47548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E30613"/>
                </a:solidFill>
              </a:rPr>
              <a:t>локально</a:t>
            </a:r>
            <a:endParaRPr lang="en-US" sz="2600"/>
          </a:p>
        </p:txBody>
      </p:sp>
      <p:sp>
        <p:nvSpPr>
          <p:cNvPr id="22" name="Text 19"/>
          <p:cNvSpPr/>
          <p:nvPr/>
        </p:nvSpPr>
        <p:spPr bwMode="auto">
          <a:xfrm>
            <a:off x="7086600" y="5321808"/>
            <a:ext cx="1581912" cy="356616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4B5563"/>
                </a:solidFill>
              </a:rPr>
              <a:t>размещение в контуре</a:t>
            </a:r>
            <a:endParaRPr lang="en-US" sz="1050"/>
          </a:p>
          <a:p>
            <a:pPr marL="0" indent="0">
              <a:buNone/>
              <a:defRPr/>
            </a:pPr>
            <a:r>
              <a:rPr lang="en-US" sz="1050">
                <a:solidFill>
                  <a:srgbClr val="4B5563"/>
                </a:solidFill>
              </a:rPr>
              <a:t>заказчика</a:t>
            </a:r>
            <a:endParaRPr lang="en-US" sz="1050"/>
          </a:p>
        </p:txBody>
      </p:sp>
      <p:sp>
        <p:nvSpPr>
          <p:cNvPr id="400368660" name="Text 0"/>
          <p:cNvSpPr/>
          <p:nvPr/>
        </p:nvSpPr>
        <p:spPr bwMode="auto">
          <a:xfrm flipH="0" flipV="0">
            <a:off x="626999" y="292608"/>
            <a:ext cx="761224" cy="3200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7 КЛ</a:t>
            </a:r>
            <a:endParaRPr lang="en-US" sz="1900"/>
          </a:p>
        </p:txBody>
      </p:sp>
      <p:sp>
        <p:nvSpPr>
          <p:cNvPr id="1415176193" name="Shape 1"/>
          <p:cNvSpPr/>
          <p:nvPr/>
        </p:nvSpPr>
        <p:spPr bwMode="auto">
          <a:xfrm>
            <a:off x="1324216" y="310895"/>
            <a:ext cx="0" cy="283464"/>
          </a:xfrm>
          <a:prstGeom prst="line">
            <a:avLst/>
          </a:prstGeom>
          <a:noFill/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017746092" name="Text 2"/>
          <p:cNvSpPr/>
          <p:nvPr/>
        </p:nvSpPr>
        <p:spPr bwMode="auto">
          <a:xfrm>
            <a:off x="145223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7 КРАСНЫХ ЛИНИЙ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minimal_corporate_abstract_background_scene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 bwMode="auto">
          <a:xfrm flipH="0" flipV="0">
            <a:off x="626999" y="292608"/>
            <a:ext cx="761225" cy="3200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7 КЛ</a:t>
            </a:r>
            <a:endParaRPr lang="en-US" sz="1900"/>
          </a:p>
        </p:txBody>
      </p:sp>
      <p:sp>
        <p:nvSpPr>
          <p:cNvPr id="4" name="Shape 1"/>
          <p:cNvSpPr/>
          <p:nvPr/>
        </p:nvSpPr>
        <p:spPr bwMode="auto">
          <a:xfrm>
            <a:off x="1324217" y="310895"/>
            <a:ext cx="0" cy="283464"/>
          </a:xfrm>
          <a:prstGeom prst="line">
            <a:avLst/>
          </a:prstGeom>
          <a:noFill/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Text 2"/>
          <p:cNvSpPr/>
          <p:nvPr/>
        </p:nvSpPr>
        <p:spPr bwMode="auto">
          <a:xfrm>
            <a:off x="1452233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7 КРАСНЫХ ЛИНИЙ</a:t>
            </a:r>
            <a:endParaRPr lang="en-US" sz="1150"/>
          </a:p>
        </p:txBody>
      </p:sp>
      <p:sp>
        <p:nvSpPr>
          <p:cNvPr id="6" name="Text 3"/>
          <p:cNvSpPr/>
          <p:nvPr/>
        </p:nvSpPr>
        <p:spPr bwMode="auto">
          <a:xfrm>
            <a:off x="11228832" y="6355080"/>
            <a:ext cx="548640" cy="25603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111827"/>
                </a:solidFill>
              </a:rPr>
              <a:t>2</a:t>
            </a:r>
            <a:endParaRPr lang="en-US" sz="1200"/>
          </a:p>
        </p:txBody>
      </p:sp>
      <p:sp>
        <p:nvSpPr>
          <p:cNvPr id="7" name="Text 4"/>
          <p:cNvSpPr/>
          <p:nvPr/>
        </p:nvSpPr>
        <p:spPr bwMode="auto">
          <a:xfrm>
            <a:off x="438912" y="868680"/>
            <a:ext cx="9875520" cy="7315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Существующий процесс требует много времени, труда и согласований</a:t>
            </a:r>
            <a:endParaRPr lang="en-US" sz="3000"/>
          </a:p>
        </p:txBody>
      </p:sp>
      <p:sp>
        <p:nvSpPr>
          <p:cNvPr id="8" name="Shape 5"/>
          <p:cNvSpPr/>
          <p:nvPr/>
        </p:nvSpPr>
        <p:spPr bwMode="auto">
          <a:xfrm>
            <a:off x="457200" y="1655063"/>
            <a:ext cx="2011680" cy="0"/>
          </a:xfrm>
          <a:prstGeom prst="line">
            <a:avLst/>
          </a:prstGeom>
          <a:noFill/>
          <a:ln w="20320">
            <a:solidFill>
              <a:srgbClr val="E30613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Text 6"/>
          <p:cNvSpPr/>
          <p:nvPr/>
        </p:nvSpPr>
        <p:spPr bwMode="auto">
          <a:xfrm>
            <a:off x="475488" y="1810512"/>
            <a:ext cx="95097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4B5563"/>
                </a:solidFill>
                <a:latin typeface="Arial"/>
                <a:ea typeface="Arial"/>
                <a:cs typeface="Arial"/>
              </a:rPr>
              <a:t>Финансово-технический контроль распределён между функциями и во многом собирается вручную</a:t>
            </a:r>
            <a:endParaRPr lang="en-US" sz="1800"/>
          </a:p>
        </p:txBody>
      </p:sp>
      <p:sp>
        <p:nvSpPr>
          <p:cNvPr id="10" name="Text 7"/>
          <p:cNvSpPr/>
          <p:nvPr/>
        </p:nvSpPr>
        <p:spPr bwMode="auto">
          <a:xfrm>
            <a:off x="594360" y="2532888"/>
            <a:ext cx="566928" cy="310896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E30613"/>
                </a:solidFill>
              </a:rPr>
              <a:t>01</a:t>
            </a:r>
            <a:endParaRPr lang="en-US" sz="1900"/>
          </a:p>
        </p:txBody>
      </p:sp>
      <p:sp>
        <p:nvSpPr>
          <p:cNvPr id="11" name="Shape 8"/>
          <p:cNvSpPr/>
          <p:nvPr/>
        </p:nvSpPr>
        <p:spPr bwMode="auto">
          <a:xfrm>
            <a:off x="1325880" y="2496312"/>
            <a:ext cx="0" cy="502920"/>
          </a:xfrm>
          <a:prstGeom prst="line">
            <a:avLst/>
          </a:prstGeom>
          <a:noFill/>
          <a:ln w="15240">
            <a:solidFill>
              <a:srgbClr val="E30613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" name="Text 9"/>
          <p:cNvSpPr/>
          <p:nvPr/>
        </p:nvSpPr>
        <p:spPr bwMode="auto">
          <a:xfrm>
            <a:off x="1572768" y="2487168"/>
            <a:ext cx="2148840" cy="30175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11827"/>
                </a:solidFill>
              </a:rPr>
              <a:t>Время</a:t>
            </a:r>
            <a:endParaRPr lang="en-US" sz="1550"/>
          </a:p>
        </p:txBody>
      </p:sp>
      <p:sp>
        <p:nvSpPr>
          <p:cNvPr id="13" name="Text 10"/>
          <p:cNvSpPr/>
          <p:nvPr/>
        </p:nvSpPr>
        <p:spPr bwMode="auto">
          <a:xfrm>
            <a:off x="4434840" y="2496312"/>
            <a:ext cx="4983480" cy="47548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4B5563"/>
                </a:solidFill>
              </a:rPr>
              <a:t>проверки и согласования проходят последовательно между подразделениями</a:t>
            </a:r>
            <a:endParaRPr lang="en-US" sz="1300"/>
          </a:p>
        </p:txBody>
      </p:sp>
      <p:sp>
        <p:nvSpPr>
          <p:cNvPr id="14" name="Shape 11"/>
          <p:cNvSpPr/>
          <p:nvPr/>
        </p:nvSpPr>
        <p:spPr bwMode="auto">
          <a:xfrm>
            <a:off x="585216" y="3136392"/>
            <a:ext cx="8001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" name="Text 12"/>
          <p:cNvSpPr/>
          <p:nvPr/>
        </p:nvSpPr>
        <p:spPr bwMode="auto">
          <a:xfrm>
            <a:off x="594360" y="3355848"/>
            <a:ext cx="566928" cy="310896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E30613"/>
                </a:solidFill>
              </a:rPr>
              <a:t>02</a:t>
            </a:r>
            <a:endParaRPr lang="en-US" sz="1900"/>
          </a:p>
        </p:txBody>
      </p:sp>
      <p:sp>
        <p:nvSpPr>
          <p:cNvPr id="16" name="Shape 13"/>
          <p:cNvSpPr/>
          <p:nvPr/>
        </p:nvSpPr>
        <p:spPr bwMode="auto">
          <a:xfrm>
            <a:off x="1325880" y="3319272"/>
            <a:ext cx="0" cy="502920"/>
          </a:xfrm>
          <a:prstGeom prst="line">
            <a:avLst/>
          </a:prstGeom>
          <a:noFill/>
          <a:ln w="15240">
            <a:solidFill>
              <a:srgbClr val="E30613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7" name="Text 14"/>
          <p:cNvSpPr/>
          <p:nvPr/>
        </p:nvSpPr>
        <p:spPr bwMode="auto">
          <a:xfrm>
            <a:off x="1572768" y="3310127"/>
            <a:ext cx="2148840" cy="30175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11827"/>
                </a:solidFill>
              </a:rPr>
              <a:t>Трудозатраты</a:t>
            </a:r>
            <a:endParaRPr lang="en-US" sz="1550"/>
          </a:p>
        </p:txBody>
      </p:sp>
      <p:sp>
        <p:nvSpPr>
          <p:cNvPr id="18" name="Text 15"/>
          <p:cNvSpPr/>
          <p:nvPr/>
        </p:nvSpPr>
        <p:spPr bwMode="auto">
          <a:xfrm>
            <a:off x="4434840" y="3319272"/>
            <a:ext cx="4983480" cy="47548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4B5563"/>
                </a:solidFill>
              </a:rPr>
              <a:t>сметы, КП, договоры и экономика объекта сопоставляются вручную</a:t>
            </a:r>
            <a:endParaRPr lang="en-US" sz="1300"/>
          </a:p>
        </p:txBody>
      </p:sp>
      <p:sp>
        <p:nvSpPr>
          <p:cNvPr id="19" name="Shape 16"/>
          <p:cNvSpPr/>
          <p:nvPr/>
        </p:nvSpPr>
        <p:spPr bwMode="auto">
          <a:xfrm>
            <a:off x="585216" y="3959352"/>
            <a:ext cx="8001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0" name="Text 17"/>
          <p:cNvSpPr/>
          <p:nvPr/>
        </p:nvSpPr>
        <p:spPr bwMode="auto">
          <a:xfrm>
            <a:off x="594360" y="4178808"/>
            <a:ext cx="566928" cy="310896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E30613"/>
                </a:solidFill>
              </a:rPr>
              <a:t>03</a:t>
            </a:r>
            <a:endParaRPr lang="en-US" sz="1900"/>
          </a:p>
        </p:txBody>
      </p:sp>
      <p:sp>
        <p:nvSpPr>
          <p:cNvPr id="21" name="Shape 18"/>
          <p:cNvSpPr/>
          <p:nvPr/>
        </p:nvSpPr>
        <p:spPr bwMode="auto">
          <a:xfrm>
            <a:off x="1325880" y="4142232"/>
            <a:ext cx="0" cy="502920"/>
          </a:xfrm>
          <a:prstGeom prst="line">
            <a:avLst/>
          </a:prstGeom>
          <a:noFill/>
          <a:ln w="15240">
            <a:solidFill>
              <a:srgbClr val="E30613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2" name="Text 19"/>
          <p:cNvSpPr/>
          <p:nvPr/>
        </p:nvSpPr>
        <p:spPr bwMode="auto">
          <a:xfrm>
            <a:off x="1572768" y="4133088"/>
            <a:ext cx="2148840" cy="30175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11827"/>
                </a:solidFill>
              </a:rPr>
              <a:t>Межфункциональные разрывы</a:t>
            </a:r>
            <a:endParaRPr lang="en-US" sz="1550"/>
          </a:p>
        </p:txBody>
      </p:sp>
      <p:sp>
        <p:nvSpPr>
          <p:cNvPr id="23" name="Text 20"/>
          <p:cNvSpPr/>
          <p:nvPr/>
        </p:nvSpPr>
        <p:spPr bwMode="auto">
          <a:xfrm>
            <a:off x="4434840" y="4142232"/>
            <a:ext cx="4983480" cy="47548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4B5563"/>
                </a:solidFill>
              </a:rPr>
              <a:t>технические, финансовые и договорные функции смотрят на объект отдельно</a:t>
            </a:r>
            <a:endParaRPr lang="en-US" sz="1300"/>
          </a:p>
        </p:txBody>
      </p:sp>
      <p:sp>
        <p:nvSpPr>
          <p:cNvPr id="24" name="Shape 21"/>
          <p:cNvSpPr/>
          <p:nvPr/>
        </p:nvSpPr>
        <p:spPr bwMode="auto">
          <a:xfrm>
            <a:off x="585216" y="4782312"/>
            <a:ext cx="8001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5" name="Text 22"/>
          <p:cNvSpPr/>
          <p:nvPr/>
        </p:nvSpPr>
        <p:spPr bwMode="auto">
          <a:xfrm>
            <a:off x="594360" y="5001768"/>
            <a:ext cx="566928" cy="310896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E30613"/>
                </a:solidFill>
              </a:rPr>
              <a:t>04</a:t>
            </a:r>
            <a:endParaRPr lang="en-US" sz="1900"/>
          </a:p>
        </p:txBody>
      </p:sp>
      <p:sp>
        <p:nvSpPr>
          <p:cNvPr id="26" name="Shape 23"/>
          <p:cNvSpPr/>
          <p:nvPr/>
        </p:nvSpPr>
        <p:spPr bwMode="auto">
          <a:xfrm>
            <a:off x="1325880" y="4965192"/>
            <a:ext cx="0" cy="502920"/>
          </a:xfrm>
          <a:prstGeom prst="line">
            <a:avLst/>
          </a:prstGeom>
          <a:noFill/>
          <a:ln w="15240">
            <a:solidFill>
              <a:srgbClr val="E30613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7" name="Text 24"/>
          <p:cNvSpPr/>
          <p:nvPr/>
        </p:nvSpPr>
        <p:spPr bwMode="auto">
          <a:xfrm>
            <a:off x="1572768" y="4956048"/>
            <a:ext cx="2148840" cy="30175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11827"/>
                </a:solidFill>
              </a:rPr>
              <a:t>Позднее выявление отклонений</a:t>
            </a:r>
            <a:endParaRPr lang="en-US" sz="1550"/>
          </a:p>
        </p:txBody>
      </p:sp>
      <p:sp>
        <p:nvSpPr>
          <p:cNvPr id="28" name="Text 25"/>
          <p:cNvSpPr/>
          <p:nvPr/>
        </p:nvSpPr>
        <p:spPr bwMode="auto">
          <a:xfrm>
            <a:off x="4434840" y="4965192"/>
            <a:ext cx="4983480" cy="47548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4B5563"/>
                </a:solidFill>
              </a:rPr>
              <a:t>финансово значимые проблемы могут проявиться после выбора подрядчика</a:t>
            </a:r>
            <a:endParaRPr lang="en-US" sz="1300"/>
          </a:p>
        </p:txBody>
      </p:sp>
      <p:sp>
        <p:nvSpPr>
          <p:cNvPr id="29" name="Shape 26"/>
          <p:cNvSpPr/>
          <p:nvPr/>
        </p:nvSpPr>
        <p:spPr bwMode="auto">
          <a:xfrm>
            <a:off x="594360" y="5742432"/>
            <a:ext cx="8823960" cy="502920"/>
          </a:xfrm>
          <a:prstGeom prst="roundRect">
            <a:avLst>
              <a:gd name="adj" fmla="val 14545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FCA5A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0" name="Text 27"/>
          <p:cNvSpPr/>
          <p:nvPr/>
        </p:nvSpPr>
        <p:spPr bwMode="auto">
          <a:xfrm>
            <a:off x="868680" y="5870448"/>
            <a:ext cx="7955280" cy="1828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111827"/>
                </a:solidFill>
              </a:rPr>
              <a:t>На крупных объектах даже небольшое отклонение стоимости превращается в финансово существенную сумму.</a:t>
            </a:r>
            <a:endParaRPr lang="en-US" sz="12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minimal_corporate_abstract_background_scene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 bwMode="auto">
          <a:xfrm>
            <a:off x="411480" y="292608"/>
            <a:ext cx="320040" cy="3200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endParaRPr lang="en-US" sz="1900"/>
          </a:p>
        </p:txBody>
      </p:sp>
      <p:sp>
        <p:nvSpPr>
          <p:cNvPr id="5" name="Text 2"/>
          <p:cNvSpPr/>
          <p:nvPr/>
        </p:nvSpPr>
        <p:spPr bwMode="auto">
          <a:xfrm>
            <a:off x="932688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endParaRPr lang="en-US" sz="1150"/>
          </a:p>
        </p:txBody>
      </p:sp>
      <p:sp>
        <p:nvSpPr>
          <p:cNvPr id="6" name="Text 3"/>
          <p:cNvSpPr/>
          <p:nvPr/>
        </p:nvSpPr>
        <p:spPr bwMode="auto">
          <a:xfrm>
            <a:off x="11228832" y="6355080"/>
            <a:ext cx="548640" cy="25603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111827"/>
                </a:solidFill>
              </a:rPr>
              <a:t>3</a:t>
            </a:r>
            <a:endParaRPr lang="en-US" sz="1200"/>
          </a:p>
        </p:txBody>
      </p:sp>
      <p:sp>
        <p:nvSpPr>
          <p:cNvPr id="7" name="Text 4"/>
          <p:cNvSpPr/>
          <p:nvPr/>
        </p:nvSpPr>
        <p:spPr bwMode="auto">
          <a:xfrm>
            <a:off x="438912" y="868680"/>
            <a:ext cx="10241280" cy="7315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Что меняется с цифровой службой технического заказчика</a:t>
            </a:r>
            <a:endParaRPr lang="en-US" sz="3200"/>
          </a:p>
        </p:txBody>
      </p:sp>
      <p:sp>
        <p:nvSpPr>
          <p:cNvPr id="8" name="Shape 5"/>
          <p:cNvSpPr/>
          <p:nvPr/>
        </p:nvSpPr>
        <p:spPr bwMode="auto">
          <a:xfrm>
            <a:off x="457200" y="1655063"/>
            <a:ext cx="2011680" cy="0"/>
          </a:xfrm>
          <a:prstGeom prst="line">
            <a:avLst/>
          </a:prstGeom>
          <a:noFill/>
          <a:ln w="20320">
            <a:solidFill>
              <a:srgbClr val="E30613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Text 6"/>
          <p:cNvSpPr/>
          <p:nvPr/>
        </p:nvSpPr>
        <p:spPr bwMode="auto">
          <a:xfrm>
            <a:off x="548640" y="1874520"/>
            <a:ext cx="1371600" cy="237744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E30613"/>
                </a:solidFill>
              </a:rPr>
              <a:t>СЕГОДНЯ</a:t>
            </a:r>
            <a:endParaRPr lang="en-US" sz="1050"/>
          </a:p>
        </p:txBody>
      </p:sp>
      <p:sp>
        <p:nvSpPr>
          <p:cNvPr id="10" name="Text 7"/>
          <p:cNvSpPr/>
          <p:nvPr/>
        </p:nvSpPr>
        <p:spPr bwMode="auto">
          <a:xfrm>
            <a:off x="6263640" y="1874520"/>
            <a:ext cx="2926080" cy="237744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E30613"/>
                </a:solidFill>
              </a:rPr>
              <a:t>СО СТРОЙИНТЕЛЛЕКТОМ</a:t>
            </a:r>
            <a:endParaRPr lang="en-US" sz="1050"/>
          </a:p>
        </p:txBody>
      </p:sp>
      <p:sp>
        <p:nvSpPr>
          <p:cNvPr id="11" name="Shape 8"/>
          <p:cNvSpPr/>
          <p:nvPr/>
        </p:nvSpPr>
        <p:spPr bwMode="auto">
          <a:xfrm>
            <a:off x="566928" y="2148840"/>
            <a:ext cx="4526280" cy="3611880"/>
          </a:xfrm>
          <a:prstGeom prst="roundRect">
            <a:avLst>
              <a:gd name="adj" fmla="val 2025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" name="Text 9"/>
          <p:cNvSpPr/>
          <p:nvPr/>
        </p:nvSpPr>
        <p:spPr bwMode="auto">
          <a:xfrm>
            <a:off x="859536" y="2404872"/>
            <a:ext cx="2286000" cy="219456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11827"/>
                </a:solidFill>
              </a:rPr>
              <a:t>Сметчик</a:t>
            </a:r>
            <a:endParaRPr lang="en-US" sz="1250"/>
          </a:p>
        </p:txBody>
      </p:sp>
      <p:sp>
        <p:nvSpPr>
          <p:cNvPr id="13" name="Text 10"/>
          <p:cNvSpPr/>
          <p:nvPr/>
        </p:nvSpPr>
        <p:spPr bwMode="auto">
          <a:xfrm>
            <a:off x="960120" y="2624328"/>
            <a:ext cx="182880" cy="16459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B7280"/>
                </a:solidFill>
              </a:rPr>
              <a:t>↓</a:t>
            </a:r>
            <a:endParaRPr lang="en-US" sz="1000"/>
          </a:p>
        </p:txBody>
      </p:sp>
      <p:sp>
        <p:nvSpPr>
          <p:cNvPr id="14" name="Text 11"/>
          <p:cNvSpPr/>
          <p:nvPr/>
        </p:nvSpPr>
        <p:spPr bwMode="auto">
          <a:xfrm>
            <a:off x="859536" y="2862072"/>
            <a:ext cx="2286000" cy="219456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11827"/>
                </a:solidFill>
              </a:rPr>
              <a:t>ПТО</a:t>
            </a:r>
            <a:endParaRPr lang="en-US" sz="1250"/>
          </a:p>
        </p:txBody>
      </p:sp>
      <p:sp>
        <p:nvSpPr>
          <p:cNvPr id="15" name="Text 12"/>
          <p:cNvSpPr/>
          <p:nvPr/>
        </p:nvSpPr>
        <p:spPr bwMode="auto">
          <a:xfrm>
            <a:off x="960120" y="3081528"/>
            <a:ext cx="182880" cy="16459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B7280"/>
                </a:solidFill>
              </a:rPr>
              <a:t>↓</a:t>
            </a:r>
            <a:endParaRPr lang="en-US" sz="1000"/>
          </a:p>
        </p:txBody>
      </p:sp>
      <p:sp>
        <p:nvSpPr>
          <p:cNvPr id="16" name="Text 13"/>
          <p:cNvSpPr/>
          <p:nvPr/>
        </p:nvSpPr>
        <p:spPr bwMode="auto">
          <a:xfrm>
            <a:off x="859536" y="3319272"/>
            <a:ext cx="2286000" cy="219456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11827"/>
                </a:solidFill>
              </a:rPr>
              <a:t>Закупки</a:t>
            </a:r>
            <a:endParaRPr lang="en-US" sz="1250"/>
          </a:p>
        </p:txBody>
      </p:sp>
      <p:sp>
        <p:nvSpPr>
          <p:cNvPr id="17" name="Text 14"/>
          <p:cNvSpPr/>
          <p:nvPr/>
        </p:nvSpPr>
        <p:spPr bwMode="auto">
          <a:xfrm>
            <a:off x="960120" y="3538728"/>
            <a:ext cx="182880" cy="16459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B7280"/>
                </a:solidFill>
              </a:rPr>
              <a:t>↓</a:t>
            </a:r>
            <a:endParaRPr lang="en-US" sz="1000"/>
          </a:p>
        </p:txBody>
      </p:sp>
      <p:sp>
        <p:nvSpPr>
          <p:cNvPr id="18" name="Text 15"/>
          <p:cNvSpPr/>
          <p:nvPr/>
        </p:nvSpPr>
        <p:spPr bwMode="auto">
          <a:xfrm>
            <a:off x="859536" y="3776472"/>
            <a:ext cx="2286000" cy="219456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11827"/>
                </a:solidFill>
              </a:rPr>
              <a:t>Финансы</a:t>
            </a:r>
            <a:endParaRPr lang="en-US" sz="1250"/>
          </a:p>
        </p:txBody>
      </p:sp>
      <p:sp>
        <p:nvSpPr>
          <p:cNvPr id="19" name="Text 16"/>
          <p:cNvSpPr/>
          <p:nvPr/>
        </p:nvSpPr>
        <p:spPr bwMode="auto">
          <a:xfrm>
            <a:off x="960120" y="3995928"/>
            <a:ext cx="182880" cy="16459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B7280"/>
                </a:solidFill>
              </a:rPr>
              <a:t>↓</a:t>
            </a:r>
            <a:endParaRPr lang="en-US" sz="1000"/>
          </a:p>
        </p:txBody>
      </p:sp>
      <p:sp>
        <p:nvSpPr>
          <p:cNvPr id="20" name="Text 17"/>
          <p:cNvSpPr/>
          <p:nvPr/>
        </p:nvSpPr>
        <p:spPr bwMode="auto">
          <a:xfrm>
            <a:off x="859536" y="4233672"/>
            <a:ext cx="2286000" cy="219456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11827"/>
                </a:solidFill>
              </a:rPr>
              <a:t>Юрист</a:t>
            </a:r>
            <a:endParaRPr lang="en-US" sz="1250"/>
          </a:p>
        </p:txBody>
      </p:sp>
      <p:sp>
        <p:nvSpPr>
          <p:cNvPr id="21" name="Text 18"/>
          <p:cNvSpPr/>
          <p:nvPr/>
        </p:nvSpPr>
        <p:spPr bwMode="auto">
          <a:xfrm>
            <a:off x="960120" y="4453128"/>
            <a:ext cx="182880" cy="16459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B7280"/>
                </a:solidFill>
              </a:rPr>
              <a:t>↓</a:t>
            </a:r>
            <a:endParaRPr lang="en-US" sz="1000"/>
          </a:p>
        </p:txBody>
      </p:sp>
      <p:sp>
        <p:nvSpPr>
          <p:cNvPr id="22" name="Text 19"/>
          <p:cNvSpPr/>
          <p:nvPr/>
        </p:nvSpPr>
        <p:spPr bwMode="auto">
          <a:xfrm>
            <a:off x="859536" y="4690872"/>
            <a:ext cx="2286000" cy="219456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111827"/>
                </a:solidFill>
              </a:rPr>
              <a:t>Руководитель проекта</a:t>
            </a:r>
            <a:endParaRPr lang="en-US" sz="1250"/>
          </a:p>
        </p:txBody>
      </p:sp>
      <p:sp>
        <p:nvSpPr>
          <p:cNvPr id="23" name="Text 20"/>
          <p:cNvSpPr/>
          <p:nvPr/>
        </p:nvSpPr>
        <p:spPr bwMode="auto">
          <a:xfrm>
            <a:off x="2926080" y="5074920"/>
            <a:ext cx="1691640" cy="2286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B5563"/>
                </a:solidFill>
              </a:rPr>
              <a:t>ручное объединение выводов</a:t>
            </a:r>
            <a:endParaRPr lang="en-US" sz="1100"/>
          </a:p>
        </p:txBody>
      </p:sp>
      <p:sp>
        <p:nvSpPr>
          <p:cNvPr id="24" name="Shape 21"/>
          <p:cNvSpPr/>
          <p:nvPr/>
        </p:nvSpPr>
        <p:spPr bwMode="auto">
          <a:xfrm>
            <a:off x="5349240" y="3886200"/>
            <a:ext cx="502920" cy="0"/>
          </a:xfrm>
          <a:prstGeom prst="line">
            <a:avLst/>
          </a:prstGeom>
          <a:noFill/>
          <a:ln w="20320">
            <a:solidFill>
              <a:srgbClr val="E3061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5" name="Shape 22"/>
          <p:cNvSpPr/>
          <p:nvPr/>
        </p:nvSpPr>
        <p:spPr bwMode="auto">
          <a:xfrm>
            <a:off x="6080760" y="2148840"/>
            <a:ext cx="4709160" cy="3611880"/>
          </a:xfrm>
          <a:prstGeom prst="roundRect">
            <a:avLst>
              <a:gd name="adj" fmla="val 2025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FCA5A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6" name="Text 23"/>
          <p:cNvSpPr/>
          <p:nvPr/>
        </p:nvSpPr>
        <p:spPr bwMode="auto">
          <a:xfrm>
            <a:off x="6400800" y="2423160"/>
            <a:ext cx="3749040" cy="25603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ctr">
              <a:buNone/>
              <a:defRPr/>
            </a:pPr>
            <a:r>
              <a:rPr lang="en-US" sz="1350">
                <a:solidFill>
                  <a:srgbClr val="4B5563"/>
                </a:solidFill>
              </a:rPr>
              <a:t>Документы и данные объекта</a:t>
            </a:r>
            <a:endParaRPr lang="en-US" sz="1350"/>
          </a:p>
        </p:txBody>
      </p:sp>
      <p:sp>
        <p:nvSpPr>
          <p:cNvPr id="27" name="Text 24"/>
          <p:cNvSpPr/>
          <p:nvPr/>
        </p:nvSpPr>
        <p:spPr bwMode="auto">
          <a:xfrm>
            <a:off x="8183880" y="2706624"/>
            <a:ext cx="274320" cy="2286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E30613"/>
                </a:solidFill>
              </a:rPr>
              <a:t>↓</a:t>
            </a:r>
            <a:endParaRPr lang="en-US" sz="1600"/>
          </a:p>
        </p:txBody>
      </p:sp>
      <p:sp>
        <p:nvSpPr>
          <p:cNvPr id="28" name="Text 25"/>
          <p:cNvSpPr/>
          <p:nvPr/>
        </p:nvSpPr>
        <p:spPr bwMode="auto">
          <a:xfrm>
            <a:off x="6446520" y="3017519"/>
            <a:ext cx="3794760" cy="5486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700" b="1">
                <a:solidFill>
                  <a:srgbClr val="E30613"/>
                </a:solidFill>
              </a:rPr>
              <a:t>Цифровая служба</a:t>
            </a:r>
            <a:endParaRPr lang="en-US" sz="1700"/>
          </a:p>
          <a:p>
            <a:pPr marL="0" indent="0" algn="ctr">
              <a:buNone/>
              <a:defRPr/>
            </a:pPr>
            <a:r>
              <a:rPr lang="en-US" sz="1700" b="1">
                <a:solidFill>
                  <a:srgbClr val="E30613"/>
                </a:solidFill>
              </a:rPr>
              <a:t>технического заказчика</a:t>
            </a:r>
            <a:endParaRPr lang="en-US" sz="1700"/>
          </a:p>
        </p:txBody>
      </p:sp>
      <p:sp>
        <p:nvSpPr>
          <p:cNvPr id="29" name="Text 26"/>
          <p:cNvSpPr/>
          <p:nvPr/>
        </p:nvSpPr>
        <p:spPr bwMode="auto">
          <a:xfrm>
            <a:off x="6446520" y="3657600"/>
            <a:ext cx="3840480" cy="237744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ctr">
              <a:buNone/>
              <a:defRPr/>
            </a:pPr>
            <a:r>
              <a:rPr lang="en-US" sz="1250">
                <a:solidFill>
                  <a:srgbClr val="4B5563"/>
                </a:solidFill>
              </a:rPr>
              <a:t>параллельный анализ профильными ИИ-агентами</a:t>
            </a:r>
            <a:endParaRPr lang="en-US" sz="1250"/>
          </a:p>
        </p:txBody>
      </p:sp>
      <p:sp>
        <p:nvSpPr>
          <p:cNvPr id="30" name="Text 27"/>
          <p:cNvSpPr/>
          <p:nvPr/>
        </p:nvSpPr>
        <p:spPr bwMode="auto">
          <a:xfrm>
            <a:off x="8183880" y="3950208"/>
            <a:ext cx="274320" cy="2286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E30613"/>
                </a:solidFill>
              </a:rPr>
              <a:t>↓</a:t>
            </a:r>
            <a:endParaRPr lang="en-US" sz="1600"/>
          </a:p>
        </p:txBody>
      </p:sp>
      <p:sp>
        <p:nvSpPr>
          <p:cNvPr id="31" name="Text 28"/>
          <p:cNvSpPr/>
          <p:nvPr/>
        </p:nvSpPr>
        <p:spPr bwMode="auto">
          <a:xfrm>
            <a:off x="6400800" y="4315968"/>
            <a:ext cx="374904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ctr">
              <a:buNone/>
              <a:defRPr/>
            </a:pPr>
            <a:r>
              <a:rPr lang="en-US" sz="1450" b="1">
                <a:solidFill>
                  <a:srgbClr val="111827"/>
                </a:solidFill>
              </a:rPr>
              <a:t>Единый финансово-технический вывод</a:t>
            </a:r>
            <a:endParaRPr lang="en-US" sz="1450"/>
          </a:p>
        </p:txBody>
      </p:sp>
      <p:sp>
        <p:nvSpPr>
          <p:cNvPr id="32" name="Text 29"/>
          <p:cNvSpPr/>
          <p:nvPr/>
        </p:nvSpPr>
        <p:spPr bwMode="auto">
          <a:xfrm>
            <a:off x="6400800" y="4773168"/>
            <a:ext cx="3794760" cy="38404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rgbClr val="4B5563"/>
                </a:solidFill>
              </a:rPr>
              <a:t>отклонения → деньги и сроки → действия → ответственные → контрольные даты</a:t>
            </a:r>
            <a:endParaRPr lang="en-US" sz="1150"/>
          </a:p>
        </p:txBody>
      </p:sp>
      <p:sp>
        <p:nvSpPr>
          <p:cNvPr id="33" name="Shape 30"/>
          <p:cNvSpPr/>
          <p:nvPr/>
        </p:nvSpPr>
        <p:spPr bwMode="auto">
          <a:xfrm>
            <a:off x="914400" y="6035039"/>
            <a:ext cx="9601200" cy="438912"/>
          </a:xfrm>
          <a:prstGeom prst="roundRect">
            <a:avLst>
              <a:gd name="adj" fmla="val 16667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30613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4" name="Text 31"/>
          <p:cNvSpPr/>
          <p:nvPr/>
        </p:nvSpPr>
        <p:spPr bwMode="auto">
          <a:xfrm>
            <a:off x="1143000" y="6163056"/>
            <a:ext cx="9144000" cy="1828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11827"/>
                </a:solidFill>
              </a:rPr>
              <a:t>Не отдельные заключения разных функций — единая позиция службы технического заказчика по объекту</a:t>
            </a:r>
            <a:endParaRPr lang="en-US" sz="1300"/>
          </a:p>
        </p:txBody>
      </p:sp>
      <p:sp>
        <p:nvSpPr>
          <p:cNvPr id="1170672296" name="Text 0"/>
          <p:cNvSpPr/>
          <p:nvPr/>
        </p:nvSpPr>
        <p:spPr bwMode="auto">
          <a:xfrm flipH="0" flipV="0">
            <a:off x="626999" y="292608"/>
            <a:ext cx="761224" cy="3200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7 КЛ</a:t>
            </a:r>
            <a:endParaRPr lang="en-US" sz="1900"/>
          </a:p>
        </p:txBody>
      </p:sp>
      <p:sp>
        <p:nvSpPr>
          <p:cNvPr id="1384617612" name="Shape 1"/>
          <p:cNvSpPr/>
          <p:nvPr/>
        </p:nvSpPr>
        <p:spPr bwMode="auto">
          <a:xfrm>
            <a:off x="1324216" y="310895"/>
            <a:ext cx="0" cy="283464"/>
          </a:xfrm>
          <a:prstGeom prst="line">
            <a:avLst/>
          </a:prstGeom>
          <a:noFill/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22958992" name="Text 2"/>
          <p:cNvSpPr/>
          <p:nvPr/>
        </p:nvSpPr>
        <p:spPr bwMode="auto">
          <a:xfrm>
            <a:off x="145223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7 КРАСНЫХ ЛИНИЙ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minimal_corporate_abstract_background_scene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 bwMode="auto">
          <a:xfrm>
            <a:off x="11228832" y="6355080"/>
            <a:ext cx="548640" cy="25603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111827"/>
                </a:solidFill>
              </a:rPr>
              <a:t>4</a:t>
            </a:r>
            <a:endParaRPr lang="en-US" sz="1200"/>
          </a:p>
        </p:txBody>
      </p:sp>
      <p:sp>
        <p:nvSpPr>
          <p:cNvPr id="7" name="Text 4"/>
          <p:cNvSpPr/>
          <p:nvPr/>
        </p:nvSpPr>
        <p:spPr bwMode="auto">
          <a:xfrm>
            <a:off x="438912" y="868680"/>
            <a:ext cx="9601200" cy="7315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34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Клиентская ценность СтройИнтеллекта</a:t>
            </a:r>
            <a:endParaRPr lang="en-US" sz="3400"/>
          </a:p>
        </p:txBody>
      </p:sp>
      <p:sp>
        <p:nvSpPr>
          <p:cNvPr id="8" name="Shape 5"/>
          <p:cNvSpPr/>
          <p:nvPr/>
        </p:nvSpPr>
        <p:spPr bwMode="auto">
          <a:xfrm>
            <a:off x="457200" y="1655063"/>
            <a:ext cx="2011680" cy="0"/>
          </a:xfrm>
          <a:prstGeom prst="line">
            <a:avLst/>
          </a:prstGeom>
          <a:noFill/>
          <a:ln w="20320">
            <a:solidFill>
              <a:srgbClr val="E30613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Text 6"/>
          <p:cNvSpPr/>
          <p:nvPr/>
        </p:nvSpPr>
        <p:spPr bwMode="auto">
          <a:xfrm>
            <a:off x="475488" y="1755648"/>
            <a:ext cx="84124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4B5563"/>
                </a:solidFill>
                <a:latin typeface="Arial"/>
                <a:ea typeface="Arial"/>
                <a:cs typeface="Arial"/>
              </a:rPr>
              <a:t>От последовательной разрозненной экспертизы — к единой цифровой работе службы технического заказчика</a:t>
            </a:r>
            <a:endParaRPr lang="en-US" sz="1800"/>
          </a:p>
        </p:txBody>
      </p:sp>
      <p:sp>
        <p:nvSpPr>
          <p:cNvPr id="10" name="Text 7"/>
          <p:cNvSpPr/>
          <p:nvPr/>
        </p:nvSpPr>
        <p:spPr bwMode="auto">
          <a:xfrm>
            <a:off x="713232" y="2560320"/>
            <a:ext cx="2240280" cy="25603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E30613"/>
                </a:solidFill>
              </a:rPr>
              <a:t>↓ Время</a:t>
            </a:r>
            <a:endParaRPr lang="en-US" sz="1500"/>
          </a:p>
        </p:txBody>
      </p:sp>
      <p:sp>
        <p:nvSpPr>
          <p:cNvPr id="11" name="Text 8"/>
          <p:cNvSpPr/>
          <p:nvPr/>
        </p:nvSpPr>
        <p:spPr bwMode="auto">
          <a:xfrm>
            <a:off x="3063240" y="2542032"/>
            <a:ext cx="6583680" cy="38404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11827"/>
                </a:solidFill>
              </a:rPr>
              <a:t>короче цикл финансово-технической проверки и подготовки комплексного вывода</a:t>
            </a:r>
            <a:endParaRPr lang="en-US" sz="1250"/>
          </a:p>
        </p:txBody>
      </p:sp>
      <p:sp>
        <p:nvSpPr>
          <p:cNvPr id="12" name="Shape 9"/>
          <p:cNvSpPr/>
          <p:nvPr/>
        </p:nvSpPr>
        <p:spPr bwMode="auto">
          <a:xfrm>
            <a:off x="685800" y="2999232"/>
            <a:ext cx="85953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" name="Text 10"/>
          <p:cNvSpPr/>
          <p:nvPr/>
        </p:nvSpPr>
        <p:spPr bwMode="auto">
          <a:xfrm>
            <a:off x="713232" y="3218688"/>
            <a:ext cx="2240280" cy="25603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E30613"/>
                </a:solidFill>
              </a:rPr>
              <a:t>↓ Трудозатраты</a:t>
            </a:r>
            <a:endParaRPr lang="en-US" sz="1500"/>
          </a:p>
        </p:txBody>
      </p:sp>
      <p:sp>
        <p:nvSpPr>
          <p:cNvPr id="14" name="Text 11"/>
          <p:cNvSpPr/>
          <p:nvPr/>
        </p:nvSpPr>
        <p:spPr bwMode="auto">
          <a:xfrm>
            <a:off x="3063240" y="3200400"/>
            <a:ext cx="6583680" cy="38404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11827"/>
                </a:solidFill>
              </a:rPr>
              <a:t>меньше ручного поиска, извлечения, сверки, расчётов и сводных материалов</a:t>
            </a:r>
            <a:endParaRPr lang="en-US" sz="1250"/>
          </a:p>
        </p:txBody>
      </p:sp>
      <p:sp>
        <p:nvSpPr>
          <p:cNvPr id="15" name="Shape 12"/>
          <p:cNvSpPr/>
          <p:nvPr/>
        </p:nvSpPr>
        <p:spPr bwMode="auto">
          <a:xfrm>
            <a:off x="685800" y="3657600"/>
            <a:ext cx="85953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" name="Text 13"/>
          <p:cNvSpPr/>
          <p:nvPr/>
        </p:nvSpPr>
        <p:spPr bwMode="auto">
          <a:xfrm>
            <a:off x="713232" y="3877056"/>
            <a:ext cx="2240280" cy="25603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E30613"/>
                </a:solidFill>
              </a:rPr>
              <a:t>↓ Организационная сложность</a:t>
            </a:r>
            <a:endParaRPr lang="en-US" sz="1500"/>
          </a:p>
        </p:txBody>
      </p:sp>
      <p:sp>
        <p:nvSpPr>
          <p:cNvPr id="17" name="Text 14"/>
          <p:cNvSpPr/>
          <p:nvPr/>
        </p:nvSpPr>
        <p:spPr bwMode="auto">
          <a:xfrm>
            <a:off x="3063240" y="3858768"/>
            <a:ext cx="6583680" cy="38404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11827"/>
                </a:solidFill>
              </a:rPr>
              <a:t>техническая, сметная, финансовая и договорная оценки формируются на единой фактуре</a:t>
            </a:r>
            <a:endParaRPr lang="en-US" sz="1250"/>
          </a:p>
        </p:txBody>
      </p:sp>
      <p:sp>
        <p:nvSpPr>
          <p:cNvPr id="18" name="Shape 15"/>
          <p:cNvSpPr/>
          <p:nvPr/>
        </p:nvSpPr>
        <p:spPr bwMode="auto">
          <a:xfrm>
            <a:off x="685800" y="4315968"/>
            <a:ext cx="85953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" name="Text 16"/>
          <p:cNvSpPr/>
          <p:nvPr/>
        </p:nvSpPr>
        <p:spPr bwMode="auto">
          <a:xfrm>
            <a:off x="713232" y="4535424"/>
            <a:ext cx="2240280" cy="25603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E30613"/>
                </a:solidFill>
              </a:rPr>
              <a:t>↑ Управляемость действий</a:t>
            </a:r>
            <a:endParaRPr lang="en-US" sz="1500"/>
          </a:p>
        </p:txBody>
      </p:sp>
      <p:sp>
        <p:nvSpPr>
          <p:cNvPr id="20" name="Text 17"/>
          <p:cNvSpPr/>
          <p:nvPr/>
        </p:nvSpPr>
        <p:spPr bwMode="auto">
          <a:xfrm>
            <a:off x="3063240" y="4517136"/>
            <a:ext cx="6583680" cy="38404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11827"/>
                </a:solidFill>
              </a:rPr>
              <a:t>единый перечень отклонений, вопросов, корректирующих мер, ответственных и дат</a:t>
            </a:r>
            <a:endParaRPr lang="en-US" sz="1250"/>
          </a:p>
        </p:txBody>
      </p:sp>
      <p:sp>
        <p:nvSpPr>
          <p:cNvPr id="21" name="Shape 18"/>
          <p:cNvSpPr/>
          <p:nvPr/>
        </p:nvSpPr>
        <p:spPr bwMode="auto">
          <a:xfrm>
            <a:off x="685800" y="4974336"/>
            <a:ext cx="85953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2" name="Text 19"/>
          <p:cNvSpPr/>
          <p:nvPr/>
        </p:nvSpPr>
        <p:spPr bwMode="auto">
          <a:xfrm>
            <a:off x="713232" y="5193792"/>
            <a:ext cx="2240280" cy="25603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E30613"/>
                </a:solidFill>
              </a:rPr>
              <a:t>↓ Финансовые риски</a:t>
            </a:r>
            <a:endParaRPr lang="en-US" sz="1500"/>
          </a:p>
        </p:txBody>
      </p:sp>
      <p:sp>
        <p:nvSpPr>
          <p:cNvPr id="23" name="Text 20"/>
          <p:cNvSpPr/>
          <p:nvPr/>
        </p:nvSpPr>
        <p:spPr bwMode="auto">
          <a:xfrm>
            <a:off x="3063240" y="5175504"/>
            <a:ext cx="6583680" cy="38404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11827"/>
                </a:solidFill>
              </a:rPr>
              <a:t>раньше выявляются потенциальные переплаты и их влияние на экономику проекта</a:t>
            </a:r>
            <a:endParaRPr lang="en-US" sz="1250"/>
          </a:p>
        </p:txBody>
      </p:sp>
      <p:sp>
        <p:nvSpPr>
          <p:cNvPr id="24" name="Shape 21"/>
          <p:cNvSpPr/>
          <p:nvPr/>
        </p:nvSpPr>
        <p:spPr bwMode="auto">
          <a:xfrm>
            <a:off x="685800" y="6080760"/>
            <a:ext cx="9052560" cy="457200"/>
          </a:xfrm>
          <a:prstGeom prst="roundRect">
            <a:avLst>
              <a:gd name="adj" fmla="val 16000"/>
            </a:avLst>
          </a:prstGeom>
          <a:solidFill>
            <a:srgbClr val="F9FAFB">
              <a:alpha val="98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5" name="Text 22"/>
          <p:cNvSpPr/>
          <p:nvPr/>
        </p:nvSpPr>
        <p:spPr bwMode="auto">
          <a:xfrm>
            <a:off x="896112" y="6208776"/>
            <a:ext cx="8595360" cy="20116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111827"/>
                </a:solidFill>
              </a:rPr>
              <a:t>Четыре повторяющихся эффекта: быстрее проверять • меньше ручного труда • проще координировать функции • раньше видеть последствия</a:t>
            </a:r>
            <a:endParaRPr lang="en-US" sz="1150"/>
          </a:p>
        </p:txBody>
      </p:sp>
      <p:sp>
        <p:nvSpPr>
          <p:cNvPr id="782836257" name="Text 0"/>
          <p:cNvSpPr/>
          <p:nvPr/>
        </p:nvSpPr>
        <p:spPr bwMode="auto">
          <a:xfrm flipH="0" flipV="0">
            <a:off x="626999" y="292608"/>
            <a:ext cx="761224" cy="3200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7 КЛ</a:t>
            </a:r>
            <a:endParaRPr lang="en-US" sz="1900"/>
          </a:p>
        </p:txBody>
      </p:sp>
      <p:sp>
        <p:nvSpPr>
          <p:cNvPr id="673841256" name="Shape 1"/>
          <p:cNvSpPr/>
          <p:nvPr/>
        </p:nvSpPr>
        <p:spPr bwMode="auto">
          <a:xfrm>
            <a:off x="1324216" y="310895"/>
            <a:ext cx="0" cy="283464"/>
          </a:xfrm>
          <a:prstGeom prst="line">
            <a:avLst/>
          </a:prstGeom>
          <a:noFill/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42271213" name="Text 2"/>
          <p:cNvSpPr/>
          <p:nvPr/>
        </p:nvSpPr>
        <p:spPr bwMode="auto">
          <a:xfrm>
            <a:off x="145223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7 КРАСНЫХ ЛИНИЙ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minimal_corporate_abstract_background_scene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 bwMode="auto">
          <a:xfrm>
            <a:off x="11228832" y="6355080"/>
            <a:ext cx="548640" cy="25603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111827"/>
                </a:solidFill>
              </a:rPr>
              <a:t>5</a:t>
            </a:r>
            <a:endParaRPr lang="en-US" sz="1200"/>
          </a:p>
        </p:txBody>
      </p:sp>
      <p:sp>
        <p:nvSpPr>
          <p:cNvPr id="7" name="Text 4"/>
          <p:cNvSpPr/>
          <p:nvPr/>
        </p:nvSpPr>
        <p:spPr bwMode="auto">
          <a:xfrm>
            <a:off x="438912" y="868680"/>
            <a:ext cx="9601200" cy="7315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3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Быстрее получить комплексный результат</a:t>
            </a:r>
            <a:endParaRPr lang="en-US" sz="3500"/>
          </a:p>
        </p:txBody>
      </p:sp>
      <p:sp>
        <p:nvSpPr>
          <p:cNvPr id="8" name="Shape 5"/>
          <p:cNvSpPr/>
          <p:nvPr/>
        </p:nvSpPr>
        <p:spPr bwMode="auto">
          <a:xfrm>
            <a:off x="457200" y="1655063"/>
            <a:ext cx="2011680" cy="0"/>
          </a:xfrm>
          <a:prstGeom prst="line">
            <a:avLst/>
          </a:prstGeom>
          <a:noFill/>
          <a:ln w="20320">
            <a:solidFill>
              <a:srgbClr val="E30613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Text 6"/>
          <p:cNvSpPr/>
          <p:nvPr/>
        </p:nvSpPr>
        <p:spPr bwMode="auto">
          <a:xfrm>
            <a:off x="475488" y="1737360"/>
            <a:ext cx="76809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4B5563"/>
                </a:solidFill>
                <a:latin typeface="Arial"/>
                <a:ea typeface="Arial"/>
                <a:cs typeface="Arial"/>
              </a:rPr>
              <a:t>Время формирования ответа системы при согласованной инфраструктуре</a:t>
            </a:r>
            <a:endParaRPr lang="en-US" sz="1800"/>
          </a:p>
        </p:txBody>
      </p:sp>
      <p:sp>
        <p:nvSpPr>
          <p:cNvPr id="10" name="Shape 7"/>
          <p:cNvSpPr/>
          <p:nvPr/>
        </p:nvSpPr>
        <p:spPr bwMode="auto">
          <a:xfrm>
            <a:off x="685800" y="256032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96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" name="Text 8"/>
          <p:cNvSpPr/>
          <p:nvPr/>
        </p:nvSpPr>
        <p:spPr bwMode="auto">
          <a:xfrm>
            <a:off x="868680" y="2724911"/>
            <a:ext cx="2103120" cy="47548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E30613"/>
                </a:solidFill>
              </a:rPr>
              <a:t>до 15 мин</a:t>
            </a:r>
            <a:endParaRPr lang="en-US" sz="2600"/>
          </a:p>
        </p:txBody>
      </p:sp>
      <p:sp>
        <p:nvSpPr>
          <p:cNvPr id="12" name="Text 9"/>
          <p:cNvSpPr/>
          <p:nvPr/>
        </p:nvSpPr>
        <p:spPr bwMode="auto">
          <a:xfrm>
            <a:off x="868680" y="3264408"/>
            <a:ext cx="2148840" cy="630936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4B5563"/>
                </a:solidFill>
              </a:rPr>
              <a:t>Экспресс</a:t>
            </a:r>
            <a:endParaRPr lang="en-US" sz="1050"/>
          </a:p>
        </p:txBody>
      </p:sp>
      <p:sp>
        <p:nvSpPr>
          <p:cNvPr id="13" name="Shape 10"/>
          <p:cNvSpPr/>
          <p:nvPr/>
        </p:nvSpPr>
        <p:spPr bwMode="auto">
          <a:xfrm>
            <a:off x="3429000" y="256032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96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4" name="Text 11"/>
          <p:cNvSpPr/>
          <p:nvPr/>
        </p:nvSpPr>
        <p:spPr bwMode="auto">
          <a:xfrm>
            <a:off x="3611880" y="2724911"/>
            <a:ext cx="2103120" cy="47548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E30613"/>
                </a:solidFill>
              </a:rPr>
              <a:t>до 1 ч</a:t>
            </a:r>
            <a:endParaRPr lang="en-US" sz="2600"/>
          </a:p>
        </p:txBody>
      </p:sp>
      <p:sp>
        <p:nvSpPr>
          <p:cNvPr id="15" name="Text 12"/>
          <p:cNvSpPr/>
          <p:nvPr/>
        </p:nvSpPr>
        <p:spPr bwMode="auto">
          <a:xfrm>
            <a:off x="3611880" y="3264408"/>
            <a:ext cx="2148840" cy="630936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4B5563"/>
                </a:solidFill>
              </a:rPr>
              <a:t>Стандарт</a:t>
            </a:r>
            <a:endParaRPr lang="en-US" sz="1050"/>
          </a:p>
        </p:txBody>
      </p:sp>
      <p:sp>
        <p:nvSpPr>
          <p:cNvPr id="16" name="Shape 13"/>
          <p:cNvSpPr/>
          <p:nvPr/>
        </p:nvSpPr>
        <p:spPr bwMode="auto">
          <a:xfrm>
            <a:off x="6172200" y="256032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96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7" name="Text 14"/>
          <p:cNvSpPr/>
          <p:nvPr/>
        </p:nvSpPr>
        <p:spPr bwMode="auto">
          <a:xfrm>
            <a:off x="6355080" y="2724911"/>
            <a:ext cx="2103120" cy="47548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E30613"/>
                </a:solidFill>
              </a:rPr>
              <a:t>до 5 ч</a:t>
            </a:r>
            <a:endParaRPr lang="en-US" sz="2600"/>
          </a:p>
        </p:txBody>
      </p:sp>
      <p:sp>
        <p:nvSpPr>
          <p:cNvPr id="18" name="Text 15"/>
          <p:cNvSpPr/>
          <p:nvPr/>
        </p:nvSpPr>
        <p:spPr bwMode="auto">
          <a:xfrm>
            <a:off x="6355080" y="3264408"/>
            <a:ext cx="2148840" cy="630936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4B5563"/>
                </a:solidFill>
              </a:rPr>
              <a:t>Эксперт</a:t>
            </a:r>
            <a:endParaRPr lang="en-US" sz="1050"/>
          </a:p>
        </p:txBody>
      </p:sp>
      <p:sp>
        <p:nvSpPr>
          <p:cNvPr id="19" name="Text 16"/>
          <p:cNvSpPr/>
          <p:nvPr/>
        </p:nvSpPr>
        <p:spPr bwMode="auto">
          <a:xfrm>
            <a:off x="713232" y="4590288"/>
            <a:ext cx="3840480" cy="237744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E30613"/>
                </a:solidFill>
              </a:rPr>
              <a:t>ЗА СЧЁТ ЧЕГО СОКРАЩАЕТСЯ ЦИКЛ</a:t>
            </a:r>
            <a:endParaRPr lang="en-US" sz="1050"/>
          </a:p>
        </p:txBody>
      </p:sp>
      <p:sp>
        <p:nvSpPr>
          <p:cNvPr id="20" name="Text 17"/>
          <p:cNvSpPr/>
          <p:nvPr/>
        </p:nvSpPr>
        <p:spPr bwMode="auto">
          <a:xfrm>
            <a:off x="713232" y="4983480"/>
            <a:ext cx="7132320" cy="111556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/>
          </a:bodyPr>
          <a:lstStyle/>
          <a:p>
            <a:pPr marL="0" indent="0">
              <a:buNone/>
              <a:defRPr/>
            </a:pPr>
            <a:r>
              <a:rPr lang="en-US" sz="1350">
                <a:solidFill>
                  <a:srgbClr val="111827"/>
                </a:solidFill>
              </a:rPr>
              <a:t>› параллельный анализ документов по функциональным направлениям</a:t>
            </a:r>
            <a:br>
              <a:rPr lang="en-US" sz="1350">
                <a:solidFill>
                  <a:srgbClr val="111827"/>
                </a:solidFill>
              </a:rPr>
            </a:br>
            <a:r>
              <a:rPr lang="en-US" sz="1350">
                <a:solidFill>
                  <a:srgbClr val="111827"/>
                </a:solidFill>
              </a:rPr>
              <a:t>› автоматическое извлечение, сопоставление и расчёты</a:t>
            </a:r>
            <a:br>
              <a:rPr lang="en-US" sz="1350">
                <a:solidFill>
                  <a:srgbClr val="111827"/>
                </a:solidFill>
              </a:rPr>
            </a:br>
            <a:r>
              <a:rPr lang="en-US" sz="1350">
                <a:solidFill>
                  <a:srgbClr val="111827"/>
                </a:solidFill>
              </a:rPr>
              <a:t>› объединение результатов агентов в единый вывод</a:t>
            </a:r>
            <a:br>
              <a:rPr lang="en-US" sz="1350">
                <a:solidFill>
                  <a:srgbClr val="111827"/>
                </a:solidFill>
              </a:rPr>
            </a:br>
            <a:r>
              <a:rPr lang="en-US" sz="1350">
                <a:solidFill>
                  <a:srgbClr val="111827"/>
                </a:solidFill>
              </a:rPr>
              <a:t>› подготовка выгрузок и материалов для решения</a:t>
            </a:r>
            <a:endParaRPr lang="en-US" sz="1350"/>
          </a:p>
        </p:txBody>
      </p:sp>
      <p:sp>
        <p:nvSpPr>
          <p:cNvPr id="21" name="Text 18"/>
          <p:cNvSpPr/>
          <p:nvPr/>
        </p:nvSpPr>
        <p:spPr bwMode="auto">
          <a:xfrm>
            <a:off x="713232" y="6263640"/>
            <a:ext cx="804672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50" i="1">
                <a:solidFill>
                  <a:srgbClr val="6B7280"/>
                </a:solidFill>
              </a:rPr>
              <a:t>Важно: это не обещание «полной экспертизы объекта за 15 минут», а режимы формирования ответа системы.</a:t>
            </a:r>
            <a:endParaRPr lang="en-US" sz="1150"/>
          </a:p>
        </p:txBody>
      </p:sp>
      <p:sp>
        <p:nvSpPr>
          <p:cNvPr id="1373766551" name="Text 0"/>
          <p:cNvSpPr/>
          <p:nvPr/>
        </p:nvSpPr>
        <p:spPr bwMode="auto">
          <a:xfrm flipH="0" flipV="0">
            <a:off x="626999" y="292608"/>
            <a:ext cx="761224" cy="3200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7 КЛ</a:t>
            </a:r>
            <a:endParaRPr lang="en-US" sz="1900"/>
          </a:p>
        </p:txBody>
      </p:sp>
      <p:sp>
        <p:nvSpPr>
          <p:cNvPr id="1337228683" name="Shape 1"/>
          <p:cNvSpPr/>
          <p:nvPr/>
        </p:nvSpPr>
        <p:spPr bwMode="auto">
          <a:xfrm>
            <a:off x="1324216" y="310895"/>
            <a:ext cx="0" cy="283464"/>
          </a:xfrm>
          <a:prstGeom prst="line">
            <a:avLst/>
          </a:prstGeom>
          <a:noFill/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17235365" name="Text 2"/>
          <p:cNvSpPr/>
          <p:nvPr/>
        </p:nvSpPr>
        <p:spPr bwMode="auto">
          <a:xfrm>
            <a:off x="145223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7 КРАСНЫХ ЛИНИЙ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minimal_corporate_abstract_background_scene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 bwMode="auto">
          <a:xfrm>
            <a:off x="11228832" y="6355080"/>
            <a:ext cx="548640" cy="25603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111827"/>
                </a:solidFill>
              </a:rPr>
              <a:t>6</a:t>
            </a:r>
            <a:endParaRPr lang="en-US" sz="1200"/>
          </a:p>
        </p:txBody>
      </p:sp>
      <p:sp>
        <p:nvSpPr>
          <p:cNvPr id="7" name="Text 4"/>
          <p:cNvSpPr/>
          <p:nvPr/>
        </p:nvSpPr>
        <p:spPr bwMode="auto">
          <a:xfrm>
            <a:off x="438912" y="868680"/>
            <a:ext cx="9601200" cy="7315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3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Меньше ручной работы специалистов</a:t>
            </a:r>
            <a:endParaRPr lang="en-US" sz="3500"/>
          </a:p>
        </p:txBody>
      </p:sp>
      <p:sp>
        <p:nvSpPr>
          <p:cNvPr id="8" name="Shape 5"/>
          <p:cNvSpPr/>
          <p:nvPr/>
        </p:nvSpPr>
        <p:spPr bwMode="auto">
          <a:xfrm>
            <a:off x="457200" y="1655063"/>
            <a:ext cx="2011680" cy="0"/>
          </a:xfrm>
          <a:prstGeom prst="line">
            <a:avLst/>
          </a:prstGeom>
          <a:noFill/>
          <a:ln w="20320">
            <a:solidFill>
              <a:srgbClr val="E30613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Text 6"/>
          <p:cNvSpPr/>
          <p:nvPr/>
        </p:nvSpPr>
        <p:spPr bwMode="auto">
          <a:xfrm>
            <a:off x="685800" y="1874520"/>
            <a:ext cx="914400" cy="237744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E30613"/>
                </a:solidFill>
              </a:rPr>
              <a:t>БЫЛО</a:t>
            </a:r>
            <a:endParaRPr lang="en-US" sz="1050"/>
          </a:p>
        </p:txBody>
      </p:sp>
      <p:sp>
        <p:nvSpPr>
          <p:cNvPr id="10" name="Text 7"/>
          <p:cNvSpPr/>
          <p:nvPr/>
        </p:nvSpPr>
        <p:spPr bwMode="auto">
          <a:xfrm>
            <a:off x="6080760" y="1874520"/>
            <a:ext cx="1097280" cy="237744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E30613"/>
                </a:solidFill>
              </a:rPr>
              <a:t>СТАЛО</a:t>
            </a:r>
            <a:endParaRPr lang="en-US" sz="1050"/>
          </a:p>
        </p:txBody>
      </p:sp>
      <p:sp>
        <p:nvSpPr>
          <p:cNvPr id="11" name="Shape 8"/>
          <p:cNvSpPr/>
          <p:nvPr/>
        </p:nvSpPr>
        <p:spPr bwMode="auto">
          <a:xfrm>
            <a:off x="658368" y="2240280"/>
            <a:ext cx="4389120" cy="3520440"/>
          </a:xfrm>
          <a:prstGeom prst="roundRect">
            <a:avLst>
              <a:gd name="adj" fmla="val 2078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" name="Text 9"/>
          <p:cNvSpPr/>
          <p:nvPr/>
        </p:nvSpPr>
        <p:spPr bwMode="auto">
          <a:xfrm>
            <a:off x="914400" y="2514600"/>
            <a:ext cx="256032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11827"/>
                </a:solidFill>
              </a:rPr>
              <a:t>Специалист вручную:</a:t>
            </a:r>
            <a:endParaRPr lang="en-US" sz="1500"/>
          </a:p>
        </p:txBody>
      </p:sp>
      <p:sp>
        <p:nvSpPr>
          <p:cNvPr id="13" name="Text 10"/>
          <p:cNvSpPr/>
          <p:nvPr/>
        </p:nvSpPr>
        <p:spPr bwMode="auto">
          <a:xfrm>
            <a:off x="914400" y="2999232"/>
            <a:ext cx="3566160" cy="219456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/>
          </a:bodyPr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111827"/>
                </a:solidFill>
              </a:rPr>
              <a:t>› ищет данные</a:t>
            </a:r>
            <a:br>
              <a:rPr lang="en-US" sz="1300">
                <a:solidFill>
                  <a:srgbClr val="111827"/>
                </a:solidFill>
              </a:rPr>
            </a:br>
            <a:r>
              <a:rPr lang="en-US" sz="1300">
                <a:solidFill>
                  <a:srgbClr val="111827"/>
                </a:solidFill>
              </a:rPr>
              <a:t>› переносит их между файлами</a:t>
            </a:r>
            <a:br>
              <a:rPr lang="en-US" sz="1300">
                <a:solidFill>
                  <a:srgbClr val="111827"/>
                </a:solidFill>
              </a:rPr>
            </a:br>
            <a:r>
              <a:rPr lang="en-US" sz="1300">
                <a:solidFill>
                  <a:srgbClr val="111827"/>
                </a:solidFill>
              </a:rPr>
              <a:t>› нормализует позиции</a:t>
            </a:r>
            <a:br>
              <a:rPr lang="en-US" sz="1300">
                <a:solidFill>
                  <a:srgbClr val="111827"/>
                </a:solidFill>
              </a:rPr>
            </a:br>
            <a:r>
              <a:rPr lang="en-US" sz="1300">
                <a:solidFill>
                  <a:srgbClr val="111827"/>
                </a:solidFill>
              </a:rPr>
              <a:t>› сопоставляет КП</a:t>
            </a:r>
            <a:br>
              <a:rPr lang="en-US" sz="1300">
                <a:solidFill>
                  <a:srgbClr val="111827"/>
                </a:solidFill>
              </a:rPr>
            </a:br>
            <a:r>
              <a:rPr lang="en-US" sz="1300">
                <a:solidFill>
                  <a:srgbClr val="111827"/>
                </a:solidFill>
              </a:rPr>
              <a:t>› проверяет арифметику</a:t>
            </a:r>
            <a:br>
              <a:rPr lang="en-US" sz="1300">
                <a:solidFill>
                  <a:srgbClr val="111827"/>
                </a:solidFill>
              </a:rPr>
            </a:br>
            <a:r>
              <a:rPr lang="en-US" sz="1300">
                <a:solidFill>
                  <a:srgbClr val="111827"/>
                </a:solidFill>
              </a:rPr>
              <a:t>› готовит заключение</a:t>
            </a:r>
            <a:endParaRPr lang="en-US" sz="1300"/>
          </a:p>
        </p:txBody>
      </p:sp>
      <p:sp>
        <p:nvSpPr>
          <p:cNvPr id="14" name="Shape 11"/>
          <p:cNvSpPr/>
          <p:nvPr/>
        </p:nvSpPr>
        <p:spPr bwMode="auto">
          <a:xfrm>
            <a:off x="5349240" y="4041648"/>
            <a:ext cx="502920" cy="0"/>
          </a:xfrm>
          <a:prstGeom prst="line">
            <a:avLst/>
          </a:prstGeom>
          <a:noFill/>
          <a:ln w="20320">
            <a:solidFill>
              <a:srgbClr val="E30613"/>
            </a:solidFill>
            <a:prstDash val="solid"/>
            <a:tailEnd type="triangle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" name="Shape 12"/>
          <p:cNvSpPr/>
          <p:nvPr/>
        </p:nvSpPr>
        <p:spPr bwMode="auto">
          <a:xfrm>
            <a:off x="5989320" y="2240280"/>
            <a:ext cx="4480560" cy="3520440"/>
          </a:xfrm>
          <a:prstGeom prst="roundRect">
            <a:avLst>
              <a:gd name="adj" fmla="val 2078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FCA5A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" name="Text 13"/>
          <p:cNvSpPr/>
          <p:nvPr/>
        </p:nvSpPr>
        <p:spPr bwMode="auto">
          <a:xfrm>
            <a:off x="6281928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E30613"/>
                </a:solidFill>
              </a:rPr>
              <a:t>СтройИнтеллект готовит:</a:t>
            </a:r>
            <a:endParaRPr lang="en-US" sz="1500"/>
          </a:p>
        </p:txBody>
      </p:sp>
      <p:sp>
        <p:nvSpPr>
          <p:cNvPr id="17" name="Text 14"/>
          <p:cNvSpPr/>
          <p:nvPr/>
        </p:nvSpPr>
        <p:spPr bwMode="auto">
          <a:xfrm>
            <a:off x="6281928" y="2999232"/>
            <a:ext cx="3611880" cy="17830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>
            <a:normAutofit/>
          </a:bodyPr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111827"/>
                </a:solidFill>
              </a:rPr>
              <a:t>› структурированные данные</a:t>
            </a:r>
            <a:br>
              <a:rPr lang="en-US" sz="1300">
                <a:solidFill>
                  <a:srgbClr val="111827"/>
                </a:solidFill>
              </a:rPr>
            </a:br>
            <a:r>
              <a:rPr lang="en-US" sz="1300">
                <a:solidFill>
                  <a:srgbClr val="111827"/>
                </a:solidFill>
              </a:rPr>
              <a:t>› сопоставление позиций</a:t>
            </a:r>
            <a:br>
              <a:rPr lang="en-US" sz="1300">
                <a:solidFill>
                  <a:srgbClr val="111827"/>
                </a:solidFill>
              </a:rPr>
            </a:br>
            <a:r>
              <a:rPr lang="en-US" sz="1300">
                <a:solidFill>
                  <a:srgbClr val="111827"/>
                </a:solidFill>
              </a:rPr>
              <a:t>› расчёты и отклонения</a:t>
            </a:r>
            <a:br>
              <a:rPr lang="en-US" sz="1300">
                <a:solidFill>
                  <a:srgbClr val="111827"/>
                </a:solidFill>
              </a:rPr>
            </a:br>
            <a:r>
              <a:rPr lang="en-US" sz="1300">
                <a:solidFill>
                  <a:srgbClr val="111827"/>
                </a:solidFill>
              </a:rPr>
              <a:t>› сводный вывод функций</a:t>
            </a:r>
            <a:br>
              <a:rPr lang="en-US" sz="1300">
                <a:solidFill>
                  <a:srgbClr val="111827"/>
                </a:solidFill>
              </a:rPr>
            </a:br>
            <a:r>
              <a:rPr lang="en-US" sz="1300">
                <a:solidFill>
                  <a:srgbClr val="111827"/>
                </a:solidFill>
              </a:rPr>
              <a:t>› реестр вопросов и действий</a:t>
            </a:r>
            <a:endParaRPr lang="en-US" sz="1300"/>
          </a:p>
        </p:txBody>
      </p:sp>
      <p:sp>
        <p:nvSpPr>
          <p:cNvPr id="18" name="Shape 15"/>
          <p:cNvSpPr/>
          <p:nvPr/>
        </p:nvSpPr>
        <p:spPr bwMode="auto">
          <a:xfrm>
            <a:off x="6281928" y="4983480"/>
            <a:ext cx="352044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" name="Text 16"/>
          <p:cNvSpPr/>
          <p:nvPr/>
        </p:nvSpPr>
        <p:spPr bwMode="auto">
          <a:xfrm>
            <a:off x="6281928" y="5193792"/>
            <a:ext cx="3566160" cy="4114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111827"/>
                </a:solidFill>
              </a:rPr>
              <a:t>Эксперт проверяет результат</a:t>
            </a:r>
            <a:endParaRPr lang="en-US" sz="1250"/>
          </a:p>
          <a:p>
            <a:pPr marL="0" indent="0">
              <a:buNone/>
              <a:defRPr/>
            </a:pPr>
            <a:r>
              <a:rPr lang="en-US" sz="1250" b="1">
                <a:solidFill>
                  <a:srgbClr val="111827"/>
                </a:solidFill>
              </a:rPr>
              <a:t>и применяет профессиональное суждение</a:t>
            </a:r>
            <a:endParaRPr lang="en-US" sz="1250"/>
          </a:p>
        </p:txBody>
      </p:sp>
      <p:sp>
        <p:nvSpPr>
          <p:cNvPr id="20" name="Shape 17"/>
          <p:cNvSpPr/>
          <p:nvPr/>
        </p:nvSpPr>
        <p:spPr bwMode="auto">
          <a:xfrm>
            <a:off x="685800" y="6080760"/>
            <a:ext cx="9875520" cy="438912"/>
          </a:xfrm>
          <a:prstGeom prst="roundRect">
            <a:avLst>
              <a:gd name="adj" fmla="val 16667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1" name="Text 18"/>
          <p:cNvSpPr/>
          <p:nvPr/>
        </p:nvSpPr>
        <p:spPr bwMode="auto">
          <a:xfrm>
            <a:off x="914400" y="6208776"/>
            <a:ext cx="9418320" cy="1828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111827"/>
                </a:solidFill>
              </a:rPr>
              <a:t>Экспертное время переносится с механической обработки информации на проверку выводов и подготовку решения.</a:t>
            </a:r>
            <a:endParaRPr lang="en-US" sz="1250"/>
          </a:p>
        </p:txBody>
      </p:sp>
      <p:sp>
        <p:nvSpPr>
          <p:cNvPr id="1149104820" name="Text 0"/>
          <p:cNvSpPr/>
          <p:nvPr/>
        </p:nvSpPr>
        <p:spPr bwMode="auto">
          <a:xfrm flipH="0" flipV="0">
            <a:off x="626999" y="292608"/>
            <a:ext cx="761224" cy="3200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7 КЛ</a:t>
            </a:r>
            <a:endParaRPr lang="en-US" sz="1900"/>
          </a:p>
        </p:txBody>
      </p:sp>
      <p:sp>
        <p:nvSpPr>
          <p:cNvPr id="1917220837" name="Shape 1"/>
          <p:cNvSpPr/>
          <p:nvPr/>
        </p:nvSpPr>
        <p:spPr bwMode="auto">
          <a:xfrm>
            <a:off x="1324216" y="310895"/>
            <a:ext cx="0" cy="283464"/>
          </a:xfrm>
          <a:prstGeom prst="line">
            <a:avLst/>
          </a:prstGeom>
          <a:noFill/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55024590" name="Text 2"/>
          <p:cNvSpPr/>
          <p:nvPr/>
        </p:nvSpPr>
        <p:spPr bwMode="auto">
          <a:xfrm>
            <a:off x="145223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7 КРАСНЫХ ЛИНИЙ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minimal_corporate_abstract_background_scene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 bwMode="auto">
          <a:xfrm>
            <a:off x="11228832" y="6355080"/>
            <a:ext cx="548640" cy="25603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111827"/>
                </a:solidFill>
              </a:rPr>
              <a:t>7</a:t>
            </a:r>
            <a:endParaRPr lang="en-US" sz="1200"/>
          </a:p>
        </p:txBody>
      </p:sp>
      <p:sp>
        <p:nvSpPr>
          <p:cNvPr id="7" name="Text 4"/>
          <p:cNvSpPr/>
          <p:nvPr/>
        </p:nvSpPr>
        <p:spPr bwMode="auto">
          <a:xfrm>
            <a:off x="438912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Не только выявить отклонение — организовать действие</a:t>
            </a:r>
            <a:endParaRPr lang="en-US" sz="3300"/>
          </a:p>
        </p:txBody>
      </p:sp>
      <p:sp>
        <p:nvSpPr>
          <p:cNvPr id="8" name="Shape 5"/>
          <p:cNvSpPr/>
          <p:nvPr/>
        </p:nvSpPr>
        <p:spPr bwMode="auto">
          <a:xfrm>
            <a:off x="457200" y="1655063"/>
            <a:ext cx="2011680" cy="0"/>
          </a:xfrm>
          <a:prstGeom prst="line">
            <a:avLst/>
          </a:prstGeom>
          <a:noFill/>
          <a:ln w="20320">
            <a:solidFill>
              <a:srgbClr val="E30613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hape 6"/>
          <p:cNvSpPr/>
          <p:nvPr/>
        </p:nvSpPr>
        <p:spPr bwMode="auto">
          <a:xfrm>
            <a:off x="566928" y="2331720"/>
            <a:ext cx="1783080" cy="1874520"/>
          </a:xfrm>
          <a:prstGeom prst="roundRect">
            <a:avLst>
              <a:gd name="adj" fmla="val 4103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" name="Text 7"/>
          <p:cNvSpPr/>
          <p:nvPr/>
        </p:nvSpPr>
        <p:spPr bwMode="auto">
          <a:xfrm>
            <a:off x="713232" y="2523744"/>
            <a:ext cx="32004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E30613"/>
                </a:solidFill>
              </a:rPr>
              <a:t>1</a:t>
            </a:r>
            <a:endParaRPr lang="en-US" sz="1900"/>
          </a:p>
        </p:txBody>
      </p:sp>
      <p:sp>
        <p:nvSpPr>
          <p:cNvPr id="11" name="Text 8"/>
          <p:cNvSpPr/>
          <p:nvPr/>
        </p:nvSpPr>
        <p:spPr bwMode="auto">
          <a:xfrm>
            <a:off x="713232" y="2907792"/>
            <a:ext cx="1463040" cy="34747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11827"/>
                </a:solidFill>
              </a:rPr>
              <a:t>Выявить</a:t>
            </a:r>
            <a:endParaRPr lang="en-US" sz="1300"/>
          </a:p>
        </p:txBody>
      </p:sp>
      <p:sp>
        <p:nvSpPr>
          <p:cNvPr id="12" name="Text 9"/>
          <p:cNvSpPr/>
          <p:nvPr/>
        </p:nvSpPr>
        <p:spPr bwMode="auto">
          <a:xfrm>
            <a:off x="713232" y="3383280"/>
            <a:ext cx="1426464" cy="56692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B5563"/>
                </a:solidFill>
              </a:rPr>
              <a:t>переплата / ошибка / риск</a:t>
            </a:r>
            <a:endParaRPr lang="en-US" sz="1100"/>
          </a:p>
        </p:txBody>
      </p:sp>
      <p:sp>
        <p:nvSpPr>
          <p:cNvPr id="13" name="Shape 10"/>
          <p:cNvSpPr/>
          <p:nvPr/>
        </p:nvSpPr>
        <p:spPr bwMode="auto">
          <a:xfrm>
            <a:off x="2377440" y="3246120"/>
            <a:ext cx="228600" cy="0"/>
          </a:xfrm>
          <a:prstGeom prst="line">
            <a:avLst/>
          </a:prstGeom>
          <a:noFill/>
          <a:ln w="15240">
            <a:solidFill>
              <a:srgbClr val="E30613"/>
            </a:solidFill>
            <a:prstDash val="solid"/>
            <a:tailEnd type="triangle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4" name="Shape 11"/>
          <p:cNvSpPr/>
          <p:nvPr/>
        </p:nvSpPr>
        <p:spPr bwMode="auto">
          <a:xfrm>
            <a:off x="2606040" y="2331720"/>
            <a:ext cx="1783080" cy="1874520"/>
          </a:xfrm>
          <a:prstGeom prst="roundRect">
            <a:avLst>
              <a:gd name="adj" fmla="val 4103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" name="Text 12"/>
          <p:cNvSpPr/>
          <p:nvPr/>
        </p:nvSpPr>
        <p:spPr bwMode="auto">
          <a:xfrm>
            <a:off x="2752343" y="2523744"/>
            <a:ext cx="32004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E30613"/>
                </a:solidFill>
              </a:rPr>
              <a:t>2</a:t>
            </a:r>
            <a:endParaRPr lang="en-US" sz="1900"/>
          </a:p>
        </p:txBody>
      </p:sp>
      <p:sp>
        <p:nvSpPr>
          <p:cNvPr id="16" name="Text 13"/>
          <p:cNvSpPr/>
          <p:nvPr/>
        </p:nvSpPr>
        <p:spPr bwMode="auto">
          <a:xfrm>
            <a:off x="2752343" y="2907792"/>
            <a:ext cx="1463040" cy="34747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11827"/>
                </a:solidFill>
              </a:rPr>
              <a:t>Оценить</a:t>
            </a:r>
            <a:endParaRPr lang="en-US" sz="1300"/>
          </a:p>
        </p:txBody>
      </p:sp>
      <p:sp>
        <p:nvSpPr>
          <p:cNvPr id="17" name="Text 14"/>
          <p:cNvSpPr/>
          <p:nvPr/>
        </p:nvSpPr>
        <p:spPr bwMode="auto">
          <a:xfrm>
            <a:off x="2752343" y="3383280"/>
            <a:ext cx="1426464" cy="56692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B5563"/>
                </a:solidFill>
              </a:rPr>
              <a:t>влияние в ₽ и на сроки</a:t>
            </a:r>
            <a:endParaRPr lang="en-US" sz="1100"/>
          </a:p>
        </p:txBody>
      </p:sp>
      <p:sp>
        <p:nvSpPr>
          <p:cNvPr id="18" name="Shape 15"/>
          <p:cNvSpPr/>
          <p:nvPr/>
        </p:nvSpPr>
        <p:spPr bwMode="auto">
          <a:xfrm>
            <a:off x="4416552" y="3246120"/>
            <a:ext cx="228600" cy="0"/>
          </a:xfrm>
          <a:prstGeom prst="line">
            <a:avLst/>
          </a:prstGeom>
          <a:noFill/>
          <a:ln w="15240">
            <a:solidFill>
              <a:srgbClr val="E30613"/>
            </a:solidFill>
            <a:prstDash val="solid"/>
            <a:tailEnd type="triangle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" name="Shape 16"/>
          <p:cNvSpPr/>
          <p:nvPr/>
        </p:nvSpPr>
        <p:spPr bwMode="auto">
          <a:xfrm>
            <a:off x="4645152" y="2331720"/>
            <a:ext cx="1783080" cy="1874520"/>
          </a:xfrm>
          <a:prstGeom prst="roundRect">
            <a:avLst>
              <a:gd name="adj" fmla="val 4103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0" name="Text 17"/>
          <p:cNvSpPr/>
          <p:nvPr/>
        </p:nvSpPr>
        <p:spPr bwMode="auto">
          <a:xfrm>
            <a:off x="4791456" y="2523744"/>
            <a:ext cx="32004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E30613"/>
                </a:solidFill>
              </a:rPr>
              <a:t>3</a:t>
            </a:r>
            <a:endParaRPr lang="en-US" sz="1900"/>
          </a:p>
        </p:txBody>
      </p:sp>
      <p:sp>
        <p:nvSpPr>
          <p:cNvPr id="21" name="Text 18"/>
          <p:cNvSpPr/>
          <p:nvPr/>
        </p:nvSpPr>
        <p:spPr bwMode="auto">
          <a:xfrm>
            <a:off x="4791456" y="2907792"/>
            <a:ext cx="1463040" cy="34747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11827"/>
                </a:solidFill>
              </a:rPr>
              <a:t>Определить действие</a:t>
            </a:r>
            <a:endParaRPr lang="en-US" sz="1300"/>
          </a:p>
        </p:txBody>
      </p:sp>
      <p:sp>
        <p:nvSpPr>
          <p:cNvPr id="22" name="Text 19"/>
          <p:cNvSpPr/>
          <p:nvPr/>
        </p:nvSpPr>
        <p:spPr bwMode="auto">
          <a:xfrm>
            <a:off x="4791456" y="3383280"/>
            <a:ext cx="1426464" cy="56692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B5563"/>
                </a:solidFill>
              </a:rPr>
              <a:t>уточнить / пересчитать / провести переговоры</a:t>
            </a:r>
            <a:endParaRPr lang="en-US" sz="1100"/>
          </a:p>
        </p:txBody>
      </p:sp>
      <p:sp>
        <p:nvSpPr>
          <p:cNvPr id="23" name="Shape 20"/>
          <p:cNvSpPr/>
          <p:nvPr/>
        </p:nvSpPr>
        <p:spPr bwMode="auto">
          <a:xfrm>
            <a:off x="6455664" y="3246120"/>
            <a:ext cx="228600" cy="0"/>
          </a:xfrm>
          <a:prstGeom prst="line">
            <a:avLst/>
          </a:prstGeom>
          <a:noFill/>
          <a:ln w="15240">
            <a:solidFill>
              <a:srgbClr val="E30613"/>
            </a:solidFill>
            <a:prstDash val="solid"/>
            <a:tailEnd type="triangle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4" name="Shape 21"/>
          <p:cNvSpPr/>
          <p:nvPr/>
        </p:nvSpPr>
        <p:spPr bwMode="auto">
          <a:xfrm>
            <a:off x="6684264" y="2331720"/>
            <a:ext cx="1783080" cy="1874520"/>
          </a:xfrm>
          <a:prstGeom prst="roundRect">
            <a:avLst>
              <a:gd name="adj" fmla="val 4103"/>
            </a:avLst>
          </a:prstGeom>
          <a:solidFill>
            <a:srgbClr val="FFF7F7">
              <a:alpha val="98000"/>
            </a:srgbClr>
          </a:solidFill>
          <a:ln w="10160">
            <a:solidFill>
              <a:srgbClr val="E30613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5" name="Text 22"/>
          <p:cNvSpPr/>
          <p:nvPr/>
        </p:nvSpPr>
        <p:spPr bwMode="auto">
          <a:xfrm>
            <a:off x="6830568" y="2523744"/>
            <a:ext cx="32004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E30613"/>
                </a:solidFill>
              </a:rPr>
              <a:t>4</a:t>
            </a:r>
            <a:endParaRPr lang="en-US" sz="1900"/>
          </a:p>
        </p:txBody>
      </p:sp>
      <p:sp>
        <p:nvSpPr>
          <p:cNvPr id="26" name="Text 23"/>
          <p:cNvSpPr/>
          <p:nvPr/>
        </p:nvSpPr>
        <p:spPr bwMode="auto">
          <a:xfrm>
            <a:off x="6830568" y="2907792"/>
            <a:ext cx="1463040" cy="34747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11827"/>
                </a:solidFill>
              </a:rPr>
              <a:t>Организовать</a:t>
            </a:r>
            <a:endParaRPr lang="en-US" sz="1300"/>
          </a:p>
        </p:txBody>
      </p:sp>
      <p:sp>
        <p:nvSpPr>
          <p:cNvPr id="27" name="Text 24"/>
          <p:cNvSpPr/>
          <p:nvPr/>
        </p:nvSpPr>
        <p:spPr bwMode="auto">
          <a:xfrm>
            <a:off x="6830568" y="3383280"/>
            <a:ext cx="1426464" cy="56692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B5563"/>
                </a:solidFill>
              </a:rPr>
              <a:t>вопрос → действие → ответственный → срок</a:t>
            </a:r>
            <a:endParaRPr lang="en-US" sz="1100"/>
          </a:p>
        </p:txBody>
      </p:sp>
      <p:sp>
        <p:nvSpPr>
          <p:cNvPr id="28" name="Shape 25"/>
          <p:cNvSpPr/>
          <p:nvPr/>
        </p:nvSpPr>
        <p:spPr bwMode="auto">
          <a:xfrm>
            <a:off x="8494776" y="3246120"/>
            <a:ext cx="228600" cy="0"/>
          </a:xfrm>
          <a:prstGeom prst="line">
            <a:avLst/>
          </a:prstGeom>
          <a:noFill/>
          <a:ln w="15240">
            <a:solidFill>
              <a:srgbClr val="E30613"/>
            </a:solidFill>
            <a:prstDash val="solid"/>
            <a:tailEnd type="triangle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9" name="Shape 26"/>
          <p:cNvSpPr/>
          <p:nvPr/>
        </p:nvSpPr>
        <p:spPr bwMode="auto">
          <a:xfrm>
            <a:off x="8723376" y="2331720"/>
            <a:ext cx="1783080" cy="1874520"/>
          </a:xfrm>
          <a:prstGeom prst="roundRect">
            <a:avLst>
              <a:gd name="adj" fmla="val 4103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0" name="Text 27"/>
          <p:cNvSpPr/>
          <p:nvPr/>
        </p:nvSpPr>
        <p:spPr bwMode="auto">
          <a:xfrm>
            <a:off x="8869680" y="2523744"/>
            <a:ext cx="32004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E30613"/>
                </a:solidFill>
              </a:rPr>
              <a:t>5</a:t>
            </a:r>
            <a:endParaRPr lang="en-US" sz="1900"/>
          </a:p>
        </p:txBody>
      </p:sp>
      <p:sp>
        <p:nvSpPr>
          <p:cNvPr id="31" name="Text 28"/>
          <p:cNvSpPr/>
          <p:nvPr/>
        </p:nvSpPr>
        <p:spPr bwMode="auto">
          <a:xfrm>
            <a:off x="8869680" y="2907792"/>
            <a:ext cx="1463040" cy="34747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11827"/>
                </a:solidFill>
              </a:rPr>
              <a:t>Контролировать</a:t>
            </a:r>
            <a:endParaRPr lang="en-US" sz="1300"/>
          </a:p>
        </p:txBody>
      </p:sp>
      <p:sp>
        <p:nvSpPr>
          <p:cNvPr id="32" name="Text 29"/>
          <p:cNvSpPr/>
          <p:nvPr/>
        </p:nvSpPr>
        <p:spPr bwMode="auto">
          <a:xfrm>
            <a:off x="8869680" y="3383280"/>
            <a:ext cx="1426464" cy="56692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B5563"/>
                </a:solidFill>
              </a:rPr>
              <a:t>реестр открытых вопросов и дат</a:t>
            </a:r>
            <a:endParaRPr lang="en-US" sz="1100"/>
          </a:p>
        </p:txBody>
      </p:sp>
      <p:sp>
        <p:nvSpPr>
          <p:cNvPr id="33" name="Shape 30"/>
          <p:cNvSpPr/>
          <p:nvPr/>
        </p:nvSpPr>
        <p:spPr bwMode="auto">
          <a:xfrm>
            <a:off x="777240" y="4956048"/>
            <a:ext cx="9052560" cy="804672"/>
          </a:xfrm>
          <a:prstGeom prst="roundRect">
            <a:avLst>
              <a:gd name="adj" fmla="val 9091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FCA5A5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4" name="Text 31"/>
          <p:cNvSpPr/>
          <p:nvPr/>
        </p:nvSpPr>
        <p:spPr bwMode="auto">
          <a:xfrm>
            <a:off x="1042416" y="5248656"/>
            <a:ext cx="8503920" cy="25603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550" b="1">
                <a:solidFill>
                  <a:srgbClr val="111827"/>
                </a:solidFill>
              </a:rPr>
              <a:t>Цифровая служба технического заказчика превращает результаты проверки в организованный процесс корректирующих действий.</a:t>
            </a:r>
            <a:endParaRPr lang="en-US" sz="1550"/>
          </a:p>
        </p:txBody>
      </p:sp>
      <p:sp>
        <p:nvSpPr>
          <p:cNvPr id="35" name="Text 32"/>
          <p:cNvSpPr/>
          <p:nvPr/>
        </p:nvSpPr>
        <p:spPr bwMode="auto">
          <a:xfrm>
            <a:off x="1024128" y="5925312"/>
            <a:ext cx="868680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50" i="1">
                <a:solidFill>
                  <a:srgbClr val="6B7280"/>
                </a:solidFill>
              </a:rPr>
              <a:t>Результат: меньше межфункциональных «разрывов» и понятнее, кто, что и к какому сроку должен сделать по объекту.</a:t>
            </a:r>
            <a:endParaRPr lang="en-US" sz="1150"/>
          </a:p>
        </p:txBody>
      </p:sp>
      <p:sp>
        <p:nvSpPr>
          <p:cNvPr id="1446441885" name="Text 0"/>
          <p:cNvSpPr/>
          <p:nvPr/>
        </p:nvSpPr>
        <p:spPr bwMode="auto">
          <a:xfrm flipH="0" flipV="0">
            <a:off x="626999" y="292608"/>
            <a:ext cx="761224" cy="3200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7 КЛ</a:t>
            </a:r>
            <a:endParaRPr lang="en-US" sz="1900"/>
          </a:p>
        </p:txBody>
      </p:sp>
      <p:sp>
        <p:nvSpPr>
          <p:cNvPr id="1414231714" name="Shape 1"/>
          <p:cNvSpPr/>
          <p:nvPr/>
        </p:nvSpPr>
        <p:spPr bwMode="auto">
          <a:xfrm>
            <a:off x="1324216" y="310895"/>
            <a:ext cx="0" cy="283464"/>
          </a:xfrm>
          <a:prstGeom prst="line">
            <a:avLst/>
          </a:prstGeom>
          <a:noFill/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4085313" name="Text 2"/>
          <p:cNvSpPr/>
          <p:nvPr/>
        </p:nvSpPr>
        <p:spPr bwMode="auto">
          <a:xfrm>
            <a:off x="145223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7 КРАСНЫХ ЛИНИЙ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minimal_corporate_abstract_background_scene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 bwMode="auto">
          <a:xfrm>
            <a:off x="11228832" y="6355080"/>
            <a:ext cx="548640" cy="25603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111827"/>
                </a:solidFill>
              </a:rPr>
              <a:t>8</a:t>
            </a:r>
            <a:endParaRPr lang="en-US" sz="1200"/>
          </a:p>
        </p:txBody>
      </p:sp>
      <p:sp>
        <p:nvSpPr>
          <p:cNvPr id="7" name="Text 4"/>
          <p:cNvSpPr/>
          <p:nvPr/>
        </p:nvSpPr>
        <p:spPr bwMode="auto">
          <a:xfrm>
            <a:off x="438912" y="868680"/>
            <a:ext cx="10241280" cy="7315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3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Финансовый результат: последствия, а не только отклонение</a:t>
            </a:r>
            <a:endParaRPr lang="en-US" sz="3100"/>
          </a:p>
        </p:txBody>
      </p:sp>
      <p:sp>
        <p:nvSpPr>
          <p:cNvPr id="8" name="Shape 5"/>
          <p:cNvSpPr/>
          <p:nvPr/>
        </p:nvSpPr>
        <p:spPr bwMode="auto">
          <a:xfrm>
            <a:off x="457200" y="1655063"/>
            <a:ext cx="2011680" cy="0"/>
          </a:xfrm>
          <a:prstGeom prst="line">
            <a:avLst/>
          </a:prstGeom>
          <a:noFill/>
          <a:ln w="20320">
            <a:solidFill>
              <a:srgbClr val="E30613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hape 6"/>
          <p:cNvSpPr/>
          <p:nvPr/>
        </p:nvSpPr>
        <p:spPr bwMode="auto">
          <a:xfrm>
            <a:off x="502920" y="2240280"/>
            <a:ext cx="1828800" cy="1920240"/>
          </a:xfrm>
          <a:prstGeom prst="roundRect">
            <a:avLst>
              <a:gd name="adj" fmla="val 4000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" name="Text 7"/>
          <p:cNvSpPr/>
          <p:nvPr/>
        </p:nvSpPr>
        <p:spPr bwMode="auto">
          <a:xfrm>
            <a:off x="640080" y="2578608"/>
            <a:ext cx="1554480" cy="5486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350" b="1">
                <a:solidFill>
                  <a:srgbClr val="111827"/>
                </a:solidFill>
              </a:rPr>
              <a:t>Смета / КП</a:t>
            </a:r>
            <a:endParaRPr lang="en-US" sz="1350"/>
          </a:p>
          <a:p>
            <a:pPr marL="0" indent="0" algn="ctr">
              <a:buNone/>
              <a:defRPr/>
            </a:pPr>
            <a:r>
              <a:rPr lang="en-US" sz="1350" b="1">
                <a:solidFill>
                  <a:srgbClr val="111827"/>
                </a:solidFill>
              </a:rPr>
              <a:t>подрядчика</a:t>
            </a:r>
            <a:endParaRPr lang="en-US" sz="1350"/>
          </a:p>
        </p:txBody>
      </p:sp>
      <p:sp>
        <p:nvSpPr>
          <p:cNvPr id="11" name="Text 8"/>
          <p:cNvSpPr/>
          <p:nvPr/>
        </p:nvSpPr>
        <p:spPr bwMode="auto">
          <a:xfrm>
            <a:off x="640080" y="3355848"/>
            <a:ext cx="1554480" cy="4114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4B5563"/>
                </a:solidFill>
              </a:rPr>
              <a:t>входные документы</a:t>
            </a:r>
            <a:endParaRPr lang="en-US" sz="1050"/>
          </a:p>
        </p:txBody>
      </p:sp>
      <p:sp>
        <p:nvSpPr>
          <p:cNvPr id="12" name="Shape 9"/>
          <p:cNvSpPr/>
          <p:nvPr/>
        </p:nvSpPr>
        <p:spPr bwMode="auto">
          <a:xfrm>
            <a:off x="2331720" y="3200400"/>
            <a:ext cx="256032" cy="0"/>
          </a:xfrm>
          <a:prstGeom prst="line">
            <a:avLst/>
          </a:prstGeom>
          <a:noFill/>
          <a:ln w="15240">
            <a:solidFill>
              <a:srgbClr val="E30613"/>
            </a:solidFill>
            <a:prstDash val="solid"/>
            <a:tailEnd type="triangle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" name="Shape 10"/>
          <p:cNvSpPr/>
          <p:nvPr/>
        </p:nvSpPr>
        <p:spPr bwMode="auto">
          <a:xfrm>
            <a:off x="2587752" y="2240280"/>
            <a:ext cx="1828800" cy="1920240"/>
          </a:xfrm>
          <a:prstGeom prst="roundRect">
            <a:avLst>
              <a:gd name="adj" fmla="val 4000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4" name="Text 11"/>
          <p:cNvSpPr/>
          <p:nvPr/>
        </p:nvSpPr>
        <p:spPr bwMode="auto">
          <a:xfrm>
            <a:off x="2724911" y="2578608"/>
            <a:ext cx="1554480" cy="5486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350" b="1">
                <a:solidFill>
                  <a:srgbClr val="111827"/>
                </a:solidFill>
              </a:rPr>
              <a:t>Собственная</a:t>
            </a:r>
            <a:endParaRPr lang="en-US" sz="1350"/>
          </a:p>
          <a:p>
            <a:pPr marL="0" indent="0" algn="ctr">
              <a:buNone/>
              <a:defRPr/>
            </a:pPr>
            <a:r>
              <a:rPr lang="en-US" sz="1350" b="1">
                <a:solidFill>
                  <a:srgbClr val="111827"/>
                </a:solidFill>
              </a:rPr>
              <a:t>оценка</a:t>
            </a:r>
            <a:endParaRPr lang="en-US" sz="1350"/>
          </a:p>
        </p:txBody>
      </p:sp>
      <p:sp>
        <p:nvSpPr>
          <p:cNvPr id="15" name="Text 12"/>
          <p:cNvSpPr/>
          <p:nvPr/>
        </p:nvSpPr>
        <p:spPr bwMode="auto">
          <a:xfrm>
            <a:off x="2724911" y="3355848"/>
            <a:ext cx="1554480" cy="4114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4B5563"/>
                </a:solidFill>
              </a:rPr>
              <a:t>расчётно-аналитическая модель</a:t>
            </a:r>
            <a:endParaRPr lang="en-US" sz="1050"/>
          </a:p>
        </p:txBody>
      </p:sp>
      <p:sp>
        <p:nvSpPr>
          <p:cNvPr id="16" name="Shape 13"/>
          <p:cNvSpPr/>
          <p:nvPr/>
        </p:nvSpPr>
        <p:spPr bwMode="auto">
          <a:xfrm>
            <a:off x="4416552" y="3200400"/>
            <a:ext cx="256032" cy="0"/>
          </a:xfrm>
          <a:prstGeom prst="line">
            <a:avLst/>
          </a:prstGeom>
          <a:noFill/>
          <a:ln w="15240">
            <a:solidFill>
              <a:srgbClr val="E30613"/>
            </a:solidFill>
            <a:prstDash val="solid"/>
            <a:tailEnd type="triangle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7" name="Shape 14"/>
          <p:cNvSpPr/>
          <p:nvPr/>
        </p:nvSpPr>
        <p:spPr bwMode="auto">
          <a:xfrm>
            <a:off x="4672584" y="2240280"/>
            <a:ext cx="1828800" cy="1920240"/>
          </a:xfrm>
          <a:prstGeom prst="roundRect">
            <a:avLst>
              <a:gd name="adj" fmla="val 4000"/>
            </a:avLst>
          </a:prstGeom>
          <a:solidFill>
            <a:srgbClr val="FFF7F7">
              <a:alpha val="98000"/>
            </a:srgbClr>
          </a:solidFill>
          <a:ln w="10160">
            <a:solidFill>
              <a:srgbClr val="E30613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8" name="Text 15"/>
          <p:cNvSpPr/>
          <p:nvPr/>
        </p:nvSpPr>
        <p:spPr bwMode="auto">
          <a:xfrm>
            <a:off x="4809744" y="2578608"/>
            <a:ext cx="1554480" cy="5486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350" b="1">
                <a:solidFill>
                  <a:srgbClr val="E30613"/>
                </a:solidFill>
              </a:rPr>
              <a:t>Потенциальное</a:t>
            </a:r>
            <a:endParaRPr lang="en-US" sz="1350"/>
          </a:p>
          <a:p>
            <a:pPr marL="0" indent="0" algn="ctr">
              <a:buNone/>
              <a:defRPr/>
            </a:pPr>
            <a:r>
              <a:rPr lang="en-US" sz="1350" b="1">
                <a:solidFill>
                  <a:srgbClr val="E30613"/>
                </a:solidFill>
              </a:rPr>
              <a:t>отклонение, ₽</a:t>
            </a:r>
            <a:endParaRPr lang="en-US" sz="1350"/>
          </a:p>
        </p:txBody>
      </p:sp>
      <p:sp>
        <p:nvSpPr>
          <p:cNvPr id="19" name="Text 16"/>
          <p:cNvSpPr/>
          <p:nvPr/>
        </p:nvSpPr>
        <p:spPr bwMode="auto">
          <a:xfrm>
            <a:off x="4809744" y="3355848"/>
            <a:ext cx="1554480" cy="4114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4B5563"/>
                </a:solidFill>
              </a:rPr>
              <a:t>сумма и причина</a:t>
            </a:r>
            <a:endParaRPr lang="en-US" sz="1050"/>
          </a:p>
        </p:txBody>
      </p:sp>
      <p:sp>
        <p:nvSpPr>
          <p:cNvPr id="20" name="Shape 17"/>
          <p:cNvSpPr/>
          <p:nvPr/>
        </p:nvSpPr>
        <p:spPr bwMode="auto">
          <a:xfrm>
            <a:off x="6501384" y="3200400"/>
            <a:ext cx="256032" cy="0"/>
          </a:xfrm>
          <a:prstGeom prst="line">
            <a:avLst/>
          </a:prstGeom>
          <a:noFill/>
          <a:ln w="15240">
            <a:solidFill>
              <a:srgbClr val="E30613"/>
            </a:solidFill>
            <a:prstDash val="solid"/>
            <a:tailEnd type="triangle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1" name="Shape 18"/>
          <p:cNvSpPr/>
          <p:nvPr/>
        </p:nvSpPr>
        <p:spPr bwMode="auto">
          <a:xfrm>
            <a:off x="6757416" y="2240280"/>
            <a:ext cx="1828800" cy="1920240"/>
          </a:xfrm>
          <a:prstGeom prst="roundRect">
            <a:avLst>
              <a:gd name="adj" fmla="val 4000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2" name="Text 19"/>
          <p:cNvSpPr/>
          <p:nvPr/>
        </p:nvSpPr>
        <p:spPr bwMode="auto">
          <a:xfrm>
            <a:off x="6894576" y="2578608"/>
            <a:ext cx="1554480" cy="5486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350" b="1">
                <a:solidFill>
                  <a:srgbClr val="111827"/>
                </a:solidFill>
              </a:rPr>
              <a:t>Влияние</a:t>
            </a:r>
            <a:endParaRPr lang="en-US" sz="1350"/>
          </a:p>
          <a:p>
            <a:pPr marL="0" indent="0" algn="ctr">
              <a:buNone/>
              <a:defRPr/>
            </a:pPr>
            <a:r>
              <a:rPr lang="en-US" sz="1350" b="1">
                <a:solidFill>
                  <a:srgbClr val="111827"/>
                </a:solidFill>
              </a:rPr>
              <a:t>на экономику</a:t>
            </a:r>
            <a:endParaRPr lang="en-US" sz="1350"/>
          </a:p>
        </p:txBody>
      </p:sp>
      <p:sp>
        <p:nvSpPr>
          <p:cNvPr id="23" name="Text 20"/>
          <p:cNvSpPr/>
          <p:nvPr/>
        </p:nvSpPr>
        <p:spPr bwMode="auto">
          <a:xfrm>
            <a:off x="6894576" y="3355848"/>
            <a:ext cx="1554480" cy="4114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4B5563"/>
                </a:solidFill>
              </a:rPr>
              <a:t>себестоимость, маржа, БДДС</a:t>
            </a:r>
            <a:endParaRPr lang="en-US" sz="1050"/>
          </a:p>
        </p:txBody>
      </p:sp>
      <p:sp>
        <p:nvSpPr>
          <p:cNvPr id="24" name="Shape 21"/>
          <p:cNvSpPr/>
          <p:nvPr/>
        </p:nvSpPr>
        <p:spPr bwMode="auto">
          <a:xfrm>
            <a:off x="8586216" y="3200400"/>
            <a:ext cx="256032" cy="0"/>
          </a:xfrm>
          <a:prstGeom prst="line">
            <a:avLst/>
          </a:prstGeom>
          <a:noFill/>
          <a:ln w="15240">
            <a:solidFill>
              <a:srgbClr val="E30613"/>
            </a:solidFill>
            <a:prstDash val="solid"/>
            <a:tailEnd type="triangle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5" name="Shape 22"/>
          <p:cNvSpPr/>
          <p:nvPr/>
        </p:nvSpPr>
        <p:spPr bwMode="auto">
          <a:xfrm>
            <a:off x="8842248" y="2240280"/>
            <a:ext cx="1828800" cy="1920240"/>
          </a:xfrm>
          <a:prstGeom prst="roundRect">
            <a:avLst>
              <a:gd name="adj" fmla="val 4000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6" name="Text 23"/>
          <p:cNvSpPr/>
          <p:nvPr/>
        </p:nvSpPr>
        <p:spPr bwMode="auto">
          <a:xfrm>
            <a:off x="8979408" y="2578608"/>
            <a:ext cx="1554480" cy="5486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350" b="1">
                <a:solidFill>
                  <a:srgbClr val="111827"/>
                </a:solidFill>
              </a:rPr>
              <a:t>Основа</a:t>
            </a:r>
            <a:endParaRPr lang="en-US" sz="1350"/>
          </a:p>
          <a:p>
            <a:pPr marL="0" indent="0" algn="ctr">
              <a:buNone/>
              <a:defRPr/>
            </a:pPr>
            <a:r>
              <a:rPr lang="en-US" sz="1350" b="1">
                <a:solidFill>
                  <a:srgbClr val="111827"/>
                </a:solidFill>
              </a:rPr>
              <a:t>для решения</a:t>
            </a:r>
            <a:endParaRPr lang="en-US" sz="1350"/>
          </a:p>
        </p:txBody>
      </p:sp>
      <p:sp>
        <p:nvSpPr>
          <p:cNvPr id="27" name="Text 24"/>
          <p:cNvSpPr/>
          <p:nvPr/>
        </p:nvSpPr>
        <p:spPr bwMode="auto">
          <a:xfrm>
            <a:off x="8979408" y="3355848"/>
            <a:ext cx="1554480" cy="4114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4B5563"/>
                </a:solidFill>
              </a:rPr>
              <a:t>переговоры / корректировка / проверка</a:t>
            </a:r>
            <a:endParaRPr lang="en-US" sz="1050"/>
          </a:p>
        </p:txBody>
      </p:sp>
      <p:sp>
        <p:nvSpPr>
          <p:cNvPr id="28" name="Shape 25"/>
          <p:cNvSpPr/>
          <p:nvPr/>
        </p:nvSpPr>
        <p:spPr bwMode="auto">
          <a:xfrm>
            <a:off x="960120" y="4937760"/>
            <a:ext cx="8961120" cy="786384"/>
          </a:xfrm>
          <a:prstGeom prst="roundRect">
            <a:avLst>
              <a:gd name="adj" fmla="val 9302"/>
            </a:avLst>
          </a:prstGeom>
          <a:solidFill>
            <a:srgbClr val="F9FAFB">
              <a:alpha val="98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9" name="Text 26"/>
          <p:cNvSpPr/>
          <p:nvPr/>
        </p:nvSpPr>
        <p:spPr bwMode="auto">
          <a:xfrm>
            <a:off x="1207008" y="5230368"/>
            <a:ext cx="8412480" cy="25603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550" b="1">
                <a:solidFill>
                  <a:srgbClr val="111827"/>
                </a:solidFill>
              </a:rPr>
              <a:t>СтройИнтеллект показывает не только, где есть отклонение, но и сколько оно может стоить проекту.</a:t>
            </a:r>
            <a:endParaRPr lang="en-US" sz="1550"/>
          </a:p>
        </p:txBody>
      </p:sp>
      <p:sp>
        <p:nvSpPr>
          <p:cNvPr id="30" name="Text 27"/>
          <p:cNvSpPr/>
          <p:nvPr/>
        </p:nvSpPr>
        <p:spPr bwMode="auto">
          <a:xfrm>
            <a:off x="1207008" y="5833872"/>
            <a:ext cx="8229600" cy="20116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rgbClr val="4B5563"/>
                </a:solidFill>
              </a:rPr>
              <a:t>цепочка влияния: отклонение → себестоимость → маржа → проектное финансирование → бюджет движения денежных средств</a:t>
            </a:r>
            <a:endParaRPr lang="en-US" sz="1150"/>
          </a:p>
        </p:txBody>
      </p:sp>
      <p:sp>
        <p:nvSpPr>
          <p:cNvPr id="983201383" name="Text 0"/>
          <p:cNvSpPr/>
          <p:nvPr/>
        </p:nvSpPr>
        <p:spPr bwMode="auto">
          <a:xfrm flipH="0" flipV="0">
            <a:off x="626999" y="292608"/>
            <a:ext cx="761224" cy="3200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7 КЛ</a:t>
            </a:r>
            <a:endParaRPr lang="en-US" sz="1900"/>
          </a:p>
        </p:txBody>
      </p:sp>
      <p:sp>
        <p:nvSpPr>
          <p:cNvPr id="577426634" name="Shape 1"/>
          <p:cNvSpPr/>
          <p:nvPr/>
        </p:nvSpPr>
        <p:spPr bwMode="auto">
          <a:xfrm>
            <a:off x="1324216" y="310895"/>
            <a:ext cx="0" cy="283464"/>
          </a:xfrm>
          <a:prstGeom prst="line">
            <a:avLst/>
          </a:prstGeom>
          <a:noFill/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68860216" name="Text 2"/>
          <p:cNvSpPr/>
          <p:nvPr/>
        </p:nvSpPr>
        <p:spPr bwMode="auto">
          <a:xfrm>
            <a:off x="145223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7 КРАСНЫХ ЛИНИЙ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minimal_corporate_abstract_background_scene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 bwMode="auto">
          <a:xfrm>
            <a:off x="11228832" y="6355080"/>
            <a:ext cx="548640" cy="25603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111827"/>
                </a:solidFill>
              </a:rPr>
              <a:t>9</a:t>
            </a:r>
            <a:endParaRPr lang="en-US" sz="1200"/>
          </a:p>
        </p:txBody>
      </p:sp>
      <p:sp>
        <p:nvSpPr>
          <p:cNvPr id="7" name="Text 4"/>
          <p:cNvSpPr/>
          <p:nvPr/>
        </p:nvSpPr>
        <p:spPr bwMode="auto">
          <a:xfrm>
            <a:off x="438912" y="868680"/>
            <a:ext cx="10424160" cy="7315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29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Цифровая служба технического заказчика: 9 специализированных ИИ-агентов</a:t>
            </a:r>
            <a:endParaRPr lang="en-US" sz="2900"/>
          </a:p>
        </p:txBody>
      </p:sp>
      <p:sp>
        <p:nvSpPr>
          <p:cNvPr id="8" name="Shape 5"/>
          <p:cNvSpPr/>
          <p:nvPr/>
        </p:nvSpPr>
        <p:spPr bwMode="auto">
          <a:xfrm>
            <a:off x="457200" y="1655063"/>
            <a:ext cx="2011680" cy="0"/>
          </a:xfrm>
          <a:prstGeom prst="line">
            <a:avLst/>
          </a:prstGeom>
          <a:noFill/>
          <a:ln w="20320">
            <a:solidFill>
              <a:srgbClr val="E30613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hape 6"/>
          <p:cNvSpPr/>
          <p:nvPr/>
        </p:nvSpPr>
        <p:spPr bwMode="auto">
          <a:xfrm>
            <a:off x="548640" y="2029968"/>
            <a:ext cx="2788920" cy="1188720"/>
          </a:xfrm>
          <a:prstGeom prst="roundRect">
            <a:avLst>
              <a:gd name="adj" fmla="val 6154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" name="Text 7"/>
          <p:cNvSpPr/>
          <p:nvPr/>
        </p:nvSpPr>
        <p:spPr bwMode="auto">
          <a:xfrm>
            <a:off x="749808" y="2231136"/>
            <a:ext cx="2386584" cy="25603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E30613"/>
                </a:solidFill>
              </a:rPr>
              <a:t>Технический контроль</a:t>
            </a:r>
            <a:endParaRPr lang="en-US" sz="1350"/>
          </a:p>
        </p:txBody>
      </p:sp>
      <p:sp>
        <p:nvSpPr>
          <p:cNvPr id="11" name="Text 8"/>
          <p:cNvSpPr/>
          <p:nvPr/>
        </p:nvSpPr>
        <p:spPr bwMode="auto">
          <a:xfrm>
            <a:off x="749808" y="2624328"/>
            <a:ext cx="2386584" cy="4114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111827"/>
                </a:solidFill>
              </a:rPr>
              <a:t>Главный инженер проекта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111827"/>
                </a:solidFill>
              </a:rPr>
              <a:t>Инженер ПТО</a:t>
            </a:r>
            <a:endParaRPr lang="en-US" sz="1150"/>
          </a:p>
        </p:txBody>
      </p:sp>
      <p:sp>
        <p:nvSpPr>
          <p:cNvPr id="12" name="Shape 9"/>
          <p:cNvSpPr/>
          <p:nvPr/>
        </p:nvSpPr>
        <p:spPr bwMode="auto">
          <a:xfrm>
            <a:off x="3749040" y="2029968"/>
            <a:ext cx="2788920" cy="1188720"/>
          </a:xfrm>
          <a:prstGeom prst="roundRect">
            <a:avLst>
              <a:gd name="adj" fmla="val 6154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" name="Text 10"/>
          <p:cNvSpPr/>
          <p:nvPr/>
        </p:nvSpPr>
        <p:spPr bwMode="auto">
          <a:xfrm>
            <a:off x="3950208" y="2231136"/>
            <a:ext cx="2386584" cy="25603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E30613"/>
                </a:solidFill>
              </a:rPr>
              <a:t>Стоимость и подрядчики</a:t>
            </a:r>
            <a:endParaRPr lang="en-US" sz="1350"/>
          </a:p>
        </p:txBody>
      </p:sp>
      <p:sp>
        <p:nvSpPr>
          <p:cNvPr id="14" name="Text 11"/>
          <p:cNvSpPr/>
          <p:nvPr/>
        </p:nvSpPr>
        <p:spPr bwMode="auto">
          <a:xfrm>
            <a:off x="3950208" y="2624328"/>
            <a:ext cx="2386584" cy="4114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111827"/>
                </a:solidFill>
              </a:rPr>
              <a:t>Сметчик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111827"/>
                </a:solidFill>
              </a:rPr>
              <a:t>Снабжение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111827"/>
                </a:solidFill>
              </a:rPr>
              <a:t>Поиск подрядчиков</a:t>
            </a:r>
            <a:endParaRPr lang="en-US" sz="1150"/>
          </a:p>
        </p:txBody>
      </p:sp>
      <p:sp>
        <p:nvSpPr>
          <p:cNvPr id="15" name="Shape 12"/>
          <p:cNvSpPr/>
          <p:nvPr/>
        </p:nvSpPr>
        <p:spPr bwMode="auto">
          <a:xfrm>
            <a:off x="6949440" y="2029968"/>
            <a:ext cx="2788920" cy="1188720"/>
          </a:xfrm>
          <a:prstGeom prst="roundRect">
            <a:avLst>
              <a:gd name="adj" fmla="val 6154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" name="Text 13"/>
          <p:cNvSpPr/>
          <p:nvPr/>
        </p:nvSpPr>
        <p:spPr bwMode="auto">
          <a:xfrm>
            <a:off x="7150607" y="2231136"/>
            <a:ext cx="2386584" cy="25603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E30613"/>
                </a:solidFill>
              </a:rPr>
              <a:t>Экономика</a:t>
            </a:r>
            <a:endParaRPr lang="en-US" sz="1350"/>
          </a:p>
        </p:txBody>
      </p:sp>
      <p:sp>
        <p:nvSpPr>
          <p:cNvPr id="17" name="Text 14"/>
          <p:cNvSpPr/>
          <p:nvPr/>
        </p:nvSpPr>
        <p:spPr bwMode="auto">
          <a:xfrm>
            <a:off x="7150607" y="2624328"/>
            <a:ext cx="2386584" cy="4114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111827"/>
                </a:solidFill>
              </a:rPr>
              <a:t>Экономист</a:t>
            </a:r>
            <a:endParaRPr lang="en-US" sz="1150"/>
          </a:p>
        </p:txBody>
      </p:sp>
      <p:sp>
        <p:nvSpPr>
          <p:cNvPr id="18" name="Shape 15"/>
          <p:cNvSpPr/>
          <p:nvPr/>
        </p:nvSpPr>
        <p:spPr bwMode="auto">
          <a:xfrm>
            <a:off x="548640" y="379476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" name="Text 16"/>
          <p:cNvSpPr/>
          <p:nvPr/>
        </p:nvSpPr>
        <p:spPr bwMode="auto">
          <a:xfrm>
            <a:off x="749808" y="3995928"/>
            <a:ext cx="3163824" cy="25603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E30613"/>
                </a:solidFill>
              </a:rPr>
              <a:t>Договорные риски</a:t>
            </a:r>
            <a:endParaRPr lang="en-US" sz="1350"/>
          </a:p>
        </p:txBody>
      </p:sp>
      <p:sp>
        <p:nvSpPr>
          <p:cNvPr id="20" name="Text 17"/>
          <p:cNvSpPr/>
          <p:nvPr/>
        </p:nvSpPr>
        <p:spPr bwMode="auto">
          <a:xfrm>
            <a:off x="749808" y="4389120"/>
            <a:ext cx="3163824" cy="4114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111827"/>
                </a:solidFill>
              </a:rPr>
              <a:t>Юрист</a:t>
            </a:r>
            <a:endParaRPr lang="en-US" sz="1150"/>
          </a:p>
        </p:txBody>
      </p:sp>
      <p:sp>
        <p:nvSpPr>
          <p:cNvPr id="21" name="Shape 18"/>
          <p:cNvSpPr/>
          <p:nvPr/>
        </p:nvSpPr>
        <p:spPr bwMode="auto">
          <a:xfrm>
            <a:off x="4800600" y="379476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2" name="Text 19"/>
          <p:cNvSpPr/>
          <p:nvPr/>
        </p:nvSpPr>
        <p:spPr bwMode="auto">
          <a:xfrm>
            <a:off x="5001768" y="3995928"/>
            <a:ext cx="3163824" cy="25603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E30613"/>
                </a:solidFill>
              </a:rPr>
              <a:t>Управление</a:t>
            </a:r>
            <a:endParaRPr lang="en-US" sz="1350"/>
          </a:p>
        </p:txBody>
      </p:sp>
      <p:sp>
        <p:nvSpPr>
          <p:cNvPr id="23" name="Text 20"/>
          <p:cNvSpPr/>
          <p:nvPr/>
        </p:nvSpPr>
        <p:spPr bwMode="auto">
          <a:xfrm>
            <a:off x="5001768" y="4389120"/>
            <a:ext cx="3163824" cy="4114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111827"/>
                </a:solidFill>
              </a:rPr>
              <a:t>Руководитель проекта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111827"/>
                </a:solidFill>
              </a:rPr>
              <a:t>Администратор</a:t>
            </a:r>
            <a:endParaRPr lang="en-US" sz="1150"/>
          </a:p>
        </p:txBody>
      </p:sp>
      <p:sp>
        <p:nvSpPr>
          <p:cNvPr id="24" name="Shape 21"/>
          <p:cNvSpPr/>
          <p:nvPr/>
        </p:nvSpPr>
        <p:spPr bwMode="auto">
          <a:xfrm>
            <a:off x="5623560" y="5257800"/>
            <a:ext cx="4114800" cy="585216"/>
          </a:xfrm>
          <a:prstGeom prst="roundRect">
            <a:avLst>
              <a:gd name="adj" fmla="val 12500"/>
            </a:avLst>
          </a:prstGeom>
          <a:solidFill>
            <a:srgbClr val="FFF7F7">
              <a:alpha val="98000"/>
            </a:srgbClr>
          </a:solidFill>
          <a:ln w="10160">
            <a:solidFill>
              <a:srgbClr val="E30613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5" name="Text 22"/>
          <p:cNvSpPr/>
          <p:nvPr/>
        </p:nvSpPr>
        <p:spPr bwMode="auto">
          <a:xfrm>
            <a:off x="5815584" y="5468112"/>
            <a:ext cx="3749040" cy="20116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E30613"/>
                </a:solidFill>
              </a:rPr>
              <a:t>Единая цифровая информационная модель объекта</a:t>
            </a:r>
            <a:endParaRPr lang="en-US" sz="1250"/>
          </a:p>
        </p:txBody>
      </p:sp>
      <p:sp>
        <p:nvSpPr>
          <p:cNvPr id="26" name="Shape 23"/>
          <p:cNvSpPr/>
          <p:nvPr/>
        </p:nvSpPr>
        <p:spPr bwMode="auto">
          <a:xfrm>
            <a:off x="594360" y="5897880"/>
            <a:ext cx="4572000" cy="438912"/>
          </a:xfrm>
          <a:prstGeom prst="roundRect">
            <a:avLst>
              <a:gd name="adj" fmla="val 16667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7" name="Text 24"/>
          <p:cNvSpPr/>
          <p:nvPr/>
        </p:nvSpPr>
        <p:spPr bwMode="auto">
          <a:xfrm>
            <a:off x="795528" y="6016752"/>
            <a:ext cx="4160519" cy="18288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4B5563"/>
                </a:solidFill>
              </a:rPr>
              <a:t>Расчётный модуль + опорная база + собственная база данных + 250+ объектов обучающего массива</a:t>
            </a:r>
            <a:endParaRPr lang="en-US" sz="1050"/>
          </a:p>
        </p:txBody>
      </p:sp>
      <p:sp>
        <p:nvSpPr>
          <p:cNvPr id="1539606084" name="Text 0"/>
          <p:cNvSpPr/>
          <p:nvPr/>
        </p:nvSpPr>
        <p:spPr bwMode="auto">
          <a:xfrm flipH="0" flipV="0">
            <a:off x="626999" y="292608"/>
            <a:ext cx="761224" cy="3200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7 КЛ</a:t>
            </a:r>
            <a:endParaRPr lang="en-US" sz="1900"/>
          </a:p>
        </p:txBody>
      </p:sp>
      <p:sp>
        <p:nvSpPr>
          <p:cNvPr id="12966865" name="Shape 1"/>
          <p:cNvSpPr/>
          <p:nvPr/>
        </p:nvSpPr>
        <p:spPr bwMode="auto">
          <a:xfrm>
            <a:off x="1324216" y="310895"/>
            <a:ext cx="0" cy="283464"/>
          </a:xfrm>
          <a:prstGeom prst="line">
            <a:avLst/>
          </a:prstGeom>
          <a:noFill/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896002800" name="Text 2"/>
          <p:cNvSpPr/>
          <p:nvPr/>
        </p:nvSpPr>
        <p:spPr bwMode="auto">
          <a:xfrm>
            <a:off x="145223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7 КРАСНЫХ ЛИНИЙ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10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minimal_corporate_abstract_background_scene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 bwMode="auto">
          <a:xfrm>
            <a:off x="11228832" y="6355080"/>
            <a:ext cx="548640" cy="256032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111827"/>
                </a:solidFill>
              </a:rPr>
              <a:t>10</a:t>
            </a:r>
            <a:endParaRPr lang="en-US" sz="1200"/>
          </a:p>
        </p:txBody>
      </p:sp>
      <p:sp>
        <p:nvSpPr>
          <p:cNvPr id="7" name="Text 4"/>
          <p:cNvSpPr/>
          <p:nvPr/>
        </p:nvSpPr>
        <p:spPr bwMode="auto">
          <a:xfrm>
            <a:off x="438912" y="868680"/>
            <a:ext cx="9601200" cy="7315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3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Внедрение и коммерческие условия</a:t>
            </a:r>
            <a:endParaRPr lang="en-US" sz="3500"/>
          </a:p>
        </p:txBody>
      </p:sp>
      <p:sp>
        <p:nvSpPr>
          <p:cNvPr id="8" name="Shape 5"/>
          <p:cNvSpPr/>
          <p:nvPr/>
        </p:nvSpPr>
        <p:spPr bwMode="auto">
          <a:xfrm>
            <a:off x="457200" y="1655063"/>
            <a:ext cx="2011680" cy="0"/>
          </a:xfrm>
          <a:prstGeom prst="line">
            <a:avLst/>
          </a:prstGeom>
          <a:noFill/>
          <a:ln w="20320">
            <a:solidFill>
              <a:srgbClr val="E30613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hape 6"/>
          <p:cNvSpPr/>
          <p:nvPr/>
        </p:nvSpPr>
        <p:spPr bwMode="auto">
          <a:xfrm>
            <a:off x="594360" y="2011680"/>
            <a:ext cx="269748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96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" name="Text 7"/>
          <p:cNvSpPr/>
          <p:nvPr/>
        </p:nvSpPr>
        <p:spPr bwMode="auto">
          <a:xfrm>
            <a:off x="777240" y="2176272"/>
            <a:ext cx="2331720" cy="47548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E30613"/>
                </a:solidFill>
              </a:rPr>
              <a:t>22,5 млн ₽</a:t>
            </a:r>
            <a:endParaRPr lang="en-US" sz="2600"/>
          </a:p>
        </p:txBody>
      </p:sp>
      <p:sp>
        <p:nvSpPr>
          <p:cNvPr id="11" name="Text 8"/>
          <p:cNvSpPr/>
          <p:nvPr/>
        </p:nvSpPr>
        <p:spPr bwMode="auto">
          <a:xfrm>
            <a:off x="777240" y="2715768"/>
            <a:ext cx="2377440" cy="356616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4B5563"/>
                </a:solidFill>
              </a:rPr>
              <a:t>стоимость проекта</a:t>
            </a:r>
            <a:endParaRPr lang="en-US" sz="1050"/>
          </a:p>
          <a:p>
            <a:pPr marL="0" indent="0">
              <a:buNone/>
              <a:defRPr/>
            </a:pPr>
            <a:r>
              <a:rPr lang="en-US" sz="1050">
                <a:solidFill>
                  <a:srgbClr val="4B5563"/>
                </a:solidFill>
              </a:rPr>
              <a:t>с НДС 22%</a:t>
            </a:r>
            <a:endParaRPr lang="en-US" sz="1050"/>
          </a:p>
        </p:txBody>
      </p:sp>
      <p:sp>
        <p:nvSpPr>
          <p:cNvPr id="12" name="Shape 9"/>
          <p:cNvSpPr/>
          <p:nvPr/>
        </p:nvSpPr>
        <p:spPr bwMode="auto">
          <a:xfrm>
            <a:off x="3566160" y="2011680"/>
            <a:ext cx="269748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96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" name="Text 10"/>
          <p:cNvSpPr/>
          <p:nvPr/>
        </p:nvSpPr>
        <p:spPr bwMode="auto">
          <a:xfrm>
            <a:off x="3749040" y="2176272"/>
            <a:ext cx="2331720" cy="47548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E30613"/>
                </a:solidFill>
              </a:rPr>
              <a:t>4,5 месяца</a:t>
            </a:r>
            <a:endParaRPr lang="en-US" sz="2600"/>
          </a:p>
        </p:txBody>
      </p:sp>
      <p:sp>
        <p:nvSpPr>
          <p:cNvPr id="14" name="Text 11"/>
          <p:cNvSpPr/>
          <p:nvPr/>
        </p:nvSpPr>
        <p:spPr bwMode="auto">
          <a:xfrm>
            <a:off x="3749040" y="2715768"/>
            <a:ext cx="2377440" cy="356616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4B5563"/>
                </a:solidFill>
              </a:rPr>
              <a:t>срок реализации</a:t>
            </a:r>
            <a:endParaRPr lang="en-US" sz="1050"/>
          </a:p>
          <a:p>
            <a:pPr marL="0" indent="0">
              <a:buNone/>
              <a:defRPr/>
            </a:pPr>
            <a:r>
              <a:rPr lang="en-US" sz="1050">
                <a:solidFill>
                  <a:srgbClr val="4B5563"/>
                </a:solidFill>
              </a:rPr>
              <a:t>135 календарных дней</a:t>
            </a:r>
            <a:endParaRPr lang="en-US" sz="1050"/>
          </a:p>
        </p:txBody>
      </p:sp>
      <p:sp>
        <p:nvSpPr>
          <p:cNvPr id="15" name="Shape 12"/>
          <p:cNvSpPr/>
          <p:nvPr/>
        </p:nvSpPr>
        <p:spPr bwMode="auto">
          <a:xfrm>
            <a:off x="6537960" y="2011680"/>
            <a:ext cx="269748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96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" name="Text 13"/>
          <p:cNvSpPr/>
          <p:nvPr/>
        </p:nvSpPr>
        <p:spPr bwMode="auto">
          <a:xfrm>
            <a:off x="6720840" y="2176272"/>
            <a:ext cx="2331720" cy="47548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E30613"/>
                </a:solidFill>
              </a:rPr>
              <a:t>9</a:t>
            </a:r>
            <a:endParaRPr lang="en-US" sz="2600"/>
          </a:p>
        </p:txBody>
      </p:sp>
      <p:sp>
        <p:nvSpPr>
          <p:cNvPr id="17" name="Text 14"/>
          <p:cNvSpPr/>
          <p:nvPr/>
        </p:nvSpPr>
        <p:spPr bwMode="auto">
          <a:xfrm>
            <a:off x="6720840" y="2715768"/>
            <a:ext cx="2377440" cy="356616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4B5563"/>
                </a:solidFill>
              </a:rPr>
              <a:t>ИИ-агентов службы</a:t>
            </a:r>
            <a:endParaRPr lang="en-US" sz="1050"/>
          </a:p>
          <a:p>
            <a:pPr marL="0" indent="0">
              <a:buNone/>
              <a:defRPr/>
            </a:pPr>
            <a:r>
              <a:rPr lang="en-US" sz="1050">
                <a:solidFill>
                  <a:srgbClr val="4B5563"/>
                </a:solidFill>
              </a:rPr>
              <a:t>технического заказчика</a:t>
            </a:r>
            <a:endParaRPr lang="en-US" sz="1050"/>
          </a:p>
        </p:txBody>
      </p:sp>
      <p:sp>
        <p:nvSpPr>
          <p:cNvPr id="18" name="Shape 15"/>
          <p:cNvSpPr/>
          <p:nvPr/>
        </p:nvSpPr>
        <p:spPr bwMode="auto">
          <a:xfrm>
            <a:off x="594360" y="3520440"/>
            <a:ext cx="269748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96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" name="Text 16"/>
          <p:cNvSpPr/>
          <p:nvPr/>
        </p:nvSpPr>
        <p:spPr bwMode="auto">
          <a:xfrm>
            <a:off x="777240" y="3685032"/>
            <a:ext cx="2331720" cy="47548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E30613"/>
                </a:solidFill>
              </a:rPr>
              <a:t>250+</a:t>
            </a:r>
            <a:endParaRPr lang="en-US" sz="2600"/>
          </a:p>
        </p:txBody>
      </p:sp>
      <p:sp>
        <p:nvSpPr>
          <p:cNvPr id="20" name="Text 17"/>
          <p:cNvSpPr/>
          <p:nvPr/>
        </p:nvSpPr>
        <p:spPr bwMode="auto">
          <a:xfrm>
            <a:off x="777240" y="4224528"/>
            <a:ext cx="2377440" cy="356616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4B5563"/>
                </a:solidFill>
              </a:rPr>
              <a:t>объектов в обучающем</a:t>
            </a:r>
            <a:endParaRPr lang="en-US" sz="1050"/>
          </a:p>
          <a:p>
            <a:pPr marL="0" indent="0">
              <a:buNone/>
              <a:defRPr/>
            </a:pPr>
            <a:r>
              <a:rPr lang="en-US" sz="1050">
                <a:solidFill>
                  <a:srgbClr val="4B5563"/>
                </a:solidFill>
              </a:rPr>
              <a:t>массиве 7КЛ</a:t>
            </a:r>
            <a:endParaRPr lang="en-US" sz="1050"/>
          </a:p>
        </p:txBody>
      </p:sp>
      <p:sp>
        <p:nvSpPr>
          <p:cNvPr id="21" name="Shape 18"/>
          <p:cNvSpPr/>
          <p:nvPr/>
        </p:nvSpPr>
        <p:spPr bwMode="auto">
          <a:xfrm>
            <a:off x="3566160" y="3520440"/>
            <a:ext cx="269748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96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2" name="Text 19"/>
          <p:cNvSpPr/>
          <p:nvPr/>
        </p:nvSpPr>
        <p:spPr bwMode="auto">
          <a:xfrm>
            <a:off x="3749040" y="3685032"/>
            <a:ext cx="2331720" cy="47548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E30613"/>
                </a:solidFill>
              </a:rPr>
              <a:t>12 месяцев</a:t>
            </a:r>
            <a:endParaRPr lang="en-US" sz="2600"/>
          </a:p>
        </p:txBody>
      </p:sp>
      <p:sp>
        <p:nvSpPr>
          <p:cNvPr id="23" name="Text 20"/>
          <p:cNvSpPr/>
          <p:nvPr/>
        </p:nvSpPr>
        <p:spPr bwMode="auto">
          <a:xfrm>
            <a:off x="3749040" y="4224528"/>
            <a:ext cx="2377440" cy="356616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4B5563"/>
                </a:solidFill>
              </a:rPr>
              <a:t>гарантийного сопровождения</a:t>
            </a:r>
            <a:endParaRPr lang="en-US" sz="1050"/>
          </a:p>
          <a:p>
            <a:pPr marL="0" indent="0">
              <a:buNone/>
              <a:defRPr/>
            </a:pPr>
            <a:r>
              <a:rPr lang="en-US" sz="1050">
                <a:solidFill>
                  <a:srgbClr val="4B5563"/>
                </a:solidFill>
              </a:rPr>
              <a:t>без доплаты</a:t>
            </a:r>
            <a:endParaRPr lang="en-US" sz="1050"/>
          </a:p>
        </p:txBody>
      </p:sp>
      <p:sp>
        <p:nvSpPr>
          <p:cNvPr id="24" name="Shape 21"/>
          <p:cNvSpPr/>
          <p:nvPr/>
        </p:nvSpPr>
        <p:spPr bwMode="auto">
          <a:xfrm>
            <a:off x="6537960" y="3520440"/>
            <a:ext cx="269748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96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5" name="Text 22"/>
          <p:cNvSpPr/>
          <p:nvPr/>
        </p:nvSpPr>
        <p:spPr bwMode="auto">
          <a:xfrm>
            <a:off x="6720840" y="3685032"/>
            <a:ext cx="2331720" cy="47548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E30613"/>
                </a:solidFill>
              </a:rPr>
              <a:t>0 ₽</a:t>
            </a:r>
            <a:endParaRPr lang="en-US" sz="2600"/>
          </a:p>
        </p:txBody>
      </p:sp>
      <p:sp>
        <p:nvSpPr>
          <p:cNvPr id="26" name="Text 23"/>
          <p:cNvSpPr/>
          <p:nvPr/>
        </p:nvSpPr>
        <p:spPr bwMode="auto">
          <a:xfrm>
            <a:off x="6720840" y="4224528"/>
            <a:ext cx="2377440" cy="356616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4B5563"/>
                </a:solidFill>
              </a:rPr>
              <a:t>лицензионных и абонентских</a:t>
            </a:r>
            <a:endParaRPr lang="en-US" sz="1050"/>
          </a:p>
          <a:p>
            <a:pPr marL="0" indent="0">
              <a:buNone/>
              <a:defRPr/>
            </a:pPr>
            <a:r>
              <a:rPr lang="en-US" sz="1050">
                <a:solidFill>
                  <a:srgbClr val="4B5563"/>
                </a:solidFill>
              </a:rPr>
              <a:t>платежей за использование</a:t>
            </a:r>
            <a:endParaRPr lang="en-US" sz="1050"/>
          </a:p>
        </p:txBody>
      </p:sp>
      <p:sp>
        <p:nvSpPr>
          <p:cNvPr id="27" name="Shape 24"/>
          <p:cNvSpPr/>
          <p:nvPr/>
        </p:nvSpPr>
        <p:spPr bwMode="auto">
          <a:xfrm>
            <a:off x="685800" y="5166360"/>
            <a:ext cx="8961120" cy="585216"/>
          </a:xfrm>
          <a:prstGeom prst="roundRect">
            <a:avLst>
              <a:gd name="adj" fmla="val 12500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8" name="Text 25"/>
          <p:cNvSpPr/>
          <p:nvPr/>
        </p:nvSpPr>
        <p:spPr bwMode="auto">
          <a:xfrm>
            <a:off x="896112" y="5367528"/>
            <a:ext cx="8549640" cy="20116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rgbClr val="4B5563"/>
                </a:solidFill>
              </a:rPr>
              <a:t>Размещение в инфраструктуре заказчика • Интеграционный контур: StorHaus + API + структурированные файлы • Приёмка минимум на 2 реальных объектах</a:t>
            </a:r>
            <a:endParaRPr lang="en-US" sz="1150"/>
          </a:p>
        </p:txBody>
      </p:sp>
      <p:sp>
        <p:nvSpPr>
          <p:cNvPr id="29" name="Shape 26"/>
          <p:cNvSpPr/>
          <p:nvPr/>
        </p:nvSpPr>
        <p:spPr bwMode="auto">
          <a:xfrm>
            <a:off x="685800" y="5989320"/>
            <a:ext cx="201168" cy="0"/>
          </a:xfrm>
          <a:prstGeom prst="line">
            <a:avLst/>
          </a:prstGeom>
          <a:noFill/>
          <a:ln w="19050">
            <a:solidFill>
              <a:srgbClr val="E30613"/>
            </a:solidFill>
            <a:prstDash val="solid"/>
            <a:tailEnd type="triangle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0" name="Text 27"/>
          <p:cNvSpPr/>
          <p:nvPr/>
        </p:nvSpPr>
        <p:spPr bwMode="auto">
          <a:xfrm>
            <a:off x="1024128" y="5879592"/>
            <a:ext cx="8412480" cy="29260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11827"/>
                </a:solidFill>
              </a:rPr>
              <a:t>Следующий шаг — подтвердить эффект цифровой службы технического заказчика на предоставленных данных </a:t>
            </a:r>
            <a:endParaRPr lang="en-US" sz="1500"/>
          </a:p>
        </p:txBody>
      </p:sp>
      <p:sp>
        <p:nvSpPr>
          <p:cNvPr id="31" name="Text 28"/>
          <p:cNvSpPr/>
          <p:nvPr/>
        </p:nvSpPr>
        <p:spPr bwMode="auto">
          <a:xfrm>
            <a:off x="1024128" y="6245352"/>
            <a:ext cx="8686800" cy="201168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B7280"/>
                </a:solidFill>
              </a:rPr>
              <a:t>контрольные объекты → расчёт → сравнение с фактом → фиксация времени, трудозатрат, отклонений и качества → промышленная эксплуатация</a:t>
            </a:r>
            <a:endParaRPr lang="en-US" sz="1050"/>
          </a:p>
        </p:txBody>
      </p:sp>
      <p:sp>
        <p:nvSpPr>
          <p:cNvPr id="2059842420" name="Text 0"/>
          <p:cNvSpPr/>
          <p:nvPr/>
        </p:nvSpPr>
        <p:spPr bwMode="auto">
          <a:xfrm flipH="0" flipV="0">
            <a:off x="626999" y="292608"/>
            <a:ext cx="761224" cy="32004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E30613"/>
                </a:solidFill>
                <a:latin typeface="Arial"/>
                <a:ea typeface="Arial"/>
                <a:cs typeface="Arial"/>
              </a:rPr>
              <a:t>7 КЛ</a:t>
            </a:r>
            <a:endParaRPr lang="en-US" sz="1900"/>
          </a:p>
        </p:txBody>
      </p:sp>
      <p:sp>
        <p:nvSpPr>
          <p:cNvPr id="655064444" name="Shape 1"/>
          <p:cNvSpPr/>
          <p:nvPr/>
        </p:nvSpPr>
        <p:spPr bwMode="auto">
          <a:xfrm>
            <a:off x="1324216" y="310895"/>
            <a:ext cx="0" cy="283464"/>
          </a:xfrm>
          <a:prstGeom prst="line">
            <a:avLst/>
          </a:prstGeom>
          <a:noFill/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53921509" name="Text 2"/>
          <p:cNvSpPr/>
          <p:nvPr/>
        </p:nvSpPr>
        <p:spPr bwMode="auto">
          <a:xfrm>
            <a:off x="145223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7 КРАСНЫХ ЛИНИЙ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Liberation Sans"/>
        <a:cs typeface="Liberation Sans"/>
      </a:majorFont>
      <a:minorFont>
        <a:latin typeface="Arial"/>
        <a:ea typeface="Liberation Sans"/>
        <a:cs typeface="Liberation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r7-office/2025.4.1.1604</Application>
  <DocSecurity>0</DocSecurity>
  <PresentationFormat>Широкоэкранный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Manager/>
  <Company>ООО «7 Красных Линий»</Company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СтройИнтеллект — ценностное предложение</dc:title>
  <dc:subject>СтройИнтеллект — цифровая служба технического заказчика</dc:subject>
  <dc:creator>7 Красных Линий / OpenAI</dc:creator>
  <cp:keywords/>
  <dc:description/>
  <dc:identifier/>
  <dc:language/>
  <cp:lastModifiedBy>Гаврилович Александр</cp:lastModifiedBy>
  <cp:revision>4</cp:revision>
  <dcterms:created xsi:type="dcterms:W3CDTF">2026-08-11T16:54:12Z</dcterms:created>
  <dcterms:modified xsi:type="dcterms:W3CDTF">2026-08-12T05:46:00Z</dcterms:modified>
  <cp:category/>
  <cp:contentStatus/>
  <cp:version/>
</cp:coreProperties>
</file>