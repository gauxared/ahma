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42875" y="2478881"/>
            <a:ext cx="11430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Shape 2"/>
          <p:cNvSpPr/>
          <p:nvPr/>
        </p:nvSpPr>
        <p:spPr>
          <a:xfrm>
            <a:off x="1828800" y="516136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300038"/>
            <a:ext cx="589951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 ДОКУМЕНТ ·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42597" y="300038"/>
            <a:ext cx="100135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V.1 · АВГУСТ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0" y="762595"/>
            <a:ext cx="6915150" cy="90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Продуктовая стратегия </a:t>
            </a:r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828800" y="1745531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28800" y="1902693"/>
            <a:ext cx="542925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Инструкция для отдела продаж. Кому продаём, за сколько, как отрабатываем возражения, что предлагаем в качестве лид-магнита.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0" y="2520628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30204" y="2695649"/>
            <a:ext cx="0" cy="578644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695649"/>
            <a:ext cx="1528227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2841092" y="2874243"/>
            <a:ext cx="111409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828800" y="3167137"/>
            <a:ext cx="212638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35291" y="2695649"/>
            <a:ext cx="0" cy="578644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5226" y="2695649"/>
            <a:ext cx="1955043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300+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4305226" y="3167137"/>
            <a:ext cx="195504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ЦЕЛЕВЫХ КЛИЕНТОВ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10313" y="2695649"/>
            <a:ext cx="1528227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3150" dirty="0"/>
          </a:p>
        </p:txBody>
      </p:sp>
      <p:sp>
        <p:nvSpPr>
          <p:cNvPr id="19" name="Text 17"/>
          <p:cNvSpPr/>
          <p:nvPr/>
        </p:nvSpPr>
        <p:spPr>
          <a:xfrm>
            <a:off x="7622604" y="2874243"/>
            <a:ext cx="112123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610313" y="3167137"/>
            <a:ext cx="213363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МИНИМАЛЬНЫЙ ЧЕК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828800" y="4439841"/>
            <a:ext cx="7315200" cy="344147"/>
          </a:xfrm>
          <a:prstGeom prst="rect">
            <a:avLst/>
          </a:prstGeom>
          <a:noFill/>
          <a:ln/>
        </p:spPr>
        <p:txBody>
          <a:bodyPr wrap="square" lIns="0" tIns="12858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КРАСНЫХ ЛИНИЙ · Внутренний документ · Не для внешней публикации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28750" y="4857750"/>
            <a:ext cx="771525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428750" y="4861322"/>
            <a:ext cx="77152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4950619"/>
            <a:ext cx="32654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08563" y="4950619"/>
            <a:ext cx="32895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СТРАТЕГИЯ ПРОДАЖ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729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внутри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блока стратегии: от профиля клиента до отработки возражений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00050" y="1984846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0050" y="1395487"/>
            <a:ext cx="914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43000" y="1448172"/>
            <a:ext cx="5832729" cy="18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Профиль целевого клиента (ICP)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1143000" y="1665275"/>
            <a:ext cx="5832729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Кому продаём. Стоп-факторы. Критерии отсева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15125" y="1516931"/>
            <a:ext cx="1712268" cy="32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ICP · КВАЛИФИКАЦИЯ · СТОП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66723" y="1499071"/>
            <a:ext cx="67722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93906" y="1727671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486775" y="1727671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579644" y="1727671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72513" y="1727671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2706365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050" y="2117006"/>
            <a:ext cx="914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143000" y="2169691"/>
            <a:ext cx="5670709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Ценовая стратегия</a:t>
            </a:r>
            <a:endParaRPr lang="en-US" sz="1238" dirty="0"/>
          </a:p>
        </p:txBody>
      </p:sp>
      <p:sp>
        <p:nvSpPr>
          <p:cNvPr id="23" name="Text 21"/>
          <p:cNvSpPr/>
          <p:nvPr/>
        </p:nvSpPr>
        <p:spPr>
          <a:xfrm>
            <a:off x="1143000" y="2386794"/>
            <a:ext cx="5832729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цена, нижняя граница, целевой диапазон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15125" y="2292028"/>
            <a:ext cx="1815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· ЧЕК · СКИДКА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66723" y="2220590"/>
            <a:ext cx="67722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93906" y="2449190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86775" y="2449190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579644" y="2449190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672513" y="2449190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00050" y="3427884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0050" y="2838524"/>
            <a:ext cx="914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1143000" y="2891210"/>
            <a:ext cx="5670709" cy="1896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 и лид-магнит</a:t>
            </a:r>
            <a:endParaRPr lang="en-US" sz="1238" dirty="0"/>
          </a:p>
        </p:txBody>
      </p:sp>
      <p:sp>
        <p:nvSpPr>
          <p:cNvPr id="33" name="Text 31"/>
          <p:cNvSpPr/>
          <p:nvPr/>
        </p:nvSpPr>
        <p:spPr>
          <a:xfrm>
            <a:off x="1143000" y="3108313"/>
            <a:ext cx="5832729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 → пилот → демо → внедрение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15125" y="3013546"/>
            <a:ext cx="17122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 · ПИЛОТ · ДЕМО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66723" y="2942109"/>
            <a:ext cx="67722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93906" y="3170709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486775" y="3170709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579644" y="3170709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672513" y="3170709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00050" y="4149403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050" y="3560043"/>
            <a:ext cx="914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1143000" y="3612728"/>
            <a:ext cx="5832729" cy="18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Отработка возражений и материалы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1143000" y="3829831"/>
            <a:ext cx="5832729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типовых возражения. Что предложить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15125" y="3735065"/>
            <a:ext cx="18151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 · KIT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66723" y="3663628"/>
            <a:ext cx="677228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393906" y="3892228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8486775" y="3892228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579644" y="3892228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672513" y="3892228"/>
            <a:ext cx="7143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0050" y="4950619"/>
            <a:ext cx="41305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44876" y="4950619"/>
            <a:ext cx="38532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729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ICP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Кому продаём — профили ICP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зелёных профиля и 1 стоп. Квалификация лида — до первого звонка.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1266899"/>
            <a:ext cx="2695538" cy="3476551"/>
          </a:xfrm>
          <a:prstGeom prst="roundRect">
            <a:avLst>
              <a:gd name="adj" fmla="val 28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1266899"/>
            <a:ext cx="2695538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3280" y="1354410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42950" y="1354410"/>
            <a:ext cx="2238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КРУПНЫЙ ДЕВЕЛОПЕР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8638" y="1695524"/>
            <a:ext cx="2566950" cy="160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 ICP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8638" y="1883159"/>
            <a:ext cx="2438363" cy="74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Несколько параллельных объектов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Своя служба техзаказчика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одной ошибки &gt; цены внедрения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История данных 3+ объекта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8638" y="2618966"/>
            <a:ext cx="243836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8638" y="2697547"/>
            <a:ext cx="2566950" cy="160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ЧЕК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4521" y="2885182"/>
            <a:ext cx="12666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29,9–34,9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1353629" y="2942332"/>
            <a:ext cx="1613371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8638" y="3168700"/>
            <a:ext cx="2566950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ДИАПАЗОН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5778" y="4436054"/>
            <a:ext cx="1235601" cy="204026"/>
          </a:xfrm>
          <a:prstGeom prst="roundRect">
            <a:avLst>
              <a:gd name="adj" fmla="val 1400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8638" y="4446984"/>
            <a:ext cx="1189881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ВЫСОКИЙ ПРИОРИТЕТ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24175" y="1266899"/>
            <a:ext cx="2695538" cy="3476551"/>
          </a:xfrm>
          <a:prstGeom prst="roundRect">
            <a:avLst>
              <a:gd name="adj" fmla="val 28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24175" y="1266899"/>
            <a:ext cx="2695538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47405" y="1354410"/>
            <a:ext cx="1393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7075" y="1354410"/>
            <a:ext cx="2238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КОРПОРАТИВНЫЙ ЗАКАЗЧИК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52763" y="1695524"/>
            <a:ext cx="2566950" cy="160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ПРИЗНАКИ ICP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52763" y="1883159"/>
            <a:ext cx="2438363" cy="747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Капитальное строительство для себя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Нужен контроль подрядчиков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Есть 1С и исторические данные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на внедрение согласуем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763" y="2618966"/>
            <a:ext cx="243836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52763" y="2697547"/>
            <a:ext cx="2566950" cy="160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5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ЧЕК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78646" y="2885182"/>
            <a:ext cx="1266678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22,5–29,9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4177754" y="2942332"/>
            <a:ext cx="1613371" cy="16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52763" y="3168700"/>
            <a:ext cx="2566950" cy="17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ДИАПАЗОН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29903" y="4436054"/>
            <a:ext cx="1212607" cy="204026"/>
          </a:xfrm>
          <a:prstGeom prst="roundRect">
            <a:avLst>
              <a:gd name="adj" fmla="val 1400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52763" y="4446984"/>
            <a:ext cx="116688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СРЕДНИЙ ПРИОРИТЕТ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48301" y="1266899"/>
            <a:ext cx="2695649" cy="3476551"/>
          </a:xfrm>
          <a:prstGeom prst="roundRect">
            <a:avLst>
              <a:gd name="adj" fmla="val 2827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19751" y="1424062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26537" y="143084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6491213" y="1467817"/>
            <a:ext cx="20812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СТОП-ФАКТОРЫ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9751" y="1695524"/>
            <a:ext cx="2352749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 продаём</a:t>
            </a:r>
            <a:endParaRPr lang="en-US" sz="1238" dirty="0"/>
          </a:p>
        </p:txBody>
      </p:sp>
      <p:sp>
        <p:nvSpPr>
          <p:cNvPr id="41" name="Text 39"/>
          <p:cNvSpPr/>
          <p:nvPr/>
        </p:nvSpPr>
        <p:spPr>
          <a:xfrm>
            <a:off x="6219751" y="1947676"/>
            <a:ext cx="2352749" cy="88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небольшой объект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Отсутствие истории данных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Ожидание полной замены техзаказчика программой</a:t>
            </a:r>
            <a:endParaRPr lang="en-US" sz="800" dirty="0"/>
          </a:p>
          <a:p>
            <a:pPr algn="l" marL="342900" indent="-342900">
              <a:lnSpc>
                <a:spcPts val="1055"/>
              </a:lnSpc>
              <a:spcAft>
                <a:spcPts val="338"/>
              </a:spcAft>
              <a:buSzPct val="100000"/>
              <a:buChar char="•"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Бюджет &lt; 20 млн ₽ на ИТ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19751" y="2817428"/>
            <a:ext cx="2352749" cy="7144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219751" y="2896009"/>
            <a:ext cx="2352749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ДЕЙСТВИЕ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19751" y="3079961"/>
            <a:ext cx="2352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Вежливый отказ. Предложить вернуться через 6–12 месяцев.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01936" y="4412123"/>
            <a:ext cx="480998" cy="184023"/>
          </a:xfrm>
          <a:prstGeom prst="roundRect">
            <a:avLst>
              <a:gd name="adj" fmla="val 1552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219751" y="4421981"/>
            <a:ext cx="4453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0050" y="4950619"/>
            <a:ext cx="436762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81959" y="4950619"/>
            <a:ext cx="361618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ICP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729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ЦЕНА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Ценовая политика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0050" y="959718"/>
            <a:ext cx="6286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Текущая цена — первая промышленная. Дальше — только вверх. Любое отклонение от диапазона — согласование с руководителем продукта.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00050" y="1416918"/>
            <a:ext cx="4265823" cy="3326532"/>
          </a:xfrm>
          <a:prstGeom prst="roundRect">
            <a:avLst>
              <a:gd name="adj" fmla="val 229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8650" y="1588368"/>
            <a:ext cx="3918351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ТЕКУЩАЯ ЦЕНА ПЕРВОГО ВНЕДРЕНИЯ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28650" y="1758032"/>
            <a:ext cx="3450967" cy="91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2"/>
              </a:lnSpc>
              <a:buNone/>
            </a:pPr>
            <a:r>
              <a:rPr lang="en-US" sz="7425" b="1" spc="-33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7425" dirty="0"/>
          </a:p>
        </p:txBody>
      </p:sp>
      <p:sp>
        <p:nvSpPr>
          <p:cNvPr id="13" name="Text 11"/>
          <p:cNvSpPr/>
          <p:nvPr/>
        </p:nvSpPr>
        <p:spPr>
          <a:xfrm>
            <a:off x="2842654" y="2165226"/>
            <a:ext cx="1594619" cy="50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13"/>
              </a:lnSpc>
              <a:buNone/>
            </a:pPr>
            <a:r>
              <a:rPr lang="en-US" sz="2475" b="1" spc="-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628650" y="2679576"/>
            <a:ext cx="3808623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 · только при стратегической ценности клиента для отраслевого референса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8650" y="3063106"/>
            <a:ext cx="380862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8650" y="3184550"/>
            <a:ext cx="3808623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СЛЕДУЮЩИХ КЛИЕНТОВ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8650" y="3339926"/>
            <a:ext cx="1309807" cy="370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spc="-5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490142" y="3447083"/>
            <a:ext cx="2947132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8650" y="3732833"/>
            <a:ext cx="391835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с НДС для всех остальных клиентов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650" y="3952838"/>
            <a:ext cx="380862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650" y="4031419"/>
            <a:ext cx="38086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ДИАПАЗОН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8650" y="4181438"/>
            <a:ext cx="3808623" cy="71438"/>
          </a:xfrm>
          <a:prstGeom prst="roundRect">
            <a:avLst>
              <a:gd name="adj" fmla="val 26666"/>
            </a:avLst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80778" y="4181438"/>
            <a:ext cx="2170807" cy="71438"/>
          </a:xfrm>
          <a:prstGeom prst="roundRect">
            <a:avLst>
              <a:gd name="adj" fmla="val 2666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8650" y="4295738"/>
            <a:ext cx="6415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84536" y="4295738"/>
            <a:ext cx="729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028602" y="4295738"/>
            <a:ext cx="729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72668" y="4295738"/>
            <a:ext cx="729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32,9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16734" y="4295738"/>
            <a:ext cx="7297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59723" y="4295738"/>
            <a:ext cx="17862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55555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40+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869470" y="1420490"/>
            <a:ext cx="3870908" cy="950119"/>
          </a:xfrm>
          <a:prstGeom prst="roundRect">
            <a:avLst>
              <a:gd name="adj" fmla="val 802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30205" y="1552649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36991" y="155943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5301667" y="1596405"/>
            <a:ext cx="32779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С НДС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78310" y="1809824"/>
            <a:ext cx="79101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34,9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5516873" y="1881262"/>
            <a:ext cx="306277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5030205" y="2131293"/>
            <a:ext cx="365916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ПО УМОЛЧАНИЮ ДЛЯ ВСЕХ КЛИЕНТОВ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69470" y="2463478"/>
            <a:ext cx="3870908" cy="950119"/>
          </a:xfrm>
          <a:prstGeom prst="roundRect">
            <a:avLst>
              <a:gd name="adj" fmla="val 8020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030205" y="2595637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36991" y="2602423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lang="en-US" sz="1266" dirty="0"/>
          </a:p>
        </p:txBody>
      </p:sp>
      <p:sp>
        <p:nvSpPr>
          <p:cNvPr id="40" name="Text 38"/>
          <p:cNvSpPr/>
          <p:nvPr/>
        </p:nvSpPr>
        <p:spPr>
          <a:xfrm>
            <a:off x="5301667" y="2639392"/>
            <a:ext cx="327797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МИНИМАЛЬНАЯ ЦЕЛЬ ПЕРЕГОВОРОВ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978310" y="2852812"/>
            <a:ext cx="79101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29,9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5516873" y="2924249"/>
            <a:ext cx="3062771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013" dirty="0"/>
          </a:p>
        </p:txBody>
      </p:sp>
      <p:sp>
        <p:nvSpPr>
          <p:cNvPr id="43" name="Text 41"/>
          <p:cNvSpPr/>
          <p:nvPr/>
        </p:nvSpPr>
        <p:spPr>
          <a:xfrm>
            <a:off x="5030205" y="3174281"/>
            <a:ext cx="365916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НИЖНЯЯ ГРАНИЦА БЕЗ СОГЛАСОВАНИЯ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65898" y="3502893"/>
            <a:ext cx="3878052" cy="942975"/>
          </a:xfrm>
          <a:prstGeom prst="roundRect">
            <a:avLst>
              <a:gd name="adj" fmla="val 8081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023061" y="3631481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029847" y="3638267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00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47" name="Text 45"/>
          <p:cNvSpPr/>
          <p:nvPr/>
        </p:nvSpPr>
        <p:spPr>
          <a:xfrm>
            <a:off x="5294523" y="3675236"/>
            <a:ext cx="32922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ПОТЕНЦИАЛ ЗРЕЛОЙ ВЕРСИИ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23061" y="3888656"/>
            <a:ext cx="62132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b="1" spc="-4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45+</a:t>
            </a:r>
            <a:endParaRPr lang="en-US" sz="2025" dirty="0"/>
          </a:p>
        </p:txBody>
      </p:sp>
      <p:sp>
        <p:nvSpPr>
          <p:cNvPr id="49" name="Text 47"/>
          <p:cNvSpPr/>
          <p:nvPr/>
        </p:nvSpPr>
        <p:spPr>
          <a:xfrm>
            <a:off x="5468541" y="3960093"/>
            <a:ext cx="311824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1013" dirty="0"/>
          </a:p>
        </p:txBody>
      </p:sp>
      <p:sp>
        <p:nvSpPr>
          <p:cNvPr id="50" name="Text 48"/>
          <p:cNvSpPr/>
          <p:nvPr/>
        </p:nvSpPr>
        <p:spPr>
          <a:xfrm>
            <a:off x="5023061" y="4210124"/>
            <a:ext cx="36734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FFFFFF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ЦЕЛЕВОЙ ЧЕК ПОСЛЕ 3-4 РЕФЕРЕНСОВ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00050" y="4950619"/>
            <a:ext cx="397170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386039" y="4950619"/>
            <a:ext cx="401210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ЦЕНОВАЯ ПОЛИТИКА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72953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ВОРОНКА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 продаж — Go-to-Market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этапа от квалификации до внедрения. Средний цикл сделки — 60–90 дней.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8675" y="1438349"/>
            <a:ext cx="21431" cy="313365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0050" y="2134195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7300" y="1469827"/>
            <a:ext cx="4966371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1 · КВАЛИФИКАЦИЯ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57300" y="1610916"/>
            <a:ext cx="4209000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1257300" y="1793751"/>
            <a:ext cx="35912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Проверка ICP. Наличие 3+ объектов, истории, бюджета. Согласование ЛПР.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85073" y="1417441"/>
            <a:ext cx="681737" cy="184023"/>
          </a:xfrm>
          <a:prstGeom prst="roundRect">
            <a:avLst>
              <a:gd name="adj" fmla="val 15528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107933" y="1427299"/>
            <a:ext cx="6360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 ДНЕЙ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1327" y="1634468"/>
            <a:ext cx="61523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8417347" y="1863068"/>
            <a:ext cx="3266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ЛИДОВ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00050" y="3005175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57300" y="2340694"/>
            <a:ext cx="5133080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2 · ЛИД-МАГНИТ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57300" y="2481783"/>
            <a:ext cx="4350286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Лид-магнит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1257300" y="2664619"/>
            <a:ext cx="3711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Предложение бесплатного расчёта 1–2 закрытых объектов. Подписание NDA.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40437" y="2288308"/>
            <a:ext cx="626373" cy="184023"/>
          </a:xfrm>
          <a:prstGeom prst="roundRect">
            <a:avLst>
              <a:gd name="adj" fmla="val 15528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63297" y="2298167"/>
            <a:ext cx="580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1–5 ДНЕЙ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71123" y="2505335"/>
            <a:ext cx="47282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8199574" y="2733935"/>
            <a:ext cx="544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ПИЛОТА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00050" y="3876042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7300" y="3211674"/>
            <a:ext cx="4768327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3 · ДЕМОНСТРАЦИЯ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57300" y="3352763"/>
            <a:ext cx="4041158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Демонстрация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1257300" y="3535598"/>
            <a:ext cx="34480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расчёта системы с фактом. Доказательство точности ±3-5%.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85073" y="3159288"/>
            <a:ext cx="681737" cy="184023"/>
          </a:xfrm>
          <a:prstGeom prst="roundRect">
            <a:avLst>
              <a:gd name="adj" fmla="val 15528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07933" y="3169146"/>
            <a:ext cx="63601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5–10 ДНЕЙ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71123" y="3376315"/>
            <a:ext cx="47282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8447931" y="3604915"/>
            <a:ext cx="2960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КП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57300" y="4082542"/>
            <a:ext cx="5122274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 4 · ВНЕДРЕНИЕ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257300" y="4223631"/>
            <a:ext cx="4741164" cy="1554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Внедрение</a:t>
            </a:r>
            <a:endParaRPr lang="en-US" sz="1013" dirty="0"/>
          </a:p>
        </p:txBody>
      </p:sp>
      <p:sp>
        <p:nvSpPr>
          <p:cNvPr id="37" name="Text 35"/>
          <p:cNvSpPr/>
          <p:nvPr/>
        </p:nvSpPr>
        <p:spPr>
          <a:xfrm>
            <a:off x="1257300" y="4406466"/>
            <a:ext cx="3704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 на 22,5–34,9 млн ₽. Договор, развёртывание в контуре клиента, обучение.</a:t>
            </a:r>
            <a:endParaRPr lang="en-US" sz="703" dirty="0"/>
          </a:p>
        </p:txBody>
      </p:sp>
      <p:sp>
        <p:nvSpPr>
          <p:cNvPr id="38" name="Text 36"/>
          <p:cNvSpPr/>
          <p:nvPr/>
        </p:nvSpPr>
        <p:spPr>
          <a:xfrm>
            <a:off x="8029597" y="4030155"/>
            <a:ext cx="737213" cy="184023"/>
          </a:xfrm>
          <a:prstGeom prst="roundRect">
            <a:avLst>
              <a:gd name="adj" fmla="val 15528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52457" y="4040014"/>
            <a:ext cx="69149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45–75 ДНЕЙ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71123" y="4247183"/>
            <a:ext cx="756523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8200913" y="4475783"/>
            <a:ext cx="7256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 СДЕЛКИ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050" y="4950619"/>
            <a:ext cx="422854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42879" y="4950619"/>
            <a:ext cx="375526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ВОРОНКА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57225" y="1527311"/>
            <a:ext cx="342900" cy="3429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57225" y="1527311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50" name="Text 48"/>
          <p:cNvSpPr/>
          <p:nvPr/>
        </p:nvSpPr>
        <p:spPr>
          <a:xfrm>
            <a:off x="657225" y="2398179"/>
            <a:ext cx="342900" cy="3429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57225" y="239817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52" name="Text 50"/>
          <p:cNvSpPr/>
          <p:nvPr/>
        </p:nvSpPr>
        <p:spPr>
          <a:xfrm>
            <a:off x="657225" y="3269159"/>
            <a:ext cx="342900" cy="3429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57225" y="3269159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54" name="Text 52"/>
          <p:cNvSpPr/>
          <p:nvPr/>
        </p:nvSpPr>
        <p:spPr>
          <a:xfrm>
            <a:off x="657225" y="4140026"/>
            <a:ext cx="342900" cy="3429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57225" y="4140026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26787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ВОЗРАЖЕНИЯ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82210" y="288429"/>
            <a:ext cx="59643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Работа с возражениями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типовых возражения и аргументы к ним. Цель — не победить в споре, а сдвинуть ЛПР.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1266899"/>
            <a:ext cx="4121944" cy="1688269"/>
          </a:xfrm>
          <a:prstGeom prst="roundRect">
            <a:avLst>
              <a:gd name="adj" fmla="val 3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2925" y="1395487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2925" y="1395487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14388" y="1439242"/>
            <a:ext cx="35647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2925" y="1652662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925" y="1716956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2925" y="18616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18" name="Text 16"/>
          <p:cNvSpPr/>
          <p:nvPr/>
        </p:nvSpPr>
        <p:spPr>
          <a:xfrm>
            <a:off x="728663" y="1861617"/>
            <a:ext cx="3650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«У нас уже есть G-Tech / Exon».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2925" y="2066999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2925" y="2145581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2925" y="2290242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42925" y="229024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71525" y="2290242"/>
            <a:ext cx="360759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Мы не заменяем СОД и ТИМ. Мы —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интеллектуальный слой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поверх них для финансового контроля.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22006" y="1266899"/>
            <a:ext cx="4121944" cy="1688269"/>
          </a:xfrm>
          <a:prstGeom prst="roundRect">
            <a:avLst>
              <a:gd name="adj" fmla="val 3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4881" y="1395487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64881" y="1395487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36344" y="1439242"/>
            <a:ext cx="35647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64881" y="1652662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4881" y="1716956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64881" y="186161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4950619" y="1861617"/>
            <a:ext cx="3650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«ИИ ненадёжен в серьёзных расчётах».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64881" y="2066999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64881" y="2145581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64881" y="2290242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4881" y="229024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4993481" y="2290242"/>
            <a:ext cx="360759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Числа считает детерминированный модуль. ИИ только анализирует текст и выявляет аномалии.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0050" y="3055181"/>
            <a:ext cx="4121944" cy="1688269"/>
          </a:xfrm>
          <a:prstGeom prst="roundRect">
            <a:avLst>
              <a:gd name="adj" fmla="val 3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2925" y="3183768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42925" y="3183768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14388" y="3227524"/>
            <a:ext cx="35647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42925" y="3440943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2925" y="3505237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2925" y="36498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44" name="Text 42"/>
          <p:cNvSpPr/>
          <p:nvPr/>
        </p:nvSpPr>
        <p:spPr>
          <a:xfrm>
            <a:off x="728663" y="3649898"/>
            <a:ext cx="3650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«Не хотим отдавать данные на внешние серверы».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2925" y="3855281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42925" y="3933862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2925" y="4078523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42925" y="407852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771525" y="4078523"/>
            <a:ext cx="360759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Система работает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вашем контуре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локальных моделях. Данные не выходят за пределы.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22006" y="3055181"/>
            <a:ext cx="4121944" cy="1688269"/>
          </a:xfrm>
          <a:prstGeom prst="roundRect">
            <a:avLst>
              <a:gd name="adj" fmla="val 3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64881" y="3183768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764881" y="3183768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36344" y="3227524"/>
            <a:ext cx="35647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ВОЗРАЖЕНИЕ 04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64881" y="3440943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64881" y="3505237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СЛЫШИМ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64881" y="36498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57" name="Text 55"/>
          <p:cNvSpPr/>
          <p:nvPr/>
        </p:nvSpPr>
        <p:spPr>
          <a:xfrm>
            <a:off x="4950619" y="3649898"/>
            <a:ext cx="3650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«Это слишком дорого (40 млн+)».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64881" y="3855281"/>
            <a:ext cx="3836194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764881" y="3933862"/>
            <a:ext cx="383619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02"/>
              </a:lnSpc>
              <a:buNone/>
            </a:pPr>
            <a:r>
              <a:rPr lang="en-US" sz="800" b="1" spc="7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ОТВЕЧАЕМ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64881" y="4078523"/>
            <a:ext cx="157163" cy="157163"/>
          </a:xfrm>
          <a:prstGeom prst="roundRect">
            <a:avLst>
              <a:gd name="adj" fmla="val 1818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764881" y="407852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62" name="Text 60"/>
          <p:cNvSpPr/>
          <p:nvPr/>
        </p:nvSpPr>
        <p:spPr>
          <a:xfrm>
            <a:off x="4993481" y="4078523"/>
            <a:ext cx="3607594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Цена ниже средних потерь на одном объекте. Плюс 0 ₽ за лицензии и 12 мес. гарантии.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0050" y="4950619"/>
            <a:ext cx="413366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48001" y="4950619"/>
            <a:ext cx="385014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ВОЗРАЖЕНИЯ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26787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КИТ ПРОДАЖ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82210" y="288429"/>
            <a:ext cx="59643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Материалы для продаж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предложить клиенту на этапе квалификации. Каждый материал — отдельный инструмент.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1266899"/>
            <a:ext cx="2695538" cy="3476551"/>
          </a:xfrm>
          <a:prstGeom prst="roundRect">
            <a:avLst>
              <a:gd name="adj" fmla="val 28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1266899"/>
            <a:ext cx="2695538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350" y="13454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742950" y="1354410"/>
            <a:ext cx="2238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ПИЛОТ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4350" y="1681237"/>
            <a:ext cx="25812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9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4350" y="1820540"/>
            <a:ext cx="2664293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1–2 закрытых объектов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4350" y="2006278"/>
            <a:ext cx="2466938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Бесплатный расчёт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1–2 закрытых объектов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клиента. Снятие возражения о точности модели.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4350" y="2354535"/>
            <a:ext cx="246693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4350" y="2433117"/>
            <a:ext cx="25812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9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4350" y="2572420"/>
            <a:ext cx="24669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Клиенты на этапе 2 воронки. После квалификации ICP.</a:t>
            </a:r>
            <a:endParaRPr lang="en-US" sz="647" dirty="0"/>
          </a:p>
        </p:txBody>
      </p:sp>
      <p:sp>
        <p:nvSpPr>
          <p:cNvPr id="21" name="Text 19"/>
          <p:cNvSpPr/>
          <p:nvPr/>
        </p:nvSpPr>
        <p:spPr>
          <a:xfrm>
            <a:off x="514350" y="2767087"/>
            <a:ext cx="246693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14350" y="2917106"/>
            <a:ext cx="12239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1–2</a:t>
            </a:r>
            <a:endParaRPr lang="en-US" sz="1238" dirty="0"/>
          </a:p>
        </p:txBody>
      </p:sp>
      <p:sp>
        <p:nvSpPr>
          <p:cNvPr id="23" name="Text 21"/>
          <p:cNvSpPr/>
          <p:nvPr/>
        </p:nvSpPr>
        <p:spPr>
          <a:xfrm>
            <a:off x="514350" y="3088556"/>
            <a:ext cx="1030769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360438" y="2917106"/>
            <a:ext cx="123944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1360438" y="3088556"/>
            <a:ext cx="1239441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ДНЕЙ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06526" y="2917106"/>
            <a:ext cx="88906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2206526" y="3088556"/>
            <a:ext cx="889062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490" y="4451199"/>
            <a:ext cx="1347110" cy="188024"/>
          </a:xfrm>
          <a:prstGeom prst="roundRect">
            <a:avLst>
              <a:gd name="adj" fmla="val 1519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14350" y="4461272"/>
            <a:ext cx="130139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ОСНОВНОЙ ИНСТРУМЕНТ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24175" y="1266899"/>
            <a:ext cx="2695538" cy="3476551"/>
          </a:xfrm>
          <a:prstGeom prst="roundRect">
            <a:avLst>
              <a:gd name="adj" fmla="val 28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224175" y="1266899"/>
            <a:ext cx="2695538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38475" y="13454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3567075" y="1354410"/>
            <a:ext cx="2238338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КАЛЬКУЛЯТОР ЭФФЕКТА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38475" y="1681237"/>
            <a:ext cx="25812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9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38475" y="1820540"/>
            <a:ext cx="2664293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предотвращённых потерь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8475" y="2006278"/>
            <a:ext cx="2466938" cy="340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предотвращённых потерь на основе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5% отклонения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от бюджета объекта. Excel + PDF.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338475" y="2354535"/>
            <a:ext cx="246693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38475" y="2433117"/>
            <a:ext cx="258123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9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38475" y="2572420"/>
            <a:ext cx="266429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ЛПР на этапе 1–2. Для первичного обоснования ROI.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8475" y="2767087"/>
            <a:ext cx="246693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38475" y="2917106"/>
            <a:ext cx="123944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5%</a:t>
            </a:r>
            <a:endParaRPr lang="en-US" sz="1238" dirty="0"/>
          </a:p>
        </p:txBody>
      </p:sp>
      <p:sp>
        <p:nvSpPr>
          <p:cNvPr id="42" name="Text 40"/>
          <p:cNvSpPr/>
          <p:nvPr/>
        </p:nvSpPr>
        <p:spPr>
          <a:xfrm>
            <a:off x="3338475" y="3088556"/>
            <a:ext cx="947107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ОТКЛОНЕНИЕ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184563" y="2917106"/>
            <a:ext cx="122394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3–5</a:t>
            </a:r>
            <a:endParaRPr lang="en-US" sz="1238" dirty="0"/>
          </a:p>
        </p:txBody>
      </p:sp>
      <p:sp>
        <p:nvSpPr>
          <p:cNvPr id="44" name="Text 42"/>
          <p:cNvSpPr/>
          <p:nvPr/>
        </p:nvSpPr>
        <p:spPr>
          <a:xfrm>
            <a:off x="4184563" y="3088556"/>
            <a:ext cx="1239441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МИН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30651" y="2917106"/>
            <a:ext cx="889062" cy="101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spc="-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XLSX+PDF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30651" y="3045693"/>
            <a:ext cx="889062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ФОРМАТ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315615" y="4436054"/>
            <a:ext cx="1082792" cy="204026"/>
          </a:xfrm>
          <a:prstGeom prst="roundRect">
            <a:avLst>
              <a:gd name="adj" fmla="val 14006"/>
            </a:avLst>
          </a:prstGeom>
          <a:noFill/>
          <a:ln w="7144">
            <a:solidFill>
              <a:srgbClr val="FF000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38475" y="4446984"/>
            <a:ext cx="1037072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ОБОСНОВАНИЕ ROI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048301" y="1266899"/>
            <a:ext cx="2695649" cy="3476551"/>
          </a:xfrm>
          <a:prstGeom prst="roundRect">
            <a:avLst>
              <a:gd name="adj" fmla="val 282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048301" y="1266899"/>
            <a:ext cx="2695649" cy="31432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162601" y="134548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2" name="Text 50"/>
          <p:cNvSpPr/>
          <p:nvPr/>
        </p:nvSpPr>
        <p:spPr>
          <a:xfrm>
            <a:off x="6391201" y="1354410"/>
            <a:ext cx="223844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ТЕХНИЧЕСКИЙ АУДИТ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62601" y="1681237"/>
            <a:ext cx="258134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9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ДАЁМ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62601" y="1820540"/>
            <a:ext cx="258134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 договоров и смет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62601" y="2006278"/>
            <a:ext cx="2467049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Анализ договоров подряда и смет силами ИИ-агентов </a:t>
            </a:r>
            <a:pPr algn="l" indent="0" marL="0">
              <a:lnSpc>
                <a:spcPts val="109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«Юрист» и «Сметчик»</a:t>
            </a:r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Реестр рисков и аномалий.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162601" y="2492946"/>
            <a:ext cx="2467049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162601" y="2571527"/>
            <a:ext cx="258134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2"/>
              </a:lnSpc>
              <a:buNone/>
            </a:pPr>
            <a:r>
              <a:rPr lang="en-US" sz="800" b="1" spc="9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КОГО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62601" y="2710830"/>
            <a:ext cx="24670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Клиенты с готовыми документами. Этап 3 — демонстрация ценности.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162601" y="3028727"/>
            <a:ext cx="2467049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6162601" y="3178746"/>
            <a:ext cx="1239441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61" name="Text 59"/>
          <p:cNvSpPr/>
          <p:nvPr/>
        </p:nvSpPr>
        <p:spPr>
          <a:xfrm>
            <a:off x="6162601" y="3350196"/>
            <a:ext cx="1239441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ДНЯ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008688" y="3178746"/>
            <a:ext cx="1239619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1238" dirty="0"/>
          </a:p>
        </p:txBody>
      </p:sp>
      <p:sp>
        <p:nvSpPr>
          <p:cNvPr id="63" name="Text 61"/>
          <p:cNvSpPr/>
          <p:nvPr/>
        </p:nvSpPr>
        <p:spPr>
          <a:xfrm>
            <a:off x="7008688" y="3350196"/>
            <a:ext cx="1030918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АГЕНТОВ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854888" y="3178746"/>
            <a:ext cx="889062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b="1" spc="-1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</a:t>
            </a:r>
            <a:endParaRPr lang="en-US" sz="1238" dirty="0"/>
          </a:p>
        </p:txBody>
      </p:sp>
      <p:sp>
        <p:nvSpPr>
          <p:cNvPr id="65" name="Text 63"/>
          <p:cNvSpPr/>
          <p:nvPr/>
        </p:nvSpPr>
        <p:spPr>
          <a:xfrm>
            <a:off x="7854888" y="3350196"/>
            <a:ext cx="889062" cy="16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5"/>
              </a:lnSpc>
              <a:buNone/>
            </a:pPr>
            <a:r>
              <a:rPr lang="en-US" sz="800" spc="41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ОТЧЁТ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39741" y="4436054"/>
            <a:ext cx="1032785" cy="204026"/>
          </a:xfrm>
          <a:prstGeom prst="roundRect">
            <a:avLst>
              <a:gd name="adj" fmla="val 1400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162601" y="4446984"/>
            <a:ext cx="98706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72"/>
              </a:lnSpc>
              <a:buNone/>
            </a:pPr>
            <a:r>
              <a:rPr lang="en-US" sz="800" b="1" spc="45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ДОПОЛНИТЕЛЬНО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0050" y="4950619"/>
            <a:ext cx="41682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582604" y="4950619"/>
            <a:ext cx="381554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МАТЕРИАЛЫ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267873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ПОЗИЦИОНИРОВАНИЕ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682210" y="288429"/>
            <a:ext cx="59643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Почему СтройИнтеллект выигрывает рынок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Уникальная архитектура, недоступная тиражным решениям. Мы — единственные, кто считает деньги.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3622" y="1270471"/>
            <a:ext cx="2003822" cy="2704021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4356" y="1416918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1143" y="14237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4" name="Text 12"/>
          <p:cNvSpPr/>
          <p:nvPr/>
        </p:nvSpPr>
        <p:spPr>
          <a:xfrm>
            <a:off x="835819" y="1463353"/>
            <a:ext cx="14108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4356" y="2368265"/>
            <a:ext cx="1682353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4050" dirty="0"/>
          </a:p>
        </p:txBody>
      </p:sp>
      <p:sp>
        <p:nvSpPr>
          <p:cNvPr id="16" name="Text 14"/>
          <p:cNvSpPr/>
          <p:nvPr/>
        </p:nvSpPr>
        <p:spPr>
          <a:xfrm>
            <a:off x="564356" y="3582367"/>
            <a:ext cx="168235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СВЯЗАННЫХ ИИ-АГЕНТОВ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4356" y="3718099"/>
            <a:ext cx="1783294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Сметчик, экономист, юрист и др.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4600" y="1270471"/>
            <a:ext cx="2003822" cy="2704021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675334" y="1416918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82121" y="14237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2946797" y="1463353"/>
            <a:ext cx="14108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БИЗНЕС-МОДЕЛЬ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75334" y="2368265"/>
            <a:ext cx="1682353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4050" dirty="0"/>
          </a:p>
        </p:txBody>
      </p:sp>
      <p:sp>
        <p:nvSpPr>
          <p:cNvPr id="23" name="Text 21"/>
          <p:cNvSpPr/>
          <p:nvPr/>
        </p:nvSpPr>
        <p:spPr>
          <a:xfrm>
            <a:off x="2675334" y="3582367"/>
            <a:ext cx="168235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ПОДПИСНЫХ ПЛАТЕЖЕЙ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75334" y="3718099"/>
            <a:ext cx="1682353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 абонентской платы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5578" y="1270471"/>
            <a:ext cx="2003822" cy="2704021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6313" y="1416918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93099" y="14237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266" dirty="0"/>
          </a:p>
        </p:txBody>
      </p:sp>
      <p:sp>
        <p:nvSpPr>
          <p:cNvPr id="28" name="Text 26"/>
          <p:cNvSpPr/>
          <p:nvPr/>
        </p:nvSpPr>
        <p:spPr>
          <a:xfrm>
            <a:off x="5057775" y="1463353"/>
            <a:ext cx="14108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БЕЗОПАСНОСТЬ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86313" y="2368265"/>
            <a:ext cx="1682353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4050" dirty="0"/>
          </a:p>
        </p:txBody>
      </p:sp>
      <p:sp>
        <p:nvSpPr>
          <p:cNvPr id="30" name="Text 28"/>
          <p:cNvSpPr/>
          <p:nvPr/>
        </p:nvSpPr>
        <p:spPr>
          <a:xfrm>
            <a:off x="4786313" y="3582367"/>
            <a:ext cx="168235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ЛОКАЛЬНАЯ ОБРАБОТКА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86313" y="3718099"/>
            <a:ext cx="1682353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контуре Заказчика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36556" y="1270471"/>
            <a:ext cx="2003822" cy="2704021"/>
          </a:xfrm>
          <a:prstGeom prst="roundRect">
            <a:avLst>
              <a:gd name="adj" fmla="val 3803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897291" y="1416918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904077" y="1423705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7168753" y="1463353"/>
            <a:ext cx="14108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97291" y="2368265"/>
            <a:ext cx="1682353" cy="499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4050" b="1" spc="-122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250+</a:t>
            </a:r>
            <a:endParaRPr lang="en-US" sz="4050" dirty="0"/>
          </a:p>
        </p:txBody>
      </p:sp>
      <p:sp>
        <p:nvSpPr>
          <p:cNvPr id="37" name="Text 35"/>
          <p:cNvSpPr/>
          <p:nvPr/>
        </p:nvSpPr>
        <p:spPr>
          <a:xfrm>
            <a:off x="6897291" y="3582367"/>
            <a:ext cx="168235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 В БАЗЕ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97291" y="3718099"/>
            <a:ext cx="1682353" cy="109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Обучающая выборка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0050" y="4106652"/>
            <a:ext cx="8343900" cy="636798"/>
          </a:xfrm>
          <a:prstGeom prst="roundRect">
            <a:avLst>
              <a:gd name="adj" fmla="val 11966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0075" y="4263814"/>
            <a:ext cx="6655993" cy="1279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ПОЗИЦИОНИРОВАНИЕ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0075" y="4419191"/>
            <a:ext cx="4813102" cy="167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1013" b="1" spc="-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Интеллектуальный слой финансового контроля поверх любых СОД и ТИМ.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7240325" y="4296107"/>
            <a:ext cx="1326460" cy="257775"/>
          </a:xfrm>
          <a:prstGeom prst="roundRect">
            <a:avLst>
              <a:gd name="adj" fmla="val 1478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263185" y="4308909"/>
            <a:ext cx="1280740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4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КАТЕГОРИЯ — ОДНА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050" y="4950619"/>
            <a:ext cx="401702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431357" y="4950619"/>
            <a:ext cx="396679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ПОБЕДА НА РЫНКЕ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42875" y="2478881"/>
            <a:ext cx="11430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1828800" y="257175"/>
            <a:ext cx="58391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 · 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682210" y="259854"/>
            <a:ext cx="5964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43875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01038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58200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15363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28800" y="483989"/>
            <a:ext cx="69151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8800" y="648295"/>
            <a:ext cx="5857875" cy="74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Инструменты продаж готовы. 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Начинаем квалификацию лидов.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1828800" y="1453976"/>
            <a:ext cx="5143500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материалы — в общей папке отдела продаж. Вопросы по продукту — руководителю продукта. Вопросы по цене — руководителю продаж.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965424"/>
            <a:ext cx="6915150" cy="705445"/>
          </a:xfrm>
          <a:prstGeom prst="roundRect">
            <a:avLst>
              <a:gd name="adj" fmla="val 1080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00250" y="2108299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00250" y="2108299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00288" y="2166342"/>
            <a:ext cx="1804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00250" y="2394049"/>
            <a:ext cx="227334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Квалификация 10 лидов по ICP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33788" y="2108299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33788" y="2108299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33826" y="2166342"/>
            <a:ext cx="18050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33788" y="2394049"/>
            <a:ext cx="2273467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NDA + 5 пилотов на закрытых объектах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67438" y="2108299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67438" y="2108299"/>
            <a:ext cx="2643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7475" y="2166342"/>
            <a:ext cx="18049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НЕДЕЛЯ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67438" y="2394049"/>
            <a:ext cx="221479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демо с доказательством точности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0" y="2842320"/>
            <a:ext cx="69151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28800" y="2999482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35587" y="300626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266" dirty="0"/>
          </a:p>
        </p:txBody>
      </p:sp>
      <p:sp>
        <p:nvSpPr>
          <p:cNvPr id="29" name="Text 27"/>
          <p:cNvSpPr/>
          <p:nvPr/>
        </p:nvSpPr>
        <p:spPr>
          <a:xfrm>
            <a:off x="2114550" y="2963763"/>
            <a:ext cx="1464277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14550" y="3085207"/>
            <a:ext cx="13576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(495) 000-00-00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190926" y="2999482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197712" y="300626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33" name="Text 31"/>
          <p:cNvSpPr/>
          <p:nvPr/>
        </p:nvSpPr>
        <p:spPr>
          <a:xfrm>
            <a:off x="4476676" y="2963763"/>
            <a:ext cx="1310521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76676" y="3085207"/>
            <a:ext cx="9599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sales@7rl.tech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553163" y="2999482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559949" y="3006269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266" dirty="0"/>
          </a:p>
        </p:txBody>
      </p:sp>
      <p:sp>
        <p:nvSpPr>
          <p:cNvPr id="37" name="Text 35"/>
          <p:cNvSpPr/>
          <p:nvPr/>
        </p:nvSpPr>
        <p:spPr>
          <a:xfrm>
            <a:off x="6838913" y="2963763"/>
            <a:ext cx="191952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SLACK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38913" y="3085207"/>
            <a:ext cx="131967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#stroy-intellect-sales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828800" y="4593431"/>
            <a:ext cx="60423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885472" y="4609505"/>
            <a:ext cx="10725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V.1 · АВГУСТ 2025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28800" y="4889897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4964906"/>
            <a:ext cx="35871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30255" y="4964906"/>
            <a:ext cx="296789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СТАРТ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412435" y="4979194"/>
            <a:ext cx="33151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556044" y="4964906"/>
            <a:ext cx="20380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2026-08-11T20:06:55Z</dcterms:created>
  <dcterms:modified xsi:type="dcterms:W3CDTF">2026-08-11T20:06:55Z</dcterms:modified>
</cp:coreProperties>
</file>