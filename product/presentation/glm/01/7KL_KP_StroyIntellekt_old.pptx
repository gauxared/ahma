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428750" cy="51435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 rot="16200000">
            <a:off x="0" y="2486025"/>
            <a:ext cx="14287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162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1350"/>
              </a:lnSpc>
              <a:buNone/>
            </a:pPr>
            <a:r>
              <a:rPr lang="en-US" sz="1350" b="1" spc="162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1350"/>
              </a:lnSpc>
              <a:buNone/>
            </a:pPr>
            <a:r>
              <a:rPr lang="en-US" sz="1350" b="1" spc="16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943100" y="1565151"/>
            <a:ext cx="457200" cy="2857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943100" y="1793751"/>
            <a:ext cx="7200900" cy="694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1"/>
              </a:lnSpc>
              <a:buNone/>
            </a:pPr>
            <a:r>
              <a:rPr lang="en-US" sz="2025" b="1" spc="-2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Цифровая служба технического</a:t>
            </a:r>
            <a:endParaRPr lang="en-US" sz="2025" dirty="0"/>
          </a:p>
          <a:p>
            <a:pPr algn="l" indent="0" marL="0">
              <a:lnSpc>
                <a:spcPts val="2531"/>
              </a:lnSpc>
              <a:buNone/>
            </a:pPr>
            <a:r>
              <a:rPr lang="en-US" sz="2025" b="1" spc="-2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заказчика СтройИнтеллект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943100" y="2565276"/>
            <a:ext cx="5857875" cy="191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Финансово-технический контроль строительства на базе ИИ в вашем контуре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43100" y="3056744"/>
            <a:ext cx="2009738" cy="635794"/>
          </a:xfrm>
          <a:prstGeom prst="roundRect">
            <a:avLst>
              <a:gd name="adj" fmla="val 898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100263" y="3185331"/>
            <a:ext cx="169541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1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4,5 месяца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2100263" y="3456794"/>
            <a:ext cx="169541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 ВНЕДРЕНИЯ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081425" y="3056744"/>
            <a:ext cx="2009738" cy="635794"/>
          </a:xfrm>
          <a:prstGeom prst="roundRect">
            <a:avLst>
              <a:gd name="adj" fmla="val 898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38588" y="3185331"/>
            <a:ext cx="169541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1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 ИИ-агентов</a:t>
            </a:r>
            <a:endParaRPr lang="en-US" sz="1688" dirty="0"/>
          </a:p>
        </p:txBody>
      </p:sp>
      <p:sp>
        <p:nvSpPr>
          <p:cNvPr id="13" name="Text 11"/>
          <p:cNvSpPr/>
          <p:nvPr/>
        </p:nvSpPr>
        <p:spPr>
          <a:xfrm>
            <a:off x="4238588" y="3456794"/>
            <a:ext cx="169541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СОСТАВЕ СИСТЕМЫ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19751" y="3056744"/>
            <a:ext cx="2009849" cy="635794"/>
          </a:xfrm>
          <a:prstGeom prst="roundRect">
            <a:avLst>
              <a:gd name="adj" fmla="val 898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76913" y="3185331"/>
            <a:ext cx="1695524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1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</a:t>
            </a:r>
            <a:endParaRPr lang="en-US" sz="1688" dirty="0"/>
          </a:p>
        </p:txBody>
      </p:sp>
      <p:sp>
        <p:nvSpPr>
          <p:cNvPr id="16" name="Text 14"/>
          <p:cNvSpPr/>
          <p:nvPr/>
        </p:nvSpPr>
        <p:spPr>
          <a:xfrm>
            <a:off x="6376913" y="3456794"/>
            <a:ext cx="169552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АБОНЕНТСКАЯ ПЛАТА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43100" y="4768453"/>
            <a:ext cx="25005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 · Коммерческое предложение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24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19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Содержание</a:t>
            </a:r>
            <a:endParaRPr lang="en-US" sz="1519" dirty="0"/>
          </a:p>
        </p:txBody>
      </p:sp>
      <p:sp>
        <p:nvSpPr>
          <p:cNvPr id="3" name="Text 1"/>
          <p:cNvSpPr/>
          <p:nvPr/>
        </p:nvSpPr>
        <p:spPr>
          <a:xfrm>
            <a:off x="457200" y="688591"/>
            <a:ext cx="86360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Коммерческое предложение · 7 КРАСНЫХ ЛИНИЙ</a:t>
            </a:r>
            <a:endParaRPr lang="en-US" sz="844" dirty="0"/>
          </a:p>
        </p:txBody>
      </p:sp>
      <p:sp>
        <p:nvSpPr>
          <p:cNvPr id="4" name="Text 2"/>
          <p:cNvSpPr/>
          <p:nvPr/>
        </p:nvSpPr>
        <p:spPr>
          <a:xfrm>
            <a:off x="457200" y="1106500"/>
            <a:ext cx="4029075" cy="1732694"/>
          </a:xfrm>
          <a:prstGeom prst="roundRect">
            <a:avLst>
              <a:gd name="adj" fmla="val 329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7225" y="1277950"/>
            <a:ext cx="3357563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spc="-49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4029075" y="1277950"/>
            <a:ext cx="257175" cy="257175"/>
          </a:xfrm>
          <a:prstGeom prst="roundRect">
            <a:avLst>
              <a:gd name="adj" fmla="val 1481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43720" y="129259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547" dirty="0"/>
          </a:p>
        </p:txBody>
      </p:sp>
      <p:sp>
        <p:nvSpPr>
          <p:cNvPr id="8" name="Text 6"/>
          <p:cNvSpPr/>
          <p:nvPr/>
        </p:nvSpPr>
        <p:spPr>
          <a:xfrm>
            <a:off x="657225" y="1763725"/>
            <a:ext cx="3629025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Проблема и ценность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657225" y="1987972"/>
            <a:ext cx="36290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Потери выявляются слишком поздно. СтройИнтеллект считает раньше.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7225" y="2646313"/>
            <a:ext cx="257175" cy="21431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57725" y="1106500"/>
            <a:ext cx="4029075" cy="1732694"/>
          </a:xfrm>
          <a:prstGeom prst="roundRect">
            <a:avLst>
              <a:gd name="adj" fmla="val 329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57750" y="1277950"/>
            <a:ext cx="3357563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spc="-49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2475" dirty="0"/>
          </a:p>
        </p:txBody>
      </p:sp>
      <p:sp>
        <p:nvSpPr>
          <p:cNvPr id="13" name="Text 11"/>
          <p:cNvSpPr/>
          <p:nvPr/>
        </p:nvSpPr>
        <p:spPr>
          <a:xfrm>
            <a:off x="8229600" y="1277950"/>
            <a:ext cx="257175" cy="257175"/>
          </a:xfrm>
          <a:prstGeom prst="roundRect">
            <a:avLst>
              <a:gd name="adj" fmla="val 1481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44245" y="129259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5" name="Text 13"/>
          <p:cNvSpPr/>
          <p:nvPr/>
        </p:nvSpPr>
        <p:spPr>
          <a:xfrm>
            <a:off x="4857750" y="1763725"/>
            <a:ext cx="3629025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работают ИИ-агенты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4857750" y="1987972"/>
            <a:ext cx="36290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Девять агентов: сметчик, экономист, юрист, руководитель.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57750" y="2646313"/>
            <a:ext cx="257175" cy="21431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7200" y="3010644"/>
            <a:ext cx="4029075" cy="1732806"/>
          </a:xfrm>
          <a:prstGeom prst="roundRect">
            <a:avLst>
              <a:gd name="adj" fmla="val 329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57225" y="3182094"/>
            <a:ext cx="3357563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spc="-49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2475" dirty="0"/>
          </a:p>
        </p:txBody>
      </p:sp>
      <p:sp>
        <p:nvSpPr>
          <p:cNvPr id="20" name="Text 18"/>
          <p:cNvSpPr/>
          <p:nvPr/>
        </p:nvSpPr>
        <p:spPr>
          <a:xfrm>
            <a:off x="4029075" y="3182094"/>
            <a:ext cx="257175" cy="257175"/>
          </a:xfrm>
          <a:prstGeom prst="roundRect">
            <a:avLst>
              <a:gd name="adj" fmla="val 1481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043720" y="319673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547" dirty="0"/>
          </a:p>
        </p:txBody>
      </p:sp>
      <p:sp>
        <p:nvSpPr>
          <p:cNvPr id="22" name="Text 20"/>
          <p:cNvSpPr/>
          <p:nvPr/>
        </p:nvSpPr>
        <p:spPr>
          <a:xfrm>
            <a:off x="657225" y="3667869"/>
            <a:ext cx="3738753" cy="180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Размещение и безопасность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657225" y="3892116"/>
            <a:ext cx="36290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Локальные модели в контуре Заказчика. Данные не выходят.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7225" y="4550569"/>
            <a:ext cx="257175" cy="21431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657725" y="3010644"/>
            <a:ext cx="4029075" cy="1732806"/>
          </a:xfrm>
          <a:prstGeom prst="roundRect">
            <a:avLst>
              <a:gd name="adj" fmla="val 329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57750" y="3182094"/>
            <a:ext cx="3357563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spc="-49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2475" dirty="0"/>
          </a:p>
        </p:txBody>
      </p:sp>
      <p:sp>
        <p:nvSpPr>
          <p:cNvPr id="27" name="Text 25"/>
          <p:cNvSpPr/>
          <p:nvPr/>
        </p:nvSpPr>
        <p:spPr>
          <a:xfrm>
            <a:off x="8229600" y="3182094"/>
            <a:ext cx="257175" cy="257175"/>
          </a:xfrm>
          <a:prstGeom prst="roundRect">
            <a:avLst>
              <a:gd name="adj" fmla="val 1481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244245" y="319673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547" dirty="0"/>
          </a:p>
        </p:txBody>
      </p:sp>
      <p:sp>
        <p:nvSpPr>
          <p:cNvPr id="29" name="Text 27"/>
          <p:cNvSpPr/>
          <p:nvPr/>
        </p:nvSpPr>
        <p:spPr>
          <a:xfrm>
            <a:off x="4857750" y="3667869"/>
            <a:ext cx="3629025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Этапы и стоимость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4857750" y="3892116"/>
            <a:ext cx="373875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135 дней развёртывания. Цена от 22,5 млн ₽.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57750" y="4550569"/>
            <a:ext cx="257175" cy="21431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596549" y="4854178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09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24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19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Проблема: потери выявляются слишком поздно</a:t>
            </a:r>
            <a:endParaRPr lang="en-US" sz="1519" dirty="0"/>
          </a:p>
        </p:txBody>
      </p:sp>
      <p:sp>
        <p:nvSpPr>
          <p:cNvPr id="3" name="Text 1"/>
          <p:cNvSpPr/>
          <p:nvPr/>
        </p:nvSpPr>
        <p:spPr>
          <a:xfrm>
            <a:off x="457200" y="688591"/>
            <a:ext cx="82296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СтройИнтеллект формирует собственную расчётную оценку и показывает отклонения до того, как они станут потерями</a:t>
            </a:r>
            <a:endParaRPr lang="en-US" sz="844" dirty="0"/>
          </a:p>
        </p:txBody>
      </p:sp>
      <p:sp>
        <p:nvSpPr>
          <p:cNvPr id="4" name="Text 2"/>
          <p:cNvSpPr/>
          <p:nvPr/>
        </p:nvSpPr>
        <p:spPr>
          <a:xfrm>
            <a:off x="457200" y="1020775"/>
            <a:ext cx="4937671" cy="3722675"/>
          </a:xfrm>
          <a:prstGeom prst="roundRect">
            <a:avLst>
              <a:gd name="adj" fmla="val 153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7225" y="1192225"/>
            <a:ext cx="4537621" cy="542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Финансово значимые отклонения в сметах и предложениях подрядчиков часто выявляются уже после подписания договора. Ручная проверка зависит от времени и опыта конкретных специалистов, а опыт прошлых объектов используется фрагментарно.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7225" y="1794532"/>
            <a:ext cx="257175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7225" y="1958839"/>
            <a:ext cx="4537621" cy="542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СтройИнтеллект проверяет сметы, подрядчиков и экономику объекта, формируя </a:t>
            </a:r>
            <a:pPr algn="l" indent="0" marL="0">
              <a:lnSpc>
                <a:spcPts val="1207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собственную расчётную оценку</a:t>
            </a:r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 показывая отклонения </a:t>
            </a:r>
            <a:pPr algn="l" indent="0" marL="0">
              <a:lnSpc>
                <a:spcPts val="1207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того, как они станут потерями</a:t>
            </a:r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23471" y="1020775"/>
            <a:ext cx="3291818" cy="1164654"/>
          </a:xfrm>
          <a:prstGeom prst="roundRect">
            <a:avLst>
              <a:gd name="adj" fmla="val 490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52058" y="1474515"/>
            <a:ext cx="257175" cy="257175"/>
          </a:xfrm>
          <a:prstGeom prst="roundRect">
            <a:avLst>
              <a:gd name="adj" fmla="val 1481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66703" y="148915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1" name="Text 9"/>
          <p:cNvSpPr/>
          <p:nvPr/>
        </p:nvSpPr>
        <p:spPr>
          <a:xfrm>
            <a:off x="6123533" y="1428080"/>
            <a:ext cx="2321621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16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&gt;250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6123533" y="1670968"/>
            <a:ext cx="16783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ОБЪЕКТОВ В ОБУЧАЮЩЕЙ БАЗЕ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23471" y="2299729"/>
            <a:ext cx="3291818" cy="1164766"/>
          </a:xfrm>
          <a:prstGeom prst="roundRect">
            <a:avLst>
              <a:gd name="adj" fmla="val 490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52058" y="2753469"/>
            <a:ext cx="257175" cy="257175"/>
          </a:xfrm>
          <a:prstGeom prst="roundRect">
            <a:avLst>
              <a:gd name="adj" fmla="val 1481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66703" y="276811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547" dirty="0"/>
          </a:p>
        </p:txBody>
      </p:sp>
      <p:sp>
        <p:nvSpPr>
          <p:cNvPr id="16" name="Text 14"/>
          <p:cNvSpPr/>
          <p:nvPr/>
        </p:nvSpPr>
        <p:spPr>
          <a:xfrm>
            <a:off x="6123533" y="2707035"/>
            <a:ext cx="2663168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16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±3-5%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123533" y="2949922"/>
            <a:ext cx="21496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ТОЧНОСТЬ ОЦЕНКИ (ПРИ НАЛИЧИИ СМЕТЫ)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23471" y="3578796"/>
            <a:ext cx="3291818" cy="1164654"/>
          </a:xfrm>
          <a:prstGeom prst="roundRect">
            <a:avLst>
              <a:gd name="adj" fmla="val 490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752058" y="4032535"/>
            <a:ext cx="257175" cy="257175"/>
          </a:xfrm>
          <a:prstGeom prst="roundRect">
            <a:avLst>
              <a:gd name="adj" fmla="val 1481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766703" y="404718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547" dirty="0"/>
          </a:p>
        </p:txBody>
      </p:sp>
      <p:sp>
        <p:nvSpPr>
          <p:cNvPr id="21" name="Text 19"/>
          <p:cNvSpPr/>
          <p:nvPr/>
        </p:nvSpPr>
        <p:spPr>
          <a:xfrm>
            <a:off x="6123533" y="3986101"/>
            <a:ext cx="2148269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1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 мин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6123533" y="4228988"/>
            <a:ext cx="18126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ВРЕМЯ ОТВЕТА В РЕЖИМЕ ЭКСПРЕСС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96549" y="4854178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09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24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19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Команда из девяти ИИ-агентов</a:t>
            </a:r>
            <a:endParaRPr lang="en-US" sz="1519" dirty="0"/>
          </a:p>
        </p:txBody>
      </p:sp>
      <p:sp>
        <p:nvSpPr>
          <p:cNvPr id="3" name="Text 1"/>
          <p:cNvSpPr/>
          <p:nvPr/>
        </p:nvSpPr>
        <p:spPr>
          <a:xfrm>
            <a:off x="457200" y="688591"/>
            <a:ext cx="82296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Каждый агент закрывает свою зону финансово-технического контроля</a:t>
            </a:r>
            <a:endParaRPr lang="en-US" sz="844" dirty="0"/>
          </a:p>
        </p:txBody>
      </p:sp>
      <p:sp>
        <p:nvSpPr>
          <p:cNvPr id="4" name="Text 2"/>
          <p:cNvSpPr/>
          <p:nvPr/>
        </p:nvSpPr>
        <p:spPr>
          <a:xfrm>
            <a:off x="457200" y="1020775"/>
            <a:ext cx="2628900" cy="3322625"/>
          </a:xfrm>
          <a:prstGeom prst="roundRect">
            <a:avLst>
              <a:gd name="adj" fmla="val 217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020775"/>
            <a:ext cx="2628900" cy="3429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5788" y="1113644"/>
            <a:ext cx="157163" cy="157163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5788" y="111364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14388" y="1106500"/>
            <a:ext cx="2143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Сметчик и ПТО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5788" y="1477975"/>
            <a:ext cx="2371725" cy="679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Выявляют двойной учёт, завышенные коэффициенты и оценивают финансовое влияние расхождений. Сопоставляют позиции с опорной базой из 250+ объектов.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3771" y="4039436"/>
            <a:ext cx="594436" cy="200400"/>
          </a:xfrm>
          <a:prstGeom prst="roundRect">
            <a:avLst>
              <a:gd name="adj" fmla="val 14259"/>
            </a:avLst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85788" y="4050171"/>
            <a:ext cx="550404" cy="178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59"/>
              </a:lnSpc>
              <a:buNone/>
            </a:pPr>
            <a:r>
              <a:rPr lang="en-US" sz="800" b="1" spc="25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 агента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57550" y="1020775"/>
            <a:ext cx="2628900" cy="3322625"/>
          </a:xfrm>
          <a:prstGeom prst="roundRect">
            <a:avLst>
              <a:gd name="adj" fmla="val 217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57550" y="1020775"/>
            <a:ext cx="2628900" cy="3429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86138" y="1113644"/>
            <a:ext cx="157163" cy="157163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86138" y="111364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3614738" y="1106500"/>
            <a:ext cx="2143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Экономист и Юрист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6138" y="1477975"/>
            <a:ext cx="2371725" cy="679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Считают маржу в трёх сценариях, прогнозируют кассовые разрывы и анализируют риски договора подряда: авансы, штрафы, удержания.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64121" y="4039436"/>
            <a:ext cx="594436" cy="200400"/>
          </a:xfrm>
          <a:prstGeom prst="roundRect">
            <a:avLst>
              <a:gd name="adj" fmla="val 14259"/>
            </a:avLst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86138" y="4050171"/>
            <a:ext cx="550404" cy="178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59"/>
              </a:lnSpc>
              <a:buNone/>
            </a:pPr>
            <a:r>
              <a:rPr lang="en-US" sz="800" b="1" spc="25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агента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57900" y="1020775"/>
            <a:ext cx="2628900" cy="3322625"/>
          </a:xfrm>
          <a:prstGeom prst="roundRect">
            <a:avLst>
              <a:gd name="adj" fmla="val 217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57900" y="1020775"/>
            <a:ext cx="2628900" cy="3429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86488" y="1113644"/>
            <a:ext cx="157163" cy="157163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86488" y="111364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6415088" y="1106500"/>
            <a:ext cx="2143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Руководитель проекта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86488" y="1477975"/>
            <a:ext cx="2371725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Объединяет выводы всех агентов в единый сводный вывод с корректирующими мерами и влиянием на деньги. Готовит отчёт для ЛПР.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86488" y="4050171"/>
            <a:ext cx="1534344" cy="178929"/>
          </a:xfrm>
          <a:prstGeom prst="roundRect">
            <a:avLst>
              <a:gd name="adj" fmla="val 15970"/>
            </a:avLst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86488" y="4050171"/>
            <a:ext cx="1534344" cy="249849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25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агент + шина оркестрации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4457700"/>
            <a:ext cx="82296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57200" y="4461272"/>
            <a:ext cx="82296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3228" y="4457700"/>
            <a:ext cx="0" cy="28575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739878"/>
            <a:ext cx="82296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7916" y="4457700"/>
            <a:ext cx="0" cy="285750"/>
          </a:xfrm>
          <a:prstGeom prst="line">
            <a:avLst/>
          </a:prstGeom>
          <a:noFill/>
          <a:ln w="21431">
            <a:solidFill>
              <a:srgbClr val="FF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2931" y="453628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34" name="Text 32"/>
          <p:cNvSpPr/>
          <p:nvPr/>
        </p:nvSpPr>
        <p:spPr>
          <a:xfrm>
            <a:off x="792956" y="4536281"/>
            <a:ext cx="77724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вспомогательных агента: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поиск подрядчиков и нормализация документов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596549" y="4854178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09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24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19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Собственная расчётно-аналитическая оценка</a:t>
            </a:r>
            <a:endParaRPr lang="en-US" sz="1519" dirty="0"/>
          </a:p>
        </p:txBody>
      </p:sp>
      <p:sp>
        <p:nvSpPr>
          <p:cNvPr id="3" name="Text 1"/>
          <p:cNvSpPr/>
          <p:nvPr/>
        </p:nvSpPr>
        <p:spPr>
          <a:xfrm>
            <a:off x="457200" y="688591"/>
            <a:ext cx="82296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меняется при подключении СтройИнтеллекта к экспертизе предложений</a:t>
            </a:r>
            <a:endParaRPr lang="en-US" sz="844" dirty="0"/>
          </a:p>
        </p:txBody>
      </p:sp>
      <p:sp>
        <p:nvSpPr>
          <p:cNvPr id="4" name="Text 2"/>
          <p:cNvSpPr/>
          <p:nvPr/>
        </p:nvSpPr>
        <p:spPr>
          <a:xfrm>
            <a:off x="457200" y="1020775"/>
            <a:ext cx="4029075" cy="3722675"/>
          </a:xfrm>
          <a:prstGeom prst="roundRect">
            <a:avLst>
              <a:gd name="adj" fmla="val 153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020775"/>
            <a:ext cx="4029075" cy="495040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5788" y="1120787"/>
            <a:ext cx="377190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74" kern="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85788" y="1267234"/>
            <a:ext cx="3881628" cy="14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Ручная проверка предложений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14363" y="2593851"/>
            <a:ext cx="2514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⊖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1538" y="2586707"/>
            <a:ext cx="34575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Ручное сопоставление предложений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14363" y="2893888"/>
            <a:ext cx="2514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⊖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71538" y="2886745"/>
            <a:ext cx="34575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Разные наименования и единицы измерения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14363" y="3193926"/>
            <a:ext cx="2514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1538" y="3186782"/>
            <a:ext cx="34575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Сложно отличить рыночное движение цены от завышения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14363" y="3493963"/>
            <a:ext cx="2514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⊖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1538" y="3486820"/>
            <a:ext cx="34575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Опыт прошлых объектов не систематизирован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57725" y="1020775"/>
            <a:ext cx="4029075" cy="3722675"/>
          </a:xfrm>
          <a:prstGeom prst="roundRect">
            <a:avLst>
              <a:gd name="adj" fmla="val 153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57725" y="1020775"/>
            <a:ext cx="4029075" cy="49504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86313" y="1120787"/>
            <a:ext cx="377190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74" kern="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86313" y="1267234"/>
            <a:ext cx="3771900" cy="14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Расчётно-аналитическая оценка СтройИнтеллекта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14888" y="2608138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7745" y="2610996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5086350" y="2600995"/>
            <a:ext cx="3443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Приведение позиций к сопоставимому виду автоматически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14888" y="2901032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17745" y="2903890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5086350" y="2893888"/>
            <a:ext cx="3443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Выявление аномалий с указанием суммы влияния в рублях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14888" y="3193926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17745" y="3196783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5086350" y="3186782"/>
            <a:ext cx="3443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Независимая оценка стоимости на базе 250+ объектов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14888" y="3486820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17745" y="3489677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5086350" y="3479676"/>
            <a:ext cx="3443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Целевая цена для переговоров с подрядчиком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96549" y="4854178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09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24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19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Размещение в контуре Заказчика</a:t>
            </a:r>
            <a:endParaRPr lang="en-US" sz="1519" dirty="0"/>
          </a:p>
        </p:txBody>
      </p:sp>
      <p:sp>
        <p:nvSpPr>
          <p:cNvPr id="3" name="Text 1"/>
          <p:cNvSpPr/>
          <p:nvPr/>
        </p:nvSpPr>
        <p:spPr>
          <a:xfrm>
            <a:off x="457200" y="688591"/>
            <a:ext cx="82296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Полное разделение внутреннего и внешнего контуров обработки данных</a:t>
            </a:r>
            <a:endParaRPr lang="en-US" sz="844" dirty="0"/>
          </a:p>
        </p:txBody>
      </p:sp>
      <p:sp>
        <p:nvSpPr>
          <p:cNvPr id="4" name="Text 2"/>
          <p:cNvSpPr/>
          <p:nvPr/>
        </p:nvSpPr>
        <p:spPr>
          <a:xfrm>
            <a:off x="457200" y="1020775"/>
            <a:ext cx="4014788" cy="3143250"/>
          </a:xfrm>
          <a:prstGeom prst="roundRect">
            <a:avLst>
              <a:gd name="adj" fmla="val 181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220800"/>
            <a:ext cx="314325" cy="314325"/>
          </a:xfrm>
          <a:prstGeom prst="roundRect">
            <a:avLst>
              <a:gd name="adj" fmla="val 1212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8303" y="1243303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828" dirty="0"/>
          </a:p>
        </p:txBody>
      </p:sp>
      <p:sp>
        <p:nvSpPr>
          <p:cNvPr id="7" name="Text 5"/>
          <p:cNvSpPr/>
          <p:nvPr/>
        </p:nvSpPr>
        <p:spPr>
          <a:xfrm>
            <a:off x="685800" y="1663712"/>
            <a:ext cx="35575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Внутренний контур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85800" y="1878025"/>
            <a:ext cx="35575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44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ЛОКАЛЬНЫЕ МОДЕЛИ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2131628"/>
            <a:ext cx="3557588" cy="723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Все коммерчески чувствительные данные — сметы, договоры, базы — обрабатываются </a:t>
            </a:r>
            <a:pPr algn="l" indent="0" marL="0">
              <a:lnSpc>
                <a:spcPts val="1207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исключительно локальными моделями</a:t>
            </a:r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на вычислительных мощностях Заказчика. Плата за обращения к моделям не взимается. Данные не передаются за пределы контура.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" y="3722598"/>
            <a:ext cx="512676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5800" y="3735400"/>
            <a:ext cx="5126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Сметы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55626" y="3722598"/>
            <a:ext cx="690488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55626" y="3735400"/>
            <a:ext cx="6904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Договоры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03264" y="3722598"/>
            <a:ext cx="732346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003264" y="3735400"/>
            <a:ext cx="73234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Базы 250+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72013" y="1020775"/>
            <a:ext cx="4014788" cy="3143250"/>
          </a:xfrm>
          <a:prstGeom prst="roundRect">
            <a:avLst>
              <a:gd name="adj" fmla="val 181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00613" y="1220800"/>
            <a:ext cx="314325" cy="314325"/>
          </a:xfrm>
          <a:prstGeom prst="roundRect">
            <a:avLst>
              <a:gd name="adj" fmla="val 1212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23115" y="1243303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19" name="Text 17"/>
          <p:cNvSpPr/>
          <p:nvPr/>
        </p:nvSpPr>
        <p:spPr>
          <a:xfrm>
            <a:off x="4900613" y="1663712"/>
            <a:ext cx="355758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Внешний контур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900613" y="1878025"/>
            <a:ext cx="35575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44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ПОИСК ПОДРЯДЧИКОВ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00613" y="2131628"/>
            <a:ext cx="3557588" cy="723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Используется только для поиска подрядчиков. Передача данных выполняется </a:t>
            </a:r>
            <a:pPr algn="l" indent="0" marL="0">
              <a:lnSpc>
                <a:spcPts val="1207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только после анонимизации и маскирования</a:t>
            </a:r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по согласованному регламенту. Каждая передача фиксируется в журнале аудита.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00613" y="3722598"/>
            <a:ext cx="926567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00613" y="3735400"/>
            <a:ext cx="92656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Анонимизация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884329" y="3722598"/>
            <a:ext cx="724756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884329" y="3735400"/>
            <a:ext cx="724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Регламент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666235" y="3722598"/>
            <a:ext cx="990526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666235" y="3735400"/>
            <a:ext cx="99052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Журнал аудита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596549" y="4854178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09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24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19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Порядок внедрения</a:t>
            </a:r>
            <a:endParaRPr lang="en-US" sz="1519" dirty="0"/>
          </a:p>
        </p:txBody>
      </p:sp>
      <p:sp>
        <p:nvSpPr>
          <p:cNvPr id="3" name="Text 1"/>
          <p:cNvSpPr/>
          <p:nvPr/>
        </p:nvSpPr>
        <p:spPr>
          <a:xfrm>
            <a:off x="457200" y="688591"/>
            <a:ext cx="86360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135 дней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от развёртывания до приёмки</a:t>
            </a:r>
            <a:endParaRPr lang="en-US" sz="844" dirty="0"/>
          </a:p>
        </p:txBody>
      </p:sp>
      <p:sp>
        <p:nvSpPr>
          <p:cNvPr id="4" name="Text 2"/>
          <p:cNvSpPr/>
          <p:nvPr/>
        </p:nvSpPr>
        <p:spPr>
          <a:xfrm>
            <a:off x="1443038" y="1277950"/>
            <a:ext cx="6257925" cy="2857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3235337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Итог: 135 календарных дней. Запуск в опытную эксплуатацию.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96549" y="4854178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09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228725" y="1077925"/>
            <a:ext cx="428625" cy="428625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28725" y="1077925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1635137"/>
            <a:ext cx="1971675" cy="1400175"/>
          </a:xfrm>
          <a:prstGeom prst="roundRect">
            <a:avLst>
              <a:gd name="adj" fmla="val 408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7215" y="1753224"/>
            <a:ext cx="1731645" cy="196025"/>
          </a:xfrm>
          <a:prstGeom prst="roundRect">
            <a:avLst>
              <a:gd name="adj" fmla="val 14577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0075" y="1763725"/>
            <a:ext cx="16859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2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45 ДНЕЙ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0075" y="2024472"/>
            <a:ext cx="1685925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Развёртывание и база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0075" y="2211549"/>
            <a:ext cx="1685925" cy="510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Установка локальных моделей, настройка агентов, наполнение опорной базы из истории Заказчика.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14700" y="1077925"/>
            <a:ext cx="428625" cy="428625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14700" y="1077925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543175" y="1635137"/>
            <a:ext cx="1971675" cy="1400175"/>
          </a:xfrm>
          <a:prstGeom prst="roundRect">
            <a:avLst>
              <a:gd name="adj" fmla="val 408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63190" y="1753224"/>
            <a:ext cx="1731645" cy="196025"/>
          </a:xfrm>
          <a:prstGeom prst="roundRect">
            <a:avLst>
              <a:gd name="adj" fmla="val 14577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86050" y="1763725"/>
            <a:ext cx="16859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2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40 ДНЕЙ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86050" y="2024472"/>
            <a:ext cx="1685925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Расчётный модуль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86050" y="2211549"/>
            <a:ext cx="1685925" cy="510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Разбор документов, расчёт себестоимости и финансовой модели в трёх сценариях.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00675" y="1077925"/>
            <a:ext cx="428625" cy="428625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400675" y="1077925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629150" y="1635137"/>
            <a:ext cx="1971675" cy="1400175"/>
          </a:xfrm>
          <a:prstGeom prst="roundRect">
            <a:avLst>
              <a:gd name="adj" fmla="val 408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49165" y="1753224"/>
            <a:ext cx="1731645" cy="196025"/>
          </a:xfrm>
          <a:prstGeom prst="roundRect">
            <a:avLst>
              <a:gd name="adj" fmla="val 14577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72025" y="1763725"/>
            <a:ext cx="16859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2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 ДНЕЙ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72025" y="2024472"/>
            <a:ext cx="1685925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Сравнительный контур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72025" y="2211549"/>
            <a:ext cx="1685925" cy="510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Сопоставление предложений, выявление аномалий, калибровка оценки под специфику объекта.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486650" y="1077925"/>
            <a:ext cx="428625" cy="428625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486650" y="1077925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715125" y="1635137"/>
            <a:ext cx="1971675" cy="1400175"/>
          </a:xfrm>
          <a:prstGeom prst="roundRect">
            <a:avLst>
              <a:gd name="adj" fmla="val 408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835140" y="1753224"/>
            <a:ext cx="1731645" cy="196025"/>
          </a:xfrm>
          <a:prstGeom prst="roundRect">
            <a:avLst>
              <a:gd name="adj" fmla="val 14577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858000" y="1763725"/>
            <a:ext cx="16859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2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 ДНЕЙ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0" y="2024472"/>
            <a:ext cx="1685925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Интерфейс и приёмка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58000" y="2211549"/>
            <a:ext cx="1685925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Веб-приложение, интеграция с 1С и СМР, обучение пользователей.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24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19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Экономика проекта</a:t>
            </a:r>
            <a:endParaRPr lang="en-US" sz="1519" dirty="0"/>
          </a:p>
        </p:txBody>
      </p:sp>
      <p:sp>
        <p:nvSpPr>
          <p:cNvPr id="3" name="Text 1"/>
          <p:cNvSpPr/>
          <p:nvPr/>
        </p:nvSpPr>
        <p:spPr>
          <a:xfrm>
            <a:off x="457200" y="688591"/>
            <a:ext cx="82296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Базовая цена промышленного внедрения для строительной компании</a:t>
            </a:r>
            <a:endParaRPr lang="en-US" sz="844" dirty="0"/>
          </a:p>
        </p:txBody>
      </p:sp>
      <p:sp>
        <p:nvSpPr>
          <p:cNvPr id="4" name="Text 2"/>
          <p:cNvSpPr/>
          <p:nvPr/>
        </p:nvSpPr>
        <p:spPr>
          <a:xfrm>
            <a:off x="457200" y="1020775"/>
            <a:ext cx="5429250" cy="35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Цена включает развёртывание в контуре Заказчика, обучение и 12 месяцев гарантийного сопровождения. Лицензионных платежей и ограничений на число объектов нет.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489360"/>
            <a:ext cx="1950244" cy="1500188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2938" y="1660810"/>
            <a:ext cx="257175" cy="257175"/>
          </a:xfrm>
          <a:prstGeom prst="roundRect">
            <a:avLst>
              <a:gd name="adj" fmla="val 1481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7582" y="167545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547" dirty="0"/>
          </a:p>
        </p:txBody>
      </p:sp>
      <p:sp>
        <p:nvSpPr>
          <p:cNvPr id="8" name="Text 6"/>
          <p:cNvSpPr/>
          <p:nvPr/>
        </p:nvSpPr>
        <p:spPr>
          <a:xfrm>
            <a:off x="642938" y="2046573"/>
            <a:ext cx="1578769" cy="291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2025" b="1" spc="-40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22,5 млн ₽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642938" y="2402309"/>
            <a:ext cx="1578769" cy="14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spc="37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СТОИМОСТЬ ВНЕДРЕНИЯ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2938" y="2612380"/>
            <a:ext cx="1578769" cy="205718"/>
          </a:xfrm>
          <a:prstGeom prst="rect">
            <a:avLst/>
          </a:prstGeom>
          <a:noFill/>
          <a:ln/>
        </p:spPr>
        <p:txBody>
          <a:bodyPr wrap="none" lIns="0" tIns="85725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НДС 22%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50319" y="1489360"/>
            <a:ext cx="1950244" cy="1500188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36056" y="1660810"/>
            <a:ext cx="257175" cy="257175"/>
          </a:xfrm>
          <a:prstGeom prst="roundRect">
            <a:avLst>
              <a:gd name="adj" fmla="val 1481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50701" y="167545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14" name="Text 12"/>
          <p:cNvSpPr/>
          <p:nvPr/>
        </p:nvSpPr>
        <p:spPr>
          <a:xfrm>
            <a:off x="2736056" y="2046573"/>
            <a:ext cx="1578769" cy="291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2025" b="1" spc="-40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 месяцев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2736056" y="2402309"/>
            <a:ext cx="1578769" cy="184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spc="37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ГАРАНТИЙНОЕ СОПРОВОЖДЕНИЕ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36056" y="2614389"/>
            <a:ext cx="1578769" cy="203708"/>
          </a:xfrm>
          <a:prstGeom prst="rect">
            <a:avLst/>
          </a:prstGeom>
          <a:noFill/>
          <a:ln/>
        </p:spPr>
        <p:txBody>
          <a:bodyPr wrap="none" lIns="0" tIns="85725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Включено в цену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43438" y="1489360"/>
            <a:ext cx="1950244" cy="1500188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29175" y="1660810"/>
            <a:ext cx="257175" cy="257175"/>
          </a:xfrm>
          <a:prstGeom prst="roundRect">
            <a:avLst>
              <a:gd name="adj" fmla="val 1481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43820" y="167545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547" dirty="0"/>
          </a:p>
        </p:txBody>
      </p:sp>
      <p:sp>
        <p:nvSpPr>
          <p:cNvPr id="20" name="Text 18"/>
          <p:cNvSpPr/>
          <p:nvPr/>
        </p:nvSpPr>
        <p:spPr>
          <a:xfrm>
            <a:off x="4829175" y="2046573"/>
            <a:ext cx="1578769" cy="291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2025" b="1" spc="-40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4829175" y="2402309"/>
            <a:ext cx="1578769" cy="14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spc="37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ЛИЦЕНЗИОННЫЕ ПЛАТЕЖИ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29175" y="2612380"/>
            <a:ext cx="1578769" cy="205718"/>
          </a:xfrm>
          <a:prstGeom prst="rect">
            <a:avLst/>
          </a:prstGeom>
          <a:noFill/>
          <a:ln/>
        </p:spPr>
        <p:txBody>
          <a:bodyPr wrap="none" lIns="0" tIns="85725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подписки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736556" y="1489360"/>
            <a:ext cx="1950244" cy="1500188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922294" y="1660810"/>
            <a:ext cx="257175" cy="257175"/>
          </a:xfrm>
          <a:prstGeom prst="roundRect">
            <a:avLst>
              <a:gd name="adj" fmla="val 1481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936938" y="167545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6" name="Text 24"/>
          <p:cNvSpPr/>
          <p:nvPr/>
        </p:nvSpPr>
        <p:spPr>
          <a:xfrm>
            <a:off x="6922294" y="2046573"/>
            <a:ext cx="1578769" cy="291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2025" b="1" spc="-40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6922294" y="2402309"/>
            <a:ext cx="1578769" cy="14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spc="37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ОГРАНИЧЕНИЯ НА ОБЪЕКТЫ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922294" y="2612380"/>
            <a:ext cx="1578769" cy="205718"/>
          </a:xfrm>
          <a:prstGeom prst="rect">
            <a:avLst/>
          </a:prstGeom>
          <a:noFill/>
          <a:ln/>
        </p:spPr>
        <p:txBody>
          <a:bodyPr wrap="none" lIns="0" tIns="85725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лимитов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3197386"/>
            <a:ext cx="57150" cy="57150"/>
          </a:xfrm>
          <a:prstGeom prst="ellipse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0075" y="3160998"/>
            <a:ext cx="8086725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Сравните с потерями на одном объекте: как правило, они </a:t>
            </a:r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выше 22,5 млн ₽</a:t>
            </a:r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96549" y="4854178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09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428750" cy="51435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16200000">
            <a:off x="142875" y="2486025"/>
            <a:ext cx="1143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162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1350"/>
              </a:lnSpc>
              <a:buNone/>
            </a:pPr>
            <a:r>
              <a:rPr lang="en-US" sz="1350" b="1" spc="162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1350"/>
              </a:lnSpc>
              <a:buNone/>
            </a:pPr>
            <a:r>
              <a:rPr lang="en-US" sz="1350" b="1" spc="16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977390" y="1380074"/>
            <a:ext cx="1169410" cy="196025"/>
          </a:xfrm>
          <a:prstGeom prst="roundRect">
            <a:avLst>
              <a:gd name="adj" fmla="val 14577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000250" y="1390576"/>
            <a:ext cx="11236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СЛЕДУЮЩИЙ ШАГ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000250" y="1694185"/>
            <a:ext cx="4714875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Проведём расчёт на вашем закрытом объекте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00250" y="2379985"/>
            <a:ext cx="4429125" cy="362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9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Предоставьте сметы, КП и фактическую себестоимость. Мы вернём расчёт и список найденных отклонений в течение 5 рабочих дней.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00250" y="2967112"/>
            <a:ext cx="5143500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00250" y="3174281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017395" y="3191426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2000250" y="3460031"/>
            <a:ext cx="207188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ТЕЛЕФОН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00250" y="3606478"/>
            <a:ext cx="1640127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spc="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+7 (495) 000-00-00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3790876" y="3174281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808021" y="3191426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3790876" y="3460031"/>
            <a:ext cx="249942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ПОЧТА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790876" y="3606478"/>
            <a:ext cx="1640244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spc="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sales@7rl.tech</a:t>
            </a:r>
            <a:endParaRPr lang="en-US" sz="844" dirty="0"/>
          </a:p>
        </p:txBody>
      </p:sp>
      <p:sp>
        <p:nvSpPr>
          <p:cNvPr id="17" name="Text 15"/>
          <p:cNvSpPr/>
          <p:nvPr/>
        </p:nvSpPr>
        <p:spPr>
          <a:xfrm>
            <a:off x="5581613" y="3174281"/>
            <a:ext cx="200025" cy="200025"/>
          </a:xfrm>
          <a:prstGeom prst="roundRect">
            <a:avLst>
              <a:gd name="adj" fmla="val 19048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598758" y="3191426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5581613" y="3460031"/>
            <a:ext cx="249942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САЙТ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81613" y="3606478"/>
            <a:ext cx="1999536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spc="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7rl.tech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2000250" y="4657725"/>
            <a:ext cx="223259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spc="8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1350"/>
              </a:lnSpc>
              <a:buNone/>
            </a:pPr>
            <a:r>
              <a:rPr lang="en-US" sz="1350" b="1" spc="8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1350"/>
              </a:lnSpc>
              <a:buNone/>
            </a:pPr>
            <a:r>
              <a:rPr lang="en-US" sz="1350" b="1" spc="8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2026-08-11T19:09:22Z</dcterms:created>
  <dcterms:modified xsi:type="dcterms:W3CDTF">2026-08-11T19:09:22Z</dcterms:modified>
</cp:coreProperties>
</file>