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428750" cy="51435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16200000">
            <a:off x="142875" y="2478881"/>
            <a:ext cx="114300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20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0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0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463" dirty="0"/>
          </a:p>
        </p:txBody>
      </p:sp>
      <p:sp>
        <p:nvSpPr>
          <p:cNvPr id="4" name="Shape 2"/>
          <p:cNvSpPr/>
          <p:nvPr/>
        </p:nvSpPr>
        <p:spPr>
          <a:xfrm>
            <a:off x="1828800" y="458986"/>
            <a:ext cx="691515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257175"/>
            <a:ext cx="599583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КЕЙСЫ ·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38926" y="259854"/>
            <a:ext cx="905024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V.1 · АВГУСТ 2025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1828800" y="734020"/>
            <a:ext cx="6915150" cy="486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44"/>
              </a:lnSpc>
              <a:buNone/>
            </a:pPr>
            <a:r>
              <a:rPr lang="en-US" sz="3375" b="1" spc="-8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 </a:t>
            </a:r>
            <a:pPr algn="l" indent="0" marL="0">
              <a:lnSpc>
                <a:spcPts val="3544"/>
              </a:lnSpc>
              <a:buNone/>
            </a:pPr>
            <a:r>
              <a:rPr lang="en-US" sz="3375" b="1" spc="-84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действии</a:t>
            </a:r>
            <a:endParaRPr lang="en-US" sz="3375" dirty="0"/>
          </a:p>
        </p:txBody>
      </p:sp>
      <p:sp>
        <p:nvSpPr>
          <p:cNvPr id="8" name="Text 6"/>
          <p:cNvSpPr/>
          <p:nvPr/>
        </p:nvSpPr>
        <p:spPr>
          <a:xfrm>
            <a:off x="1828800" y="1355527"/>
            <a:ext cx="571500" cy="2857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28800" y="1526977"/>
            <a:ext cx="542925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исходных данных к предотвращённым потерям. Шесть типовых сценариев, три детальных кейса, один лид-магнит.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2087761"/>
            <a:ext cx="691515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3098602"/>
            <a:ext cx="691515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234208"/>
            <a:ext cx="3413641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1828800" y="2662833"/>
            <a:ext cx="2730913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сценария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828800" y="2844998"/>
            <a:ext cx="271051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ДЕТАЛЬНЫХ КЕЙСА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37347" y="2234208"/>
            <a:ext cx="0" cy="717947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2369" y="2234208"/>
            <a:ext cx="1955043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95%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4312369" y="2705695"/>
            <a:ext cx="19550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ТОЧНОСТЬ ИЗВЛЕЧЕНИЯ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42435" y="2234208"/>
            <a:ext cx="0" cy="717947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7457" y="2234208"/>
            <a:ext cx="2126382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70%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6617457" y="2705695"/>
            <a:ext cx="22361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ПОЛНОТА РЕЕСТРА НАРУШЕНИЙ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828800" y="4468416"/>
            <a:ext cx="7315200" cy="344147"/>
          </a:xfrm>
          <a:prstGeom prst="rect">
            <a:avLst/>
          </a:prstGeom>
          <a:noFill/>
          <a:ln/>
        </p:spPr>
        <p:txBody>
          <a:bodyPr wrap="square" lIns="0" tIns="1285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 КРАСНЫХ ЛИНИЙ · КЕЙСЫ И СОЦИАЛЬНЫЕ ДОКАЗАТЕЛЬСТВА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28750" y="4857750"/>
            <a:ext cx="771525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1428750" y="4861322"/>
            <a:ext cx="771525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4950619"/>
            <a:ext cx="35705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13623" y="4950619"/>
            <a:ext cx="29845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КЕЙСЫ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08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50184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731341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СОДЕРЖАНИЕ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27752" y="288429"/>
            <a:ext cx="551498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143875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01038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58200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15363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050" y="662583"/>
            <a:ext cx="8636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внутри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400050" y="959718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Четыре блока кейсов: от сметы до договорных рисков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00050" y="1299046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0050" y="2077715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0050" y="1459781"/>
            <a:ext cx="914400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144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143000" y="1511238"/>
            <a:ext cx="6329591" cy="1968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сметы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1143000" y="1735485"/>
            <a:ext cx="5832729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Сметный контроль, двойной учёт, коэффициенты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15125" y="1499071"/>
            <a:ext cx="2028825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15125" y="1634803"/>
            <a:ext cx="2028825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ВОР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15125" y="1770534"/>
            <a:ext cx="17749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КОЭФФИЦИЕНТЫ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30964" y="1556221"/>
            <a:ext cx="31298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43900" y="1799109"/>
            <a:ext cx="78581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451056" y="1799109"/>
            <a:ext cx="78581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558213" y="1799109"/>
            <a:ext cx="78581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665369" y="1799109"/>
            <a:ext cx="78581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00050" y="286352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0050" y="2242021"/>
            <a:ext cx="914400" cy="489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144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1143000" y="2293479"/>
            <a:ext cx="5670709" cy="1968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Выбор подрядчика</a:t>
            </a:r>
            <a:endParaRPr lang="en-US" sz="1238" dirty="0"/>
          </a:p>
        </p:txBody>
      </p:sp>
      <p:sp>
        <p:nvSpPr>
          <p:cNvPr id="27" name="Text 25"/>
          <p:cNvSpPr/>
          <p:nvPr/>
        </p:nvSpPr>
        <p:spPr>
          <a:xfrm>
            <a:off x="1143000" y="2517725"/>
            <a:ext cx="5832729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КП, приведение к сопоставимому виду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15125" y="2281312"/>
            <a:ext cx="2028825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КП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15125" y="2417043"/>
            <a:ext cx="1929259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МЕДИАНА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15125" y="2552774"/>
            <a:ext cx="177495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ЦЕЛЕВАЯ ЦЕНА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30964" y="2338462"/>
            <a:ext cx="31298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43900" y="2581349"/>
            <a:ext cx="78581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451056" y="2581349"/>
            <a:ext cx="78581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558213" y="2581349"/>
            <a:ext cx="78581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665369" y="2581349"/>
            <a:ext cx="78581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00050" y="3649340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0050" y="3027834"/>
            <a:ext cx="914400" cy="489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144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1143000" y="3079291"/>
            <a:ext cx="5832729" cy="196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Экономика и финансирование</a:t>
            </a:r>
            <a:endParaRPr lang="en-US" sz="1238" dirty="0"/>
          </a:p>
        </p:txBody>
      </p:sp>
      <p:sp>
        <p:nvSpPr>
          <p:cNvPr id="39" name="Text 37"/>
          <p:cNvSpPr/>
          <p:nvPr/>
        </p:nvSpPr>
        <p:spPr>
          <a:xfrm>
            <a:off x="1143000" y="3303538"/>
            <a:ext cx="5832729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Маржа в 3 сценариях, БДДС, кассовые разрывы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15125" y="3067124"/>
            <a:ext cx="2028825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МАРЖА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715125" y="3202856"/>
            <a:ext cx="2028825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БДДС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15125" y="3338587"/>
            <a:ext cx="19292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ЭСКРОУ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430964" y="3124274"/>
            <a:ext cx="31298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06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343900" y="3367162"/>
            <a:ext cx="78581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451056" y="3367162"/>
            <a:ext cx="78581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558213" y="3367162"/>
            <a:ext cx="78581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665369" y="3367162"/>
            <a:ext cx="78581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400050" y="4435153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0050" y="3813646"/>
            <a:ext cx="914400" cy="489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144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1143000" y="3865104"/>
            <a:ext cx="5832729" cy="196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Договорные риски и лид-магнит</a:t>
            </a:r>
            <a:endParaRPr lang="en-US" sz="1238" dirty="0"/>
          </a:p>
        </p:txBody>
      </p:sp>
      <p:sp>
        <p:nvSpPr>
          <p:cNvPr id="51" name="Text 49"/>
          <p:cNvSpPr/>
          <p:nvPr/>
        </p:nvSpPr>
        <p:spPr>
          <a:xfrm>
            <a:off x="1143000" y="4089350"/>
            <a:ext cx="5832729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Авансы, штрафы, удержания. Бесплатный пилот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715125" y="3852937"/>
            <a:ext cx="1929259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ДОГОВОР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715125" y="3988668"/>
            <a:ext cx="2028825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NDA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715125" y="4124399"/>
            <a:ext cx="20288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ПИЛОТ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30964" y="3910087"/>
            <a:ext cx="31298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07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343900" y="4152974"/>
            <a:ext cx="78581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451056" y="4152974"/>
            <a:ext cx="78581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8558213" y="4152974"/>
            <a:ext cx="78581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8665369" y="4152974"/>
            <a:ext cx="78581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0" y="4861322"/>
            <a:ext cx="91440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0050" y="4950619"/>
            <a:ext cx="413053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544876" y="4950619"/>
            <a:ext cx="385327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СОДЕРЖАНИЕ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08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50184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731341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· СЦЕНАРИИ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27752" y="288429"/>
            <a:ext cx="551498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143875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01038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58200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15363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050" y="662583"/>
            <a:ext cx="8636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Шесть типовых сценариев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400050" y="959718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сценарий — связка: что подаём на вход, что анализирует система, что получаем на выходе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0050" y="1266899"/>
            <a:ext cx="2714625" cy="1657350"/>
          </a:xfrm>
          <a:prstGeom prst="roundRect">
            <a:avLst>
              <a:gd name="adj" fmla="val 459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60799" y="1352624"/>
            <a:ext cx="4144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FF0000">
                    <a:alpha val="1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2925" y="1395487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9712" y="140227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814388" y="1415132"/>
            <a:ext cx="215741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Сметный контроль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542925" y="1681237"/>
            <a:ext cx="2428875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2925" y="1788393"/>
            <a:ext cx="4997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98103" y="1774106"/>
            <a:ext cx="20736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смета и ВОР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2925" y="1963415"/>
            <a:ext cx="6478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24570" y="1949128"/>
            <a:ext cx="19472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двойной учёт, коэффициенты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2925" y="2138437"/>
            <a:ext cx="7772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85304" y="2124149"/>
            <a:ext cx="17864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потенциальных переплат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14688" y="1266899"/>
            <a:ext cx="2714625" cy="1657350"/>
          </a:xfrm>
          <a:prstGeom prst="roundRect">
            <a:avLst>
              <a:gd name="adj" fmla="val 459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75437" y="1352624"/>
            <a:ext cx="4144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FF0000">
                    <a:alpha val="1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357563" y="1395487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64349" y="140227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3629025" y="1415132"/>
            <a:ext cx="215741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Снабжение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3357563" y="1681237"/>
            <a:ext cx="2428875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57563" y="1788393"/>
            <a:ext cx="4997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712741" y="1774106"/>
            <a:ext cx="20736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спецификация материалов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57563" y="1963415"/>
            <a:ext cx="6478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39208" y="1949128"/>
            <a:ext cx="19472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сроки поставки, опорные цены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57563" y="2138437"/>
            <a:ext cx="7772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999942" y="2124149"/>
            <a:ext cx="17864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критические сроки заказа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29325" y="1266899"/>
            <a:ext cx="2714625" cy="1657350"/>
          </a:xfrm>
          <a:prstGeom prst="roundRect">
            <a:avLst>
              <a:gd name="adj" fmla="val 459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290074" y="1352624"/>
            <a:ext cx="4144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FF0000">
                    <a:alpha val="1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172200" y="1395487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178987" y="140227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266" dirty="0"/>
          </a:p>
        </p:txBody>
      </p:sp>
      <p:sp>
        <p:nvSpPr>
          <p:cNvPr id="39" name="Text 37"/>
          <p:cNvSpPr/>
          <p:nvPr/>
        </p:nvSpPr>
        <p:spPr>
          <a:xfrm>
            <a:off x="6443663" y="1415132"/>
            <a:ext cx="215741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КП</a:t>
            </a:r>
            <a:endParaRPr lang="en-US" sz="844" dirty="0"/>
          </a:p>
        </p:txBody>
      </p:sp>
      <p:sp>
        <p:nvSpPr>
          <p:cNvPr id="40" name="Text 38"/>
          <p:cNvSpPr/>
          <p:nvPr/>
        </p:nvSpPr>
        <p:spPr>
          <a:xfrm>
            <a:off x="6172200" y="1681237"/>
            <a:ext cx="2428875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72200" y="1788393"/>
            <a:ext cx="4997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ВХОД: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27378" y="1774106"/>
            <a:ext cx="20736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3+ предложения подрядчиков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72200" y="1963415"/>
            <a:ext cx="6478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АНАЛИЗ: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53845" y="1949128"/>
            <a:ext cx="19472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приведение к сопоставимому виду, медиана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72200" y="2263453"/>
            <a:ext cx="7772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814579" y="2249165"/>
            <a:ext cx="17864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целевая цена для переговоров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00050" y="3024262"/>
            <a:ext cx="2714625" cy="1657350"/>
          </a:xfrm>
          <a:prstGeom prst="roundRect">
            <a:avLst>
              <a:gd name="adj" fmla="val 459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660799" y="3109987"/>
            <a:ext cx="4144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FF0000">
                    <a:alpha val="1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42925" y="3152849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49712" y="315963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266" dirty="0"/>
          </a:p>
        </p:txBody>
      </p:sp>
      <p:sp>
        <p:nvSpPr>
          <p:cNvPr id="51" name="Text 49"/>
          <p:cNvSpPr/>
          <p:nvPr/>
        </p:nvSpPr>
        <p:spPr>
          <a:xfrm>
            <a:off x="814388" y="3172495"/>
            <a:ext cx="215741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Финансовая модель</a:t>
            </a:r>
            <a:endParaRPr lang="en-US" sz="844" dirty="0"/>
          </a:p>
        </p:txBody>
      </p:sp>
      <p:sp>
        <p:nvSpPr>
          <p:cNvPr id="52" name="Text 50"/>
          <p:cNvSpPr/>
          <p:nvPr/>
        </p:nvSpPr>
        <p:spPr>
          <a:xfrm>
            <a:off x="542925" y="3438599"/>
            <a:ext cx="2428875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42925" y="3545756"/>
            <a:ext cx="4997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ВХОД: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98103" y="3531468"/>
            <a:ext cx="20736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параметры кредита и эскроу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42925" y="3720778"/>
            <a:ext cx="6478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АНАЛИЗ: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024570" y="3706490"/>
            <a:ext cx="19472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выборка кредита, БДДС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42925" y="3895799"/>
            <a:ext cx="7772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РЕЗУЛЬТАТ: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185304" y="3881512"/>
            <a:ext cx="17864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 кассовых разрывов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214688" y="3024262"/>
            <a:ext cx="2714625" cy="1657350"/>
          </a:xfrm>
          <a:prstGeom prst="roundRect">
            <a:avLst>
              <a:gd name="adj" fmla="val 459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475437" y="3109987"/>
            <a:ext cx="4144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FF0000">
                    <a:alpha val="1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3357563" y="3152849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3364349" y="315963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63" name="Text 61"/>
          <p:cNvSpPr/>
          <p:nvPr/>
        </p:nvSpPr>
        <p:spPr>
          <a:xfrm>
            <a:off x="3629025" y="3172495"/>
            <a:ext cx="215741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Договорной аудит</a:t>
            </a:r>
            <a:endParaRPr lang="en-US" sz="844" dirty="0"/>
          </a:p>
        </p:txBody>
      </p:sp>
      <p:sp>
        <p:nvSpPr>
          <p:cNvPr id="64" name="Text 62"/>
          <p:cNvSpPr/>
          <p:nvPr/>
        </p:nvSpPr>
        <p:spPr>
          <a:xfrm>
            <a:off x="3357563" y="3438599"/>
            <a:ext cx="2428875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3357563" y="3545756"/>
            <a:ext cx="4997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ВХОД: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712741" y="3531468"/>
            <a:ext cx="20736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проект договора подряда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357563" y="3720778"/>
            <a:ext cx="6478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АНАЛИЗ: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839208" y="3706490"/>
            <a:ext cx="19472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аванс, штрафы, удержания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357563" y="3895799"/>
            <a:ext cx="7772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РЕЗУЛЬТАТ: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999942" y="3881512"/>
            <a:ext cx="1830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перечень рисков и рекомендации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029325" y="3024262"/>
            <a:ext cx="2714625" cy="1657350"/>
          </a:xfrm>
          <a:prstGeom prst="roundRect">
            <a:avLst>
              <a:gd name="adj" fmla="val 459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8290074" y="3109987"/>
            <a:ext cx="4144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FF0000">
                    <a:alpha val="1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6172200" y="3152849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6178987" y="315963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75" name="Text 73"/>
          <p:cNvSpPr/>
          <p:nvPr/>
        </p:nvSpPr>
        <p:spPr>
          <a:xfrm>
            <a:off x="6443663" y="3172495"/>
            <a:ext cx="215741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Контроль исполнения</a:t>
            </a:r>
            <a:endParaRPr lang="en-US" sz="844" dirty="0"/>
          </a:p>
        </p:txBody>
      </p:sp>
      <p:sp>
        <p:nvSpPr>
          <p:cNvPr id="76" name="Text 74"/>
          <p:cNvSpPr/>
          <p:nvPr/>
        </p:nvSpPr>
        <p:spPr>
          <a:xfrm>
            <a:off x="6172200" y="3438599"/>
            <a:ext cx="2428875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6172200" y="3545756"/>
            <a:ext cx="4997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ВХОД: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527378" y="3531468"/>
            <a:ext cx="20736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формы КС-2, КС-3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172200" y="3720778"/>
            <a:ext cx="6478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АНАЛИЗ: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653845" y="3706490"/>
            <a:ext cx="19472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финансовое влияние расхождений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172200" y="3895799"/>
            <a:ext cx="7772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РЕЗУЛЬТАТ: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814579" y="3881512"/>
            <a:ext cx="17864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влияние на маржу проекта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Shape 82"/>
          <p:cNvSpPr/>
          <p:nvPr/>
        </p:nvSpPr>
        <p:spPr>
          <a:xfrm>
            <a:off x="0" y="4861322"/>
            <a:ext cx="91440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00050" y="4950619"/>
            <a:ext cx="420164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615979" y="4950619"/>
            <a:ext cx="3782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СЦЕНАРИИ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08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50184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731341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· КЕЙС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27752" y="288429"/>
            <a:ext cx="551498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143875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01038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58200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15363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050" y="662583"/>
            <a:ext cx="863600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Кейс: проверка завышения расценок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400050" y="959718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Генподрядчик прислал смету на 2 000 позиций — СтройИнтеллект нашёл переплату за 1 час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0050" y="1266899"/>
            <a:ext cx="2695538" cy="3357563"/>
          </a:xfrm>
          <a:prstGeom prst="roundRect">
            <a:avLst>
              <a:gd name="adj" fmla="val 282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0050" y="1266899"/>
            <a:ext cx="2695538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4350" y="134548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4" name="Text 12"/>
          <p:cNvSpPr/>
          <p:nvPr/>
        </p:nvSpPr>
        <p:spPr>
          <a:xfrm>
            <a:off x="742950" y="1354410"/>
            <a:ext cx="223833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8638" y="1709812"/>
            <a:ext cx="2566950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ИСХОДНЫЕ ДАННЫЕ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28638" y="1926022"/>
            <a:ext cx="256695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16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2 000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28638" y="2154622"/>
            <a:ext cx="2566950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ПОЗИЦИЙ В СМЕТЕ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638" y="2436800"/>
            <a:ext cx="2438363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8638" y="2551100"/>
            <a:ext cx="655058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2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ФОРМАТ: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19882" y="2543956"/>
            <a:ext cx="19471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Excel + PDF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8638" y="2715741"/>
            <a:ext cx="559172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2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ОБЪЁМ: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54249" y="2708597"/>
            <a:ext cx="20127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850 МБ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8638" y="2880382"/>
            <a:ext cx="469523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2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64952" y="2873239"/>
            <a:ext cx="21020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рабочий день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8638" y="3045023"/>
            <a:ext cx="822369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2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ИСТОЧНИК: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4405" y="3037880"/>
            <a:ext cx="18325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генподрядчик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8638" y="4235128"/>
            <a:ext cx="2438363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5778" y="4317066"/>
            <a:ext cx="1599262" cy="204026"/>
          </a:xfrm>
          <a:prstGeom prst="roundRect">
            <a:avLst>
              <a:gd name="adj" fmla="val 14006"/>
            </a:avLst>
          </a:prstGeom>
          <a:noFill/>
          <a:ln w="7144">
            <a:solidFill>
              <a:srgbClr val="D0D0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8638" y="4327996"/>
            <a:ext cx="155354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b="1" spc="45" kern="0" dirty="0">
                <a:solidFill>
                  <a:srgbClr val="2222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 СПЕЦИАЛИСТ — 5 ДНЕЙ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24175" y="1266899"/>
            <a:ext cx="2695538" cy="3357563"/>
          </a:xfrm>
          <a:prstGeom prst="roundRect">
            <a:avLst>
              <a:gd name="adj" fmla="val 282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224175" y="1266899"/>
            <a:ext cx="2695538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338475" y="134548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3567075" y="1354410"/>
            <a:ext cx="223833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52763" y="1709812"/>
            <a:ext cx="2566950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ДЕЛАЛ СМЕТЧИК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763" y="1926022"/>
            <a:ext cx="256695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16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3352763" y="2154622"/>
            <a:ext cx="2566950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ИИ-АГЕНТОВ В ЦЕПОЧКЕ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52763" y="2436800"/>
            <a:ext cx="2438363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338530" y="2551100"/>
            <a:ext cx="163840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94522" y="2543956"/>
            <a:ext cx="234242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Разбор позиций и нормализация наименований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38530" y="2719648"/>
            <a:ext cx="163840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494522" y="2712504"/>
            <a:ext cx="229660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Сопоставление с опорной базой 250 объектов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38530" y="2888196"/>
            <a:ext cx="163840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94522" y="2881052"/>
            <a:ext cx="229660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Выявление двойного учёта арматуры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338530" y="3056744"/>
            <a:ext cx="163840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494522" y="3049600"/>
            <a:ext cx="229660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завышения коэффициентов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52763" y="4235128"/>
            <a:ext cx="2438363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329903" y="4317066"/>
            <a:ext cx="1452257" cy="204026"/>
          </a:xfrm>
          <a:prstGeom prst="roundRect">
            <a:avLst>
              <a:gd name="adj" fmla="val 14006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352763" y="4327996"/>
            <a:ext cx="140653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КАЛИБРОВКА ПОД РЕГИОН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048301" y="1266899"/>
            <a:ext cx="2695649" cy="3357563"/>
          </a:xfrm>
          <a:prstGeom prst="roundRect">
            <a:avLst>
              <a:gd name="adj" fmla="val 2827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205463" y="1424062"/>
            <a:ext cx="2538487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 ДЛЯ ЗАКАЗЧИКА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05463" y="1634803"/>
            <a:ext cx="1487329" cy="666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60"/>
              </a:lnSpc>
              <a:buNone/>
            </a:pPr>
            <a:r>
              <a:rPr lang="en-US" sz="5400" b="1" spc="-24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4%</a:t>
            </a:r>
            <a:endParaRPr lang="en-US" sz="5400" dirty="0"/>
          </a:p>
        </p:txBody>
      </p:sp>
      <p:sp>
        <p:nvSpPr>
          <p:cNvPr id="52" name="Text 50"/>
          <p:cNvSpPr/>
          <p:nvPr/>
        </p:nvSpPr>
        <p:spPr>
          <a:xfrm>
            <a:off x="7206481" y="2056284"/>
            <a:ext cx="1380306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сметы</a:t>
            </a:r>
            <a:endParaRPr lang="en-US" sz="1125" dirty="0"/>
          </a:p>
        </p:txBody>
      </p:sp>
      <p:sp>
        <p:nvSpPr>
          <p:cNvPr id="53" name="Text 51"/>
          <p:cNvSpPr/>
          <p:nvPr/>
        </p:nvSpPr>
        <p:spPr>
          <a:xfrm>
            <a:off x="6205463" y="2309106"/>
            <a:ext cx="253848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87" kern="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НАРУШЕНИЙ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205463" y="2545184"/>
            <a:ext cx="2381324" cy="7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205463" y="2666628"/>
            <a:ext cx="2538487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16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7%</a:t>
            </a:r>
            <a:endParaRPr lang="en-US" sz="1575" dirty="0"/>
          </a:p>
        </p:txBody>
      </p:sp>
      <p:sp>
        <p:nvSpPr>
          <p:cNvPr id="56" name="Text 54"/>
          <p:cNvSpPr/>
          <p:nvPr/>
        </p:nvSpPr>
        <p:spPr>
          <a:xfrm>
            <a:off x="6205463" y="2895228"/>
            <a:ext cx="2538487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45" kern="0" dirty="0">
                <a:solidFill>
                  <a:srgbClr val="FFFFFF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СНИЖЕНИЕ ЦЕЛЕВОЙ ЦЕНЫ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205463" y="3105969"/>
            <a:ext cx="2538487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1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~14 млн ₽</a:t>
            </a:r>
            <a:endParaRPr lang="en-US" sz="1575" dirty="0"/>
          </a:p>
        </p:txBody>
      </p:sp>
      <p:sp>
        <p:nvSpPr>
          <p:cNvPr id="58" name="Text 56"/>
          <p:cNvSpPr/>
          <p:nvPr/>
        </p:nvSpPr>
        <p:spPr>
          <a:xfrm>
            <a:off x="6205463" y="3334569"/>
            <a:ext cx="2538487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45" kern="0" dirty="0">
                <a:solidFill>
                  <a:srgbClr val="FFFFFF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СОЭКОНОМИЛИ НА ОБЪЕКТЕ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182603" y="4273347"/>
            <a:ext cx="1388410" cy="220028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205463" y="4285134"/>
            <a:ext cx="134269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b="1" spc="5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ЧАС РАБОТЫ СИСТЕМЫ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0" y="4861322"/>
            <a:ext cx="91440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0050" y="4950619"/>
            <a:ext cx="425108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665427" y="4950619"/>
            <a:ext cx="37327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01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08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50184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772953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· КЕЙС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143875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01038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58200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15363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662583"/>
            <a:ext cx="863600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Кейс: сравнение предложений подрядчиков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400050" y="959718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КП с разными наименованиями работ — одна аналитическая оценка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050" y="1266899"/>
            <a:ext cx="4750482" cy="3476551"/>
          </a:xfrm>
          <a:prstGeom prst="roundRect">
            <a:avLst>
              <a:gd name="adj" fmla="val 219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8650" y="1466924"/>
            <a:ext cx="4293282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СИТУАЦИЯ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8650" y="1650876"/>
            <a:ext cx="429328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Поступило три коммерческих предложения с разными наименованиями работ. Сравнить вручную — невозможно: 60% позиций у каждого подрядчика написано по-своему.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8650" y="2242468"/>
            <a:ext cx="4293282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8650" y="2349624"/>
            <a:ext cx="4403010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СДЕЛАЛ СТРОЙИНТЕЛЛЕКТ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8650" y="2533576"/>
            <a:ext cx="4293282" cy="74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Привёл позиции к сопоставимому виду, рассчитал </a:t>
            </a:r>
            <a:pPr algn="l" indent="0" marL="0">
              <a:lnSpc>
                <a:spcPts val="1291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собственную аналитическую оценку</a:t>
            </a:r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и выявил аномалию: предложение подрядчика А было ниже рынка на </a:t>
            </a:r>
            <a:pPr algn="l" indent="0" marL="0">
              <a:lnSpc>
                <a:spcPts val="1291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12%</a:t>
            </a:r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высокий риск невыполнения. Подрядчик Б имел скрытые завышения объёмов.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8650" y="3289027"/>
            <a:ext cx="4293282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8650" y="3396183"/>
            <a:ext cx="4293282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8650" y="3580135"/>
            <a:ext cx="4293282" cy="37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Заказчик получил целевую цену для переговоров и реестр рисков по каждому подрядчику. Переговоры шли с позиции силы, а не угадывания.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50557" y="1266899"/>
            <a:ext cx="3393281" cy="1092101"/>
          </a:xfrm>
          <a:prstGeom prst="roundRect">
            <a:avLst>
              <a:gd name="adj" fmla="val 697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22007" y="1424062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28794" y="143084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522007" y="1738387"/>
            <a:ext cx="3050381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4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5522007" y="2052712"/>
            <a:ext cx="3160109" cy="149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РАСХОЖДЕНИЕ СУММ РАЗДЕЛОВ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50557" y="2459013"/>
            <a:ext cx="3393281" cy="1092212"/>
          </a:xfrm>
          <a:prstGeom prst="roundRect">
            <a:avLst>
              <a:gd name="adj" fmla="val 697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22007" y="2616175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528794" y="262296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522007" y="2930500"/>
            <a:ext cx="3050381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40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95%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5522007" y="3244825"/>
            <a:ext cx="3160109" cy="149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КОРРЕКТНО ИЗВЛЕЧЁННЫХ ПОЗИЦИЙ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50557" y="3651238"/>
            <a:ext cx="3393281" cy="1092212"/>
          </a:xfrm>
          <a:prstGeom prst="roundRect">
            <a:avLst>
              <a:gd name="adj" fmla="val 6977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22007" y="3808400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28794" y="381518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522007" y="4122725"/>
            <a:ext cx="3050381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4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час</a:t>
            </a:r>
            <a:endParaRPr lang="en-US" sz="2025" dirty="0"/>
          </a:p>
        </p:txBody>
      </p:sp>
      <p:sp>
        <p:nvSpPr>
          <p:cNvPr id="33" name="Text 31"/>
          <p:cNvSpPr/>
          <p:nvPr/>
        </p:nvSpPr>
        <p:spPr>
          <a:xfrm>
            <a:off x="5522007" y="4437050"/>
            <a:ext cx="3160109" cy="149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spc="45" kern="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ВРЕМЯ ФОРМИРОВАНИЯ ТАБЛИЦЫ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0" y="4861322"/>
            <a:ext cx="91440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0050" y="4950619"/>
            <a:ext cx="425108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65427" y="4950619"/>
            <a:ext cx="37327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КЕЙС 02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08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50184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772953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· ФИНАНСЫ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143875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01038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58200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15363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662583"/>
            <a:ext cx="863600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Управление финансами проекта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400050" y="959718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ручной БДДС в Excel — к автоматическому прогнозу кассовых разрывов в трёх сценариях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3622" y="1270471"/>
            <a:ext cx="4093369" cy="3469407"/>
          </a:xfrm>
          <a:prstGeom prst="roundRect">
            <a:avLst>
              <a:gd name="adj" fmla="val 219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7194" y="1274043"/>
            <a:ext cx="4086225" cy="3500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1494" y="1392808"/>
            <a:ext cx="617934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93428" y="1374056"/>
            <a:ext cx="171701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Ручная финансовая модель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927893" y="1349053"/>
            <a:ext cx="468581" cy="200025"/>
          </a:xfrm>
          <a:prstGeom prst="roundRect">
            <a:avLst>
              <a:gd name="adj" fmla="val 14286"/>
            </a:avLst>
          </a:prstGeom>
          <a:noFill/>
          <a:ln w="7144">
            <a:solidFill>
              <a:srgbClr val="D0D0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45248" y="1359768"/>
            <a:ext cx="43387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2222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EXCEL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07194" y="1624087"/>
            <a:ext cx="4086225" cy="311221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7928" y="1813396"/>
            <a:ext cx="164306" cy="164306"/>
          </a:xfrm>
          <a:prstGeom prst="roundRect">
            <a:avLst>
              <a:gd name="adj" fmla="val 17391"/>
            </a:avLst>
          </a:prstGeom>
          <a:noFill/>
          <a:ln w="7144">
            <a:solidFill>
              <a:srgbClr val="CCCCC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7214" y="1812682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777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21531" y="1809824"/>
            <a:ext cx="35147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маржи в одном сценарии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7928" y="2541724"/>
            <a:ext cx="164306" cy="164306"/>
          </a:xfrm>
          <a:prstGeom prst="roundRect">
            <a:avLst>
              <a:gd name="adj" fmla="val 17391"/>
            </a:avLst>
          </a:prstGeom>
          <a:noFill/>
          <a:ln w="7144">
            <a:solidFill>
              <a:srgbClr val="CCCCC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67214" y="2541010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777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821531" y="2538152"/>
            <a:ext cx="35147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Ручное построение БДДС в Excel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7928" y="3270052"/>
            <a:ext cx="164306" cy="164306"/>
          </a:xfrm>
          <a:prstGeom prst="roundRect">
            <a:avLst>
              <a:gd name="adj" fmla="val 17391"/>
            </a:avLst>
          </a:prstGeom>
          <a:noFill/>
          <a:ln w="7144">
            <a:solidFill>
              <a:srgbClr val="CCCCC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7214" y="3269337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777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821531" y="3266480"/>
            <a:ext cx="35147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Риски кассовых разрывов выявляются постфактум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7928" y="3998379"/>
            <a:ext cx="164306" cy="164306"/>
          </a:xfrm>
          <a:prstGeom prst="roundRect">
            <a:avLst>
              <a:gd name="adj" fmla="val 17391"/>
            </a:avLst>
          </a:prstGeom>
          <a:noFill/>
          <a:ln w="7144">
            <a:solidFill>
              <a:srgbClr val="CCCCC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67214" y="3997665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777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821531" y="3994807"/>
            <a:ext cx="35147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Дата раскрытия эскроу не синхронизирована с план-графиком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4356" y="4194832"/>
            <a:ext cx="3771900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64356" y="4316276"/>
            <a:ext cx="1395325" cy="142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сценарий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564356" y="4486275"/>
            <a:ext cx="190488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МАРЖА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854919" y="4316276"/>
            <a:ext cx="1524048" cy="142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5–7 дней</a:t>
            </a:r>
            <a:endParaRPr lang="en-US" sz="1013" dirty="0"/>
          </a:p>
        </p:txBody>
      </p:sp>
      <p:sp>
        <p:nvSpPr>
          <p:cNvPr id="33" name="Text 31"/>
          <p:cNvSpPr/>
          <p:nvPr/>
        </p:nvSpPr>
        <p:spPr>
          <a:xfrm>
            <a:off x="1854919" y="4486275"/>
            <a:ext cx="190506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145594" y="4316276"/>
            <a:ext cx="1190662" cy="142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spc="-1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Постфактум</a:t>
            </a:r>
            <a:endParaRPr lang="en-US" sz="1013" dirty="0"/>
          </a:p>
        </p:txBody>
      </p:sp>
      <p:sp>
        <p:nvSpPr>
          <p:cNvPr id="35" name="Text 33"/>
          <p:cNvSpPr/>
          <p:nvPr/>
        </p:nvSpPr>
        <p:spPr>
          <a:xfrm>
            <a:off x="3145594" y="4486275"/>
            <a:ext cx="119066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РАЗРЫВЫ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43438" y="1266899"/>
            <a:ext cx="4100513" cy="3476551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643438" y="1266899"/>
            <a:ext cx="4100513" cy="3429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57738" y="1352624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60595" y="1355482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5014913" y="1368698"/>
            <a:ext cx="14680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· СтройИнтеллект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229270" y="1346338"/>
            <a:ext cx="415780" cy="184023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244669" y="1356196"/>
            <a:ext cx="3849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АВТО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43438" y="1609799"/>
            <a:ext cx="4100513" cy="31336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800600" y="1795537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803458" y="1798394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5057775" y="1795537"/>
            <a:ext cx="35290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Автоматический расчёт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трёх сценариев маржи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00600" y="2531008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803458" y="253386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5057775" y="2531008"/>
            <a:ext cx="35290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Прогноз кассовых разрывов с периодом и суммой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00600" y="3266480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803458" y="3269337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5057775" y="3266480"/>
            <a:ext cx="35290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Помесячный БДДС с учётом графика выборки проектного кредита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00600" y="4001951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803458" y="400480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55" name="Text 53"/>
          <p:cNvSpPr/>
          <p:nvPr/>
        </p:nvSpPr>
        <p:spPr>
          <a:xfrm>
            <a:off x="5057775" y="4001951"/>
            <a:ext cx="35290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Синхронизация эскроу и план-графика СМР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800600" y="4201976"/>
            <a:ext cx="3786188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800600" y="4323420"/>
            <a:ext cx="1337241" cy="142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spc="-1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сценария</a:t>
            </a:r>
            <a:endParaRPr lang="en-US" sz="1013" dirty="0"/>
          </a:p>
        </p:txBody>
      </p:sp>
      <p:sp>
        <p:nvSpPr>
          <p:cNvPr id="58" name="Text 56"/>
          <p:cNvSpPr/>
          <p:nvPr/>
        </p:nvSpPr>
        <p:spPr>
          <a:xfrm>
            <a:off x="4800600" y="4493419"/>
            <a:ext cx="182558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МАРЖА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041603" y="4323420"/>
            <a:ext cx="1802765" cy="142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spc="-1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час</a:t>
            </a:r>
            <a:endParaRPr lang="en-US" sz="1013" dirty="0"/>
          </a:p>
        </p:txBody>
      </p:sp>
      <p:sp>
        <p:nvSpPr>
          <p:cNvPr id="60" name="Text 58"/>
          <p:cNvSpPr/>
          <p:nvPr/>
        </p:nvSpPr>
        <p:spPr>
          <a:xfrm>
            <a:off x="6041603" y="4493419"/>
            <a:ext cx="182558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282607" y="4323420"/>
            <a:ext cx="1304181" cy="142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spc="-1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Заблаговременно</a:t>
            </a:r>
            <a:endParaRPr lang="en-US" sz="1013" dirty="0"/>
          </a:p>
        </p:txBody>
      </p:sp>
      <p:sp>
        <p:nvSpPr>
          <p:cNvPr id="62" name="Text 60"/>
          <p:cNvSpPr/>
          <p:nvPr/>
        </p:nvSpPr>
        <p:spPr>
          <a:xfrm>
            <a:off x="7282607" y="4493419"/>
            <a:ext cx="130418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РАЗРЫВЫ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0" y="4861322"/>
            <a:ext cx="91440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0050" y="4950619"/>
            <a:ext cx="421537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629708" y="4950619"/>
            <a:ext cx="37684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ФИНАНСЫ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08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50184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772953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· ЛИД-МАГНИТ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143875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01038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58200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15363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662583"/>
            <a:ext cx="863600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Предпродажная проверка — лид-магнит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400050" y="959718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Бесплатный расчёт 1–2 ваших закрытых объектов. Доказательство точности на ваших данных.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050" y="1266899"/>
            <a:ext cx="4086225" cy="2438809"/>
          </a:xfrm>
          <a:prstGeom prst="roundRect">
            <a:avLst>
              <a:gd name="adj" fmla="val 312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0075" y="1452637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6507" y="1479069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600075" y="1895549"/>
            <a:ext cx="36861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1 · ПИЛОТ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0075" y="2108076"/>
            <a:ext cx="3686175" cy="21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50" b="1" spc="-2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делаем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0075" y="2405211"/>
            <a:ext cx="36861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Бесплатно рассчитываем </a:t>
            </a:r>
            <a:pPr algn="l" indent="0" marL="0">
              <a:lnSpc>
                <a:spcPts val="1253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1–2 ваших закрытых объектов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Вы предоставляете сметы, КП и фактическую себестоимость. Мы загружаем их в СтройИнтеллект и сравниваем результат с фактом.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75" y="2982404"/>
            <a:ext cx="3686175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0075" y="3089560"/>
            <a:ext cx="36861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 ПРЕДОСТАВЛЯЕТЕ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0075" y="3289285"/>
            <a:ext cx="533884" cy="243488"/>
          </a:xfrm>
          <a:prstGeom prst="roundRect">
            <a:avLst>
              <a:gd name="adj" fmla="val 11736"/>
            </a:avLst>
          </a:prstGeom>
          <a:noFill/>
          <a:ln w="7144">
            <a:solidFill>
              <a:srgbClr val="D0D0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0075" y="3302087"/>
            <a:ext cx="53388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2222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СМЕТЫ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91109" y="3289285"/>
            <a:ext cx="325264" cy="243488"/>
          </a:xfrm>
          <a:prstGeom prst="roundRect">
            <a:avLst>
              <a:gd name="adj" fmla="val 11736"/>
            </a:avLst>
          </a:prstGeom>
          <a:noFill/>
          <a:ln w="7144">
            <a:solidFill>
              <a:srgbClr val="D0D0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91109" y="3302087"/>
            <a:ext cx="32526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2222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КП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73523" y="3289285"/>
            <a:ext cx="1374056" cy="243488"/>
          </a:xfrm>
          <a:prstGeom prst="roundRect">
            <a:avLst>
              <a:gd name="adj" fmla="val 11736"/>
            </a:avLst>
          </a:prstGeom>
          <a:noFill/>
          <a:ln w="7144">
            <a:solidFill>
              <a:srgbClr val="D0D0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73523" y="3302087"/>
            <a:ext cx="137405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2222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ФАКТ. СЕБЕСТОИМОСТЬ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57725" y="1266899"/>
            <a:ext cx="4086225" cy="2438809"/>
          </a:xfrm>
          <a:prstGeom prst="roundRect">
            <a:avLst>
              <a:gd name="adj" fmla="val 312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57750" y="1452637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84182" y="1479069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27" name="Text 25"/>
          <p:cNvSpPr/>
          <p:nvPr/>
        </p:nvSpPr>
        <p:spPr>
          <a:xfrm>
            <a:off x="4857750" y="1895549"/>
            <a:ext cx="36861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2 · ОТЧЁТ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57750" y="2108076"/>
            <a:ext cx="3686175" cy="21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50" b="1" spc="-2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получаете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857750" y="2405211"/>
            <a:ext cx="368617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Демонстрацию точности модели на ваших данных. Список выявленных аномалий, которые система нашла </a:t>
            </a:r>
            <a:pPr algn="l" indent="0" marL="0">
              <a:lnSpc>
                <a:spcPts val="1253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автоматически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Обоснованный бизнес-кейс для внедрения с цифрами предотвращённых потерь.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57750" y="2982404"/>
            <a:ext cx="3686175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57750" y="3089560"/>
            <a:ext cx="36861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ВОЗВРАЩАЕМ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57750" y="3289285"/>
            <a:ext cx="1053368" cy="243488"/>
          </a:xfrm>
          <a:prstGeom prst="roundRect">
            <a:avLst>
              <a:gd name="adj" fmla="val 11736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57750" y="3302087"/>
            <a:ext cx="105336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ТОЧНОСТЬ ±3-5%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68268" y="3289285"/>
            <a:ext cx="1146907" cy="243488"/>
          </a:xfrm>
          <a:prstGeom prst="roundRect">
            <a:avLst>
              <a:gd name="adj" fmla="val 11736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968268" y="3302087"/>
            <a:ext cx="114690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АНОМАЛИЙ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172325" y="3289285"/>
            <a:ext cx="870198" cy="243488"/>
          </a:xfrm>
          <a:prstGeom prst="roundRect">
            <a:avLst>
              <a:gd name="adj" fmla="val 11736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172325" y="3302087"/>
            <a:ext cx="87019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БИЗНЕС-КЕЙС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00050" y="3834296"/>
            <a:ext cx="8343900" cy="389334"/>
          </a:xfrm>
          <a:prstGeom prst="roundRect">
            <a:avLst>
              <a:gd name="adj" fmla="val 14679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57213" y="3959312"/>
            <a:ext cx="718103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СРОК: 5 РАБОЧИХ ДНЕЙ · БЕЗ ОБЯЗАТЕЛЬСТВ · NDA ДО ПРИЁМА ДОКУМЕНТОВ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729671" y="3922950"/>
            <a:ext cx="879976" cy="212027"/>
          </a:xfrm>
          <a:prstGeom prst="roundRect">
            <a:avLst>
              <a:gd name="adj" fmla="val 134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752531" y="3934309"/>
            <a:ext cx="83425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БЕСПЛАТНО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0" y="4861322"/>
            <a:ext cx="91440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0050" y="4950619"/>
            <a:ext cx="41478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62177" y="4950619"/>
            <a:ext cx="383597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ЛИД-МАГНИТ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08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428750" cy="51435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16200000">
            <a:off x="142875" y="2478881"/>
            <a:ext cx="114300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20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0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0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463" dirty="0"/>
          </a:p>
        </p:txBody>
      </p:sp>
      <p:sp>
        <p:nvSpPr>
          <p:cNvPr id="4" name="Text 2"/>
          <p:cNvSpPr/>
          <p:nvPr/>
        </p:nvSpPr>
        <p:spPr>
          <a:xfrm>
            <a:off x="1828800" y="400050"/>
            <a:ext cx="6300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СЛЕДУЮЩИЙ ШАГ · 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143875" y="4455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01038" y="4455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58200" y="4455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15363" y="4455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28800" y="612577"/>
            <a:ext cx="6915150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28800" y="791170"/>
            <a:ext cx="5857875" cy="1120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4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Отправьте нам </a:t>
            </a:r>
            <a:pPr algn="l" indent="0" marL="0">
              <a:lnSpc>
                <a:spcPts val="2723"/>
              </a:lnSpc>
              <a:buNone/>
            </a:pPr>
            <a:r>
              <a:rPr lang="en-US" sz="2475" b="1" spc="-4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закрытый объект</a:t>
            </a:r>
            <a:pPr algn="l" indent="0" marL="0">
              <a:lnSpc>
                <a:spcPts val="2723"/>
              </a:lnSpc>
              <a:buNone/>
            </a:pPr>
            <a:r>
              <a:rPr lang="en-US" sz="2475" b="1" spc="-4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вернём расчёт и найденные отклонения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1828800" y="1942542"/>
            <a:ext cx="5143500" cy="38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Бесплатно, без обязательств. NDA подписываем до приёма документов. Срок — 5 рабочих дней.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2496852"/>
            <a:ext cx="6915150" cy="898327"/>
          </a:xfrm>
          <a:prstGeom prst="roundRect">
            <a:avLst>
              <a:gd name="adj" fmla="val 848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14538" y="2654015"/>
            <a:ext cx="228600" cy="228600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14538" y="265401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14538" y="2939765"/>
            <a:ext cx="3274979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 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14538" y="3109429"/>
            <a:ext cx="2263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Подписание NDA, приём документов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38588" y="2654015"/>
            <a:ext cx="228600" cy="228600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238588" y="265401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38588" y="2939765"/>
            <a:ext cx="3274979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ДНИ 1–5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38588" y="3109429"/>
            <a:ext cx="2263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на нашей инфраструктуре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62638" y="2654015"/>
            <a:ext cx="228600" cy="228600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62638" y="265401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62638" y="2939765"/>
            <a:ext cx="2095574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 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62638" y="3109429"/>
            <a:ext cx="220530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 + Excel: расчёт и реестр отклонений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28800" y="3566629"/>
            <a:ext cx="6915150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828800" y="3702360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835587" y="370914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2114550" y="3702360"/>
            <a:ext cx="1500752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ТЕЛЕФОН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14550" y="3838091"/>
            <a:ext cx="13914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+7 (495) 000-00-00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190926" y="3702360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197712" y="370914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4476676" y="3702360"/>
            <a:ext cx="1344097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ПОЧТА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76676" y="3838091"/>
            <a:ext cx="9845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sales@7rl.tech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553163" y="3702360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559949" y="370914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6838913" y="3702360"/>
            <a:ext cx="712589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САЙТ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38913" y="3838091"/>
            <a:ext cx="5700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7rl.tech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828800" y="4538067"/>
            <a:ext cx="607509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29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731"/>
              </a:lnSpc>
              <a:buNone/>
            </a:pPr>
            <a:r>
              <a:rPr lang="en-US" sz="800" b="1" spc="2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731"/>
              </a:lnSpc>
              <a:buNone/>
            </a:pPr>
            <a:r>
              <a:rPr lang="en-US" sz="800" b="1" spc="2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918177" y="4525566"/>
            <a:ext cx="10316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v.1 · Август 2025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428750" y="4857750"/>
            <a:ext cx="771525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1428750" y="4861322"/>
            <a:ext cx="771525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0" y="4950619"/>
            <a:ext cx="348358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326670" y="4950619"/>
            <a:ext cx="307147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КОНТАКТЫ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08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2026-08-11T20:07:05Z</dcterms:created>
  <dcterms:modified xsi:type="dcterms:W3CDTF">2026-08-11T20:07:05Z</dcterms:modified>
</cp:coreProperties>
</file>