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428750" cy="51435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16200000">
            <a:off x="142875" y="2478881"/>
            <a:ext cx="114300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20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0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0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1463" dirty="0"/>
          </a:p>
        </p:txBody>
      </p:sp>
      <p:sp>
        <p:nvSpPr>
          <p:cNvPr id="4" name="Shape 2"/>
          <p:cNvSpPr/>
          <p:nvPr/>
        </p:nvSpPr>
        <p:spPr>
          <a:xfrm>
            <a:off x="1828800" y="616148"/>
            <a:ext cx="691515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0" y="400050"/>
            <a:ext cx="5950521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КОММЕРЧЕСКОЕ ПРЕДЛОЖЕНИЕ · 2025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793608" y="400050"/>
            <a:ext cx="95034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spc="83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V.1 · АВГУСТ 2025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28800" y="848320"/>
            <a:ext cx="6286500" cy="907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Цифровая служба технического заказчика </a:t>
            </a:r>
            <a:pPr algn="l" indent="0" marL="0">
              <a:lnSpc>
                <a:spcPts val="3307"/>
              </a:lnSpc>
              <a:buNone/>
            </a:pPr>
            <a:r>
              <a:rPr lang="en-US" sz="3150" b="1" spc="-79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СтройИнтеллект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1828800" y="1845543"/>
            <a:ext cx="571500" cy="28575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28800" y="2002706"/>
            <a:ext cx="5429250" cy="39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34"/>
              </a:lnSpc>
              <a:buNone/>
            </a:pPr>
            <a:r>
              <a:rPr lang="en-US" sz="956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Финансово-технический контроль строительства на базе ИИ в вашем контуре. Девять агентов. 250+ объектов в обучающей базе. 0 ₽ подписки.</a:t>
            </a:r>
            <a:endParaRPr lang="en-US" sz="956" dirty="0"/>
          </a:p>
        </p:txBody>
      </p:sp>
      <p:sp>
        <p:nvSpPr>
          <p:cNvPr id="10" name="Shape 8"/>
          <p:cNvSpPr/>
          <p:nvPr/>
        </p:nvSpPr>
        <p:spPr>
          <a:xfrm>
            <a:off x="1828800" y="2599209"/>
            <a:ext cx="691515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3592190"/>
            <a:ext cx="691515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00250" y="2819214"/>
            <a:ext cx="2511457" cy="38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3150" b="1" spc="-110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4,5</a:t>
            </a:r>
            <a:pPr algn="l" indent="0" marL="0">
              <a:lnSpc>
                <a:spcPts val="2835"/>
              </a:lnSpc>
              <a:buNone/>
            </a:pPr>
            <a:r>
              <a:rPr lang="en-US" sz="1350" b="1" spc="-110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мес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2000250" y="3264917"/>
            <a:ext cx="24099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СРОК ВНЕДРЕНИЯ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305226" y="2819214"/>
            <a:ext cx="2511600" cy="38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3150" b="1" spc="-110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</a:t>
            </a:r>
            <a:pPr algn="l" indent="0" marL="0">
              <a:lnSpc>
                <a:spcPts val="2835"/>
              </a:lnSpc>
              <a:buNone/>
            </a:pPr>
            <a:r>
              <a:rPr lang="en-US" sz="1350" b="1" spc="-110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агентов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4305226" y="3264917"/>
            <a:ext cx="241005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 СОСТАВЕ СИСТЕМЫ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610313" y="2819214"/>
            <a:ext cx="2133637" cy="3887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3150" b="1" spc="-110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6610313" y="3264917"/>
            <a:ext cx="21336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АБОНЕНТСКАЯ ПЛАТА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28800" y="4455914"/>
            <a:ext cx="57150" cy="5715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957388" y="4425553"/>
            <a:ext cx="396998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87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7 КРАСНЫХ ЛИНИЙ · СТРОЙИНТЕЛЛЕКТ · КОНФИДЕНЦИАЛЬНО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857500" y="4857750"/>
            <a:ext cx="628650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2857500" y="4861322"/>
            <a:ext cx="62865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57550" y="4950619"/>
            <a:ext cx="22962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568107" y="4950619"/>
            <a:ext cx="283004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КОММЕРЧЕСКОЕ ПРЕДЛОЖЕНИЕ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09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501848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85750"/>
            <a:ext cx="692151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СОДЕРЖАНИЕ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35850" y="288429"/>
            <a:ext cx="596438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97515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54677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11840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69002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461427" y="288429"/>
            <a:ext cx="290124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79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01/04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00050" y="662583"/>
            <a:ext cx="8636000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688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внутри</a:t>
            </a:r>
            <a:endParaRPr lang="en-US" sz="1688" dirty="0"/>
          </a:p>
        </p:txBody>
      </p:sp>
      <p:sp>
        <p:nvSpPr>
          <p:cNvPr id="11" name="Text 9"/>
          <p:cNvSpPr/>
          <p:nvPr/>
        </p:nvSpPr>
        <p:spPr>
          <a:xfrm>
            <a:off x="400050" y="959718"/>
            <a:ext cx="67894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Четыре блока: от проблемы к цифрам и контакту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00050" y="2049140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0050" y="1450516"/>
            <a:ext cx="914400" cy="44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600" b="1" spc="-144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143000" y="1483444"/>
            <a:ext cx="5445681" cy="18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spc="-1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Проблема и ценность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1143000" y="1699096"/>
            <a:ext cx="5601272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Потери выявляются слишком поздно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500813" y="1602656"/>
            <a:ext cx="4993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884343" y="1602656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990159" y="1602656"/>
            <a:ext cx="21199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КП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194091" y="1602656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299908" y="1602656"/>
            <a:ext cx="77253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ФИНАНСЫ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953851" y="1531218"/>
            <a:ext cx="79009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336756" y="1759818"/>
            <a:ext cx="85725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443913" y="1759818"/>
            <a:ext cx="85725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551069" y="1759818"/>
            <a:ext cx="85725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8658225" y="1759818"/>
            <a:ext cx="85725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400050" y="2834953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0050" y="2236329"/>
            <a:ext cx="914400" cy="44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600" b="1" spc="-144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1143000" y="2269257"/>
            <a:ext cx="5445681" cy="18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spc="-1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Как работают ИИ-агенты</a:t>
            </a:r>
            <a:endParaRPr lang="en-US" sz="1238" dirty="0"/>
          </a:p>
        </p:txBody>
      </p:sp>
      <p:sp>
        <p:nvSpPr>
          <p:cNvPr id="29" name="Text 27"/>
          <p:cNvSpPr/>
          <p:nvPr/>
        </p:nvSpPr>
        <p:spPr>
          <a:xfrm>
            <a:off x="1143000" y="2484909"/>
            <a:ext cx="5186363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Девять агентов: от сметчика до руководителя проекта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00813" y="2388468"/>
            <a:ext cx="88262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АРХИТЕКТУРА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240749" y="2388468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46566" y="2388468"/>
            <a:ext cx="72587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КОМАНДА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953851" y="2317031"/>
            <a:ext cx="79009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04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336756" y="2545631"/>
            <a:ext cx="85725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443913" y="2545631"/>
            <a:ext cx="85725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8551069" y="2545631"/>
            <a:ext cx="85725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658225" y="2545631"/>
            <a:ext cx="85725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00050" y="3620765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0050" y="3022141"/>
            <a:ext cx="914400" cy="44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600" b="1" spc="-144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1143000" y="3055069"/>
            <a:ext cx="5601272" cy="186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spc="-1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Размещение и безопасность</a:t>
            </a:r>
            <a:endParaRPr lang="en-US" sz="1238" dirty="0"/>
          </a:p>
        </p:txBody>
      </p:sp>
      <p:sp>
        <p:nvSpPr>
          <p:cNvPr id="41" name="Text 39"/>
          <p:cNvSpPr/>
          <p:nvPr/>
        </p:nvSpPr>
        <p:spPr>
          <a:xfrm>
            <a:off x="1143000" y="3270721"/>
            <a:ext cx="5601272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Локальные модели в контуре Заказчика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500813" y="3174281"/>
            <a:ext cx="5670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КОНТУР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950199" y="3174281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056016" y="3174281"/>
            <a:ext cx="6063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ДАННЫЕ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531633" y="3174281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637450" y="3174281"/>
            <a:ext cx="43498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NDA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953851" y="3102843"/>
            <a:ext cx="79009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06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336756" y="3331443"/>
            <a:ext cx="85725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443913" y="3331443"/>
            <a:ext cx="85725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8551069" y="3331443"/>
            <a:ext cx="85725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8658225" y="3331443"/>
            <a:ext cx="85725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00050" y="3811525"/>
            <a:ext cx="914400" cy="44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3600" b="1" spc="-144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3600" dirty="0"/>
          </a:p>
        </p:txBody>
      </p:sp>
      <p:sp>
        <p:nvSpPr>
          <p:cNvPr id="53" name="Text 51"/>
          <p:cNvSpPr/>
          <p:nvPr/>
        </p:nvSpPr>
        <p:spPr>
          <a:xfrm>
            <a:off x="1143000" y="3844454"/>
            <a:ext cx="5445681" cy="186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spc="-12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Этапы и стоимость</a:t>
            </a:r>
            <a:endParaRPr lang="en-US" sz="1238" dirty="0"/>
          </a:p>
        </p:txBody>
      </p:sp>
      <p:sp>
        <p:nvSpPr>
          <p:cNvPr id="54" name="Text 52"/>
          <p:cNvSpPr/>
          <p:nvPr/>
        </p:nvSpPr>
        <p:spPr>
          <a:xfrm>
            <a:off x="1143000" y="4060106"/>
            <a:ext cx="5601272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135 дней. 22,5 млн ₽. 0 ₽ лицензий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500813" y="3963665"/>
            <a:ext cx="64977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TIMELINE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7005340" y="3963665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·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111157" y="3963665"/>
            <a:ext cx="9612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ЭКОНОМИКА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953851" y="3892228"/>
            <a:ext cx="790099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→ 07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336756" y="4120828"/>
            <a:ext cx="85725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8443913" y="4120828"/>
            <a:ext cx="85725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8551069" y="4120828"/>
            <a:ext cx="85725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8658225" y="4120828"/>
            <a:ext cx="85725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0" y="4861322"/>
            <a:ext cx="91440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0050" y="4950619"/>
            <a:ext cx="413053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544876" y="4950619"/>
            <a:ext cx="385327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СОДЕРЖАНИЕ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09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501848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85750"/>
            <a:ext cx="692151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· ПРОБЛЕМА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35850" y="288429"/>
            <a:ext cx="596438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97515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54677" y="331291"/>
            <a:ext cx="12858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11840" y="331291"/>
            <a:ext cx="12858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69002" y="331291"/>
            <a:ext cx="12858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461427" y="288429"/>
            <a:ext cx="290124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79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01/04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00050" y="662583"/>
            <a:ext cx="863600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688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Потери выявляются слишком поздно</a:t>
            </a:r>
            <a:endParaRPr lang="en-US" sz="1688" dirty="0"/>
          </a:p>
        </p:txBody>
      </p:sp>
      <p:sp>
        <p:nvSpPr>
          <p:cNvPr id="11" name="Text 9"/>
          <p:cNvSpPr/>
          <p:nvPr/>
        </p:nvSpPr>
        <p:spPr>
          <a:xfrm>
            <a:off x="400050" y="959718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Финансово значимые отклонения в сметах и КП подрядчиков часто видны уже после подписания договора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0050" y="1266899"/>
            <a:ext cx="4071938" cy="3476551"/>
          </a:xfrm>
          <a:prstGeom prst="roundRect">
            <a:avLst>
              <a:gd name="adj" fmla="val 219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7225" y="2010184"/>
            <a:ext cx="35575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ПОТЕРИ НА ОБЪЕКТЕ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7225" y="2222711"/>
            <a:ext cx="3557588" cy="916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682"/>
              </a:lnSpc>
              <a:buNone/>
            </a:pPr>
            <a:r>
              <a:rPr lang="en-US" sz="7425" b="1" spc="-334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5–12%</a:t>
            </a:r>
            <a:endParaRPr lang="en-US" sz="7425" dirty="0"/>
          </a:p>
        </p:txBody>
      </p:sp>
      <p:sp>
        <p:nvSpPr>
          <p:cNvPr id="15" name="Text 13"/>
          <p:cNvSpPr/>
          <p:nvPr/>
        </p:nvSpPr>
        <p:spPr>
          <a:xfrm>
            <a:off x="657225" y="3185666"/>
            <a:ext cx="2714625" cy="347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 сметы — типовые потери девелопера без финансово-технического контроля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657225" y="3635722"/>
            <a:ext cx="3557588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57225" y="3742879"/>
            <a:ext cx="35575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Источник: анализ 250+ завершённых объектов в обучающей базе СтройИнтеллекта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75584" y="1270471"/>
            <a:ext cx="4064794" cy="457088"/>
          </a:xfrm>
          <a:prstGeom prst="roundRect">
            <a:avLst>
              <a:gd name="adj" fmla="val 16671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93456" y="1374056"/>
            <a:ext cx="200025" cy="200025"/>
          </a:xfrm>
          <a:prstGeom prst="ellipse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93456" y="1374056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093494" y="1374056"/>
            <a:ext cx="2435461" cy="1125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Ручная проверка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93494" y="1514029"/>
            <a:ext cx="2319486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Зависит от времени и опыта конкретных специалистов</a:t>
            </a:r>
            <a:endParaRPr lang="en-US" sz="619" dirty="0"/>
          </a:p>
        </p:txBody>
      </p:sp>
      <p:sp>
        <p:nvSpPr>
          <p:cNvPr id="23" name="Text 21"/>
          <p:cNvSpPr/>
          <p:nvPr/>
        </p:nvSpPr>
        <p:spPr>
          <a:xfrm>
            <a:off x="4675584" y="1820428"/>
            <a:ext cx="4064794" cy="457088"/>
          </a:xfrm>
          <a:prstGeom prst="roundRect">
            <a:avLst>
              <a:gd name="adj" fmla="val 16671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793456" y="1924013"/>
            <a:ext cx="200025" cy="200025"/>
          </a:xfrm>
          <a:prstGeom prst="ellipse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93456" y="1924013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93494" y="1924013"/>
            <a:ext cx="3312367" cy="1125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Разные наименования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93494" y="2063986"/>
            <a:ext cx="3154635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Подрядчики пишут позиции по-разному — сравнение вручную невозможно</a:t>
            </a:r>
            <a:endParaRPr lang="en-US" sz="619" dirty="0"/>
          </a:p>
        </p:txBody>
      </p:sp>
      <p:sp>
        <p:nvSpPr>
          <p:cNvPr id="28" name="Text 26"/>
          <p:cNvSpPr/>
          <p:nvPr/>
        </p:nvSpPr>
        <p:spPr>
          <a:xfrm>
            <a:off x="4675584" y="2370386"/>
            <a:ext cx="4064794" cy="457088"/>
          </a:xfrm>
          <a:prstGeom prst="roundRect">
            <a:avLst>
              <a:gd name="adj" fmla="val 16671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93456" y="2473970"/>
            <a:ext cx="200025" cy="200025"/>
          </a:xfrm>
          <a:prstGeom prst="ellipse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93456" y="2473970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93494" y="2473970"/>
            <a:ext cx="2499453" cy="1125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Опыт не систематизирован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93494" y="2613943"/>
            <a:ext cx="2380431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Данные прошлых объектов используются фрагментарно</a:t>
            </a:r>
            <a:endParaRPr lang="en-US" sz="619" dirty="0"/>
          </a:p>
        </p:txBody>
      </p:sp>
      <p:sp>
        <p:nvSpPr>
          <p:cNvPr id="33" name="Text 31"/>
          <p:cNvSpPr/>
          <p:nvPr/>
        </p:nvSpPr>
        <p:spPr>
          <a:xfrm>
            <a:off x="4675584" y="2920343"/>
            <a:ext cx="4064794" cy="457088"/>
          </a:xfrm>
          <a:prstGeom prst="roundRect">
            <a:avLst>
              <a:gd name="adj" fmla="val 16671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793456" y="3023927"/>
            <a:ext cx="200025" cy="200025"/>
          </a:xfrm>
          <a:prstGeom prst="ellipse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93456" y="3023927"/>
            <a:ext cx="25003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097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093494" y="3023927"/>
            <a:ext cx="3017135" cy="1125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77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Рынок vs завышение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93494" y="3163900"/>
            <a:ext cx="2873462" cy="109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619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Сложно отличить рыночное движение цены от скрытого завышения</a:t>
            </a:r>
            <a:endParaRPr lang="en-US" sz="619" dirty="0"/>
          </a:p>
        </p:txBody>
      </p:sp>
      <p:sp>
        <p:nvSpPr>
          <p:cNvPr id="38" name="Text 36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0" y="4861322"/>
            <a:ext cx="91440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0050" y="4950619"/>
            <a:ext cx="389758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311923" y="4950619"/>
            <a:ext cx="408622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ПРОБЛЕМА И ЦЕННОСТЬ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09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501848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85750"/>
            <a:ext cx="692151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 · АРХИТЕКТУРА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35850" y="288429"/>
            <a:ext cx="596438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97515" y="331291"/>
            <a:ext cx="128588" cy="21431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54677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11840" y="331291"/>
            <a:ext cx="12858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69002" y="331291"/>
            <a:ext cx="12858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461427" y="288429"/>
            <a:ext cx="290124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79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02/04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00050" y="662583"/>
            <a:ext cx="863600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688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Команда из девяти ИИ-агентов</a:t>
            </a:r>
            <a:endParaRPr lang="en-US" sz="1688" dirty="0"/>
          </a:p>
        </p:txBody>
      </p:sp>
      <p:sp>
        <p:nvSpPr>
          <p:cNvPr id="11" name="Text 9"/>
          <p:cNvSpPr/>
          <p:nvPr/>
        </p:nvSpPr>
        <p:spPr>
          <a:xfrm>
            <a:off x="400050" y="959718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Каждый закрывает свою зону финансово-технического контроля. Сводный вывод делает руководитель проекта.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0050" y="1266899"/>
            <a:ext cx="2705026" cy="3105076"/>
          </a:xfrm>
          <a:prstGeom prst="roundRect">
            <a:avLst>
              <a:gd name="adj" fmla="val 28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0050" y="1266899"/>
            <a:ext cx="2705026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0063" y="1345481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FFFFFF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2920" y="1348338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742950" y="1361554"/>
            <a:ext cx="22621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Сметчик и ПТО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14350" y="1695524"/>
            <a:ext cx="2590726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 АГЕНТА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4350" y="1859831"/>
            <a:ext cx="2674540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Финансовый контроль расценок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4350" y="2036973"/>
            <a:ext cx="2476426" cy="50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Выявляют двойной учёт, завышенные коэффициенты, оценивают финансовое влияние расхождений. Сопоставляют с опорной базой 250+ объектов.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4350" y="2475867"/>
            <a:ext cx="2476426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14350" y="2568736"/>
            <a:ext cx="2476426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Сметчик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разбор позиций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Нормализатор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приведение наименований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ПТО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контроль КС-2/КС-3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Аудитор коэффициентов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надбавки и индексы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19376" y="1266899"/>
            <a:ext cx="2705137" cy="3105076"/>
          </a:xfrm>
          <a:prstGeom prst="roundRect">
            <a:avLst>
              <a:gd name="adj" fmla="val 28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219376" y="1266899"/>
            <a:ext cx="2705137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19388" y="1345481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FFFFFF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322246" y="1348338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🏛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3562276" y="1361554"/>
            <a:ext cx="22622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Экономист и Юрист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333676" y="1695524"/>
            <a:ext cx="2590837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АГЕНТА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333676" y="1859831"/>
            <a:ext cx="2590837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Деньги и риски договора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33676" y="2036973"/>
            <a:ext cx="2476537" cy="50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Считают маржу в трёх сценариях, прогнозируют кассовые разрывы, анализируют авансы, штрафы, удержания в договоре подряда.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33676" y="2475867"/>
            <a:ext cx="2476537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333676" y="2568736"/>
            <a:ext cx="2476537" cy="461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Экономист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маржа в 3 сценариях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Финансист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БДДС и кассовые разрывы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Юрист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риски договора подряда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038813" y="1266899"/>
            <a:ext cx="2705026" cy="3105076"/>
          </a:xfrm>
          <a:prstGeom prst="roundRect">
            <a:avLst>
              <a:gd name="adj" fmla="val 2817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038813" y="1266899"/>
            <a:ext cx="2705026" cy="328613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138825" y="1345481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FFFFFF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141683" y="1348338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6381713" y="1361554"/>
            <a:ext cx="22621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Руководитель проекта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153113" y="1695524"/>
            <a:ext cx="2590726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АГЕНТ + ШИНА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153113" y="1859831"/>
            <a:ext cx="2590726" cy="131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Сводный вывод для ЛПР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53113" y="2036973"/>
            <a:ext cx="2476426" cy="50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0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Объединяет выводы всех агентов в единый сводный отчёт: что не так, сколько денег на кону, какие корректирующие меры нужны.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53113" y="2475867"/>
            <a:ext cx="2476426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153113" y="2568736"/>
            <a:ext cx="2476426" cy="615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Руководитель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сводный вывод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Шина оркестрации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порядок вызова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Поиск подрядчиков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внешний контур</a:t>
            </a:r>
            <a:endParaRPr lang="en-US" sz="800" dirty="0"/>
          </a:p>
          <a:p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60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b="1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Нормализация документов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866"/>
              </a:lnSpc>
              <a:spcAft>
                <a:spcPts val="281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внутренний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00050" y="4471988"/>
            <a:ext cx="8343900" cy="271463"/>
          </a:xfrm>
          <a:prstGeom prst="roundRect">
            <a:avLst>
              <a:gd name="adj" fmla="val 21053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00050" y="4471988"/>
            <a:ext cx="8343900" cy="347472"/>
          </a:xfrm>
          <a:prstGeom prst="rect">
            <a:avLst/>
          </a:prstGeom>
          <a:noFill/>
          <a:ln/>
        </p:spPr>
        <p:txBody>
          <a:bodyPr wrap="square" lIns="128588" tIns="71438" rIns="128588" bIns="71438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 агентов · 250+ объектов в обучающей базе · ±3–5% точность оценки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0" y="4861322"/>
            <a:ext cx="91440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0050" y="4950619"/>
            <a:ext cx="392470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339047" y="4950619"/>
            <a:ext cx="405910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КОМАНДА ИИ-АГЕНТОВ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09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501848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85750"/>
            <a:ext cx="6921512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· ЦЕННОСТЬ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35850" y="288429"/>
            <a:ext cx="596438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РАЗДЕЛ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97515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954677" y="331291"/>
            <a:ext cx="12858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11840" y="331291"/>
            <a:ext cx="12858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269002" y="331291"/>
            <a:ext cx="12858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461427" y="288429"/>
            <a:ext cx="290124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b="1" spc="79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01/04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400050" y="662583"/>
            <a:ext cx="863600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688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Собственная расчётно-аналитическая оценка</a:t>
            </a:r>
            <a:endParaRPr lang="en-US" sz="1688" dirty="0"/>
          </a:p>
        </p:txBody>
      </p:sp>
      <p:sp>
        <p:nvSpPr>
          <p:cNvPr id="11" name="Text 9"/>
          <p:cNvSpPr/>
          <p:nvPr/>
        </p:nvSpPr>
        <p:spPr>
          <a:xfrm>
            <a:off x="400050" y="959718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Что меняется при подключении СтройИнтеллекта к экспертизе предложений подрядчиков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00050" y="1266899"/>
            <a:ext cx="4100513" cy="3476551"/>
          </a:xfrm>
          <a:prstGeom prst="roundRect">
            <a:avLst>
              <a:gd name="adj" fmla="val 219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0050" y="1266899"/>
            <a:ext cx="4100513" cy="4786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4350" y="1352624"/>
            <a:ext cx="1584484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4350" y="1516931"/>
            <a:ext cx="1160634" cy="1254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Ручная проверка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93291" y="1406203"/>
            <a:ext cx="1115831" cy="200025"/>
          </a:xfrm>
          <a:prstGeom prst="roundRect">
            <a:avLst>
              <a:gd name="adj" fmla="val 14286"/>
            </a:avLst>
          </a:prstGeom>
          <a:noFill/>
          <a:ln w="7144">
            <a:solidFill>
              <a:srgbClr val="D0D0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16151" y="1416918"/>
            <a:ext cx="107011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2222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БАЗОВЫЙ ПРОЦЕСС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7213" y="1895549"/>
            <a:ext cx="2514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0100" y="1888406"/>
            <a:ext cx="3543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Ручное сопоставление предложений в Excel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7213" y="2181299"/>
            <a:ext cx="2514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0100" y="2174156"/>
            <a:ext cx="3543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Разные наименования и единицы измерения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57213" y="2467049"/>
            <a:ext cx="2514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00100" y="2459906"/>
            <a:ext cx="3543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Сложно отличить рыночное движение цены от завышения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57213" y="2752799"/>
            <a:ext cx="25146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99999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⊖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00100" y="2745656"/>
            <a:ext cx="3543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Опыт прошлых объектов не систематизирован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57213" y="3674901"/>
            <a:ext cx="3786188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7213" y="4425553"/>
            <a:ext cx="3786188" cy="244394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Точность: зависит от специалиста. Время: 2–5 дней на одно КП.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43438" y="1266899"/>
            <a:ext cx="4100513" cy="3476551"/>
          </a:xfrm>
          <a:prstGeom prst="roundRect">
            <a:avLst>
              <a:gd name="adj" fmla="val 2192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43438" y="1266899"/>
            <a:ext cx="4100513" cy="40005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772025" y="1366912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FFFF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43488" y="1411560"/>
            <a:ext cx="2749004" cy="126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b="1" spc="1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ПОСЛЕ · СтройИнтеллект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72025" y="1366912"/>
            <a:ext cx="200025" cy="200025"/>
          </a:xfrm>
          <a:prstGeom prst="roundRect">
            <a:avLst>
              <a:gd name="adj" fmla="val 14286"/>
            </a:avLst>
          </a:prstGeom>
          <a:solidFill>
            <a:srgbClr val="FFFFFF">
              <a:alpha val="1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778812" y="1373698"/>
            <a:ext cx="186452" cy="186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4" name="Text 32"/>
          <p:cNvSpPr/>
          <p:nvPr/>
        </p:nvSpPr>
        <p:spPr>
          <a:xfrm>
            <a:off x="7783919" y="1374913"/>
            <a:ext cx="854303" cy="184023"/>
          </a:xfrm>
          <a:prstGeom prst="roundRect">
            <a:avLst>
              <a:gd name="adj" fmla="val 1552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806779" y="1384771"/>
            <a:ext cx="808583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9 ИИ-АГЕНТОВ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00600" y="1816968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803458" y="1819826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38" name="Text 36"/>
          <p:cNvSpPr/>
          <p:nvPr/>
        </p:nvSpPr>
        <p:spPr>
          <a:xfrm>
            <a:off x="5057775" y="1809824"/>
            <a:ext cx="35290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Приведение позиций к сопоставимому виду автоматически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00600" y="2095574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03458" y="2098432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1" name="Text 39"/>
          <p:cNvSpPr/>
          <p:nvPr/>
        </p:nvSpPr>
        <p:spPr>
          <a:xfrm>
            <a:off x="5057775" y="2088431"/>
            <a:ext cx="35290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Выявление аномалий с указанием суммы влияния в рублях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800600" y="2374181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803458" y="2377038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4" name="Text 42"/>
          <p:cNvSpPr/>
          <p:nvPr/>
        </p:nvSpPr>
        <p:spPr>
          <a:xfrm>
            <a:off x="5057775" y="2367037"/>
            <a:ext cx="35290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Независимая оценка на базе 250+ объектов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00600" y="2652787"/>
            <a:ext cx="171450" cy="171450"/>
          </a:xfrm>
          <a:prstGeom prst="roundRect">
            <a:avLst>
              <a:gd name="adj" fmla="val 22222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803458" y="2655644"/>
            <a:ext cx="165735" cy="165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25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5057775" y="2645643"/>
            <a:ext cx="35290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Целевая цена для переговоров с подрядчиком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00600" y="3621323"/>
            <a:ext cx="3786188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800600" y="4425553"/>
            <a:ext cx="3786188" cy="244394"/>
          </a:xfrm>
          <a:prstGeom prst="rect">
            <a:avLst/>
          </a:prstGeom>
          <a:noFill/>
          <a:ln/>
        </p:spPr>
        <p:txBody>
          <a:bodyPr wrap="square" lIns="0" tIns="5715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Точность: ±3–5%. Время: 15 минут в режиме экспресс.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0" y="4861322"/>
            <a:ext cx="91440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0050" y="4950619"/>
            <a:ext cx="417797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92315" y="4950619"/>
            <a:ext cx="380583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09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501848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85750"/>
            <a:ext cx="707800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 · БЕЗОПАСНОСТЬ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92343" y="288429"/>
            <a:ext cx="782222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ГЛАВА 3 /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143875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01038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58200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15363" y="331291"/>
            <a:ext cx="128588" cy="21431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0050" y="662583"/>
            <a:ext cx="863600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688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Размещение в контуре Заказчика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400050" y="959718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Полное разделение внутреннего и внешнего контуров. Данные не выходят за пределы.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0050" y="1266899"/>
            <a:ext cx="4086225" cy="2871788"/>
          </a:xfrm>
          <a:prstGeom prst="roundRect">
            <a:avLst>
              <a:gd name="adj" fmla="val 265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5788" y="1438349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2219" y="1464781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lang="en-US" sz="1969" dirty="0"/>
          </a:p>
        </p:txBody>
      </p:sp>
      <p:sp>
        <p:nvSpPr>
          <p:cNvPr id="14" name="Text 12"/>
          <p:cNvSpPr/>
          <p:nvPr/>
        </p:nvSpPr>
        <p:spPr>
          <a:xfrm>
            <a:off x="1014413" y="1553542"/>
            <a:ext cx="32861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ВНУТРЕННИЙ КОНТУР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5788" y="1866974"/>
            <a:ext cx="3714750" cy="210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463" b="1" spc="-2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Локальные модели</a:t>
            </a:r>
            <a:endParaRPr lang="en-US" sz="1463" dirty="0"/>
          </a:p>
        </p:txBody>
      </p:sp>
      <p:sp>
        <p:nvSpPr>
          <p:cNvPr id="16" name="Text 14"/>
          <p:cNvSpPr/>
          <p:nvPr/>
        </p:nvSpPr>
        <p:spPr>
          <a:xfrm>
            <a:off x="585788" y="2119126"/>
            <a:ext cx="3714750" cy="7021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 коммерчески чувствительные данные — сметы, договоры, базы — обрабатываются </a:t>
            </a:r>
            <a:pPr algn="l" indent="0" marL="0">
              <a:lnSpc>
                <a:spcPts val="1170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исключительно локальными моделями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на вычислительных мощностях Заказчика. Плата за обращения не взимается.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5788" y="2799122"/>
            <a:ext cx="3714750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85788" y="2906278"/>
            <a:ext cx="3714750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ОБРАБАТЫВАЕТ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5788" y="3072071"/>
            <a:ext cx="519596" cy="243488"/>
          </a:xfrm>
          <a:prstGeom prst="roundRect">
            <a:avLst>
              <a:gd name="adj" fmla="val 11736"/>
            </a:avLst>
          </a:prstGeom>
          <a:noFill/>
          <a:ln w="7144">
            <a:solidFill>
              <a:srgbClr val="D0D0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85788" y="3084872"/>
            <a:ext cx="51959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2222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СМЕТЫ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48246" y="3072071"/>
            <a:ext cx="728551" cy="243488"/>
          </a:xfrm>
          <a:prstGeom prst="roundRect">
            <a:avLst>
              <a:gd name="adj" fmla="val 11736"/>
            </a:avLst>
          </a:prstGeom>
          <a:noFill/>
          <a:ln w="7144">
            <a:solidFill>
              <a:srgbClr val="D0D0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148246" y="3084872"/>
            <a:ext cx="72855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2222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ДОГОВОРЫ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19660" y="3072071"/>
            <a:ext cx="729109" cy="243488"/>
          </a:xfrm>
          <a:prstGeom prst="roundRect">
            <a:avLst>
              <a:gd name="adj" fmla="val 11736"/>
            </a:avLst>
          </a:prstGeom>
          <a:noFill/>
          <a:ln w="7144">
            <a:solidFill>
              <a:srgbClr val="D0D0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919660" y="3084872"/>
            <a:ext cx="729109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2222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БАЗЫ 250+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85788" y="3631481"/>
            <a:ext cx="2109987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b="1" spc="-1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585788" y="3860081"/>
            <a:ext cx="154409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 ОБРАЩЕНИЯ К МОДЕЛЯМ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57725" y="1266899"/>
            <a:ext cx="4086225" cy="2871788"/>
          </a:xfrm>
          <a:prstGeom prst="roundRect">
            <a:avLst>
              <a:gd name="adj" fmla="val 2653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43463" y="1438349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69894" y="1464781"/>
            <a:ext cx="290036" cy="290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30" name="Text 28"/>
          <p:cNvSpPr/>
          <p:nvPr/>
        </p:nvSpPr>
        <p:spPr>
          <a:xfrm>
            <a:off x="5272088" y="1553542"/>
            <a:ext cx="32861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ВНЕШНИЙ КОНТУР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43463" y="1866974"/>
            <a:ext cx="3714750" cy="210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463" b="1" spc="-2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Поиск подрядчиков</a:t>
            </a:r>
            <a:endParaRPr lang="en-US" sz="1463" dirty="0"/>
          </a:p>
        </p:txBody>
      </p:sp>
      <p:sp>
        <p:nvSpPr>
          <p:cNvPr id="32" name="Text 30"/>
          <p:cNvSpPr/>
          <p:nvPr/>
        </p:nvSpPr>
        <p:spPr>
          <a:xfrm>
            <a:off x="4843463" y="2119126"/>
            <a:ext cx="3714750" cy="526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Используется </a:t>
            </a:r>
            <a:pPr algn="l" indent="0" marL="0">
              <a:lnSpc>
                <a:spcPts val="1170"/>
              </a:lnSpc>
              <a:buNone/>
            </a:pPr>
            <a:r>
              <a:rPr lang="en-US" sz="800" b="1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только для поиска подрядчиков</a:t>
            </a:r>
            <a:pPr algn="l" indent="0" marL="0">
              <a:lnSpc>
                <a:spcPts val="1170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Передача данных выполняется только после анонимизации и маскирования по согласованному регламенту.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43463" y="2650554"/>
            <a:ext cx="3714750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43463" y="2757711"/>
            <a:ext cx="3714750" cy="15116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КАЖДАЯ ПЕРЕДАЧА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43463" y="2923503"/>
            <a:ext cx="1012738" cy="243488"/>
          </a:xfrm>
          <a:prstGeom prst="roundRect">
            <a:avLst>
              <a:gd name="adj" fmla="val 11736"/>
            </a:avLst>
          </a:prstGeom>
          <a:noFill/>
          <a:ln w="7144">
            <a:solidFill>
              <a:srgbClr val="D0D0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43463" y="2936304"/>
            <a:ext cx="101273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2222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АНОНИМИЗАЦИЯ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899063" y="2923503"/>
            <a:ext cx="752661" cy="243488"/>
          </a:xfrm>
          <a:prstGeom prst="roundRect">
            <a:avLst>
              <a:gd name="adj" fmla="val 11736"/>
            </a:avLst>
          </a:prstGeom>
          <a:noFill/>
          <a:ln w="7144">
            <a:solidFill>
              <a:srgbClr val="D0D0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899063" y="2936304"/>
            <a:ext cx="75266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2222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РЕГЛАМЕНТ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694587" y="2923503"/>
            <a:ext cx="1037965" cy="243488"/>
          </a:xfrm>
          <a:prstGeom prst="roundRect">
            <a:avLst>
              <a:gd name="adj" fmla="val 11736"/>
            </a:avLst>
          </a:prstGeom>
          <a:noFill/>
          <a:ln w="7144">
            <a:solidFill>
              <a:srgbClr val="D0D0D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694587" y="2936304"/>
            <a:ext cx="103796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b="1" spc="37" kern="0" dirty="0">
                <a:solidFill>
                  <a:srgbClr val="22222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ЖУРНАЛ АУДИТА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43463" y="3874368"/>
            <a:ext cx="57150" cy="57150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957763" y="3838649"/>
            <a:ext cx="3600450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Все передачи фиксируются в журнале аудита.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400050" y="4238699"/>
            <a:ext cx="8343900" cy="305395"/>
          </a:xfrm>
          <a:prstGeom prst="roundRect">
            <a:avLst>
              <a:gd name="adj" fmla="val 1247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57213" y="4327103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266" dirty="0"/>
          </a:p>
        </p:txBody>
      </p:sp>
      <p:sp>
        <p:nvSpPr>
          <p:cNvPr id="45" name="Text 43"/>
          <p:cNvSpPr/>
          <p:nvPr/>
        </p:nvSpPr>
        <p:spPr>
          <a:xfrm>
            <a:off x="771525" y="4324424"/>
            <a:ext cx="7815263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5"/>
              </a:lnSpc>
              <a:buNone/>
            </a:pPr>
            <a:r>
              <a:rPr lang="en-US" sz="800" b="1" spc="28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Соответствие 152-ФЗ. Возможна установка в закрытом периметре без доступа к интернету.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0" y="4861322"/>
            <a:ext cx="91440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0050" y="4950619"/>
            <a:ext cx="413455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548894" y="4950619"/>
            <a:ext cx="384925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РАЗМЕЩЕНИЕ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09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501848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85750"/>
            <a:ext cx="707800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· ВНЕДРЕНИЕ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92343" y="288429"/>
            <a:ext cx="782222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ГЛАВА 4 /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143875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01038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58200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15363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0050" y="662583"/>
            <a:ext cx="8636000" cy="25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688" b="1" spc="-30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135 дней</a:t>
            </a:r>
            <a:pPr algn="l" indent="0" marL="0">
              <a:lnSpc>
                <a:spcPts val="1890"/>
              </a:lnSpc>
              <a:buNone/>
            </a:pPr>
            <a:r>
              <a:rPr lang="en-US" sz="1688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от развёртывания до приёмки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400050" y="959718"/>
            <a:ext cx="62865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Запуск в опытную эксплуатацию. После приёмки — 12 месяцев гарантийного сопровождения.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0050" y="1266899"/>
            <a:ext cx="8343900" cy="42863"/>
          </a:xfrm>
          <a:prstGeom prst="roundRect">
            <a:avLst>
              <a:gd name="adj" fmla="val 66666"/>
            </a:avLst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00050" y="1266899"/>
            <a:ext cx="8343900" cy="42863"/>
          </a:xfrm>
          <a:prstGeom prst="roundRect">
            <a:avLst>
              <a:gd name="adj" fmla="val 66666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0050" y="1366912"/>
            <a:ext cx="33375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33%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86025" y="1366912"/>
            <a:ext cx="33375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63%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572000" y="1366912"/>
            <a:ext cx="33375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85%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406390" y="1366912"/>
            <a:ext cx="33375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844"/>
              </a:lnSpc>
              <a:buNone/>
            </a:pPr>
            <a:r>
              <a:rPr lang="en-US" sz="800" b="1" spc="56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00050" y="1645518"/>
            <a:ext cx="2000250" cy="3097932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200150" y="1774106"/>
            <a:ext cx="400050" cy="400050"/>
          </a:xfrm>
          <a:prstGeom prst="ellipse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00150" y="1774106"/>
            <a:ext cx="4000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1463" dirty="0"/>
          </a:p>
        </p:txBody>
      </p:sp>
      <p:sp>
        <p:nvSpPr>
          <p:cNvPr id="20" name="Text 18"/>
          <p:cNvSpPr/>
          <p:nvPr/>
        </p:nvSpPr>
        <p:spPr>
          <a:xfrm>
            <a:off x="1108929" y="2250022"/>
            <a:ext cx="582381" cy="184023"/>
          </a:xfrm>
          <a:prstGeom prst="roundRect">
            <a:avLst>
              <a:gd name="adj" fmla="val 15528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130498" y="2259881"/>
            <a:ext cx="53924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45 ДНЕЙ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2445" y="2495624"/>
            <a:ext cx="1595349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44" b="1" spc="-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Развёртывание и база</a:t>
            </a:r>
            <a:endParaRPr lang="en-US" sz="844" dirty="0"/>
          </a:p>
        </p:txBody>
      </p:sp>
      <p:sp>
        <p:nvSpPr>
          <p:cNvPr id="23" name="Text 21"/>
          <p:cNvSpPr/>
          <p:nvPr/>
        </p:nvSpPr>
        <p:spPr>
          <a:xfrm>
            <a:off x="528638" y="2667074"/>
            <a:ext cx="1743075" cy="510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Установка локальных моделей, настройка агентов, наполнение опорной базы.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28638" y="3151287"/>
            <a:ext cx="1743075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8638" y="3229868"/>
            <a:ext cx="776853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28638" y="3394174"/>
            <a:ext cx="1847660" cy="1214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Локальные модели запущены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8638" y="3543077"/>
            <a:ext cx="1743075" cy="1214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Агенты настроены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8638" y="3691979"/>
            <a:ext cx="1743075" cy="14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База Заказчика загружена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514600" y="1645518"/>
            <a:ext cx="2000250" cy="3097932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14700" y="1774106"/>
            <a:ext cx="400050" cy="400050"/>
          </a:xfrm>
          <a:prstGeom prst="ellipse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314700" y="1774106"/>
            <a:ext cx="4000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1463" dirty="0"/>
          </a:p>
        </p:txBody>
      </p:sp>
      <p:sp>
        <p:nvSpPr>
          <p:cNvPr id="32" name="Text 30"/>
          <p:cNvSpPr/>
          <p:nvPr/>
        </p:nvSpPr>
        <p:spPr>
          <a:xfrm>
            <a:off x="3223479" y="2250022"/>
            <a:ext cx="582381" cy="184023"/>
          </a:xfrm>
          <a:prstGeom prst="roundRect">
            <a:avLst>
              <a:gd name="adj" fmla="val 15528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245048" y="2259881"/>
            <a:ext cx="53924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40 ДНЕЙ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839171" y="2495624"/>
            <a:ext cx="1351108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44" b="1" spc="-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Расчётный модуль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2643188" y="2667074"/>
            <a:ext cx="1743075" cy="510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Разбор документов, расчёт себестоимости и финансовой модели в трёх сценариях.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643188" y="3151287"/>
            <a:ext cx="1743075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643188" y="3229868"/>
            <a:ext cx="776853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2643188" y="3394174"/>
            <a:ext cx="1743075" cy="1214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себестоимости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643188" y="3543077"/>
            <a:ext cx="1743075" cy="1214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Финмодель в 3 сценариях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643188" y="3691979"/>
            <a:ext cx="1743075" cy="14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БДДС помесячно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629150" y="1645518"/>
            <a:ext cx="2000250" cy="3097932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429250" y="1774106"/>
            <a:ext cx="400050" cy="400050"/>
          </a:xfrm>
          <a:prstGeom prst="ellipse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429250" y="1774106"/>
            <a:ext cx="4000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463" dirty="0"/>
          </a:p>
        </p:txBody>
      </p:sp>
      <p:sp>
        <p:nvSpPr>
          <p:cNvPr id="44" name="Text 42"/>
          <p:cNvSpPr/>
          <p:nvPr/>
        </p:nvSpPr>
        <p:spPr>
          <a:xfrm>
            <a:off x="5338029" y="2250022"/>
            <a:ext cx="582381" cy="184023"/>
          </a:xfrm>
          <a:prstGeom prst="roundRect">
            <a:avLst>
              <a:gd name="adj" fmla="val 15528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359598" y="2259881"/>
            <a:ext cx="53924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30 ДНЕЙ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85513" y="2495624"/>
            <a:ext cx="1487412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44" b="1" spc="-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Сравнительный контур</a:t>
            </a:r>
            <a:endParaRPr lang="en-US" sz="844" dirty="0"/>
          </a:p>
        </p:txBody>
      </p:sp>
      <p:sp>
        <p:nvSpPr>
          <p:cNvPr id="47" name="Text 45"/>
          <p:cNvSpPr/>
          <p:nvPr/>
        </p:nvSpPr>
        <p:spPr>
          <a:xfrm>
            <a:off x="4757738" y="2667074"/>
            <a:ext cx="1743075" cy="510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Сопоставление предложений, выявление аномалий, калибровка оценки.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757738" y="3151287"/>
            <a:ext cx="1743075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757738" y="3229868"/>
            <a:ext cx="776853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57738" y="3394174"/>
            <a:ext cx="1743075" cy="1214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 КП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57738" y="3543077"/>
            <a:ext cx="1743075" cy="1214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Реестр аномалий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57738" y="3691979"/>
            <a:ext cx="1743075" cy="14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Калибровка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743700" y="1645518"/>
            <a:ext cx="2000250" cy="3097932"/>
          </a:xfrm>
          <a:prstGeom prst="roundRect">
            <a:avLst>
              <a:gd name="adj" fmla="val 3810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7543800" y="1774106"/>
            <a:ext cx="400050" cy="400050"/>
          </a:xfrm>
          <a:prstGeom prst="ellipse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543800" y="1774106"/>
            <a:ext cx="4000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463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1463" dirty="0"/>
          </a:p>
        </p:txBody>
      </p:sp>
      <p:sp>
        <p:nvSpPr>
          <p:cNvPr id="56" name="Text 54"/>
          <p:cNvSpPr/>
          <p:nvPr/>
        </p:nvSpPr>
        <p:spPr>
          <a:xfrm>
            <a:off x="7452579" y="2250022"/>
            <a:ext cx="582381" cy="184023"/>
          </a:xfrm>
          <a:prstGeom prst="roundRect">
            <a:avLst>
              <a:gd name="adj" fmla="val 15528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474148" y="2259881"/>
            <a:ext cx="539242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20 ДНЕЙ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950795" y="2495624"/>
            <a:ext cx="1586061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013"/>
              </a:lnSpc>
              <a:buNone/>
            </a:pPr>
            <a:r>
              <a:rPr lang="en-US" sz="844" b="1" spc="-8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Интерфейс и приёмка</a:t>
            </a:r>
            <a:endParaRPr lang="en-US" sz="844" dirty="0"/>
          </a:p>
        </p:txBody>
      </p:sp>
      <p:sp>
        <p:nvSpPr>
          <p:cNvPr id="59" name="Text 57"/>
          <p:cNvSpPr/>
          <p:nvPr/>
        </p:nvSpPr>
        <p:spPr>
          <a:xfrm>
            <a:off x="6872288" y="2667074"/>
            <a:ext cx="1743075" cy="340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Веб-приложение, интеграция с 1С и СМР, обучение пользователей.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872288" y="3018458"/>
            <a:ext cx="1743075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6872288" y="3097039"/>
            <a:ext cx="776853" cy="13687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РЕЗУЛЬТАТ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872288" y="3261345"/>
            <a:ext cx="1743075" cy="1214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Веб-интерфейс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872288" y="3410248"/>
            <a:ext cx="1743075" cy="1214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Интеграция 1С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872288" y="3559150"/>
            <a:ext cx="1743075" cy="148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35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Обучение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0" y="4861322"/>
            <a:ext cx="91440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00050" y="4950619"/>
            <a:ext cx="400797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422316" y="4950619"/>
            <a:ext cx="3975832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ЭТАПЫ ВНЕДРЕНИЯ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09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0050" y="501848"/>
            <a:ext cx="83439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0050" y="285750"/>
            <a:ext cx="707800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 · ЭКОНОМИКА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492343" y="288429"/>
            <a:ext cx="782222" cy="109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ГЛАВА 4 / 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143875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01038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458200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15363" y="331291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00050" y="662583"/>
            <a:ext cx="8636000" cy="259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688" b="1" spc="-30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Экономика проекта</a:t>
            </a:r>
            <a:endParaRPr lang="en-US" sz="1688" dirty="0"/>
          </a:p>
        </p:txBody>
      </p:sp>
      <p:sp>
        <p:nvSpPr>
          <p:cNvPr id="10" name="Text 8"/>
          <p:cNvSpPr/>
          <p:nvPr/>
        </p:nvSpPr>
        <p:spPr>
          <a:xfrm>
            <a:off x="400050" y="959718"/>
            <a:ext cx="62865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Базовая цена промышленного внедрения для строительной компании. Сравните с потерями на одном объекте — обычно они выше.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00050" y="1416918"/>
            <a:ext cx="4442073" cy="3286125"/>
          </a:xfrm>
          <a:prstGeom prst="roundRect">
            <a:avLst>
              <a:gd name="adj" fmla="val 2319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7225" y="2050591"/>
            <a:ext cx="392772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СТОИМОСТЬ ВНЕДРЕНИЯ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0" y="2257760"/>
            <a:ext cx="5465545" cy="999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290"/>
              </a:lnSpc>
              <a:buNone/>
            </a:pPr>
            <a:r>
              <a:rPr lang="en-US" sz="8100" b="1" spc="-365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22,5</a:t>
            </a:r>
            <a:pPr algn="l" indent="0" marL="0">
              <a:lnSpc>
                <a:spcPts val="7290"/>
              </a:lnSpc>
              <a:buNone/>
            </a:pPr>
            <a:r>
              <a:rPr lang="en-US" sz="2475" b="1" spc="-49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млн ₽</a:t>
            </a:r>
            <a:endParaRPr lang="en-US" sz="8100" dirty="0"/>
          </a:p>
        </p:txBody>
      </p:sp>
      <p:sp>
        <p:nvSpPr>
          <p:cNvPr id="14" name="Text 12"/>
          <p:cNvSpPr/>
          <p:nvPr/>
        </p:nvSpPr>
        <p:spPr>
          <a:xfrm>
            <a:off x="657225" y="3283558"/>
            <a:ext cx="40374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 НДС 22% · полный комплекс работ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57225" y="3562164"/>
            <a:ext cx="3927723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57225" y="3697895"/>
            <a:ext cx="470416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1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1688" dirty="0"/>
          </a:p>
        </p:txBody>
      </p:sp>
      <p:sp>
        <p:nvSpPr>
          <p:cNvPr id="17" name="Text 15"/>
          <p:cNvSpPr/>
          <p:nvPr/>
        </p:nvSpPr>
        <p:spPr>
          <a:xfrm>
            <a:off x="994097" y="3769333"/>
            <a:ext cx="9151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мес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7225" y="3962214"/>
            <a:ext cx="169066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ГАРАНТИЯ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995004" y="3697895"/>
            <a:ext cx="125205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17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 ₽</a:t>
            </a:r>
            <a:endParaRPr lang="en-US" sz="1688" dirty="0"/>
          </a:p>
        </p:txBody>
      </p:sp>
      <p:sp>
        <p:nvSpPr>
          <p:cNvPr id="20" name="Text 18"/>
          <p:cNvSpPr/>
          <p:nvPr/>
        </p:nvSpPr>
        <p:spPr>
          <a:xfrm>
            <a:off x="1995004" y="3955070"/>
            <a:ext cx="169066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ЛИЦЕНЗИИ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32783" y="3697895"/>
            <a:ext cx="235208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688" b="1" spc="-17" kern="0" dirty="0">
                <a:solidFill>
                  <a:srgbClr val="FF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1688" dirty="0"/>
          </a:p>
        </p:txBody>
      </p:sp>
      <p:sp>
        <p:nvSpPr>
          <p:cNvPr id="22" name="Text 20"/>
          <p:cNvSpPr/>
          <p:nvPr/>
        </p:nvSpPr>
        <p:spPr>
          <a:xfrm>
            <a:off x="3522650" y="3769333"/>
            <a:ext cx="106218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лимитов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32783" y="3962214"/>
            <a:ext cx="125216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56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ОБЪЕКТОВ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45720" y="1420490"/>
            <a:ext cx="3694658" cy="673522"/>
          </a:xfrm>
          <a:prstGeom prst="roundRect">
            <a:avLst>
              <a:gd name="adj" fmla="val 11314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177879" y="1538362"/>
            <a:ext cx="3430339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ОТКАЗ ОТ ПОДПИСКИ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177879" y="1688381"/>
            <a:ext cx="3430339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Единоразовая оплата внедрения. Никаких ежемесячных платежей. Каждое обращение к локальным моделям — бесплатно.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45720" y="2186880"/>
            <a:ext cx="3694658" cy="817401"/>
          </a:xfrm>
          <a:prstGeom prst="roundRect">
            <a:avLst>
              <a:gd name="adj" fmla="val 9322"/>
            </a:avLst>
          </a:prstGeom>
          <a:solidFill>
            <a:srgbClr val="FFFFFF"/>
          </a:solidFill>
          <a:ln w="7144">
            <a:solidFill>
              <a:srgbClr val="E5E5E5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177879" y="2304752"/>
            <a:ext cx="3430339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СРАВНЕНИЕ С ПОТЕРЯМИ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177879" y="2454771"/>
            <a:ext cx="3430339" cy="431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Одна предотвратённая переплата в смете на 4% окупает внедрение. Средние потери на объекте без контроля — 5–12% от сметы.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42148" y="3093579"/>
            <a:ext cx="3701802" cy="666378"/>
          </a:xfrm>
          <a:prstGeom prst="roundRect">
            <a:avLst>
              <a:gd name="adj" fmla="val 11435"/>
            </a:avLst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170736" y="3207879"/>
            <a:ext cx="3444627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101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СТРАТЕГИЧЕСКАЯ ЦЕНА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170736" y="3357897"/>
            <a:ext cx="3444627" cy="287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22,5 млн ₽ — цена первого промышленного внедрения. Для следующих клиентов: 34,9 млн ₽.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0" y="4857750"/>
            <a:ext cx="914400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0" y="4861322"/>
            <a:ext cx="914400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0050" y="4950619"/>
            <a:ext cx="394189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356236" y="4950619"/>
            <a:ext cx="404191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ЭКОНОМИКА ПРОЕКТА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09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428750" cy="514350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 rot="16200000">
            <a:off x="142875" y="2478881"/>
            <a:ext cx="1143000" cy="20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463" b="1" spc="205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0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1463"/>
              </a:lnSpc>
              <a:buNone/>
            </a:pPr>
            <a:r>
              <a:rPr lang="en-US" sz="1463" b="1" spc="205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1463" dirty="0"/>
          </a:p>
        </p:txBody>
      </p:sp>
      <p:sp>
        <p:nvSpPr>
          <p:cNvPr id="4" name="Text 2"/>
          <p:cNvSpPr/>
          <p:nvPr/>
        </p:nvSpPr>
        <p:spPr>
          <a:xfrm>
            <a:off x="1828800" y="257175"/>
            <a:ext cx="564925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86"/>
              </a:lnSpc>
              <a:buNone/>
            </a:pPr>
            <a:r>
              <a:rPr lang="en-US" sz="800" b="1" spc="10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СЛЕДУЮЩИЙ ШАГ · 09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492343" y="259854"/>
            <a:ext cx="78222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ГЛАВА 4 /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143875" y="302716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01038" y="302716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458200" y="302716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615363" y="302716"/>
            <a:ext cx="128588" cy="21431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28800" y="469702"/>
            <a:ext cx="6915150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828800" y="648295"/>
            <a:ext cx="6443663" cy="746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b="1" spc="-49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Проведём расчёт на вашем </a:t>
            </a:r>
            <a:pPr algn="l" indent="0" marL="0">
              <a:lnSpc>
                <a:spcPts val="2723"/>
              </a:lnSpc>
              <a:buNone/>
            </a:pPr>
            <a:r>
              <a:rPr lang="en-US" sz="2475" b="1" spc="-49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закрытом объекте</a:t>
            </a:r>
            <a:endParaRPr lang="en-US" sz="2475" dirty="0"/>
          </a:p>
        </p:txBody>
      </p:sp>
      <p:sp>
        <p:nvSpPr>
          <p:cNvPr id="12" name="Text 10"/>
          <p:cNvSpPr/>
          <p:nvPr/>
        </p:nvSpPr>
        <p:spPr>
          <a:xfrm>
            <a:off x="1828800" y="1453976"/>
            <a:ext cx="5143500" cy="382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Предоставьте сметы, КП и фактическую себестоимость. Мы вернём расчёт и список найденных отклонений в течение 5 рабочих дней. Бесплатно и без обязательств.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828800" y="1979712"/>
            <a:ext cx="6915150" cy="707231"/>
          </a:xfrm>
          <a:prstGeom prst="roundRect">
            <a:avLst>
              <a:gd name="adj" fmla="val 10774"/>
            </a:avLst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014538" y="2136874"/>
            <a:ext cx="228600" cy="228600"/>
          </a:xfrm>
          <a:prstGeom prst="ellipse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014538" y="2136874"/>
            <a:ext cx="2786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343150" y="2136874"/>
            <a:ext cx="2382410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 ДЕНЬ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343150" y="2272605"/>
            <a:ext cx="1866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Подписание NDA и приём документов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43388" y="2136874"/>
            <a:ext cx="228600" cy="228600"/>
          </a:xfrm>
          <a:prstGeom prst="ellipse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243388" y="2136874"/>
            <a:ext cx="2786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572000" y="2136874"/>
            <a:ext cx="2128844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ДНЕЙ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0" y="2272605"/>
            <a:ext cx="16679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Расчёт на нашей инфраструктуре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72238" y="2136874"/>
            <a:ext cx="228600" cy="228600"/>
          </a:xfrm>
          <a:prstGeom prst="ellipse">
            <a:avLst/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72238" y="2136874"/>
            <a:ext cx="278606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1181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800850" y="2136874"/>
            <a:ext cx="1757363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ОТЧЁТ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00850" y="2272605"/>
            <a:ext cx="175736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33333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PDF + Excel: расчёт, реестр отклонений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828800" y="2858393"/>
            <a:ext cx="6915150" cy="7144"/>
          </a:xfrm>
          <a:prstGeom prst="rect">
            <a:avLst/>
          </a:prstGeom>
          <a:solidFill>
            <a:srgbClr val="E5E5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828800" y="3013770"/>
            <a:ext cx="257175" cy="257175"/>
          </a:xfrm>
          <a:prstGeom prst="roundRect">
            <a:avLst>
              <a:gd name="adj" fmla="val 1481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843445" y="302841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lang="en-US" sz="1547" dirty="0"/>
          </a:p>
        </p:txBody>
      </p:sp>
      <p:sp>
        <p:nvSpPr>
          <p:cNvPr id="29" name="Text 27"/>
          <p:cNvSpPr/>
          <p:nvPr/>
        </p:nvSpPr>
        <p:spPr>
          <a:xfrm>
            <a:off x="2171700" y="2994124"/>
            <a:ext cx="1601557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ТЕЛЕФОН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71700" y="3129855"/>
            <a:ext cx="1454654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+7 (495) 000-00-00</a:t>
            </a:r>
            <a:endParaRPr lang="en-US" sz="844" dirty="0"/>
          </a:p>
        </p:txBody>
      </p:sp>
      <p:sp>
        <p:nvSpPr>
          <p:cNvPr id="31" name="Text 29"/>
          <p:cNvSpPr/>
          <p:nvPr/>
        </p:nvSpPr>
        <p:spPr>
          <a:xfrm>
            <a:off x="4190926" y="3013770"/>
            <a:ext cx="257175" cy="257175"/>
          </a:xfrm>
          <a:prstGeom prst="roundRect">
            <a:avLst>
              <a:gd name="adj" fmla="val 1481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205570" y="302841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✉</a:t>
            </a:r>
            <a:endParaRPr lang="en-US" sz="1547" dirty="0"/>
          </a:p>
        </p:txBody>
      </p:sp>
      <p:sp>
        <p:nvSpPr>
          <p:cNvPr id="33" name="Text 31"/>
          <p:cNvSpPr/>
          <p:nvPr/>
        </p:nvSpPr>
        <p:spPr>
          <a:xfrm>
            <a:off x="4533826" y="2994124"/>
            <a:ext cx="1404104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ПОЧТА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33826" y="3129855"/>
            <a:ext cx="1028506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sales@7rl.tech</a:t>
            </a:r>
            <a:endParaRPr lang="en-US" sz="844" dirty="0"/>
          </a:p>
        </p:txBody>
      </p:sp>
      <p:sp>
        <p:nvSpPr>
          <p:cNvPr id="35" name="Text 33"/>
          <p:cNvSpPr/>
          <p:nvPr/>
        </p:nvSpPr>
        <p:spPr>
          <a:xfrm>
            <a:off x="6553163" y="3013770"/>
            <a:ext cx="257175" cy="257175"/>
          </a:xfrm>
          <a:prstGeom prst="roundRect">
            <a:avLst>
              <a:gd name="adj" fmla="val 14815"/>
            </a:avLst>
          </a:prstGeom>
          <a:solidFill>
            <a:srgbClr val="FF000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567807" y="3028414"/>
            <a:ext cx="227886" cy="2278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47" dirty="0">
                <a:solidFill>
                  <a:srgbClr val="FFFFF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lang="en-US" sz="1547" dirty="0"/>
          </a:p>
        </p:txBody>
      </p:sp>
      <p:sp>
        <p:nvSpPr>
          <p:cNvPr id="37" name="Text 35"/>
          <p:cNvSpPr/>
          <p:nvPr/>
        </p:nvSpPr>
        <p:spPr>
          <a:xfrm>
            <a:off x="6896063" y="2994124"/>
            <a:ext cx="742950" cy="1082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САЙТ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896063" y="3129855"/>
            <a:ext cx="59436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b="1" spc="-4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7rl.tech</a:t>
            </a:r>
            <a:endParaRPr lang="en-US" sz="844" dirty="0"/>
          </a:p>
        </p:txBody>
      </p:sp>
      <p:sp>
        <p:nvSpPr>
          <p:cNvPr id="39" name="Text 37"/>
          <p:cNvSpPr/>
          <p:nvPr/>
        </p:nvSpPr>
        <p:spPr>
          <a:xfrm>
            <a:off x="1828800" y="4629150"/>
            <a:ext cx="6101544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900" b="1" spc="36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900"/>
              </a:lnSpc>
              <a:buNone/>
            </a:pPr>
            <a:r>
              <a:rPr lang="en-US" sz="900" b="1" spc="36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900"/>
              </a:lnSpc>
              <a:buNone/>
            </a:pPr>
            <a:r>
              <a:rPr lang="en-US" sz="900" b="1" spc="36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944631" y="4632722"/>
            <a:ext cx="1015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v.1 · Август 2025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428750" y="4857750"/>
            <a:ext cx="7715250" cy="2857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1428750" y="4861322"/>
            <a:ext cx="7715250" cy="0"/>
          </a:xfrm>
          <a:prstGeom prst="line">
            <a:avLst/>
          </a:prstGeom>
          <a:noFill/>
          <a:ln w="7144">
            <a:solidFill>
              <a:srgbClr val="E5E5E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828800" y="4950619"/>
            <a:ext cx="348358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FF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КРАСНЫХ</a:t>
            </a:r>
            <a:pPr algn="l" indent="0" marL="0">
              <a:lnSpc>
                <a:spcPts val="844"/>
              </a:lnSpc>
              <a:buNone/>
            </a:pPr>
            <a:r>
              <a:rPr lang="en-US" sz="800" b="1" spc="45" kern="0" dirty="0">
                <a:solidFill>
                  <a:srgbClr val="00000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ЛИНИЙ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326670" y="4950619"/>
            <a:ext cx="3071478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68" kern="0" dirty="0">
                <a:solidFill>
                  <a:srgbClr val="77777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КОНТАКТЫ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412435" y="4964906"/>
            <a:ext cx="331515" cy="928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68" kern="0" dirty="0">
                <a:solidFill>
                  <a:srgbClr val="00000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8556044" y="4950619"/>
            <a:ext cx="20380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68" kern="0" dirty="0">
                <a:solidFill>
                  <a:srgbClr val="77777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 09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2026-08-11T20:06:43Z</dcterms:created>
  <dcterms:modified xsi:type="dcterms:W3CDTF">2026-08-11T20:06:43Z</dcterms:modified>
</cp:coreProperties>
</file>