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Открыть с фразы «мы продаём не ПО, а предотвращённые потери»
- Пауза на «0 ₽» — абонентской платы нет
- Вопрос залу: «как вы сейчас проверяете сметы подрядчиков?»
- Подчеркнуть: «в вашем контуре» — данные не уходят наружу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Шесть разделов — от проблемы до экономики
- Главное — раздел 02: девять агентов
- Вопрос залу: «какой раздел вам сейчас важнее всего?»
- 28 страниц всего, на каждом шаге конкретика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Цифра 5–12% — главный шок для зала
- Спросить: «какой процент сметы вы проверяете вручную?»
- Пауза на «50–120 млн ₽» — конкретная сумма предотвращённых потерь
- Подчеркнуть: «до того, как они станут потерями» — ключевая фраза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причины = четыре агента
- Каждая причина закрывается конкретным агентом
- Главное — «ручная проверка зависит от человека»
- Названия агентов в бейджах — мостик к следующему слайду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Девять агентов = девять отдельных слайдов дальше
- Главное — Руководитель проекта объединяет выводы
- Каждый агент закрывает свою причину потерь
- Категории: смета, исполнение, финансы, договор, сводка, внешний контур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Первый и главный агент в цепочке
- Результат — 4% от сметы: на 1,2 млрд ₽ это 48 млн ₽
- Дальше — Нормализатор, его напарник по смете
- Подчеркнуть: «позиция за позицией» — это не выборочно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Агент-невидимка: без него сравнение невозможно
- 60% позиций у разных подрядчиков написаны по-разному
- 95% — точность извлечения и сопоставления
- Дальше — Экономист использует нормализованные данные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Агент 3 включается «после договора» — на этапе исполнения СМР.
 • Главное сообщение: заблаговременно вместо постфактум.
 • КС-2 и КС-3 — формы актов приёмки и справки о стоимости.
 • Финансовый сигнал направляется руководителю проекта для остановки платежа.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Коэффициенты — чёрный ящик для заказчика без экспертизы в сметах.
 • 8–15% — типовое скрытое завышение через коэффициенты.
 • Агент для продвинутых клиентов, готовых спорить с подрядчиком построчно.
 • Сравнение с опорной базой 250+ объектов — нормативные значения на стороне.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Три сценария маржи вместо одного — это качественный скачок в управлении рисками.
 • Ускорение в 240 раз: 5 дней ручного расчёта → 15 минут.
 • Главное для ЛПР: «принимаю решение с пониманием рисков, а не наугад».
 • Эскроу, инфляция, валютные риски — все учтены в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Помесячный БДДС — главный инструмент управления ликвидностью проекта.
 • Главное сообщение: заблаговременно вместо постфактум.
 • Кассовый разрыв — прямой риск банкротства девелопера.
 • Сумма и период дефицита — конкретный сигнал для ЛПР, а не «денег не хватает».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Юрист — переводчик юридического текста в конкретные рубли возможных потерь.
 • 12–18% — типовая доля скрытых рисков от суммы договора подряда.
 • Главное сообщение: асимметричные штрафы — подрядчик платит меньше, чем заказчик.
 • Реестр рисков с суммами — основа для протокола разногласий.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Главный агент системы — без него семь экспертов дают разрозненные выводы.
 • 15 минут на полный отчёт по объекту вместо 5–7 дней ручной работы аналитика.
 • ЛПР получает готовое решение с приоритетом по влиянию на деньги.
 • Executive summary — 5 ключевых выводов, остальное — приложение для тех, кто хочет деталей.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Единственный агент во внешнем контуре — все остальные работают локально.
 • 100% анонимизация данных перед передачей — соответствие 152-ФЗ.
 • Журнал аудита каждой передачи — заказчик видит, что и когда уходило.
 • Главное сообщение: данные не выходят в открытом виде, только анонимизированные.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Главное противопоставление — «постфактум vs заблаговременно»
• Спросить зал: «как бы выглядела ваша работа, если бы одно КП проверялось за 15 минут вместо 5 дней?»
• Подчеркнуть переход «1 сценарий → 3 сценария» — это многовариантная экономика объекта
• 9 агентов = новая операционная реальность, не инструмент-надстройка
• Пауза на контрасте «5–7 дней → 15 мин» — это и есть ценность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Три слоя: вход → 9 агентов → выход
• Шина оркестрации = строгая последовательность вызовов с передачей контекста
• Главное — «интеллектуальный слой поверх систем документооборота»
• Девятый агент (поиск подрядчиков) — единственный внешний, остальные локальные
• Выход раздвоен: ЛПР получает веб-интерфейс, системы — интеграцию с 1С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Главный ответ на возражение «данные уйдут» — два изолированных контура
• Локальные модели = 0 ₽ за обращения, без лимитов на объекты
• Внешний контур — только поиск подрядчиков, только после маскирования
• 152-ФЗ — формальное соответствие по обработке персданных
• Журнал аудита = прозрачность каждой операции для службы безопасности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Шесть пунктов соответствия — закрывают типовые требования СБ и юристов
• Air-gap режим — козырь для госпредприятий и оборонного сектора
• 152-ФЗ — формальная планка для регулятора
• NDA подписываем до приёма документов — снимает возражение на старте
• Журнал аудита = прозрачность для службы безопасности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135 дней = 4,5 месяца — реальный срок первого промышленного внедрения
• После приёмки — 12 месяцев гарантии включены в цену
• Интеграция с 1С входит в стоимость, не доплата
• Обучение — 2–3 сессии для пользователей
• Этапы идут последовательно, без распараллеливания рисков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Шесть пакетов — всё включено в цену внедрения, без доплат
• Главное — 12 месяцев гарантии и обучение 2–3 сессии
• Пакет 04 (Интеграции) — связь с 1С и системой управления ресурсами
• Пакет 06 — обновления агентов в течение года бесплатно
• Подчеркнуть: «без скрытых платежей» — закрывает типовое возражение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Четыре готовые интеграции + универсальный API для остальных систем
• Главное — «не заменяем, а усиливаем» существующий ИТ-ландшафт
• Позиционирование «интеллектуальный слой» снимает возражение СБ и ИТ
• Работает поверх 1С:ERP, 1С:УСО, BIM — без миграции данных
• Пауза на бейдже «ИНТЕЛЛЕКТУАЛЬНЫЙ СЛОЙ» — это и есть формула продукта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слайд для ЛПР: ROI 62% выше любого депозита
- 22,5 млн ₽ — единоразово, окупается на первом объекте
- Возврат 70 млн ₽ = 7% потерь от сметы 1 млрд ₽
- Чистый выигрыш 47,5 млн ₽ за первый объект
- Добивание: «0 ₽ подписки» и «без лицензионных платежей»
- Подставить реальные цифры клиента перед встречей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- 22,5 млн ₽ — цена для отраслевого референса (первого клиента)
- 34,9 млн ₽ — базовая цена для следующих клиентов
- Полный комплекс: модели, 9 агентов, база, 1С, обучение, 12 мес гарантии
- 0 ₽ лицензий и 0 лимитов объектов — добивание для ЛПР
- Одна предотвращённая переплата 4% окупает внедрение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критериев — финасовый контроль, КП, модель, кассовые разрывы, риски, опыт
- Главное сообщение: «единственный, кто считает деньги»
- Excel и 1С:УСО — не конкуренты, у них другая функция
- СтройИнтеллект — про деньги заказчика, не про документы
- Колонка СтройИнтеллект выделена красным — фокус внимания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 версии: v.1 — сейчас, v.2 — через 6 мес, v.3 — 12 мес, v.4 — 24 мес
- v.1: 9 агентов промышленного внедрения
- v.2: контроль графиков СМР + BIM
- v.3: прогнозные модели и риск-скоринг
- v.4: замкнутый контур управления, авто-решения по платежам
- Все обновления для действующих клиентов — без доплат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типовых вопросов ЛПР для отработки возражений
- Главное: «не заменяем, а усиливаем»
- Главное: «решение всегда за человеком»
- 0 ₽ лицензии + 12 мес гарантии — ответ на «дорого»
- 250+ объектов в базе — ответ на «нет своих данных»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цифр доверия — финальный аргумент перед контактом
- Ключевое: 250+ объектов в обучающей базе
- Ключевое: ±3-5% точность оценки стоимости
- 0 ₽ подписных платежей и 100% локальная обработка
- 12 мес гарантии включено в цену
- Использовать эти числа в каждом питче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Закрытие презентации
- Фраза: «поможем подобрать решения под ваши бизнес-задачи»
- Главное CTA — бесплатный пилот на одном объекте
- Пауза после контактов
- Поблагодарить за внимание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95" y="2478881"/>
            <a:ext cx="247430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50394" y="1655341"/>
            <a:ext cx="471487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Цифровая служба технического заказчика </a:t>
            </a:r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3150394" y="2269703"/>
            <a:ext cx="471487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Финансово-технический контроль строительства на базе искусственного интеллекта в вашем контуре. Девять специализированных агентов анализируют сметы, договоры и экономику объекта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того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как отклонения станут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потерями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50394" y="2963094"/>
            <a:ext cx="1504876" cy="525066"/>
          </a:xfrm>
          <a:prstGeom prst="roundRect">
            <a:avLst>
              <a:gd name="adj" fmla="val 7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78981" y="3077394"/>
            <a:ext cx="124770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4,5 месяца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3278981" y="3277419"/>
            <a:ext cx="124770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ВНЕДРЕНИЯ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5282" y="2963094"/>
            <a:ext cx="1504987" cy="525066"/>
          </a:xfrm>
          <a:prstGeom prst="roundRect">
            <a:avLst>
              <a:gd name="adj" fmla="val 7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3869" y="3077394"/>
            <a:ext cx="1247812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4883869" y="3277419"/>
            <a:ext cx="124781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СОСТАВЕ СИСТЕМЫ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60282" y="2963094"/>
            <a:ext cx="1504987" cy="525066"/>
          </a:xfrm>
          <a:prstGeom prst="roundRect">
            <a:avLst>
              <a:gd name="adj" fmla="val 7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88869" y="3077394"/>
            <a:ext cx="1247812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488869" y="3277419"/>
            <a:ext cx="124781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АБОНЕНТСКАЯ ПЛАТА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7152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разделов — от проблемы до экономики проекта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39292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939292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207294" y="105359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4080" y="10603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1543050" y="1028254"/>
            <a:ext cx="162254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 и ценность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43050" y="1176821"/>
            <a:ext cx="1668905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53443" y="1067879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1460785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938" y="1496504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938" y="1496504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207294" y="161080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4080" y="161759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1543050" y="1585466"/>
            <a:ext cx="161504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Девять агентов системы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43050" y="1734034"/>
            <a:ext cx="1661190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— отдельная зона контроля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53443" y="1625092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350" y="2017998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938" y="2053717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2938" y="2053717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207294" y="21680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14080" y="2174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1543050" y="2142679"/>
            <a:ext cx="150246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до и после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43050" y="2291246"/>
            <a:ext cx="138452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меняется при внедрении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53443" y="2182304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4350" y="2575210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2938" y="2610929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938" y="2610929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07294" y="272522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14080" y="27320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1543050" y="2699891"/>
            <a:ext cx="1810673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и безопасность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43050" y="2848459"/>
            <a:ext cx="181067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в контуре заказчика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53443" y="2739517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4350" y="3132423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938" y="3168142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2938" y="3168142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207294" y="328244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14080" y="3289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1543050" y="3257104"/>
            <a:ext cx="1754751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Этапы внедрения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43050" y="3405671"/>
            <a:ext cx="180488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 от развёртывания до приёмки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53443" y="3296729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4350" y="3689635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2938" y="3725354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2938" y="3725354"/>
            <a:ext cx="49291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207294" y="38396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14080" y="38464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1543050" y="3814316"/>
            <a:ext cx="172146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проекта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543050" y="3962884"/>
            <a:ext cx="1770650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₽. Возврат на первом объекте</a:t>
            </a:r>
            <a:endParaRPr lang="en-US" sz="619" dirty="0"/>
          </a:p>
        </p:txBody>
      </p:sp>
      <p:sp>
        <p:nvSpPr>
          <p:cNvPr id="51" name="Text 49"/>
          <p:cNvSpPr/>
          <p:nvPr/>
        </p:nvSpPr>
        <p:spPr>
          <a:xfrm>
            <a:off x="8253443" y="3853942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22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073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02361" y="4954191"/>
            <a:ext cx="37679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 значимые отклонения в сметах и коммерческих предложениях подрядчиков часто видны уже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подписания договора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048569"/>
            <a:ext cx="4903403" cy="3000375"/>
          </a:xfrm>
          <a:prstGeom prst="roundRect">
            <a:avLst>
              <a:gd name="adj" fmla="val 127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205731"/>
            <a:ext cx="453192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БЕЗДЕЙСТВИЯ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384325"/>
            <a:ext cx="453192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 значимые отклонения в сметах и коммерческих предложениях подрядчиков часто выявляются уже </a:t>
            </a:r>
            <a:pPr algn="l" indent="0" marL="0">
              <a:lnSpc>
                <a:spcPts val="119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подписания договора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Ручная проверка зависит от времени и опыта конкретных специалистов, а опыт прошлых объектов используется фрагментарно.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1925464"/>
            <a:ext cx="453192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2018333"/>
            <a:ext cx="453192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проверяет сметы, подрядчиков и экономику объекта, формируя 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собственную расчётную оценку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показывая отклонения 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того, как они станут потерями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На объекте за 1 млрд ₽ это 50–120 млн ₽ предотвращённых потерь.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2559472"/>
            <a:ext cx="453192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088" y="2652340"/>
            <a:ext cx="453192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 анализ 250+ завершённых объектов в обучающей базе, 2018–2024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89203" y="1048569"/>
            <a:ext cx="3268935" cy="933376"/>
          </a:xfrm>
          <a:prstGeom prst="roundRect">
            <a:avLst>
              <a:gd name="adj" fmla="val 408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7791" y="1379525"/>
            <a:ext cx="271463" cy="271463"/>
          </a:xfrm>
          <a:prstGeom prst="roundRect">
            <a:avLst>
              <a:gd name="adj" fmla="val 1052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39579" y="140131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6089266" y="1367024"/>
            <a:ext cx="1944207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5–12%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89266" y="1567049"/>
            <a:ext cx="14314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ОТ СМЕТЫ ОБЪЕКТА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9203" y="2081957"/>
            <a:ext cx="3268935" cy="933487"/>
          </a:xfrm>
          <a:prstGeom prst="roundRect">
            <a:avLst>
              <a:gd name="adj" fmla="val 40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7791" y="2412913"/>
            <a:ext cx="271463" cy="271463"/>
          </a:xfrm>
          <a:prstGeom prst="roundRect">
            <a:avLst>
              <a:gd name="adj" fmla="val 1052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39579" y="243470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6089266" y="2400412"/>
            <a:ext cx="2640285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89266" y="2600437"/>
            <a:ext cx="18364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ОЦЕНКИ СТРОЙИНТЕЛЛЕКТА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89203" y="3115456"/>
            <a:ext cx="3268935" cy="933487"/>
          </a:xfrm>
          <a:prstGeom prst="roundRect">
            <a:avLst>
              <a:gd name="adj" fmla="val 40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17791" y="3446413"/>
            <a:ext cx="271463" cy="271463"/>
          </a:xfrm>
          <a:prstGeom prst="roundRect">
            <a:avLst>
              <a:gd name="adj" fmla="val 1052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39579" y="34682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089266" y="3433911"/>
            <a:ext cx="2032254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089266" y="3633936"/>
            <a:ext cx="171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ОТВЕТА В РЕЖИМЕ ЭКСПРЕСС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4350" y="4954191"/>
            <a:ext cx="4137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6543" y="4954191"/>
            <a:ext cx="37038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потери не видны вовремя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системные причины — каждая закрывается отдельным агентом СтройИнтеллекта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4036219" cy="1450181"/>
          </a:xfrm>
          <a:prstGeom prst="roundRect">
            <a:avLst>
              <a:gd name="adj" fmla="val 262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1017873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017873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007269" y="1060735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4055" y="106752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642938" y="1360773"/>
            <a:ext cx="377904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938" y="1425067"/>
            <a:ext cx="38887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 зависит от человека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2938" y="1607232"/>
            <a:ext cx="3779044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и опыт конкретного специалиста. Ушёл в отпуск — проверка встала. Ошибся — отклонение пропущено. Знания не накапливаются в системе.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0078" y="2055824"/>
            <a:ext cx="97105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938" y="2066218"/>
            <a:ext cx="9253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СМЕТЧИК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50581" y="903573"/>
            <a:ext cx="4036219" cy="1450181"/>
          </a:xfrm>
          <a:prstGeom prst="roundRect">
            <a:avLst>
              <a:gd name="adj" fmla="val 262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79169" y="1017873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9169" y="1017873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5143500" y="1060735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0287" y="106752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4779169" y="1360773"/>
            <a:ext cx="377904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9169" y="1425067"/>
            <a:ext cx="38887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Несопоставимые наименования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79169" y="1607232"/>
            <a:ext cx="3779044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Подрядчики пишут позиции по-разному. Сравнить 3+ коммерческих предложения вручную невозможно без нормализации.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6309" y="2055824"/>
            <a:ext cx="127980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9169" y="2066218"/>
            <a:ext cx="12340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НОРМАЛИЗАТОР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2453767"/>
            <a:ext cx="4036219" cy="1450181"/>
          </a:xfrm>
          <a:prstGeom prst="roundRect">
            <a:avLst>
              <a:gd name="adj" fmla="val 262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2938" y="2568067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2938" y="2568067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1007269" y="261092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14055" y="26177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42938" y="2910967"/>
            <a:ext cx="377904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938" y="2975260"/>
            <a:ext cx="37790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не систематизирован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2938" y="3157426"/>
            <a:ext cx="3779044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прошлых объектов фрагментарны. Каждый проект — с нуля. Накопленного знания нет ни в одной корпоративной системе.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6509" y="3619984"/>
            <a:ext cx="1768525" cy="166092"/>
          </a:xfrm>
          <a:prstGeom prst="roundRect">
            <a:avLst>
              <a:gd name="adj" fmla="val 11470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2938" y="3616412"/>
            <a:ext cx="1775668" cy="173236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АУДИТОР КОЭФФИЦИЕНТОВ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50581" y="2453767"/>
            <a:ext cx="4036219" cy="1450181"/>
          </a:xfrm>
          <a:prstGeom prst="roundRect">
            <a:avLst>
              <a:gd name="adj" fmla="val 262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79169" y="2568067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9169" y="2568067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5143500" y="261092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50287" y="26177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4779169" y="2910967"/>
            <a:ext cx="377904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79169" y="2975260"/>
            <a:ext cx="37790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Рынок против завышения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79169" y="3157426"/>
            <a:ext cx="3779044" cy="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реальное движение цены от скрытого завышения. Коэффициенты и индексы — чёрный ящик для заказчика.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2741" y="3619984"/>
            <a:ext cx="1768525" cy="166092"/>
          </a:xfrm>
          <a:prstGeom prst="roundRect">
            <a:avLst>
              <a:gd name="adj" fmla="val 11470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79169" y="3616412"/>
            <a:ext cx="1775668" cy="173236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АУДИТОР КОЭФФИЦИЕНТОВ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4350" y="4954191"/>
            <a:ext cx="39849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13622" y="4954191"/>
            <a:ext cx="38567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ПРИЧИНЫ ПОТЕРЬ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 из девяти агентов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агент — отдельная зона финансово-технического контроля. Сводный вывод делает руководитель проекта.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агент подробно разобран на отдельном слайде.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7922" y="1052140"/>
            <a:ext cx="2659819" cy="914177"/>
          </a:xfrm>
          <a:prstGeom prst="roundRect">
            <a:avLst>
              <a:gd name="adj" fmla="val 416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14143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14143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7256" y="114858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1187" y="116251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621506" y="1412900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1562919"/>
            <a:ext cx="2562378" cy="138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 сметы и выявление двойного учёта.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5750" y="1719894"/>
            <a:ext cx="425424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1728788"/>
            <a:ext cx="39391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70610" y="1052140"/>
            <a:ext cx="2659819" cy="914177"/>
          </a:xfrm>
          <a:prstGeom prst="roundRect">
            <a:avLst>
              <a:gd name="adj" fmla="val 416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4194" y="114143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4194" y="114143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9944" y="114858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73874" y="116251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3374194" y="1412900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74194" y="1562919"/>
            <a:ext cx="2562378" cy="138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наименований к сопоставимому виду.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8438" y="1719894"/>
            <a:ext cx="425424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74194" y="1728788"/>
            <a:ext cx="39391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23297" y="1052140"/>
            <a:ext cx="2659931" cy="914177"/>
          </a:xfrm>
          <a:prstGeom prst="roundRect">
            <a:avLst>
              <a:gd name="adj" fmla="val 416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26882" y="114143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26882" y="114143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12632" y="114858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26562" y="116251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6126882" y="1412900"/>
            <a:ext cx="245276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ПТО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6882" y="1562919"/>
            <a:ext cx="2562490" cy="138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форм КС-2 и КС-3, актов приёмки.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4022" y="1719894"/>
            <a:ext cx="718795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26882" y="1728788"/>
            <a:ext cx="6730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ИСПОЛНЕНИЕ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059186"/>
            <a:ext cx="2659819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1506" y="2148483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506" y="2148483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07256" y="2155627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21187" y="21695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621506" y="2419945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 коэффициентов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506" y="2569964"/>
            <a:ext cx="2452650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надбавок, индексов, переводных.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5750" y="2835658"/>
            <a:ext cx="425424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1506" y="2844552"/>
            <a:ext cx="39391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70610" y="2059186"/>
            <a:ext cx="2659819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4194" y="2148483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74194" y="2148483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9944" y="2155627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673874" y="21695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3374194" y="2419945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74194" y="2569964"/>
            <a:ext cx="2452650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трёх сценариях: база/пессимист/оптимист.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52660" y="2835658"/>
            <a:ext cx="581416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74194" y="2844552"/>
            <a:ext cx="53834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ФИНАНСЫ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23297" y="2059186"/>
            <a:ext cx="2659931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26882" y="2148483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26882" y="2148483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12632" y="2155627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26562" y="216955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6126882" y="2419945"/>
            <a:ext cx="245276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882" y="2569964"/>
            <a:ext cx="2452762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бюджет движения денежных средств и прогноз кассовых разрывов.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05348" y="2835658"/>
            <a:ext cx="581416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26882" y="2844552"/>
            <a:ext cx="53834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ФИНАНСЫ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7922" y="3174950"/>
            <a:ext cx="2659819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1506" y="326424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1506" y="326424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07256" y="327139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21187" y="328532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63" name="Text 61"/>
          <p:cNvSpPr/>
          <p:nvPr/>
        </p:nvSpPr>
        <p:spPr>
          <a:xfrm>
            <a:off x="621506" y="3535710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1506" y="3685729"/>
            <a:ext cx="2452650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рисков договора подряда: авансы, штрафы, удержания.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01124" y="3951422"/>
            <a:ext cx="550314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21506" y="3960316"/>
            <a:ext cx="5095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70610" y="3174950"/>
            <a:ext cx="2659819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374194" y="326424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374194" y="326424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659944" y="327139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673874" y="328532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2" name="Text 70"/>
          <p:cNvSpPr/>
          <p:nvPr/>
        </p:nvSpPr>
        <p:spPr>
          <a:xfrm>
            <a:off x="3374194" y="3535710"/>
            <a:ext cx="2452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374194" y="3685729"/>
            <a:ext cx="2452650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Объединяет выводы всех агентов в сводный отчёт для ЛПР.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355866" y="3951422"/>
            <a:ext cx="494861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74194" y="3960316"/>
            <a:ext cx="45820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СВОДКА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023297" y="3174950"/>
            <a:ext cx="2659931" cy="1022896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126882" y="326424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126882" y="3264247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412632" y="327139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426562" y="328532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81" name="Text 79"/>
          <p:cNvSpPr/>
          <p:nvPr/>
        </p:nvSpPr>
        <p:spPr>
          <a:xfrm>
            <a:off x="6126882" y="3535710"/>
            <a:ext cx="245276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26882" y="3685729"/>
            <a:ext cx="2452762" cy="2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контур: поиск и сравнение предложений.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04022" y="3951422"/>
            <a:ext cx="931322" cy="166021"/>
          </a:xfrm>
          <a:prstGeom prst="roundRect">
            <a:avLst>
              <a:gd name="adj" fmla="val 11474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26882" y="3960316"/>
            <a:ext cx="88560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b="1" spc="48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14350" y="4954191"/>
            <a:ext cx="41365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665204" y="4954191"/>
            <a:ext cx="37051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01. Сметчик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 сметы и выявление двойного учёта — базовый агент финансового контроля расценок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4530365" cy="3265363"/>
          </a:xfrm>
          <a:prstGeom prst="roundRect">
            <a:avLst>
              <a:gd name="adj" fmla="val 11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046448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046448"/>
            <a:ext cx="44291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171575" y="108931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4078" y="111181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571625" y="1113197"/>
            <a:ext cx="1428475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01 · СМЕТА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71625" y="1238213"/>
            <a:ext cx="1340596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85800" y="1532223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1610804"/>
            <a:ext cx="418746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760823"/>
            <a:ext cx="4187465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Разбирает смету подрядчика позиция за позицией. Выявляет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 работ и материалов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скрытое завышение объёмов, дублирование расценок. Сопоставляет с опорной базой из 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250+ завершённых объектов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256532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2335113"/>
            <a:ext cx="418746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НАХОДИТ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485132"/>
            <a:ext cx="4187465" cy="74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 арматуры, бетона, изоляции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 коэффициентов перехода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Дублирование позиций в разделах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Скрытое завышение объёмов работ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216473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3295055"/>
            <a:ext cx="418746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 В ЦЕПОЧКЕ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448967"/>
            <a:ext cx="94665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00" y="3459361"/>
            <a:ext cx="9466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НОРМАЛИЗАТОР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89608" y="3448967"/>
            <a:ext cx="146379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89608" y="3459361"/>
            <a:ext cx="146379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АУДИТОР КОЭФФИЦИЕНТОВ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10558" y="3448967"/>
            <a:ext cx="135842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10558" y="3459361"/>
            <a:ext cx="13584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 ПРОЕКТА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903573"/>
            <a:ext cx="3484922" cy="1097905"/>
          </a:xfrm>
          <a:prstGeom prst="roundRect">
            <a:avLst>
              <a:gd name="adj" fmla="val 347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1064307"/>
            <a:ext cx="77670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214326"/>
            <a:ext cx="322774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получает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0465" y="1391134"/>
            <a:ext cx="3227747" cy="49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в Excel/PDF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 (ведомость объёмов работ)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 производства работ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1878" y="2087203"/>
            <a:ext cx="3484922" cy="1098017"/>
          </a:xfrm>
          <a:prstGeom prst="roundRect">
            <a:avLst>
              <a:gd name="adj" fmla="val 347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30465" y="2247937"/>
            <a:ext cx="915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30465" y="2397956"/>
            <a:ext cx="322774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возвращает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0465" y="2574764"/>
            <a:ext cx="3227747" cy="49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потенциальных переплат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влияния каждого отклонения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878" y="3270945"/>
            <a:ext cx="3484922" cy="897992"/>
          </a:xfrm>
          <a:prstGeom prst="roundRect">
            <a:avLst>
              <a:gd name="adj" fmla="val 424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01878" y="3270945"/>
            <a:ext cx="3484922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1890" y="33352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559065" y="3358455"/>
            <a:ext cx="3027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НА КЕЙСЕ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16178" y="3685282"/>
            <a:ext cx="3370622" cy="218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b="1" spc="-45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16178" y="3930960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НАРУШЕНИЙ ОТ СМЕТЫ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16178" y="4087676"/>
            <a:ext cx="32563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объекте 1,2 млрд ₽ — 48 млн ₽ предотвращённых потерь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929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58593" y="4954191"/>
            <a:ext cx="39117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01 · СМЕТЧИК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02. Нормализатор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наименований работ к сопоставимому виду — без него сравнение предложений невозможно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4530365" cy="3265363"/>
          </a:xfrm>
          <a:prstGeom prst="roundRect">
            <a:avLst>
              <a:gd name="adj" fmla="val 11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046448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046448"/>
            <a:ext cx="44291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171575" y="108931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4078" y="111181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571625" y="1113197"/>
            <a:ext cx="1473842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02 · СМЕТА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71625" y="1238213"/>
            <a:ext cx="126646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85800" y="1532223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1610804"/>
            <a:ext cx="418746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760823"/>
            <a:ext cx="4187465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Приводит позиции из разных коммерческих предложений к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единому сопоставимому виду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Решает проблему, из-за которой 60% позиций у разных подрядчиков написаны по-разному и не могут быть сравнены напрямую.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256532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2335113"/>
            <a:ext cx="418746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РАБОТАЕТ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485132"/>
            <a:ext cx="4187465" cy="74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Распознавание смысловых дубликатов в наименованиях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единиц измерения к базовым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с отраслевыми классификаторами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Построение единой карты работ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216473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3295055"/>
            <a:ext cx="418746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448967"/>
            <a:ext cx="65142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00" y="3459361"/>
            <a:ext cx="65142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СМЕТЧИК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94371" y="3448967"/>
            <a:ext cx="8975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94371" y="3459361"/>
            <a:ext cx="8975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СРАВНЕНИЕ КП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49066" y="3448967"/>
            <a:ext cx="78034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49066" y="3459361"/>
            <a:ext cx="78034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ЭКОНОМИСТ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903573"/>
            <a:ext cx="3484922" cy="1097905"/>
          </a:xfrm>
          <a:prstGeom prst="roundRect">
            <a:avLst>
              <a:gd name="adj" fmla="val 347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1064307"/>
            <a:ext cx="77670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214326"/>
            <a:ext cx="322774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получает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0465" y="1391134"/>
            <a:ext cx="3227747" cy="49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3+ коммерческих предложения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 в разных форматах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Наименования работ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1878" y="2087203"/>
            <a:ext cx="3484922" cy="1098017"/>
          </a:xfrm>
          <a:prstGeom prst="roundRect">
            <a:avLst>
              <a:gd name="adj" fmla="val 347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30465" y="2247937"/>
            <a:ext cx="9156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30465" y="2397956"/>
            <a:ext cx="322774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возвращает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0465" y="2574764"/>
            <a:ext cx="3227747" cy="49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Единая карта работ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Сопоставленные позиции</a:t>
            </a:r>
            <a:endParaRPr lang="en-US" sz="800" dirty="0"/>
          </a:p>
          <a:p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0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Готовность к сравнению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878" y="3270945"/>
            <a:ext cx="3484922" cy="897992"/>
          </a:xfrm>
          <a:prstGeom prst="roundRect">
            <a:avLst>
              <a:gd name="adj" fmla="val 424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01878" y="3270945"/>
            <a:ext cx="3484922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1890" y="33352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559065" y="3358455"/>
            <a:ext cx="3027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НА КЕЙСЕ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16178" y="3685282"/>
            <a:ext cx="3370622" cy="218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b="1" spc="-45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16178" y="3930960"/>
            <a:ext cx="3480350" cy="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КОРРЕКТНО ИЗВЛЕЧЁННЫХ ПОЗИЦИЙ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16178" y="4087676"/>
            <a:ext cx="34803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 2 000 позиций трёх КП сопоставлено 1 900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7881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16834" y="4954191"/>
            <a:ext cx="40535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02 · НОРМАЛИЗАТОР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03. Производственно-технический отдел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форм КС-2 и КС-3, актов приёмки — финансовое влияние расхождений в режиме реального времени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4279441"/>
          </a:xfrm>
          <a:prstGeom prst="roundRect">
            <a:avLst>
              <a:gd name="adj" fmla="val 89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03 · ИСПОЛНЕНИЕ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354218" cy="1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Производственно-технический отдел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Контролирует финансовое влияние расхождений между плановыми и фактическими объёмами работ по формам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КС-2 и КС-3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Превращает техническую проверку в финансовый сигнал для руководителя проекта.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НАХОДИТ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Расхождения объёмов КС-2 против сметы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 физобъёмов в актах приёмки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Несоответствие единиц измерения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Скрытое удорожание через дополнительные работы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3138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39238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546300"/>
            <a:ext cx="67586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556695"/>
            <a:ext cx="6758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СМЕТЧИК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8816" y="3546300"/>
            <a:ext cx="80523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18816" y="3556695"/>
            <a:ext cx="80523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ФИНАНСИСТ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66913" y="354630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66913" y="355669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337444"/>
          </a:xfrm>
          <a:prstGeom prst="roundRect">
            <a:avLst>
              <a:gd name="adj" fmla="val 284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Формы КС-2, КС-3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Акты приёмки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Журналы производства работ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312454"/>
            <a:ext cx="3484922" cy="1337556"/>
          </a:xfrm>
          <a:prstGeom prst="roundRect">
            <a:avLst>
              <a:gd name="adj" fmla="val 284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412467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591060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расхождений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Финансовое влияние каждой позиции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Сигнал для остановки платежа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750022"/>
            <a:ext cx="3484922" cy="1404417"/>
          </a:xfrm>
          <a:prstGeom prst="roundRect">
            <a:avLst>
              <a:gd name="adj" fmla="val 271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850035"/>
            <a:ext cx="3227747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92147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944689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278660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дней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564410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ЗАПАЗДЫВАНИЕ ИСЧЕЗАЕТ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712419"/>
            <a:ext cx="297057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Раньше расхождения выявлялись постфактум, теперь — заблаговременно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4041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69991" y="4954191"/>
            <a:ext cx="38003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03 · ПТО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04. Аудитор коэффициентов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надбавок, индексов, переводных коэффициентов — чёрный ящик для заказчика становится прозрачным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04 · СМЕТА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 коэффициентов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Проверяет все коэффициенты и индексы в смете подрядчика: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надбавки за стеснённость, зимнее удорожание, непредвиденные расходы, переводные коэффициенты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Сравнивает с рыночными и нормативными значениями из опорной базы.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НАХОДИТ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 коэффициентов стеснённости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Двойное применение зимнего удорожания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Нормативные надбавки сверх базы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Индексы пересчёта в текущие цены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3138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39238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546300"/>
            <a:ext cx="67586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556695"/>
            <a:ext cx="6758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СМЕТЧИК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8816" y="3546300"/>
            <a:ext cx="984610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18816" y="3556695"/>
            <a:ext cx="98461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НОРМАЛИЗАТОР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46288" y="354630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46288" y="355669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с коэффициентами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Нормативная база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Региональные индексы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204070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304083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482676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завышенных коэффициентов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влияния каждого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Корректные значения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533142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633155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70459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727698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061668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8-15%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347418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 КОЭФФИЦИЕНТОВ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495428"/>
            <a:ext cx="297057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Типовая доля скрытого завышения через коэффициенты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9344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63058" y="4954191"/>
            <a:ext cx="3907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04 · АУДИТОР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05. Экономист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трёх сценариях — базовый, пессимистический, оптимистический — за 15 минут вместо 5 дней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05 · ФИНАНСЫ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Считает маржу проекта в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сценариях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базовый, пессимистический, оптимистический. Учитывает все статьи доходов и расходов, график выборки проектного кредита, эскроу-механизм, инфляцию и валютные риски.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СЦЕНАРИЯ МАРЖИ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542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— при плановых сроках и ценах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Пессимистический — при росте себестоимости 7%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Оптимистический — при снижении затрат 3%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14235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22093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374850"/>
            <a:ext cx="67586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385245"/>
            <a:ext cx="6758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СМЕТЧИК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8816" y="3374850"/>
            <a:ext cx="80523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18816" y="3385245"/>
            <a:ext cx="80523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ФИНАНСИСТ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66913" y="337485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66913" y="338524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(после Сметчика)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кредита и эскроу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План-график СМР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204070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304083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482676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Чувствительность к факторам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Точки принятия решений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533142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633155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70459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727698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061668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сценария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347418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15 МИНУТ ВМЕСТО 5 ДНЕЙ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495428"/>
            <a:ext cx="320821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Ускорение расчёта в 240 раз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8633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91955" y="4954191"/>
            <a:ext cx="39783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05 · ЭКОНОМИСТ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06. Финансист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бюджет движения денежных средств и прогноз кассовых разрывов — заблаговременно, с периодом и суммой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06 · ФИНАНСЫ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Строит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бюджет движения денежных средств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учётом графика выборки проектного кредита, расчётов с подрядчиками, дат раскрытия эскроу. Прогнозирует кассовые разрывы с указанием периода и суммы.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ПРЕДУПРЕЖДАЕТ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Кассовые разрывы по месяцам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Дефицит финансирования на этапах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Рассинхрон эскроу и план-графика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 штрафов за просрочку платежей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3138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39238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546300"/>
            <a:ext cx="81025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556695"/>
            <a:ext cx="8102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ЭКОНОМИСТ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53208" y="354630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53208" y="355669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71415" y="3546300"/>
            <a:ext cx="56748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71415" y="3556695"/>
            <a:ext cx="56748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ЮРИСТ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График выборки кредита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эскроу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204070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304083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482676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БДДС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разрывов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и период дефицита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533142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633155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70459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727698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061668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Помесячно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347418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С ПРОГНОЗОМ РАЗРЫВОВ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495428"/>
            <a:ext cx="320821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Раньше — постфактум, теперь — заблаговременно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866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95527" y="4954191"/>
            <a:ext cx="39748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06 · ФИНАНСИСТ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07. Юрист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рисков договора подряда — авансы, штрафы, удержания. Превращает юридический текст в финансовые риски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07 · ДОГОВОР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Анализирует проект договора подряда на предмет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финансовых рисков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размер аванса, условия его возврата, штрафы за просрочку, удержания, гарантийные удержания. Переводит юридические формулировки в конкретные суммы возможных потерь.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НАХОДИТ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Завышенный размер аванса и риск его невозврата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Асимметричные штрафы (подрядчику — меньше)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Скрытые удержания и комиссии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Размытые гарантийные условия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3138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39238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546300"/>
            <a:ext cx="81025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556695"/>
            <a:ext cx="8102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ЭКОНОМИСТ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53208" y="3546300"/>
            <a:ext cx="80523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53208" y="3556695"/>
            <a:ext cx="80523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ФИНАНСИСТ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01305" y="354630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01305" y="355669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РУКОВОДИТЕЛЬ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 договора подряда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Спецификация к договору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Протоколы разногласий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204070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304083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482676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рисков с суммами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Рекомендации по переговорам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Красные флаги договора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533142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633155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70459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727698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061668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12-18%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347418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РИСКОВ ОТ СУММЫ ДОГОВОРА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495428"/>
            <a:ext cx="297057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Типовая доля скрытых финансовых рисков в договоре подряда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9788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07483" y="4954191"/>
            <a:ext cx="38628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07 · ЮРИСТ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08. Руководитель проекта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Объединяет выводы всех агентов в единый сводный отчёт для лица, принимающего решения.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него — набор разрозненных экспертов.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019994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177156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177156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220019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24252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204280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08 · СВОДКА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404305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705794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784375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948681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Собирает выводы всех семи агентов в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единый сводный отчёт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что не так, сколько денег на кону, какие корректирующие меры нужны. Готовит executive summary для лица, принимающего решения. Формирует рекомендации с приоритетом по влиянию на деньги.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472965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551547"/>
            <a:ext cx="426861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СТРУКТУРА СВОДНОГО ОТЧЁТА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715853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 — 5 ключевых выводов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всех выявленных отклонений с суммами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Корректирующие меры, сгруппированные по приоритету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Влияние на маржу и БДДС во всех сценариях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458803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537384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691296"/>
            <a:ext cx="93650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701690"/>
            <a:ext cx="93650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ВСЕ 7 АГЕНТОВ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79451" y="3691296"/>
            <a:ext cx="43454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4258" y="3737409"/>
            <a:ext cx="284927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 ЛПР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56854" y="3691296"/>
            <a:ext cx="89296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56854" y="3701690"/>
            <a:ext cx="8929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ЭКСОРТ В PDF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92686" y="3691296"/>
            <a:ext cx="99376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92686" y="3701690"/>
            <a:ext cx="9937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ВЕБ-ИНТЕРФЕЙС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01878" y="1019994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30465" y="1120006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30465" y="1298600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Выводы всех 7 агентов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Финансовые модели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Реестры рисков и отклонений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01878" y="2349066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30465" y="2449078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0465" y="2627672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отчёт для ЛПР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ключевых выводов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Рекомендации с приоритетом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878" y="3678138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30465" y="3778151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30478" y="384958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87653" y="3872694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206664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5459053" y="4492414"/>
            <a:ext cx="3099160" cy="120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ПОЛНЫЙ ОТЧЁТ ПО ОБЪЕКТУ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9053" y="4640424"/>
            <a:ext cx="320821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Вместо 5–7 дней ручной работы аналитика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7926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21299" y="4954191"/>
            <a:ext cx="40490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08 · РУКОВОДИТЕЛЬ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09. Поиск подрядчиков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Единственный агент во внешнем контуре. Анонимизированный поиск и сравнение предложений на рынке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948708"/>
          </a:xfrm>
          <a:prstGeom prst="roundRect">
            <a:avLst>
              <a:gd name="adj" fmla="val 9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032160"/>
            <a:ext cx="4500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1200150" y="1075023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2653" y="10975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614488" y="1059284"/>
            <a:ext cx="32444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09 · ВНЕШНИЙ КОНТУР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4488" y="1259309"/>
            <a:ext cx="324449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700088" y="1560798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0088" y="1639379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803685"/>
            <a:ext cx="4158890" cy="54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Единственный агент, работающий во 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внешнем контуре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Ищет подрядчиков по заданным критериям, сравнивает их коммерческие предложения с рыночной медианой. Передача данных — 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после анонимизации и маскирования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согласованному регламенту.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327970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2406551"/>
            <a:ext cx="426861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СОБЛЮДАЕТ БЕЗОПАСНОСТЬ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0088" y="2570857"/>
            <a:ext cx="4158890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 коммерческих данных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Маскирование названий и адресов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Передача по согласованному регламенту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Журналирование каждой передачи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3138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8" y="3392388"/>
            <a:ext cx="415889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КЕМ РАБОТАЕТ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0088" y="3546300"/>
            <a:ext cx="97534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556695"/>
            <a:ext cx="9753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 РУКОВОДИТЕЛЬ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18295" y="3546300"/>
            <a:ext cx="106229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18295" y="3556695"/>
            <a:ext cx="10622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ВНЕШНИЙ РЫНОК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23456" y="3546300"/>
            <a:ext cx="103483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23456" y="3556695"/>
            <a:ext cx="10348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ЖУРНАЛ АУДИТА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01878" y="874998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465" y="975010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30465" y="1153604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Критерии поиска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Анонимизированная спецификация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Региональные фильтры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204070"/>
            <a:ext cx="3484922" cy="1229060"/>
          </a:xfrm>
          <a:prstGeom prst="roundRect">
            <a:avLst>
              <a:gd name="adj" fmla="val 31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0465" y="2304083"/>
            <a:ext cx="322774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0465" y="2482676"/>
            <a:ext cx="3227747" cy="52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кандидатов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рынком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рисков по каждому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01878" y="3533142"/>
            <a:ext cx="3484922" cy="1290451"/>
          </a:xfrm>
          <a:prstGeom prst="roundRect">
            <a:avLst>
              <a:gd name="adj" fmla="val 295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0465" y="3633155"/>
            <a:ext cx="3227747" cy="32850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30478" y="370459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687653" y="3727698"/>
            <a:ext cx="27705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9053" y="4061668"/>
            <a:ext cx="309916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459053" y="4347418"/>
            <a:ext cx="3208888" cy="120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6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 ПЕРЕД ПЕРЕДАЧЕЙ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9053" y="4495428"/>
            <a:ext cx="297057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 152-ФЗ. Журнал аудита каждой передачи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9804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09046" y="4954191"/>
            <a:ext cx="3861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09 · ПОИСК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меняется при внедрении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не заменяет системы строительного документооборота — он становится интеллектуальным слоем финансового контроля поверх них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019994"/>
            <a:ext cx="4021931" cy="357188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145009"/>
            <a:ext cx="56024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64530" y="1123578"/>
            <a:ext cx="1160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4348" y="1101575"/>
            <a:ext cx="109049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77208" y="1111969"/>
            <a:ext cx="10447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ПРОЦЕСС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377181"/>
            <a:ext cx="4021931" cy="29432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225" y="1512912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3297" y="1518984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885825" y="1505769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предложений вручную в Excel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7225" y="1762944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3297" y="176901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885825" y="1755800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 и единицы измерения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7225" y="2012975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3297" y="2019047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885825" y="2005831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рыночное движение цены от завышения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225" y="2263006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3297" y="2269078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85825" y="2255862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прошлых объектов не систематизирован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7225" y="2513037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3297" y="2519109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885825" y="2505894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одном сценарии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7225" y="3859634"/>
            <a:ext cx="3736181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7225" y="3938215"/>
            <a:ext cx="1403698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сценарий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657225" y="4095378"/>
            <a:ext cx="16088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ВАРИАНТЫ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26357" y="3938215"/>
            <a:ext cx="153319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5–7 дней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1926357" y="4095378"/>
            <a:ext cx="191649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95600" y="3938215"/>
            <a:ext cx="119780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Постфактум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195600" y="4095378"/>
            <a:ext cx="119780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РЕЖИМ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4869" y="1019994"/>
            <a:ext cx="4021931" cy="35718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79169" y="1145009"/>
            <a:ext cx="8727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10386" y="1123578"/>
            <a:ext cx="11258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20097" y="1109576"/>
            <a:ext cx="675263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42957" y="1119113"/>
            <a:ext cx="6295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4869" y="1377181"/>
            <a:ext cx="4021931" cy="29432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7744" y="1512912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3816" y="1518984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5036344" y="1505769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позиций к сопоставимому виду автоматически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7744" y="1762944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13816" y="176901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5036344" y="1755800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аномалий с суммой влияния в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рублях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7744" y="2012975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13816" y="2019047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5036344" y="2005831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Независимая оценка на базе 250+ объектов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7744" y="2263006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13816" y="2269078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5036344" y="2255862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 с подрядчиком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7744" y="2513037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13816" y="2519109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2" name="Text 50"/>
          <p:cNvSpPr/>
          <p:nvPr/>
        </p:nvSpPr>
        <p:spPr>
          <a:xfrm>
            <a:off x="5036344" y="2505894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сценариях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07744" y="3859634"/>
            <a:ext cx="3736181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07744" y="3938215"/>
            <a:ext cx="134142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сценария</a:t>
            </a:r>
            <a:endParaRPr lang="en-US" sz="1013" dirty="0"/>
          </a:p>
        </p:txBody>
      </p:sp>
      <p:sp>
        <p:nvSpPr>
          <p:cNvPr id="55" name="Text 53"/>
          <p:cNvSpPr/>
          <p:nvPr/>
        </p:nvSpPr>
        <p:spPr>
          <a:xfrm>
            <a:off x="4807744" y="4095378"/>
            <a:ext cx="153747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ВАРИАНТЫ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23744" y="3938215"/>
            <a:ext cx="146504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1013" dirty="0"/>
          </a:p>
        </p:txBody>
      </p:sp>
      <p:sp>
        <p:nvSpPr>
          <p:cNvPr id="57" name="Text 55"/>
          <p:cNvSpPr/>
          <p:nvPr/>
        </p:nvSpPr>
        <p:spPr>
          <a:xfrm>
            <a:off x="6023744" y="4095378"/>
            <a:ext cx="18313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39744" y="3938215"/>
            <a:ext cx="130418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Заблаговременно</a:t>
            </a:r>
            <a:endParaRPr lang="en-US" sz="1013" dirty="0"/>
          </a:p>
        </p:txBody>
      </p:sp>
      <p:sp>
        <p:nvSpPr>
          <p:cNvPr id="59" name="Text 57"/>
          <p:cNvSpPr/>
          <p:nvPr/>
        </p:nvSpPr>
        <p:spPr>
          <a:xfrm>
            <a:off x="7239744" y="4095378"/>
            <a:ext cx="130418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РЕЖИМ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350" y="4954191"/>
            <a:ext cx="41197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48349" y="4954191"/>
            <a:ext cx="37220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 системы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контура обработки. Девять агентов. Шина оркестрации. Веб-интерфейс для лица, принимающего решения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971550"/>
          </a:xfrm>
          <a:prstGeom prst="roundRect">
            <a:avLst>
              <a:gd name="adj" fmla="val 392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91084"/>
            <a:ext cx="776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14103" y="975010"/>
            <a:ext cx="73441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Документы заказчика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2938" y="1171463"/>
            <a:ext cx="79152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257188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6868" y="12639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642938" y="1492932"/>
            <a:ext cx="304188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2938" y="1639379"/>
            <a:ext cx="22563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Excel, PDF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46759" y="1257188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53546" y="12639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2639616" y="1492932"/>
            <a:ext cx="246430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39616" y="1639379"/>
            <a:ext cx="20215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Подряд, эскроу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3438" y="1257188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50224" y="12639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4636294" y="1492932"/>
            <a:ext cx="225638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КС-2, КС-3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36294" y="1639379"/>
            <a:ext cx="22563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Формы, акты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40116" y="1257188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46902" y="126397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632972" y="1492932"/>
            <a:ext cx="192524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32972" y="1639379"/>
            <a:ext cx="192524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Кредит, эскроу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1932273"/>
            <a:ext cx="8172450" cy="1398389"/>
          </a:xfrm>
          <a:prstGeom prst="roundRect">
            <a:avLst>
              <a:gd name="adj" fmla="val 272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350" y="1932273"/>
            <a:ext cx="8172450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8650" y="20179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842963" y="2019784"/>
            <a:ext cx="77295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КОНТУР · 9 АГЕНТОВ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350" y="2246598"/>
            <a:ext cx="8172450" cy="108406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8650" y="2343373"/>
            <a:ext cx="180158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ШИНА ОРКЕСТРАЦИИ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23132" y="2332323"/>
            <a:ext cx="65493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Последовательный вызов агентов с передачей контекста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8650" y="2536589"/>
            <a:ext cx="794385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8650" y="2653680"/>
            <a:ext cx="960120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РЯД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85875" y="2604576"/>
            <a:ext cx="698860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85875" y="2615171"/>
            <a:ext cx="698860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СМЕТЧИК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41885" y="2604576"/>
            <a:ext cx="1007604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041885" y="2615171"/>
            <a:ext cx="1007604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НОРМАЛИЗАТОР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06638" y="2604576"/>
            <a:ext cx="455302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06638" y="2615171"/>
            <a:ext cx="455302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ПТО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19091" y="2604576"/>
            <a:ext cx="697520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619091" y="2615171"/>
            <a:ext cx="697520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АУДИТОР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8650" y="2887414"/>
            <a:ext cx="960120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РЯД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285875" y="2838310"/>
            <a:ext cx="833140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285875" y="2848905"/>
            <a:ext cx="833140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ЭКОНОМИСТ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76165" y="2838310"/>
            <a:ext cx="828229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176165" y="2848905"/>
            <a:ext cx="828229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ФИНАНСИСТ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61543" y="2838310"/>
            <a:ext cx="590476" cy="197775"/>
          </a:xfrm>
          <a:prstGeom prst="roundRect">
            <a:avLst>
              <a:gd name="adj" fmla="val 9632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061543" y="2848905"/>
            <a:ext cx="590476" cy="17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7. ЮРИСТ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8650" y="3114005"/>
            <a:ext cx="960120" cy="1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РЯД 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85875" y="3072902"/>
            <a:ext cx="1426741" cy="181773"/>
          </a:xfrm>
          <a:prstGeom prst="roundRect">
            <a:avLst>
              <a:gd name="adj" fmla="val 1048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285875" y="3082640"/>
            <a:ext cx="1426741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8. РУКОВОДИТЕЛЬ ПРОЕКТА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9766" y="3082640"/>
            <a:ext cx="1852017" cy="162297"/>
          </a:xfrm>
          <a:prstGeom prst="roundRect">
            <a:avLst>
              <a:gd name="adj" fmla="val 1173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69766" y="3082640"/>
            <a:ext cx="5802734" cy="162297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28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9. ПОИСК ПОДРЯДЧИКОВ (ВНЕШНИЙ)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350" y="3416387"/>
            <a:ext cx="4043363" cy="653988"/>
          </a:xfrm>
          <a:prstGeom prst="roundRect">
            <a:avLst>
              <a:gd name="adj" fmla="val 58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2938" y="3516399"/>
            <a:ext cx="37861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ЛПР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2938" y="3666418"/>
            <a:ext cx="37861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2938" y="3848584"/>
            <a:ext cx="3786188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отчёт, графики, фильтры по суммам и приоритетам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43438" y="3416387"/>
            <a:ext cx="4043363" cy="653988"/>
          </a:xfrm>
          <a:prstGeom prst="roundRect">
            <a:avLst>
              <a:gd name="adj" fmla="val 58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72025" y="3516399"/>
            <a:ext cx="37861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СИСТЕМ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72025" y="3666418"/>
            <a:ext cx="3786188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 с 1С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72025" y="3848584"/>
            <a:ext cx="3786188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Выгрузка реестров отклонений и проводок в систему управления ресурсами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14350" y="4954191"/>
            <a:ext cx="40785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07161" y="4954191"/>
            <a:ext cx="3763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в контуре заказчика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Полное разделение внутреннего и внешнего контуров. Все коммерчески чувствительные данные остаются у вас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14788" cy="3086100"/>
          </a:xfrm>
          <a:prstGeom prst="roundRect">
            <a:avLst>
              <a:gd name="adj" fmla="val 12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00138" y="1135745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КОНТУР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1417923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00088" y="1663601"/>
            <a:ext cx="364331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коммерчески чувствительные данные — сметы, договоры, базы — обрабатываются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исключительно локальными моделями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вычислительных мощностях заказчика. Плата за обращения не взимается.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191345"/>
            <a:ext cx="364331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284214"/>
            <a:ext cx="364331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ОБРАБАТЫВАЕТ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438126"/>
            <a:ext cx="47148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448520"/>
            <a:ext cx="4714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14438" y="2438126"/>
            <a:ext cx="66001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4438" y="2448520"/>
            <a:ext cx="6600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17316" y="2438126"/>
            <a:ext cx="66325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7316" y="2448520"/>
            <a:ext cx="6632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250+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0088" y="2707481"/>
            <a:ext cx="364331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0088" y="2800350"/>
            <a:ext cx="36433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0088" y="3000375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ОБРАЩЕНИЯ К МОДЕЛЯМ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2013" y="874998"/>
            <a:ext cx="4014788" cy="3086100"/>
          </a:xfrm>
          <a:prstGeom prst="roundRect">
            <a:avLst>
              <a:gd name="adj" fmla="val 12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7750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0253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4" name="Text 22"/>
          <p:cNvSpPr/>
          <p:nvPr/>
        </p:nvSpPr>
        <p:spPr>
          <a:xfrm>
            <a:off x="5257800" y="1135745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57750" y="1417923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857750" y="1663601"/>
            <a:ext cx="364331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Используется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для поиска подрядчиков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Передача данных выполняется только после анонимизации и маскирования по согласованному регламенту.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57750" y="2191345"/>
            <a:ext cx="364331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57750" y="2284214"/>
            <a:ext cx="364331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ПЕРЕДАЧА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57750" y="2438126"/>
            <a:ext cx="91629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57750" y="2448520"/>
            <a:ext cx="9162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16910" y="2438126"/>
            <a:ext cx="68356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16910" y="2448520"/>
            <a:ext cx="68356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РЕГЛАМЕНТ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43340" y="2438126"/>
            <a:ext cx="940854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43340" y="2448520"/>
            <a:ext cx="94085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 АУДИТА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7750" y="2707481"/>
            <a:ext cx="364331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7750" y="282892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71680" y="284285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129213" y="2871788"/>
            <a:ext cx="3371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 152-ФЗ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350" y="4954191"/>
            <a:ext cx="40316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60280" y="4954191"/>
            <a:ext cx="3810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 требованиям безопасности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проектируется под корпоративные стандарты крупных девелоперов и государственных заказчиков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25195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152-ФЗ о персональных данных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433996"/>
            <a:ext cx="2409788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персональные данные обрабатываются локально. Внешняя передача — только после маскирования.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0078" y="2177268"/>
            <a:ext cx="93980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2938" y="2187662"/>
            <a:ext cx="89408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СООТВЕТСТВУЕТ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67038" y="874998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95625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9556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681375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95625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Хранение в контуре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95625" y="1433996"/>
            <a:ext cx="2409788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смет и договоров не покидают инфраструктуру заказчика.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72765" y="2177268"/>
            <a:ext cx="969050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5625" y="2187662"/>
            <a:ext cx="9233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100% ЛОКАЛЬНО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9726" y="874998"/>
            <a:ext cx="2667074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48313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62243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6434063" y="1042876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48313" y="1260760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 аудита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48313" y="1433996"/>
            <a:ext cx="2409899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Каждое обращение к агентам и каждая передача фиксируются в журнале.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5453" y="2177268"/>
            <a:ext cx="1253237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48313" y="2187662"/>
            <a:ext cx="12075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ПОЛНАЯ ТРАССИРОВКА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350" y="2560923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2938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6868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928688" y="272880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2938" y="2946685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Закрытый периметр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2938" y="3119921"/>
            <a:ext cx="2409788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Возможна установка без доступа к интернету — только внутренняя сеть.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0078" y="3863193"/>
            <a:ext cx="934447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2938" y="3873587"/>
            <a:ext cx="8887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AIR-GAP РЕЖИМ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7038" y="2560923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95625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09556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3681375" y="272880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95625" y="2946685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Ролевая модель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95625" y="3119921"/>
            <a:ext cx="2409788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 к данным и функциям агентов — по ролям и подразделениям.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72765" y="3863193"/>
            <a:ext cx="71857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95625" y="3873587"/>
            <a:ext cx="6728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СВЯЗЬ С 1С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19726" y="2560923"/>
            <a:ext cx="2667074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48313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62243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6434063" y="2728801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ПУНКТ 06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48313" y="2946685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 и договор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48313" y="3119921"/>
            <a:ext cx="2409899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соглашения о конфиденциальности до начала любых работ.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25453" y="3863193"/>
            <a:ext cx="138617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8313" y="3873587"/>
            <a:ext cx="13404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ПРИЁМА ДОКУМЕНТОВ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039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68317" y="4954191"/>
            <a:ext cx="3802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 от развёртывания до приёмки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в опытную эксплуатацию. После приёмки —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месяцев гарантийного сопровождения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28663" y="1089310"/>
            <a:ext cx="7743825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132548"/>
            <a:ext cx="8172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Итог: 135 календарных дней. Запуск в опытную эксплуатацию. После приёмки — 12 месяцев гарантийного сопровождения.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4954191"/>
            <a:ext cx="4118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47233" y="4954191"/>
            <a:ext cx="37231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14350" y="1603660"/>
            <a:ext cx="1957388" cy="1731690"/>
          </a:xfrm>
          <a:prstGeom prst="roundRect">
            <a:avLst>
              <a:gd name="adj" fmla="val 2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7108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2580" y="17176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1807422" y="1721818"/>
            <a:ext cx="571170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28577" y="1731355"/>
            <a:ext cx="528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 ДНЕЙ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1975135"/>
            <a:ext cx="172878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и база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8650" y="2152278"/>
            <a:ext cx="1728788" cy="47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Установка локальных моделей, настройка агентов, наполнение опорной базы из истории заказчика.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2591172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" y="2655466"/>
            <a:ext cx="1728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8650" y="2834060"/>
            <a:ext cx="1728788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запущены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 настроены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 загружена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86038" y="1603660"/>
            <a:ext cx="1957388" cy="1731690"/>
          </a:xfrm>
          <a:prstGeom prst="roundRect">
            <a:avLst>
              <a:gd name="adj" fmla="val 2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07481" y="17108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14268" y="17176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3879110" y="1721818"/>
            <a:ext cx="571170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0264" y="1731355"/>
            <a:ext cx="528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ДНЕЙ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00338" y="1975135"/>
            <a:ext cx="172878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Расчётный модуль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00338" y="2152278"/>
            <a:ext cx="1728788" cy="47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документов, расчёт себестоимости и финансовой модели в трёх сценариях.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00338" y="2591172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00338" y="2655466"/>
            <a:ext cx="1728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00338" y="2834060"/>
            <a:ext cx="1728788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себестоимости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3 сценария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помесячно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57725" y="1603660"/>
            <a:ext cx="1957388" cy="1731690"/>
          </a:xfrm>
          <a:prstGeom prst="roundRect">
            <a:avLst>
              <a:gd name="adj" fmla="val 2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9169" y="17108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5955" y="17176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950797" y="1721818"/>
            <a:ext cx="571170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71952" y="1731355"/>
            <a:ext cx="528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ДНЕЙ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2025" y="1975135"/>
            <a:ext cx="172878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Сравнительный контур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2025" y="2152278"/>
            <a:ext cx="1728788" cy="47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предложений, выявление аномалий, калибровка оценки под специфику объекта.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72025" y="2591172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2025" y="2655466"/>
            <a:ext cx="172878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2025" y="2834060"/>
            <a:ext cx="1728788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9413" y="1603660"/>
            <a:ext cx="1957388" cy="1731690"/>
          </a:xfrm>
          <a:prstGeom prst="roundRect">
            <a:avLst>
              <a:gd name="adj" fmla="val 2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50856" y="17108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57643" y="17176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8022485" y="1721818"/>
            <a:ext cx="571170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043639" y="1731355"/>
            <a:ext cx="528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ДНЕЙ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43713" y="1975135"/>
            <a:ext cx="17287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Интерфейс и приёмка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43713" y="2152278"/>
            <a:ext cx="1728788" cy="47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Веб-приложение, интеграция с 1С и системой управления ресурсами, обучение пользователей.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43713" y="2591172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43713" y="2655466"/>
            <a:ext cx="172878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43713" y="2834060"/>
            <a:ext cx="1728788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 1С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278731" y="108931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78731" y="108931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350419" y="108931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350419" y="108931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422106" y="108931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422106" y="108931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7493794" y="1089310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493794" y="108931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 во внедрение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комплекс работ — от развёртывания до обучения. Без скрытых платежей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Инфраструктура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433996"/>
            <a:ext cx="2409788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на оборудовании заказчика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Шина оркестрации агентов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250+ объектов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7038" y="874998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5625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9556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3681375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95625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Девять агентов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5625" y="1433996"/>
            <a:ext cx="2409788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Нормализатор, ПТО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Аудитор, Экономист, Финансист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Юрист, Руководитель, Поиск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9726" y="874998"/>
            <a:ext cx="2667074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8313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2243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6434063" y="1042876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8313" y="1260760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8313" y="1433996"/>
            <a:ext cx="2409899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отчёт для ЛПР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Графики и фильтры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Ролевая модель доступа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560923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2938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6868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928688" y="272880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2938" y="2946685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2938" y="3119921"/>
            <a:ext cx="2409788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Связь с 1С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Связь с системой управления ресурсами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Импорт из Excel/PDF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7038" y="2560923"/>
            <a:ext cx="2666963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5625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9556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81375" y="272880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95625" y="2946685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5625" y="3119921"/>
            <a:ext cx="2409788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2–3 сессии для пользователей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Методические материалы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первых 30 дней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726" y="2560923"/>
            <a:ext cx="2667074" cy="1600200"/>
          </a:xfrm>
          <a:prstGeom prst="roundRect">
            <a:avLst>
              <a:gd name="adj" fmla="val 23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8313" y="267522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2243" y="26891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434063" y="2728801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ПАКЕТ 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8313" y="2946685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8313" y="3119921"/>
            <a:ext cx="2409899" cy="52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месяцев гарантийного сопровождения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Обновления агентов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по запросу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40986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27252" y="4954191"/>
            <a:ext cx="37431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Интеграции с системами заказчика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работает поверх существующих систем — не заменяет, а усиливает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1978819" cy="1557338"/>
          </a:xfrm>
          <a:prstGeom prst="roundRect">
            <a:avLst>
              <a:gd name="adj" fmla="val 24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642938" y="1260760"/>
            <a:ext cx="17216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425067"/>
            <a:ext cx="18249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управления ресурсами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598302"/>
            <a:ext cx="1721644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Выгрузка реестров отклонений и проводок.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2448" y="2134405"/>
            <a:ext cx="55320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2938" y="2144799"/>
            <a:ext cx="5122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ГОТОВО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78894" y="874998"/>
            <a:ext cx="1978819" cy="1557338"/>
          </a:xfrm>
          <a:prstGeom prst="roundRect">
            <a:avLst>
              <a:gd name="adj" fmla="val 24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07481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21412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2707481" y="1260760"/>
            <a:ext cx="17216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07481" y="1425067"/>
            <a:ext cx="18249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Документооборот (Excel, PDF)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07481" y="1598302"/>
            <a:ext cx="1721644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Импорт смет, договоров, КС-2/КС-3 из файлов.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6992" y="2134405"/>
            <a:ext cx="55320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07481" y="2144799"/>
            <a:ext cx="5122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3438" y="874998"/>
            <a:ext cx="1978819" cy="1557338"/>
          </a:xfrm>
          <a:prstGeom prst="roundRect">
            <a:avLst>
              <a:gd name="adj" fmla="val 24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2025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5955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4772025" y="1260760"/>
            <a:ext cx="17216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2025" y="1425067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Электронная почта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72025" y="1598302"/>
            <a:ext cx="1721644" cy="34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Приём коммерческих предложений от подрядчиков.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1536" y="2134405"/>
            <a:ext cx="55320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2025" y="2144799"/>
            <a:ext cx="5122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ГОТОВО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07981" y="874998"/>
            <a:ext cx="1978819" cy="1557338"/>
          </a:xfrm>
          <a:prstGeom prst="roundRect">
            <a:avLst>
              <a:gd name="adj" fmla="val 24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36569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0499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6836569" y="1260760"/>
            <a:ext cx="17216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6569" y="1425067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Программный интерфейс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36569" y="1598302"/>
            <a:ext cx="1721644" cy="51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Прямая связь с любыми корпоративными системами через интерфейс.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16080" y="2134405"/>
            <a:ext cx="55320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36569" y="2144799"/>
            <a:ext cx="5122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4350" y="2546635"/>
            <a:ext cx="8172450" cy="500063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910297" y="267589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17083" y="268267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3217478" y="2646648"/>
            <a:ext cx="3080407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заменяет системы строительного документооборота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17478" y="2791309"/>
            <a:ext cx="308040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поверх 1С:ERP, 1С:УСО, BIM-решений и любых систем заказчика</a:t>
            </a:r>
            <a:endParaRPr lang="en-US" sz="619" dirty="0"/>
          </a:p>
        </p:txBody>
      </p:sp>
      <p:sp>
        <p:nvSpPr>
          <p:cNvPr id="41" name="Text 39"/>
          <p:cNvSpPr/>
          <p:nvPr/>
        </p:nvSpPr>
        <p:spPr>
          <a:xfrm>
            <a:off x="3873721" y="3023356"/>
            <a:ext cx="145370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96581" y="3033750"/>
            <a:ext cx="14079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4350" y="4954191"/>
            <a:ext cx="4091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19662" y="4954191"/>
            <a:ext cx="37506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ИНТЕГРАЦИИ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Окупается на первом объекте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 22,5 млн ₽ возвращается уже на первом проекте. </a:t>
            </a:r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62% за 12 месяцев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567928"/>
          </a:xfrm>
          <a:prstGeom prst="roundRect">
            <a:avLst>
              <a:gd name="adj" fmla="val 670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1019659"/>
            <a:ext cx="287869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ИЛЛЮСТРАТИВНЫЙ РАСЧЁТ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1513" y="1169677"/>
            <a:ext cx="225851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Типовой объект 1 млрд ₽, средние потери 7%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35228" y="976496"/>
            <a:ext cx="795858" cy="364931"/>
          </a:xfrm>
          <a:prstGeom prst="roundRect">
            <a:avLst>
              <a:gd name="adj" fmla="val 783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8097" y="1053592"/>
            <a:ext cx="6101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28097" y="1164320"/>
            <a:ext cx="6101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8237" y="1094668"/>
            <a:ext cx="17252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953213" y="976496"/>
            <a:ext cx="688256" cy="364931"/>
          </a:xfrm>
          <a:prstGeom prst="roundRect">
            <a:avLst>
              <a:gd name="adj" fmla="val 783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6082" y="1053592"/>
            <a:ext cx="5025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46082" y="1164320"/>
            <a:ext cx="5025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70 млн ₽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98618" y="1094668"/>
            <a:ext cx="17252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7863594" y="976496"/>
            <a:ext cx="666043" cy="364931"/>
          </a:xfrm>
          <a:prstGeom prst="roundRect">
            <a:avLst>
              <a:gd name="adj" fmla="val 783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49319" y="1046448"/>
            <a:ext cx="4945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6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12 МЕС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949319" y="1157176"/>
            <a:ext cx="4945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1542938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225" y="167152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155" y="16854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942975" y="1725104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7225" y="2218469"/>
            <a:ext cx="1298912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511908" y="2375632"/>
            <a:ext cx="8383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7225" y="2604232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7225" y="2729247"/>
            <a:ext cx="1693069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НДС, единоразово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78894" y="1542938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21769" y="167152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35699" y="16854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007519" y="1725104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21769" y="2218469"/>
            <a:ext cx="736163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3224733" y="2375632"/>
            <a:ext cx="119010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21769" y="2604232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ПРЕДОТВРАЩЁННЫЕ ПОТЕРИ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21769" y="2729247"/>
            <a:ext cx="1693069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7% от сметы 1 млрд 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3438" y="1542938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86313" y="167152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243" y="16854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072063" y="1725104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ВЫИГРЫШ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86313" y="2218469"/>
            <a:ext cx="1298912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47,5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5640995" y="2375632"/>
            <a:ext cx="8383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86313" y="2604232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1-Й ОБЪЕКТ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86313" y="2729247"/>
            <a:ext cx="1693069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70 − 22,5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07981" y="1542938"/>
            <a:ext cx="1978819" cy="142875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50856" y="1671526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64787" y="16854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7136606" y="1725104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0856" y="2221371"/>
            <a:ext cx="1693069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6850856" y="2604232"/>
            <a:ext cx="169306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12 МЕСЯЦЕВ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0856" y="2729247"/>
            <a:ext cx="1693069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любого депозита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3071701"/>
            <a:ext cx="8172450" cy="615702"/>
          </a:xfrm>
          <a:prstGeom prst="roundRect">
            <a:avLst>
              <a:gd name="adj" fmla="val 618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1513" y="3171713"/>
            <a:ext cx="747370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ЧИСТАЯ ПРИБЫЛЬ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1513" y="3307445"/>
            <a:ext cx="54292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следующий объект — прямой выигрыш 50–120 млн ₽.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лицензионных платежей.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90592" y="3268538"/>
            <a:ext cx="961906" cy="222028"/>
          </a:xfrm>
          <a:prstGeom prst="roundRect">
            <a:avLst>
              <a:gd name="adj" fmla="val 858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613452" y="3280432"/>
            <a:ext cx="916186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ПОДПИСКИ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4350" y="4954191"/>
            <a:ext cx="4294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23036" y="4954191"/>
            <a:ext cx="35473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 в 22,5 миллиона рублей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промышленного внедрения. Полный комплекс работ — без скрытых платежей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37197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1383320"/>
            <a:ext cx="391477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2950" y="1547626"/>
            <a:ext cx="2056507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0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4275" dirty="0"/>
          </a:p>
        </p:txBody>
      </p:sp>
      <p:sp>
        <p:nvSpPr>
          <p:cNvPr id="7" name="Text 5"/>
          <p:cNvSpPr/>
          <p:nvPr/>
        </p:nvSpPr>
        <p:spPr>
          <a:xfrm>
            <a:off x="2099704" y="1756246"/>
            <a:ext cx="2558021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42950" y="2120466"/>
            <a:ext cx="40245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полный комплекс работ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2950" y="2374069"/>
            <a:ext cx="39147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2950" y="2495513"/>
            <a:ext cx="3914775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950" y="2674107"/>
            <a:ext cx="3914775" cy="108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локальных моделей в контуре заказчика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Настройка 9 агентов под специфику отрасли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Загрузка и калибровка опорной базы из истории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 + интеграция с 1С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пользователей (2–3 сессии)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месяцев гарантийного сопровождения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2950" y="3745669"/>
            <a:ext cx="39147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3924263"/>
            <a:ext cx="198653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12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742950" y="4110000"/>
            <a:ext cx="16889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71688" y="3924263"/>
            <a:ext cx="198653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2071688" y="4110000"/>
            <a:ext cx="16889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ЛИЦЕНЗИИ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0425" y="3924263"/>
            <a:ext cx="12573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38"/>
              </a:lnSpc>
              <a:buNone/>
            </a:pPr>
            <a:r>
              <a:rPr lang="en-US" sz="800" b="1" spc="-12" kern="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лимитов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3400425" y="4110000"/>
            <a:ext cx="1257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43488" y="874998"/>
            <a:ext cx="3643313" cy="688479"/>
          </a:xfrm>
          <a:prstGeom prst="roundRect">
            <a:avLst>
              <a:gd name="adj" fmla="val 55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57788" y="1035732"/>
            <a:ext cx="182540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ОТ ПОДПИСКИ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57788" y="1189323"/>
            <a:ext cx="341471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оплата. Никаких ежемесячных платежей. Каждое обращение к локальным моделям — бесплатно.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43488" y="1634914"/>
            <a:ext cx="3643313" cy="679996"/>
          </a:xfrm>
          <a:prstGeom prst="roundRect">
            <a:avLst>
              <a:gd name="adj" fmla="val 560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43488" y="1634914"/>
            <a:ext cx="3643313" cy="27146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57788" y="17063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72100" y="1706352"/>
            <a:ext cx="3214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ПОТЕРЯМИ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43488" y="1906377"/>
            <a:ext cx="3643313" cy="408533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предотвратённая переплата в смете на 4% окупает внедрение.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Средние потери на объекте — 5–12% от сметы.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50631" y="2393491"/>
            <a:ext cx="3629025" cy="702766"/>
          </a:xfrm>
          <a:prstGeom prst="roundRect">
            <a:avLst>
              <a:gd name="adj" fmla="val 5421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72075" y="2561369"/>
            <a:ext cx="1980439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ЦЕНА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72075" y="2714960"/>
            <a:ext cx="3386138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цена </a:t>
            </a:r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первого промышленного внедрения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Для следующих клиентов: 34,9 млн ₽.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4350" y="4954191"/>
            <a:ext cx="4253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82071" y="4954191"/>
            <a:ext cx="3588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альтернативами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— единственный, кто считает деньги. Системы документооборота и таблицы — нет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874998"/>
          <a:ext cx="8172450" cy="914400"/>
        </p:xfrm>
        <a:graphic>
          <a:graphicData uri="http://schemas.openxmlformats.org/drawingml/2006/table">
            <a:tbl>
              <a:tblPr/>
              <a:tblGrid>
                <a:gridCol w="2124819"/>
                <a:gridCol w="2124819"/>
                <a:gridCol w="2124819"/>
                <a:gridCol w="179799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Критерий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Excel + человек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Системы документооборота (1С:УСО)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СтройИнтеллект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Финансовый контроль расценок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Ручной, зависит от человека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входит в функции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 агента: Сметчик, Нормализатор, ПТО, Аудитор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Сравнение коммерческих предложений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5–7 дней на одно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автоматизировано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 минут, 95% точность извлечения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Финансовая модель в 3 сценариях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Один сценарий в Excel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считается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Маржа: база/пессимист/оптимист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Прогноз кассовых разрывов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Постфактум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прогнозируется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Заблаговременно, помесячно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Анализ рисков договора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Юрист вручную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входит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Агент Юрист: реестр рисков с суммами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Опыт прошлых объектов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Фрагментарно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систематизирован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База 250+ объектов в обучающей выборке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4350" y="4183224"/>
            <a:ext cx="8172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документооборота работают с документами. СтройИнтеллект — с деньгами заказчика.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954191"/>
            <a:ext cx="41197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648349" y="4954191"/>
            <a:ext cx="37220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Дорожная карта развития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будет дальше. Каждый релиз — новые агенты и сценарии без доплат для действующих клиентов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2975" y="1089310"/>
            <a:ext cx="73152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4954191"/>
            <a:ext cx="41653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94002" y="4954191"/>
            <a:ext cx="36763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293019" y="1089310"/>
            <a:ext cx="400050" cy="40005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93019" y="1089310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514350" y="1575085"/>
            <a:ext cx="1957388" cy="3139790"/>
          </a:xfrm>
          <a:prstGeom prst="roundRect">
            <a:avLst>
              <a:gd name="adj" fmla="val 19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5790" y="1665561"/>
            <a:ext cx="741454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" y="1675098"/>
            <a:ext cx="69573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СЕЙЧАС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47093" y="1706352"/>
            <a:ext cx="610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СЕГОДНЯ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1891196"/>
            <a:ext cx="172878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Промышленное внедрение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8650" y="2068897"/>
            <a:ext cx="172878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агентов: Сметчик, Нормализатор, ПТО, Аудитор, Экономист, Финансист, Юрист, Руководитель, Поиск.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2493950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" y="2572531"/>
            <a:ext cx="17287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АГЕНТЫ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8650" y="2726122"/>
            <a:ext cx="1728788" cy="4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Базовые 9 агентов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 1С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64706" y="1089310"/>
            <a:ext cx="400050" cy="40005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64706" y="1089310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586038" y="1575085"/>
            <a:ext cx="1957388" cy="3139790"/>
          </a:xfrm>
          <a:prstGeom prst="roundRect">
            <a:avLst>
              <a:gd name="adj" fmla="val 19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77902" y="1665561"/>
            <a:ext cx="60576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52496" y="1675098"/>
            <a:ext cx="65658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V.2 ·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2800" y="1706352"/>
            <a:ext cx="776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6 МЕС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00338" y="1891196"/>
            <a:ext cx="172878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графиков СМР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00338" y="2068897"/>
            <a:ext cx="172878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агенты для контроля план-графика производства работ. Синхронизация с BIM-моделями.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00338" y="2493950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00338" y="2572531"/>
            <a:ext cx="17287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АГЕНТЫ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00338" y="2726122"/>
            <a:ext cx="1728788" cy="4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График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BIM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Связь с моделями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36394" y="1089310"/>
            <a:ext cx="400050" cy="40005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36394" y="1089310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4657725" y="1575085"/>
            <a:ext cx="1957388" cy="3139790"/>
          </a:xfrm>
          <a:prstGeom prst="roundRect">
            <a:avLst>
              <a:gd name="adj" fmla="val 19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49589" y="1665561"/>
            <a:ext cx="60576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24183" y="1675098"/>
            <a:ext cx="65658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V.3 · 2027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70798" y="1706352"/>
            <a:ext cx="830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12 МЕС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72025" y="1891196"/>
            <a:ext cx="172878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Прогнозирование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72025" y="2068897"/>
            <a:ext cx="172878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Прогнозные модели: цена материалов, риск подрядчика, вероятность срыва срока.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2025" y="2493950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72025" y="2572531"/>
            <a:ext cx="17287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АГЕНТЫ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72025" y="2726122"/>
            <a:ext cx="1728788" cy="4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Прогноз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Риск-скоринг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Рыночные индексы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08081" y="1089310"/>
            <a:ext cx="400050" cy="40005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508081" y="1089310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44" name="Text 42"/>
          <p:cNvSpPr/>
          <p:nvPr/>
        </p:nvSpPr>
        <p:spPr>
          <a:xfrm>
            <a:off x="6729413" y="1575085"/>
            <a:ext cx="1957388" cy="3139790"/>
          </a:xfrm>
          <a:prstGeom prst="roundRect">
            <a:avLst>
              <a:gd name="adj" fmla="val 19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21277" y="1665561"/>
            <a:ext cx="60576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5871" y="1675098"/>
            <a:ext cx="65658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V.4 · 2028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42486" y="1706352"/>
            <a:ext cx="830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24 МЕС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43713" y="1891196"/>
            <a:ext cx="1728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Замкнутый контур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43713" y="2068897"/>
            <a:ext cx="1728788" cy="59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Полностью замкнутый контур управления: от сметы до контроля исполнения. Авто-решения по платежам.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43713" y="2611822"/>
            <a:ext cx="1728788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43713" y="2690403"/>
            <a:ext cx="17287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АГЕНТЫ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3713" y="2843994"/>
            <a:ext cx="1728788" cy="4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Платёж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Решение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Замкнутый цикл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Частые вопросы заказчиков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типовых вопросов лица, принимающего решения. Короткие ответы — основа для отработки возражений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9821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580" y="9889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14400" y="1033946"/>
            <a:ext cx="2152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8650" y="1246473"/>
            <a:ext cx="243836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нас уже есть система документооборота. Зачем ещё один инструмент?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8650" y="1550082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28663"/>
            <a:ext cx="24383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1782254"/>
            <a:ext cx="2438363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заменяет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работает поверх. Мы — интеллектуальный слой финансового контроля.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67038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8482" y="9821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95268" y="9889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667088" y="1033946"/>
            <a:ext cx="2152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1338" y="1246473"/>
            <a:ext cx="243836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Искусственный интеллект ненадёжен в серьёзных расчётах. Как с этим?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1338" y="1550082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1338" y="1628663"/>
            <a:ext cx="24383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81338" y="1782254"/>
            <a:ext cx="2438363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считает детерминированный модуль. ИИ только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анализирует текст и выявляет аномалии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9726" y="874998"/>
            <a:ext cx="2667074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41169" y="9821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7956" y="9889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6419776" y="1033946"/>
            <a:ext cx="21527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34026" y="1246473"/>
            <a:ext cx="243847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хотим отдавать данные на внешние серверы. Это критично?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34026" y="1550082"/>
            <a:ext cx="243847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34026" y="1628663"/>
            <a:ext cx="243847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4026" y="1782254"/>
            <a:ext cx="2438474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работает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вашем контуре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локальных моделях. Данные не выходят за пределы.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350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794" y="294489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580" y="29516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914400" y="2996692"/>
            <a:ext cx="2152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8650" y="3209218"/>
            <a:ext cx="243836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слишком дорого. 22,5 миллиона — много для пилота.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8650" y="3512827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8650" y="3591409"/>
            <a:ext cx="24383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8650" y="3744999"/>
            <a:ext cx="2438363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ниже средних потерь на одном объекте. Плюс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за лицензии и 12 мес гарантии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7038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88482" y="294489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95268" y="29516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3667088" y="2996692"/>
            <a:ext cx="2152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1338" y="3209218"/>
            <a:ext cx="243836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 если у нас нет исторических данных по объектам?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81338" y="3512827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1338" y="3591409"/>
            <a:ext cx="24383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1338" y="3744999"/>
            <a:ext cx="2438363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Загружаем нашу базу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250+ объектов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Ваши данные накапливаются в процессе эксплуатации.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19726" y="2837743"/>
            <a:ext cx="2667074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41169" y="294489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47956" y="29516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6419776" y="2996692"/>
            <a:ext cx="21527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06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34026" y="3209218"/>
            <a:ext cx="243847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Кто отвечает, если система ошиблась в расчёте?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34026" y="3512827"/>
            <a:ext cx="243847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34026" y="3591409"/>
            <a:ext cx="243847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34026" y="3744999"/>
            <a:ext cx="2438474" cy="50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 всегда за человеком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Система — инструмент поддержки. Гарантия 12 мес включает исправления.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2887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17343" y="4954191"/>
            <a:ext cx="35530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FAQ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чисел, на которых строится доверие заказчиков. Каждое — из реальной эксплуатации и обучающей базы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443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57263" y="107413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ОБУЧАЮЩАЯ БАЗА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1513" y="1943435"/>
            <a:ext cx="1550194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697534" y="2079166"/>
            <a:ext cx="131712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71513" y="2343485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ЗАВЕРШЁННЫХ ПРОЕКТОВ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1513" y="2488146"/>
            <a:ext cx="245287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Крупные девелоперы РФ, 2018–2024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71838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0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2930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714750" y="107413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1946337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429000" y="2343485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ОЦЕНКА СТОИМОСТИ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2488146"/>
            <a:ext cx="245287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наличии сметы подрядчика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29325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6488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00418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472238" y="1074130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86488" y="1946337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186488" y="2343485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СВЯЗАННЫХ АГЕНТОВ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6488" y="2488146"/>
            <a:ext cx="245287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экономист, юрист и др.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4350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1513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443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957263" y="3044019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БИЗНЕС-МОДЕЛЬ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1513" y="3916338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71513" y="4313486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ПОДПИСНЫХ ПЛАТЕЖЕЙ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1513" y="4458146"/>
            <a:ext cx="245287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 внедрения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71838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9000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42930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3714750" y="3044019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29000" y="3916338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3429000" y="4313486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ОБРАБОТКА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29000" y="4458146"/>
            <a:ext cx="2452878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контуре заказчика, 152-ФЗ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29325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86488" y="2987762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00418" y="300169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6472238" y="3044019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86488" y="3913436"/>
            <a:ext cx="736163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6703740" y="4049167"/>
            <a:ext cx="182589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6186488" y="4313486"/>
            <a:ext cx="234315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6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СОПРОВОЖДЕНИЕ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86488" y="4458146"/>
            <a:ext cx="2343150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Включено в цену внедрения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4350" y="4954191"/>
            <a:ext cx="40035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32151" y="4954191"/>
            <a:ext cx="38382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28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7775" y="0"/>
            <a:ext cx="0" cy="514350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28625"/>
            <a:ext cx="17556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СВЯЗАТЬСЯ С НАМИ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1500" y="1589484"/>
            <a:ext cx="408265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1463" dirty="0"/>
          </a:p>
        </p:txBody>
      </p:sp>
      <p:sp>
        <p:nvSpPr>
          <p:cNvPr id="5" name="Text 3"/>
          <p:cNvSpPr/>
          <p:nvPr/>
        </p:nvSpPr>
        <p:spPr>
          <a:xfrm>
            <a:off x="571500" y="1968103"/>
            <a:ext cx="3286125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Поможем подобрать решения под ваши бизнес-задачи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571500" y="2468166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501" y="247816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42963" y="2507456"/>
            <a:ext cx="670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32880" y="2491383"/>
            <a:ext cx="32212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198-14-77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2739628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501" y="274962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42963" y="2778919"/>
            <a:ext cx="5088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03846" y="2762845"/>
            <a:ext cx="33503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info@7rlines.com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" y="3011091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1501" y="302109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42963" y="3050381"/>
            <a:ext cx="3918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0734" y="3034308"/>
            <a:ext cx="34234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7rlines.ru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" y="3282553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501" y="329255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42963" y="3321844"/>
            <a:ext cx="493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АДРЕС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94135" y="3305770"/>
            <a:ext cx="33600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119049, Москва, ул. Шаболовка, 23к3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1500" y="4755952"/>
            <a:ext cx="291990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 · СТРОЙИНТЕЛЛЕКТ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1697" y="-853678"/>
            <a:ext cx="1993106" cy="1993106"/>
          </a:xfrm>
          <a:prstGeom prst="ellips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07731" y="4289822"/>
            <a:ext cx="1278731" cy="1278731"/>
          </a:xfrm>
          <a:prstGeom prst="ellips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2642" y="1925241"/>
            <a:ext cx="500063" cy="500063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05863" y="1978462"/>
            <a:ext cx="393621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7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2672" dirty="0"/>
          </a:p>
        </p:txBody>
      </p:sp>
      <p:sp>
        <p:nvSpPr>
          <p:cNvPr id="27" name="Text 25"/>
          <p:cNvSpPr/>
          <p:nvPr/>
        </p:nvSpPr>
        <p:spPr>
          <a:xfrm>
            <a:off x="5830416" y="2596753"/>
            <a:ext cx="32824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917712" y="2982516"/>
            <a:ext cx="2369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ЦИФРОВАЯ СЛУЖБА ТЕХНИЧЕСКОГО ЗАКАЗЧИКА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2026-08-11T21:41:35Z</dcterms:created>
  <dcterms:modified xsi:type="dcterms:W3CDTF">2026-08-11T21:41:35Z</dcterms:modified>
</cp:coreProperties>
</file>