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Открыть с: «это квинтэссенция стратегии для отдела продаж».
 • Главное сообщение: «продаём не ПО, а предотвращённые потери».
 • Три цифры для запоминания: 34,9 млн ₽ · 300+ клиентов · 22,5 млн ₽ минимум.
 • Дальше — 27 слайдов: от профиля клиента до плана старта.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Шесть разделов: клиент → цена → воронка → возражения → кит → старт.
 • Главное: «возражения и кит продаж» — самые рабочие разделы.
 • Каждый раздел далее раскрывается на отдельных слайдах.
 • Жёлтые страницы-ориентиры в правом углу каждой строки.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Пять принципов — каркас всей стратегии продаж.
 • Главное: «категория из одного» и «продаём потери, не ПО».
 • Цифры для питча — заучить, использовать в каждом звонке.
 • Любое отклонение от цен — на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Основной ICP — крупный девелопер.
 • Целевой чек 29,9–34,9 млн ₽.
 • Главное: «свои техзаказчики + история данных».
 • Цикл сделки 60–90 дней, приоритет высокий.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Второй ICP — корпоративный заказчик.
 • Целевой чек 22,5–29,9 млн ₽.
 • Цикл длиннее (75–120 дней) из-за согласований бюджета.
 • Приоритет средний — до 30% усилий отдела продаж.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Шесть стоп-факторов: малый объект, нет истории, замена ТЗ программой, малый ИТ-бюджет, нет 1С, длинное решение.
 • Главное: «не тратьте время».
 • Действие — вежливый отказ с предложением вернуться через 6–12 месяцев.
 • Не уговаривать, не делать скидку.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Цена только вверх: 22,5 — для референса, 34,9 — для всех остальных.
 • Целевой диапазон сделок — 29,9–32,9 млн ₽.
 • Минимум переговоров 29,9 — ниже только через руководителя продукта.
 • Потенциал 45+ млн ₽ — зрелая версия после 12 мес эксплуатации.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 для ЛПР; ROI 62% — выше депозита; «без лицензионных платежей» — добивание; подставить реальные цифры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критериев; главное — «единственный, кто считает деньги»; на «данные уходят у консультанта» — главный козырь.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слоя; главное — «категория из одного»; не соревнуемся, усиливаем.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этапа; 60-90 дней цикл; главное — «без пилота сделка не идёт»; конверсия 100→40→25→15.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 1 — квалификация; 5-10 дней; главное — «не тратьте время на стопы»; 4 ключевых вопроса.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 2 — лид-магнит; 0 ₽, без обязательств; главное — «точность на его данных, не на наших примерах».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 3 — демонстрация; главное — «доказательство точности на его данных»; ключевые вопросы — основа для FAQ.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Этап 4 — внедрение: финал сделки
 • Чек 22,5–34,9 млн ₽ с НДС 22%
 • 12 мес гарантии включено в цену
 • Срок: 45 / 70 / 135 дней
 • Главное: от лида до сделки 15% при правильной квалификации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4 технических возражения и готовые аргументы
 • Цель — не победить в споре, а сдвинуть ЛПР
 • Главное: «не спорим, а сдвигаем»
 • Каждый ответ — конкретный аргумент, не эмоция
 • На «нет данных» — наша база 250+ объектов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4 финансовых и организационных возражения
 • На «дорого» — всегда возврат к калькулятору ROI 62%
 • Главное: «решение за человеком, система — инструмент поддержки»
 • Консультант уходит — СтройИнтеллект остаётся в контуре
 • Веб-интерфейс + 2–3 сессии обучения, специалисты ИИ не нужны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3 типовых сценария звонка ЛПР
 • Цепочка: холодный → тёплый → пилот
 • Главное: «ключевой вопрос = пауза и слушание»
 • Каждая закрывающая фраза ведёт к следующему этапу воронки
 • Холодный — на 1–2 закрытых объекта, пилот — на КП 22,5 млн 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9 критериев в 3 группах: профиль, данные, лица
 • 7–9 пунктов — лид квалифицирован
 • 5–6 — на усмотрение менеджера
 • Меньше 5 — стоп, не тратим время
 • Чек-лист обязательно заводится в CRM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Кит 01 — основной инструмент продаж
 • 0 ₽, без обязательств, даже если откажутся внедрять
 • Объём: 1–2 закрытых объекта с известной себестоимостью
 • Срок: 5 рабочих дней от подписания NDA
 • Главное: «снятие возражения о точности модели»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Кит 02 — калькулятор ROI для первичного обоснования
 • 3–5 минут на расчёт: подставить смету — получить отчёт
 • Формат Excel + PDF — готовый артефакт для ЛПР
 • Отклонение 5% — среднее по базе 250+ объектов
 • Главное: «показать ROI 62% на смете клиента»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Дополнительный инструмент в линейке КИТов
 • Срок — 3 дня на аудит документов клиента
 • Главное — демонстрация ценности на документах клиента
 • Работают 2 агента: Юрист и Сметчик (из 9)
 • На выходе PDF-отчёт с реестром рисков и суммами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4 hero-метрики: 9 агентов, 0 ₽ подписки, 100% локально, 250+ объектов
 • Чёрная карточка — позиционирование категории из одного
 • Главное — «категория из одного», конкурентов нет
 • Архитектура из 9 агентов недоступна тиражным решениям
 • Мы — единственные, кто считает деньги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На рынке 4 типа решений: таблицы, документооборот, ERP, внешние консультанты
 • Никто из них не считает деньги в рублях
 • Главное — единственный, кто считает деньги в рублях
 • Все работают либо с документами, либо с описаниями
 • СтройИнтеллект — категория финансового контроля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3 недели на запуск отдела продаж
 • Неделя 1 — квалификация 10 лидов, результат 6 квалифицированных
 • Неделя 2 — 5 пилотов, результат 5 отчётов с точностью ±3-5%
 • Неделя 3 — 5 демо, результат 3 КП
 • Главное — к концу 3-й недели 3 коммерческих предложения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6 KPI отдела продаж — по этапам воронки
 • 10 лидов/нед → 5 пилотов → 5 демо → 3 КП → 1 сделка → 30 млн ₽
 • Главное — 1 сделка в месяц = 30 млн ₽ выручки
 • Контроль еженедельно, корректировка помесячно
 • Конверсия 15% от лида до сделки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Закрытие презентации
 • Фраза: инструменты продаж готовы, начинаем квалификацию лидов
 • Вопрос: сколько лидов готовы квалифицировать в понедельник?
 • Контакты: +7 (495) 198-14-77, info@7rlines.com, 7rlines.ru
 • Адрес: 119049, Москва, ул. Шаболовка, 23к3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895" y="2478881"/>
            <a:ext cx="2474305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7144" cy="51435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50394" y="1658913"/>
            <a:ext cx="5979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ИНСТРУКЦИЯ ДЛЯ ОТДЕЛА ПРОДАЖ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150394" y="1894656"/>
            <a:ext cx="5993606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Продуктовая стратегия </a:t>
            </a:r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3150394" y="2251844"/>
            <a:ext cx="4714875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Инструкция для отдела продаж. Кому продаём, за сколько, как отрабатываем возражения, что предлагаем в качестве лид-магнита.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Квинтэссенция стратегии в 27 слайдах.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50394" y="2945234"/>
            <a:ext cx="1504876" cy="539353"/>
          </a:xfrm>
          <a:prstGeom prst="roundRect">
            <a:avLst>
              <a:gd name="adj" fmla="val 706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78981" y="3059534"/>
            <a:ext cx="124770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34,9 млн ₽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8981" y="3273847"/>
            <a:ext cx="124770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5282" y="2945234"/>
            <a:ext cx="1504987" cy="539353"/>
          </a:xfrm>
          <a:prstGeom prst="roundRect">
            <a:avLst>
              <a:gd name="adj" fmla="val 706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83869" y="3059534"/>
            <a:ext cx="12478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300+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83869" y="3273847"/>
            <a:ext cx="124781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ЦЕЛЕВЫХ КЛИЕНТОВ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60282" y="2945234"/>
            <a:ext cx="1504987" cy="539353"/>
          </a:xfrm>
          <a:prstGeom prst="roundRect">
            <a:avLst>
              <a:gd name="adj" fmla="val 706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88869" y="3059534"/>
            <a:ext cx="12478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88869" y="3273847"/>
            <a:ext cx="124781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МИНИМАЛЬНЫЙ ЧЕК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разделов — от профиля клиента до плана старта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10717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910717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7294" y="102501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14080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1543050" y="1001241"/>
            <a:ext cx="691188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целевого клиента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43050" y="1142665"/>
            <a:ext cx="7109362" cy="1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Кому продаём. Стоп-факторы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53443" y="1039304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1432210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2938" y="1467929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938" y="1467929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15" name="Text 13"/>
          <p:cNvSpPr/>
          <p:nvPr/>
        </p:nvSpPr>
        <p:spPr>
          <a:xfrm>
            <a:off x="1207294" y="158222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14080" y="15890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1543050" y="1558454"/>
            <a:ext cx="691188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Ценовая стратегия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43050" y="1699878"/>
            <a:ext cx="7109362" cy="1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цена, диапазон, ROI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53443" y="1596517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4350" y="1989423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2938" y="2025142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2938" y="2025142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23" name="Text 21"/>
          <p:cNvSpPr/>
          <p:nvPr/>
        </p:nvSpPr>
        <p:spPr>
          <a:xfrm>
            <a:off x="1207294" y="213944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14080" y="2146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1543050" y="2115666"/>
            <a:ext cx="691188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 и лид-магнит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43050" y="2257090"/>
            <a:ext cx="6911880" cy="1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этапа. Цикл 60–90 дней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53443" y="2153729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4350" y="2546635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2938" y="2582354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938" y="2582354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63" dirty="0"/>
          </a:p>
        </p:txBody>
      </p:sp>
      <p:sp>
        <p:nvSpPr>
          <p:cNvPr id="31" name="Text 29"/>
          <p:cNvSpPr/>
          <p:nvPr/>
        </p:nvSpPr>
        <p:spPr>
          <a:xfrm>
            <a:off x="1207294" y="269665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14080" y="27034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1543050" y="2672879"/>
            <a:ext cx="691188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Отработка возражений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43050" y="2814303"/>
            <a:ext cx="6911880" cy="1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типовых + ответы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53443" y="2710942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4350" y="3103848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2938" y="3139567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2938" y="3139567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463" dirty="0"/>
          </a:p>
        </p:txBody>
      </p:sp>
      <p:sp>
        <p:nvSpPr>
          <p:cNvPr id="39" name="Text 37"/>
          <p:cNvSpPr/>
          <p:nvPr/>
        </p:nvSpPr>
        <p:spPr>
          <a:xfrm>
            <a:off x="1207294" y="325386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214080" y="32606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1543050" y="3230091"/>
            <a:ext cx="691188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Материалы для продаж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43050" y="3371515"/>
            <a:ext cx="6911880" cy="1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инструмента кита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53443" y="3268154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20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4350" y="3661060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2938" y="3696779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2938" y="3696779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463" dirty="0"/>
          </a:p>
        </p:txBody>
      </p:sp>
      <p:sp>
        <p:nvSpPr>
          <p:cNvPr id="47" name="Text 45"/>
          <p:cNvSpPr/>
          <p:nvPr/>
        </p:nvSpPr>
        <p:spPr>
          <a:xfrm>
            <a:off x="1207294" y="381107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14080" y="381786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1543050" y="3787304"/>
            <a:ext cx="7015163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 старта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543050" y="3928728"/>
            <a:ext cx="7109362" cy="1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3-недельный план отдела продаж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53443" y="3825367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25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4350" y="4954191"/>
            <a:ext cx="4073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02361" y="4954191"/>
            <a:ext cx="37679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принципов стратегии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Квинтэссенция. Каждый принцип — отдельный раздел дальше. Держите их в голове на каждом звонке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675473" cy="710803"/>
          </a:xfrm>
          <a:prstGeom prst="roundRect">
            <a:avLst>
              <a:gd name="adj" fmla="val 53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087524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1087524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1014413" y="1038411"/>
            <a:ext cx="417083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Позиционирование — категория из одного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14413" y="1175928"/>
            <a:ext cx="4061110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не система строительного документооборота и не система управления ресурсами. Мы — </a:t>
            </a:r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интеллектуальный слой финансового контроля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1657238"/>
            <a:ext cx="4675473" cy="710915"/>
          </a:xfrm>
          <a:prstGeom prst="roundRect">
            <a:avLst>
              <a:gd name="adj" fmla="val 53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869765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1869765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1014413" y="1820652"/>
            <a:ext cx="417083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Продаём предотвращённые потери, не ПО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14413" y="1958169"/>
            <a:ext cx="4061110" cy="324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22,5 млн ₽ — это 2–3% от предотвращённых потерь на одном объекте. </a:t>
            </a:r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Калькулятор возврата на инвестиции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главный инструмент.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4350" y="2439591"/>
            <a:ext cx="4675473" cy="710803"/>
          </a:xfrm>
          <a:prstGeom prst="roundRect">
            <a:avLst>
              <a:gd name="adj" fmla="val 53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650" y="2652117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2652117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1014413" y="2603004"/>
            <a:ext cx="417083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 — бесплатный пилот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14413" y="2740521"/>
            <a:ext cx="4061110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закрытых объекта клиента. Доказательство точности ±3-5% на его данных. </a:t>
            </a:r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пилота сделка не идёт.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4350" y="3221831"/>
            <a:ext cx="4675473" cy="710803"/>
          </a:xfrm>
          <a:prstGeom prst="roundRect">
            <a:avLst>
              <a:gd name="adj" fmla="val 53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8650" y="3434358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650" y="3434358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1014413" y="3385245"/>
            <a:ext cx="417083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Контур заказчика — не подлежит обсуждению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14413" y="3522762"/>
            <a:ext cx="4061110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100% локальная обработка. Это не функция, это категоричный ответ на возражение про данные.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350" y="4004072"/>
            <a:ext cx="4675473" cy="710803"/>
          </a:xfrm>
          <a:prstGeom prst="roundRect">
            <a:avLst>
              <a:gd name="adj" fmla="val 53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650" y="4216598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8650" y="4216598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1014413" y="4167485"/>
            <a:ext cx="4061110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— только вверх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4413" y="4305002"/>
            <a:ext cx="4061110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 — для первого клиента (референс). Для следующих — 34,9 млн ₽. </a:t>
            </a:r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Любое отклонение — согласование с руководителем продукта.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46985" y="874998"/>
            <a:ext cx="3339703" cy="3839877"/>
          </a:xfrm>
          <a:prstGeom prst="roundRect">
            <a:avLst>
              <a:gd name="adj" fmla="val 114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46985" y="874998"/>
            <a:ext cx="3339703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70215" y="96965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04173" y="969652"/>
            <a:ext cx="288250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ДЛЯ ПИТЧА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9860" y="1317910"/>
            <a:ext cx="3298269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ИСПОЛЬЗУЙТЕ В КАЖДОМ ЗВОНКЕ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93432" y="1532223"/>
            <a:ext cx="953691" cy="523949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82729" y="1607232"/>
            <a:ext cx="77509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5–12%</a:t>
            </a:r>
            <a:endParaRPr lang="en-US" sz="1238" dirty="0"/>
          </a:p>
        </p:txBody>
      </p:sp>
      <p:sp>
        <p:nvSpPr>
          <p:cNvPr id="36" name="Text 34"/>
          <p:cNvSpPr/>
          <p:nvPr/>
        </p:nvSpPr>
        <p:spPr>
          <a:xfrm>
            <a:off x="5582729" y="1792970"/>
            <a:ext cx="775097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НА ОБЪЕКТЕ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39992" y="1532223"/>
            <a:ext cx="953691" cy="523949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629288" y="1607232"/>
            <a:ext cx="77509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1238" dirty="0"/>
          </a:p>
        </p:txBody>
      </p:sp>
      <p:sp>
        <p:nvSpPr>
          <p:cNvPr id="39" name="Text 37"/>
          <p:cNvSpPr/>
          <p:nvPr/>
        </p:nvSpPr>
        <p:spPr>
          <a:xfrm>
            <a:off x="6629288" y="1792970"/>
            <a:ext cx="775097" cy="17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БАЗЕ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6551" y="1532223"/>
            <a:ext cx="953691" cy="523949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675848" y="1607232"/>
            <a:ext cx="77509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238" dirty="0"/>
          </a:p>
        </p:txBody>
      </p:sp>
      <p:sp>
        <p:nvSpPr>
          <p:cNvPr id="42" name="Text 40"/>
          <p:cNvSpPr/>
          <p:nvPr/>
        </p:nvSpPr>
        <p:spPr>
          <a:xfrm>
            <a:off x="7675848" y="1792970"/>
            <a:ext cx="775097" cy="17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АГЕНТОВ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93432" y="2149041"/>
            <a:ext cx="953691" cy="429853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82729" y="2224050"/>
            <a:ext cx="77509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1238" dirty="0"/>
          </a:p>
        </p:txBody>
      </p:sp>
      <p:sp>
        <p:nvSpPr>
          <p:cNvPr id="45" name="Text 43"/>
          <p:cNvSpPr/>
          <p:nvPr/>
        </p:nvSpPr>
        <p:spPr>
          <a:xfrm>
            <a:off x="5582729" y="2409788"/>
            <a:ext cx="775097" cy="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39992" y="2149041"/>
            <a:ext cx="953691" cy="429853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29288" y="2224050"/>
            <a:ext cx="77509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мин</a:t>
            </a:r>
            <a:endParaRPr lang="en-US" sz="1238" dirty="0"/>
          </a:p>
        </p:txBody>
      </p:sp>
      <p:sp>
        <p:nvSpPr>
          <p:cNvPr id="48" name="Text 46"/>
          <p:cNvSpPr/>
          <p:nvPr/>
        </p:nvSpPr>
        <p:spPr>
          <a:xfrm>
            <a:off x="6629288" y="2409788"/>
            <a:ext cx="775097" cy="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ОТЧЁТ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86551" y="2149041"/>
            <a:ext cx="953691" cy="429853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675848" y="2224050"/>
            <a:ext cx="77509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238" dirty="0"/>
          </a:p>
        </p:txBody>
      </p:sp>
      <p:sp>
        <p:nvSpPr>
          <p:cNvPr id="51" name="Text 49"/>
          <p:cNvSpPr/>
          <p:nvPr/>
        </p:nvSpPr>
        <p:spPr>
          <a:xfrm>
            <a:off x="7675848" y="2409788"/>
            <a:ext cx="775097" cy="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ЛОКАЛЬНО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89860" y="2696766"/>
            <a:ext cx="305395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89860" y="2803922"/>
            <a:ext cx="329826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Эти цифры — основа доверия. Заучите их.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14350" y="4954191"/>
            <a:ext cx="39272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455914" y="4954191"/>
            <a:ext cx="391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01. Крупный девелопер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Основной профиль целевого клиента. Высокий приоритет. Целевой чек 29,9–34,9 млн 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590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14425" y="1135745"/>
            <a:ext cx="1590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ICP ·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70051" y="1098910"/>
            <a:ext cx="2488927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Крупный девелопер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00088" y="143221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0088" y="1525079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 ICP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0088" y="1717960"/>
            <a:ext cx="4158890" cy="112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Несколько параллельных объектов (3+)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Своя служба технического заказчика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одной ошибки выше цены внедрения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История данных по 3+ объектам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 управления ресурсами 1С или аналогичная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Годовой оборот от 5 млрд ₽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8216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088" y="2914538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КЛЮЧЕВЫЕ ЛИЦА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3107420"/>
            <a:ext cx="4158890" cy="55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Финансовый директор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службы технического заказчика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инженер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01878" y="874998"/>
            <a:ext cx="3484922" cy="1149474"/>
          </a:xfrm>
          <a:prstGeom prst="roundRect">
            <a:avLst>
              <a:gd name="adj" fmla="val 331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01890" y="946435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ЧЕК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16178" y="1289335"/>
            <a:ext cx="2554529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29,9–34,9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145424" y="1446498"/>
            <a:ext cx="1427076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16178" y="1666503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ДИАПАЗОН СДЕЛКИ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6178" y="1823219"/>
            <a:ext cx="3480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для этого профиля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1878" y="2110197"/>
            <a:ext cx="3484922" cy="1015194"/>
          </a:xfrm>
          <a:prstGeom prst="roundRect">
            <a:avLst>
              <a:gd name="adj" fmla="val 375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01878" y="2110197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25108" y="220485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9065" y="2204851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ПРИОРИТЕТ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6178" y="2524534"/>
            <a:ext cx="337062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Высокий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316178" y="2767422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ОСНОВНОЙ ICP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16178" y="2924138"/>
            <a:ext cx="3480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60% усилий отдела продаж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01878" y="3211116"/>
            <a:ext cx="3484922" cy="1015194"/>
          </a:xfrm>
          <a:prstGeom prst="roundRect">
            <a:avLst>
              <a:gd name="adj" fmla="val 375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01878" y="3211116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25108" y="3305770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9065" y="3305770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ЦИКЛ СДЕЛКИ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16178" y="3625453"/>
            <a:ext cx="337062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60–90 дней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5316178" y="3868341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ПЕРВОГО ЗВОНКА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16178" y="4025057"/>
            <a:ext cx="3480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квалифицированном лиде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4350" y="4954191"/>
            <a:ext cx="40089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37621" y="4954191"/>
            <a:ext cx="38327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ICP · ДЕВЕЛОПЕР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02. Корпоративный заказчик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Второй профиль. Средний приоритет. Целевой чек 22,5–29,9 млн 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590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14425" y="1135745"/>
            <a:ext cx="1590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ICP · 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70051" y="1098910"/>
            <a:ext cx="2488927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Корпоративный заказчик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00088" y="143221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0088" y="1525079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 ICP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0088" y="1717960"/>
            <a:ext cx="4158890" cy="112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Капитальное строительство для собственных нужд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Нужен контроль подрядчиков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1С и исторические данные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на внедрение согласуем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Розничная сеть, производство, логистика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Годовой объём строительства от 1 млрд ₽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8216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088" y="2914538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КЛЮЧЕВЫЕ ЛИЦА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3107420"/>
            <a:ext cx="4158890" cy="55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4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Финансовый директор</a:t>
            </a:r>
            <a:endParaRPr lang="en-US" sz="800" dirty="0"/>
          </a:p>
          <a:p>
            <a:pPr algn="l" marL="342900" indent="-342900">
              <a:lnSpc>
                <a:spcPts val="104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Директор по строительству</a:t>
            </a:r>
            <a:endParaRPr lang="en-US" sz="800" dirty="0"/>
          </a:p>
          <a:p>
            <a:pPr algn="l" marL="342900" indent="-342900">
              <a:lnSpc>
                <a:spcPts val="104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проектного офиса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01878" y="874998"/>
            <a:ext cx="3484922" cy="1149474"/>
          </a:xfrm>
          <a:prstGeom prst="roundRect">
            <a:avLst>
              <a:gd name="adj" fmla="val 331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01890" y="946435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ЧЕК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16178" y="1289335"/>
            <a:ext cx="2554529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22,5–29,9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145424" y="1446498"/>
            <a:ext cx="1427076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16178" y="1666503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ДИАПАЗОН СДЕЛКИ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6178" y="1823219"/>
            <a:ext cx="3480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для этого профиля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1878" y="2110197"/>
            <a:ext cx="3484922" cy="1015194"/>
          </a:xfrm>
          <a:prstGeom prst="roundRect">
            <a:avLst>
              <a:gd name="adj" fmla="val 375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01878" y="2110197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25108" y="220485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9065" y="2204851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ПРИОРИТЕТ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6178" y="2524534"/>
            <a:ext cx="337062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316178" y="2767422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ВТОРОСТЕПЕННЫЙ ICP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16178" y="2924138"/>
            <a:ext cx="3480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30% усилий отдела продаж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01878" y="3211116"/>
            <a:ext cx="3484922" cy="1015194"/>
          </a:xfrm>
          <a:prstGeom prst="roundRect">
            <a:avLst>
              <a:gd name="adj" fmla="val 375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01878" y="3211116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25108" y="3305770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9065" y="3305770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ЦИКЛ СДЕЛКИ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16178" y="3625453"/>
            <a:ext cx="337062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75–120 дней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5316178" y="3868341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ДЛИННЕЕ, ЧЕМ У ДЕВЕЛОПЕРА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16178" y="4025057"/>
            <a:ext cx="3480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Из-за согласований бюджета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4350" y="4954191"/>
            <a:ext cx="4037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66196" y="4954191"/>
            <a:ext cx="38041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ICP · КОРПОРАТ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Стоп-факторы. Когда отказываем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тратьте время. Вежливый отказ — лучшее, что можно сделать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1494" y="882142"/>
            <a:ext cx="4516078" cy="3825590"/>
          </a:xfrm>
          <a:prstGeom prst="roundRect">
            <a:avLst>
              <a:gd name="adj" fmla="val 996"/>
            </a:avLst>
          </a:prstGeom>
          <a:solidFill>
            <a:srgbClr val="FFFFFF"/>
          </a:solidFill>
          <a:ln w="14288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878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28713" y="1135745"/>
            <a:ext cx="3715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ПРОДАЁМ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4375" y="1446498"/>
            <a:ext cx="4130315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Стоп-факторы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14375" y="1698650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777231"/>
            <a:ext cx="413031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КРИТЕРИИ ОТКАЗА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4375" y="1955825"/>
            <a:ext cx="4130315" cy="115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небольшой объект (до 200 млн ₽)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Отсутствие истории данных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Ожидание полной замены технического заказчика программой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на информационные технологии &lt; 20 млн ₽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системы управления ресурсами (1С или аналогичной)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принятия решения &gt; 6 месяцев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4375" y="3072036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4375" y="3150617"/>
            <a:ext cx="413031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ДЕЛАТЬ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4375" y="3329211"/>
            <a:ext cx="4130315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Вежливый отказ.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Предложить вернуться через 6–12 месяцев, когда изменятся условия. Не уговаривать. Не делать скидку.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01878" y="874998"/>
            <a:ext cx="3484922" cy="1213210"/>
          </a:xfrm>
          <a:prstGeom prst="roundRect">
            <a:avLst>
              <a:gd name="adj" fmla="val 314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16178" y="975010"/>
            <a:ext cx="325632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ПРИЧИНА 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16178" y="1125029"/>
            <a:ext cx="325632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Малый объект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316178" y="1367917"/>
            <a:ext cx="3256322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РОИ ЗА 5 ЛЕТ НЕ СОБИРАЕТСЯ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16178" y="1521507"/>
            <a:ext cx="33660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внедрения &gt; потенциальной экономии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01878" y="2173932"/>
            <a:ext cx="3484922" cy="1213321"/>
          </a:xfrm>
          <a:prstGeom prst="roundRect">
            <a:avLst>
              <a:gd name="adj" fmla="val 314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16178" y="2273945"/>
            <a:ext cx="325632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ПРИЧИНА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6178" y="2423964"/>
            <a:ext cx="325632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истории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316178" y="2666851"/>
            <a:ext cx="3256322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НА ЧЕМ КАЛИБРОВАТЬ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16178" y="2820442"/>
            <a:ext cx="33660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Системе нужна обучающая выборка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9022" y="3480122"/>
            <a:ext cx="3470635" cy="1227609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14288">
            <a:solidFill>
              <a:srgbClr val="FF000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3587279"/>
            <a:ext cx="322774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ДЕЙСТВИЕ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3737297"/>
            <a:ext cx="3227747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330465" y="3980185"/>
            <a:ext cx="322774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ВЕЖЛИВО, НО ТВЁРДО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30465" y="4133776"/>
            <a:ext cx="3337475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предложением вернуться через 6–12 мес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4350" y="4954191"/>
            <a:ext cx="40339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62624" y="4954191"/>
            <a:ext cx="38077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СТОП-ФАКТОРЫ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Ценовая стратегия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 — для первого клиента. 34,9 млн ₽ — для следующих. Целевой диапазон — 29,9–32,9 млн 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198404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1435224"/>
            <a:ext cx="3908082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ТЕКУЩАЯ ЦЕНА ПЕРВОГО ВНЕДРЕНИЯ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4375" y="1613818"/>
            <a:ext cx="2056507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0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4275" dirty="0"/>
          </a:p>
        </p:txBody>
      </p:sp>
      <p:sp>
        <p:nvSpPr>
          <p:cNvPr id="7" name="Text 5"/>
          <p:cNvSpPr/>
          <p:nvPr/>
        </p:nvSpPr>
        <p:spPr>
          <a:xfrm>
            <a:off x="2056842" y="1885280"/>
            <a:ext cx="245588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14375" y="2200945"/>
            <a:ext cx="3798354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 · только при стратегической ценности клиента для отраслевого референса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4375" y="2598762"/>
            <a:ext cx="379835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2734494"/>
            <a:ext cx="37983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СЛЕДУЮЩИХ КЛИЕНТОВ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4375" y="2927375"/>
            <a:ext cx="1200686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4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1521954" y="3048819"/>
            <a:ext cx="299077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714375" y="3313137"/>
            <a:ext cx="390808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с НДС для всех остальных клиентов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4375" y="3561717"/>
            <a:ext cx="379835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4375" y="3697449"/>
            <a:ext cx="37983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ДИАПАЗОН СДЕЛОК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7947" y="3908189"/>
            <a:ext cx="3791210" cy="78581"/>
          </a:xfrm>
          <a:prstGeom prst="roundRect">
            <a:avLst>
              <a:gd name="adj" fmla="val 7272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67508" y="3911761"/>
            <a:ext cx="2156854" cy="71438"/>
          </a:xfrm>
          <a:prstGeom prst="roundRect">
            <a:avLst>
              <a:gd name="adj" fmla="val 7999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4375" y="4047492"/>
            <a:ext cx="10128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47378" y="4047492"/>
            <a:ext cx="10129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80493" y="4047492"/>
            <a:ext cx="10128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13496" y="4047492"/>
            <a:ext cx="10129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32,9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611" y="4047492"/>
            <a:ext cx="10128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79614" y="4047492"/>
            <a:ext cx="6331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40+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69917" y="874998"/>
            <a:ext cx="3816883" cy="1149474"/>
          </a:xfrm>
          <a:prstGeom prst="roundRect">
            <a:avLst>
              <a:gd name="adj" fmla="val 331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9917" y="874998"/>
            <a:ext cx="3816883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69929" y="946435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27104" y="969652"/>
            <a:ext cx="335968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84217" y="1289335"/>
            <a:ext cx="1298912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5838899" y="1446498"/>
            <a:ext cx="2733601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4217" y="1666503"/>
            <a:ext cx="3702583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ВСЕХ, КРОМЕ ПЕРВОГО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84217" y="1823219"/>
            <a:ext cx="3702583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69917" y="2110197"/>
            <a:ext cx="3816883" cy="1149474"/>
          </a:xfrm>
          <a:prstGeom prst="roundRect">
            <a:avLst>
              <a:gd name="adj" fmla="val 331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69917" y="2110197"/>
            <a:ext cx="3816883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93146" y="220485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27104" y="2204851"/>
            <a:ext cx="335968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МИНИМУМ ПЕРЕГОВОРОВ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84217" y="2524534"/>
            <a:ext cx="1298912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5838899" y="2681697"/>
            <a:ext cx="2733601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4217" y="2901702"/>
            <a:ext cx="3702583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НИЖЕ ЭТОЙ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84217" y="3058418"/>
            <a:ext cx="3812311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согласования с руководителем продукта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77060" y="3352540"/>
            <a:ext cx="3802596" cy="1355192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14288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98504" y="3459696"/>
            <a:ext cx="355970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98504" y="3609715"/>
            <a:ext cx="3559708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45+ млн ₽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4998504" y="3852602"/>
            <a:ext cx="355970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ЗРЕЛАЯ ВЕРСИЯ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98504" y="4006193"/>
            <a:ext cx="3559708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12 мес эксплуатации и расширения кита агентов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4350" y="4954191"/>
            <a:ext cx="4253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82071" y="4954191"/>
            <a:ext cx="3588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 на инвестиции — главный аргумент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Используйте калькулятор в каждом питче. Цифры ниже — иллюстрация на типовом объекте 1 млрд 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8172450" cy="579313"/>
          </a:xfrm>
          <a:prstGeom prst="roundRect">
            <a:avLst>
              <a:gd name="adj" fmla="val 657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13" y="1018208"/>
            <a:ext cx="3156809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ИЛЛЮСТРАТИВНЫЙ РАСЧЁТ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1513" y="1182514"/>
            <a:ext cx="2476716" cy="15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Типовой объект 1 млрд ₽, средние потери 7%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96744" y="993539"/>
            <a:ext cx="707454" cy="342119"/>
          </a:xfrm>
          <a:prstGeom prst="roundRect">
            <a:avLst>
              <a:gd name="adj" fmla="val 835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62943" y="1054261"/>
            <a:ext cx="57505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57405" y="1164989"/>
            <a:ext cx="586133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78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6879208" y="1068214"/>
            <a:ext cx="1201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7029338" y="993539"/>
            <a:ext cx="635794" cy="342119"/>
          </a:xfrm>
          <a:prstGeom prst="roundRect">
            <a:avLst>
              <a:gd name="adj" fmla="val 835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8635" y="1054261"/>
            <a:ext cx="4572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13657" y="1164989"/>
            <a:ext cx="467157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70 млн ₽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40142" y="1068214"/>
            <a:ext cx="1201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7886700" y="989298"/>
            <a:ext cx="642938" cy="350713"/>
          </a:xfrm>
          <a:prstGeom prst="roundRect">
            <a:avLst>
              <a:gd name="adj" fmla="val 814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9594" y="1046448"/>
            <a:ext cx="4771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spc="61" kern="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12 МЕС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972425" y="1157176"/>
            <a:ext cx="47148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1540036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2938" y="165433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6868" y="166826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928688" y="1707914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2938" y="2104839"/>
            <a:ext cx="1190685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1429978" y="2254858"/>
            <a:ext cx="9346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2938" y="2626668"/>
            <a:ext cx="17216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2938" y="2744539"/>
            <a:ext cx="1721644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НДС, единоразово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78894" y="1540036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07481" y="165433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21412" y="166826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2993231" y="1707914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07481" y="2104839"/>
            <a:ext cx="674727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</a:t>
            </a:r>
            <a:endParaRPr lang="en-US" sz="2475" dirty="0"/>
          </a:p>
        </p:txBody>
      </p:sp>
      <p:sp>
        <p:nvSpPr>
          <p:cNvPr id="31" name="Text 29"/>
          <p:cNvSpPr/>
          <p:nvPr/>
        </p:nvSpPr>
        <p:spPr>
          <a:xfrm>
            <a:off x="3172048" y="2254858"/>
            <a:ext cx="12570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07481" y="2626668"/>
            <a:ext cx="17216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ПРЕДОТВРАЩЁННЫЕ ПОТЕРИ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07481" y="2744539"/>
            <a:ext cx="1721644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7% от сметы 1 млрд ₽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3438" y="1540036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72025" y="165433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85955" y="166826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057775" y="1707914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ЧИСТЫЙ ВЫИГРЫШ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72025" y="2104839"/>
            <a:ext cx="1190685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47,5</a:t>
            </a:r>
            <a:endParaRPr lang="en-US" sz="2475" dirty="0"/>
          </a:p>
        </p:txBody>
      </p:sp>
      <p:sp>
        <p:nvSpPr>
          <p:cNvPr id="39" name="Text 37"/>
          <p:cNvSpPr/>
          <p:nvPr/>
        </p:nvSpPr>
        <p:spPr>
          <a:xfrm>
            <a:off x="5559065" y="2254858"/>
            <a:ext cx="9346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2025" y="2626668"/>
            <a:ext cx="17216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1-Й ОБЪЕКТ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72025" y="2744539"/>
            <a:ext cx="1721644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70 − 22,5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07981" y="1540036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36569" y="165433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50499" y="166826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7122319" y="1707914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36569" y="2105509"/>
            <a:ext cx="1721644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2475" dirty="0"/>
          </a:p>
        </p:txBody>
      </p:sp>
      <p:sp>
        <p:nvSpPr>
          <p:cNvPr id="47" name="Text 45"/>
          <p:cNvSpPr/>
          <p:nvPr/>
        </p:nvSpPr>
        <p:spPr>
          <a:xfrm>
            <a:off x="6836569" y="2626668"/>
            <a:ext cx="17216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12 МЕСЯЦЕВ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36569" y="2744539"/>
            <a:ext cx="1721644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Выше любого депозита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4350" y="3054511"/>
            <a:ext cx="8172450" cy="475729"/>
          </a:xfrm>
          <a:prstGeom prst="roundRect">
            <a:avLst>
              <a:gd name="adj" fmla="val 8009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1513" y="3154524"/>
            <a:ext cx="567794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 — ЧИСТАЯ ПРИБЫЛЬ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1513" y="3290255"/>
            <a:ext cx="4629150" cy="139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следующий объект — прямой выигрыш 50–120 млн ₽.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лицензионных платежей.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26633" y="3178362"/>
            <a:ext cx="1025865" cy="228029"/>
          </a:xfrm>
          <a:prstGeom prst="roundRect">
            <a:avLst>
              <a:gd name="adj" fmla="val 835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549493" y="3190577"/>
            <a:ext cx="98014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ПОДПИСКИ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14350" y="4954191"/>
            <a:ext cx="40855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14193" y="4954191"/>
            <a:ext cx="37561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КЛИЕНТА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с альтернативами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говорить клиенту, когда он сравнивает с таблицами, системами документооборота или консультантом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874998"/>
          <a:ext cx="817245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345034"/>
                <a:gridCol w="1929259"/>
                <a:gridCol w="1566937"/>
                <a:gridCol w="21882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Критерий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Excel + человек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Системы документооборота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Внешний консультант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СтройИнтеллект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Скорость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5–7 дней на смету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Не автоматизировано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3–5 дней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15 минут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Опыт прошлых объектов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Фрагментарно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Не систематизирован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В голове консультанта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База 250+ объектов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Финансовое влияние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Без сумм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Не считается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Описательно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Сумма в рублях по каждой позиции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Локальность данных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Локально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Локально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Данные уходят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100% в контуре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Стоимость владения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Зарплата + ошибки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Подписка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Почасовая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0 ₽ после внедрения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Покрытие сценариев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Только смета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Только документы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Только смета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6 сценариев, 9 агентов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4350" y="3845012"/>
            <a:ext cx="8172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— единственный, кто считает деньги.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Остальные работают с документами.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954191"/>
            <a:ext cx="41197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648349" y="4954191"/>
            <a:ext cx="37220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Позиционирование — категория из одного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не соревнуемся с системами документооборота и таблицами. Мы — в отдельной категории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8172450" cy="661355"/>
          </a:xfrm>
          <a:prstGeom prst="roundRect">
            <a:avLst>
              <a:gd name="adj" fmla="val 576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13" y="989298"/>
            <a:ext cx="397639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СЛОЙ 01 · ОСНОВА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1513" y="1139317"/>
            <a:ext cx="2888642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строительного документооборота (1С:УСО, BIM)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1513" y="1312106"/>
            <a:ext cx="311973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Работают с документами и графиками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8787" y="1097606"/>
            <a:ext cx="519038" cy="216027"/>
          </a:xfrm>
          <a:prstGeom prst="roundRect">
            <a:avLst>
              <a:gd name="adj" fmla="val 8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78787" y="1109179"/>
            <a:ext cx="5190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1С:УСО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54975" y="1097606"/>
            <a:ext cx="355067" cy="216027"/>
          </a:xfrm>
          <a:prstGeom prst="roundRect">
            <a:avLst>
              <a:gd name="adj" fmla="val 8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54975" y="1109179"/>
            <a:ext cx="35506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67191" y="1097606"/>
            <a:ext cx="462446" cy="216027"/>
          </a:xfrm>
          <a:prstGeom prst="roundRect">
            <a:avLst>
              <a:gd name="adj" fmla="val 8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67191" y="1109179"/>
            <a:ext cx="4624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4350" y="1622078"/>
            <a:ext cx="8172450" cy="661355"/>
          </a:xfrm>
          <a:prstGeom prst="roundRect">
            <a:avLst>
              <a:gd name="adj" fmla="val 576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1513" y="1736378"/>
            <a:ext cx="318200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СЛОЙ 02 · УЧЕТ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1513" y="1886396"/>
            <a:ext cx="2496486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управления ресурсами предприятия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1513" y="2059186"/>
            <a:ext cx="249648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Управляют финансами и ресурсами, не рисками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08465" y="1844686"/>
            <a:ext cx="506983" cy="216027"/>
          </a:xfrm>
          <a:prstGeom prst="roundRect">
            <a:avLst>
              <a:gd name="adj" fmla="val 8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08465" y="1856259"/>
            <a:ext cx="50698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6666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1С:ERP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72598" y="1844686"/>
            <a:ext cx="361987" cy="216027"/>
          </a:xfrm>
          <a:prstGeom prst="roundRect">
            <a:avLst>
              <a:gd name="adj" fmla="val 8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72598" y="1856259"/>
            <a:ext cx="3619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91735" y="1844686"/>
            <a:ext cx="537902" cy="216027"/>
          </a:xfrm>
          <a:prstGeom prst="roundRect">
            <a:avLst>
              <a:gd name="adj" fmla="val 8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91735" y="1856259"/>
            <a:ext cx="5379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ORACLE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350" y="2369158"/>
            <a:ext cx="8172450" cy="41433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5443" y="248310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971550" y="2495959"/>
            <a:ext cx="201042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СЛОЙ 03 · ИНТЕЛЛЕКТУАЛЬНЫЙ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7375721" y="2476314"/>
            <a:ext cx="1176777" cy="200025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98581" y="2487030"/>
            <a:ext cx="113105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 — ОДНА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4350" y="2783495"/>
            <a:ext cx="8172450" cy="107435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1513" y="2897795"/>
            <a:ext cx="785812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1513" y="3076389"/>
            <a:ext cx="7858125" cy="1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— интеллектуальный слой финансового контроля поверх любых систем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1513" y="3282776"/>
            <a:ext cx="785812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1513" y="3389933"/>
            <a:ext cx="4084260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1513" y="3647108"/>
            <a:ext cx="275687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АГЕНТОВ ФИНАНСОВОГО КОНТРОЛЯ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24188" y="3389933"/>
            <a:ext cx="4084260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324188" y="3647108"/>
            <a:ext cx="296946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СЦЕНАРИЕВ ИСПОЛЬЗОВАНИЯ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76863" y="3389933"/>
            <a:ext cx="2552774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976863" y="3647108"/>
            <a:ext cx="255277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КОНКУРЕНТОВ В КАТЕГОРИИ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350" y="4954191"/>
            <a:ext cx="39052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33925" y="4954191"/>
            <a:ext cx="3936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ПОЗИЦИОНИРОВАНИЕ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 продаж — 4 этапа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квалификации до внедрения. Средний цикл — 60–90 дней. Без пилота сделка не идёт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8656" y="1046448"/>
            <a:ext cx="21431" cy="28003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505434"/>
            <a:ext cx="817245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962174"/>
            <a:ext cx="494364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КВАЛИФИКАЦИЯ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8700" y="1097905"/>
            <a:ext cx="4209000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1028700" y="1280740"/>
            <a:ext cx="3591297" cy="14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ICP. Наличие 3+ объектов, истории, бюджета. Согласование ЛПР.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86400" y="935720"/>
            <a:ext cx="723260" cy="200025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9260" y="946435"/>
            <a:ext cx="67754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 ДНЕЙ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49617" y="1182179"/>
            <a:ext cx="6274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7587935" y="1339342"/>
            <a:ext cx="45380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32837" y="1182179"/>
            <a:ext cx="45396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40%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8052276" y="1339342"/>
            <a:ext cx="63452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ПИЛОТА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4350" y="2139442"/>
            <a:ext cx="817245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1596182"/>
            <a:ext cx="720035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2 · ЛИД-МАГНИТ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28700" y="1731913"/>
            <a:ext cx="6130352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028700" y="1914748"/>
            <a:ext cx="5230676" cy="14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Предложение бесплатного расчёта 1–2 закрытых объектов. Подписание соглашения о конфиденциальности.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3327" y="1569727"/>
            <a:ext cx="666333" cy="200025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66187" y="1580443"/>
            <a:ext cx="6206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1–5 ДНЕЙ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57443" y="1816187"/>
            <a:ext cx="48631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7426863" y="1973349"/>
            <a:ext cx="63452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ПИЛОТА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32837" y="1816187"/>
            <a:ext cx="45396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25%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8181633" y="1973349"/>
            <a:ext cx="50516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ДЕМО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4350" y="2773449"/>
            <a:ext cx="817245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" y="2230189"/>
            <a:ext cx="474650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3 · ДЕМОНСТРАЦИЯ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28700" y="2365921"/>
            <a:ext cx="4041158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Демонстрация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1028700" y="2548756"/>
            <a:ext cx="3448087" cy="14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расчёта системы с фактом. Доказательство точности ±3-5%.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86400" y="2203735"/>
            <a:ext cx="723260" cy="200025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09260" y="2214451"/>
            <a:ext cx="67754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 ДНЕЙ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57443" y="2450195"/>
            <a:ext cx="48631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7556220" y="2607357"/>
            <a:ext cx="50516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ДЕМО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32837" y="2450195"/>
            <a:ext cx="45396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15%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8274427" y="2607357"/>
            <a:ext cx="41237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КП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28700" y="2864197"/>
            <a:ext cx="679578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4 · ВНЕДРЕНИЕ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28700" y="2999929"/>
            <a:ext cx="6319076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Внедрение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1028700" y="3182764"/>
            <a:ext cx="4936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 на 22,5–34,9 млн ₽. Договор, развёртывание в контуре клиента, обучение.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29585" y="2837743"/>
            <a:ext cx="780075" cy="200025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952445" y="2848459"/>
            <a:ext cx="73435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45–75 ДНЕЙ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60977" y="3084202"/>
            <a:ext cx="48631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7131743" y="3241365"/>
            <a:ext cx="6331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СДЕЛКИ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36371" y="3084202"/>
            <a:ext cx="960549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СДЕЛКА</a:t>
            </a:r>
            <a:endParaRPr lang="en-US" sz="1013" dirty="0"/>
          </a:p>
        </p:txBody>
      </p:sp>
      <p:sp>
        <p:nvSpPr>
          <p:cNvPr id="43" name="Text 41"/>
          <p:cNvSpPr/>
          <p:nvPr/>
        </p:nvSpPr>
        <p:spPr>
          <a:xfrm>
            <a:off x="8223349" y="3241365"/>
            <a:ext cx="4634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17"/>
              </a:lnSpc>
              <a:buNone/>
            </a:pPr>
            <a:r>
              <a:rPr lang="en-US" sz="800" spc="48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ФИНАЛ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4350" y="4954191"/>
            <a:ext cx="41674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96123" y="4954191"/>
            <a:ext cx="36742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21494" y="1024124"/>
            <a:ext cx="328613" cy="328613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F00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4350" y="101698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50" name="Text 48"/>
          <p:cNvSpPr/>
          <p:nvPr/>
        </p:nvSpPr>
        <p:spPr>
          <a:xfrm>
            <a:off x="521494" y="1658131"/>
            <a:ext cx="328613" cy="328613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F00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14350" y="16509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52" name="Text 50"/>
          <p:cNvSpPr/>
          <p:nvPr/>
        </p:nvSpPr>
        <p:spPr>
          <a:xfrm>
            <a:off x="521494" y="2292139"/>
            <a:ext cx="328613" cy="328613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F00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4350" y="228499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54" name="Text 52"/>
          <p:cNvSpPr/>
          <p:nvPr/>
        </p:nvSpPr>
        <p:spPr>
          <a:xfrm>
            <a:off x="521494" y="2926147"/>
            <a:ext cx="328613" cy="328613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F00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14350" y="2919003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01. Квалификация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ICP до первого звонка. Не тратьте время на стоп-факторы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143250"/>
          </a:xfrm>
          <a:prstGeom prst="roundRect">
            <a:avLst>
              <a:gd name="adj" fmla="val 121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28725" y="1095338"/>
            <a:ext cx="180486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28725" y="1216782"/>
            <a:ext cx="1358957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00088" y="154651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088" y="1639379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ДЕЛАЕМ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088" y="1832260"/>
            <a:ext cx="4158890" cy="995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Проверяем все 6 признаков ICP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Согласуем ЛПР (кто принимает решение)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Оцениваем бюджет и цикл сделки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Выявляем стоп-факторы — вежливый отказ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Готовим список вопросов для первого звонка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810061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902930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КЛЮЧЕВЫЕ ВОПРОСЫ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3095811"/>
            <a:ext cx="4158890" cy="754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параллельных объектов в работе?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Какая система управления ресурсами стоит?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ли своя служба техзаказчика?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Какой бюджет одной ошибки на объекте?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1878" y="874998"/>
            <a:ext cx="3484922" cy="999344"/>
          </a:xfrm>
          <a:prstGeom prst="roundRect">
            <a:avLst>
              <a:gd name="adj" fmla="val 381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01878" y="874998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21536" y="958937"/>
            <a:ext cx="1178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0490" y="958937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16178" y="1246473"/>
            <a:ext cx="1023521" cy="26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2025" b="1" spc="-51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5–10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5998741" y="1346485"/>
            <a:ext cx="25737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16178" y="1539367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КАЖДЫЙ ЛИД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16178" y="1678670"/>
            <a:ext cx="337062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Включая согласование ЛПР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1878" y="1960066"/>
            <a:ext cx="3484922" cy="1020775"/>
          </a:xfrm>
          <a:prstGeom prst="roundRect">
            <a:avLst>
              <a:gd name="adj" fmla="val 373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01878" y="1960066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21536" y="2044005"/>
            <a:ext cx="1178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0490" y="2044005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КОНВЕРСИЯ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16178" y="2331541"/>
            <a:ext cx="3256322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250" b="1" spc="-5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5316178" y="2645866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ПЕРЕХОДЯТ НА ПИЛОТ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6178" y="2785170"/>
            <a:ext cx="348035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правильной квалификации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9022" y="3073710"/>
            <a:ext cx="3470635" cy="813606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4288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0465" y="3180866"/>
            <a:ext cx="322774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0465" y="3330885"/>
            <a:ext cx="3227747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Стоп-факторы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5330465" y="3530910"/>
            <a:ext cx="322774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ВЕЖЛИВО ОТКАЗЫВАЕМ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0465" y="3670213"/>
            <a:ext cx="33374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уговариваем, не делаем скидку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4350" y="4954191"/>
            <a:ext cx="38002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28889" y="4954191"/>
            <a:ext cx="40414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01 · КВАЛИФИКАЦИЯ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700088" y="1032160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00088" y="1032160"/>
            <a:ext cx="47863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02. Лид-магнит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расчёт 1–2 закрытых объектов клиента. Доказательство точности на его данных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185108"/>
          </a:xfrm>
          <a:prstGeom prst="roundRect">
            <a:avLst>
              <a:gd name="adj" fmla="val 119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28725" y="1095338"/>
            <a:ext cx="139256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28725" y="1216782"/>
            <a:ext cx="1048522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00088" y="154651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088" y="1639379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ДЕЛАЕМ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088" y="1832260"/>
            <a:ext cx="4158890" cy="995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Предлагаем бесплатный расчёт 1–2 объектов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Подписываем соглашение о конфиденциальности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Принимаем сметы, КП, фактическую себестоимость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Запускаем цепочку из 9 агентов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Сравниваем результат с фактом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810061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902930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ПОЛУЧАЕТ КЛИЕНТ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3095811"/>
            <a:ext cx="4158890" cy="754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Демонстрацию точности ±3-5% на его данных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найденных аномалий с суммами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Бизнес-кейс для внутреннего обоснования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+ Excel для пересылки руководству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1878" y="874998"/>
            <a:ext cx="3484922" cy="999344"/>
          </a:xfrm>
          <a:prstGeom prst="roundRect">
            <a:avLst>
              <a:gd name="adj" fmla="val 381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01878" y="874998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21536" y="958937"/>
            <a:ext cx="1178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0490" y="958937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16178" y="1246473"/>
            <a:ext cx="747593" cy="26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2025" b="1" spc="-51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1–5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5826286" y="1346485"/>
            <a:ext cx="27462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16178" y="1539367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РАСЧЁТ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16178" y="1678670"/>
            <a:ext cx="337062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подписания соглашения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1878" y="1960066"/>
            <a:ext cx="3484922" cy="993539"/>
          </a:xfrm>
          <a:prstGeom prst="roundRect">
            <a:avLst>
              <a:gd name="adj" fmla="val 383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01878" y="1960066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01890" y="2024360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0490" y="2044005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16178" y="2331541"/>
            <a:ext cx="3256322" cy="26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2025" b="1" spc="-5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5316178" y="2618631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6178" y="2757934"/>
            <a:ext cx="348035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обязательств для клиента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3039331"/>
            <a:ext cx="3484922" cy="1020775"/>
          </a:xfrm>
          <a:prstGeom prst="roundRect">
            <a:avLst>
              <a:gd name="adj" fmla="val 373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01878" y="3039331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21536" y="3123270"/>
            <a:ext cx="1178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0490" y="3123270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КОНВЕРСИЯ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16178" y="3410806"/>
            <a:ext cx="3256322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250" b="1" spc="-5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5316178" y="3725131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ПЕРЕХОДЯТ НА ДЕМО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16178" y="3864434"/>
            <a:ext cx="348035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демонстрации точности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4350" y="4954191"/>
            <a:ext cx="38735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02224" y="4954191"/>
            <a:ext cx="39681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02 · ЛИД-МАГНИТ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00088" y="1032160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0088" y="1032160"/>
            <a:ext cx="47863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03. Демонстрация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расчёта системы с фактом. Доказательство точности ±3-5%. Ключевая встреча сделки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185108"/>
          </a:xfrm>
          <a:prstGeom prst="roundRect">
            <a:avLst>
              <a:gd name="adj" fmla="val 119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28725" y="1095338"/>
            <a:ext cx="1769942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28725" y="1216782"/>
            <a:ext cx="13326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Демонстрация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00088" y="154651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088" y="1639379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ДЕЛАЕМ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088" y="1832260"/>
            <a:ext cx="4158890" cy="995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Презентуем результаты пилота ЛПР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Сравниваем расчёт системы с фактом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Показываем реестр найденных аномалий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Демонстрируем финансовое влияние в рублях</a:t>
            </a:r>
            <a:endParaRPr lang="en-US" sz="800" dirty="0"/>
          </a:p>
          <a:p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9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 на вопросы про интеграцию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810061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902930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КЛЮЧЕВЫЕ ВОПРОСЫ КЛИЕНТА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3095811"/>
            <a:ext cx="4158890" cy="754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 система нашла то, что мы пропустили?»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«Что будет с нашими данными?»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«Сколько времени уходит на внедрение?»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«Кто отвечает, если система ошиблась?»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1878" y="874998"/>
            <a:ext cx="3484922" cy="999344"/>
          </a:xfrm>
          <a:prstGeom prst="roundRect">
            <a:avLst>
              <a:gd name="adj" fmla="val 381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01878" y="874998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21536" y="958937"/>
            <a:ext cx="1178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0490" y="958937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16178" y="1246473"/>
            <a:ext cx="1023521" cy="26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2025" b="1" spc="-51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5–10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5998741" y="1346485"/>
            <a:ext cx="25737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16178" y="1539367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ДЕМО + Q&amp;A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16178" y="1678670"/>
            <a:ext cx="337062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2-3 встречи с ЛПР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1878" y="1960066"/>
            <a:ext cx="3484922" cy="993539"/>
          </a:xfrm>
          <a:prstGeom prst="roundRect">
            <a:avLst>
              <a:gd name="adj" fmla="val 383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01878" y="1960066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21536" y="2044005"/>
            <a:ext cx="1178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0490" y="2044005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ДОКАЗАТЕЛЬСТВО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16178" y="2331541"/>
            <a:ext cx="3256322" cy="26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2025" b="1" spc="-51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5316178" y="2618631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РАСХОЖДЕНИЕ С ФАКТОМ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6178" y="2757934"/>
            <a:ext cx="337062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данных клиента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3039331"/>
            <a:ext cx="3484922" cy="1020775"/>
          </a:xfrm>
          <a:prstGeom prst="roundRect">
            <a:avLst>
              <a:gd name="adj" fmla="val 373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01878" y="3039331"/>
            <a:ext cx="3484922" cy="2857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21536" y="3123270"/>
            <a:ext cx="1178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0490" y="3123270"/>
            <a:ext cx="30562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КОНВЕРСИЯ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16178" y="3410806"/>
            <a:ext cx="3256322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250" b="1" spc="-5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5316178" y="3725131"/>
            <a:ext cx="337062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ПЕРЕХОДЯТ НА КП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16178" y="3864434"/>
            <a:ext cx="348035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успешной демонстрации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4350" y="4954191"/>
            <a:ext cx="3806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35028" y="4954191"/>
            <a:ext cx="40353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03 · ДЕМОНСТРАЦИЯ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00088" y="1032160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0088" y="1032160"/>
            <a:ext cx="47863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04. Внедрение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предложение, договор, развёртывание. Финал сделки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43013" y="1092212"/>
            <a:ext cx="154442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43013" y="1227944"/>
            <a:ext cx="1270016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Внедрение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14375" y="1546510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4375" y="1653667"/>
            <a:ext cx="413031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ДЕЛАЕМ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4375" y="1817973"/>
            <a:ext cx="4130315" cy="110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95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Готовим коммерческое предложение на 22,5–34,9 млн ₽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Согласуем условия договора и регламент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Подписываем соглашение о конфиденциальности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Развёртываем локальные модели в контуре клиента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Настраиваем 9 агентов под специфику</a:t>
            </a:r>
            <a:endParaRPr lang="en-US" sz="800" dirty="0"/>
          </a:p>
          <a:p>
            <a:pPr algn="l" marL="342900" indent="-342900">
              <a:lnSpc>
                <a:spcPts val="1195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Обучаем пользователей (2–3 сессии)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4375" y="2935970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4375" y="3043126"/>
            <a:ext cx="413031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ВНЕДРЕНИЯ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4375" y="3221720"/>
            <a:ext cx="37629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78136" y="3286013"/>
            <a:ext cx="10558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4375" y="3432460"/>
            <a:ext cx="16300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РАЗВЁРТЫВАНИЕ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19685" y="3221720"/>
            <a:ext cx="37629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383445" y="3286013"/>
            <a:ext cx="10558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19685" y="3432460"/>
            <a:ext cx="16300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ЗАПУСКА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24994" y="3221720"/>
            <a:ext cx="56453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135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06403" y="3286013"/>
            <a:ext cx="938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24994" y="3432460"/>
            <a:ext cx="13196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ПОЛНАЯ ПРИЁМКА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1878" y="874998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01890" y="946435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16178" y="1345034"/>
            <a:ext cx="2235293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22,5–34,9</a:t>
            </a:r>
            <a:endParaRPr lang="en-US" sz="2363" dirty="0"/>
          </a:p>
        </p:txBody>
      </p:sp>
      <p:sp>
        <p:nvSpPr>
          <p:cNvPr id="26" name="Text 24"/>
          <p:cNvSpPr/>
          <p:nvPr/>
        </p:nvSpPr>
        <p:spPr>
          <a:xfrm>
            <a:off x="6936470" y="1466478"/>
            <a:ext cx="1636030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16178" y="1686483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ДИАПАЗОН СДЕЛКИ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16178" y="1834493"/>
            <a:ext cx="3370622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1878" y="2183532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01878" y="2183532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25108" y="227818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59065" y="2278187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16178" y="2653568"/>
            <a:ext cx="644188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2363" dirty="0"/>
          </a:p>
        </p:txBody>
      </p:sp>
      <p:sp>
        <p:nvSpPr>
          <p:cNvPr id="34" name="Text 32"/>
          <p:cNvSpPr/>
          <p:nvPr/>
        </p:nvSpPr>
        <p:spPr>
          <a:xfrm>
            <a:off x="5775945" y="2775012"/>
            <a:ext cx="2796555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16178" y="2995017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СОПРОВОЖДЕНИЕ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16178" y="3143027"/>
            <a:ext cx="3370622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Включено в цену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01878" y="3492066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01878" y="3492066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25108" y="358672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59065" y="3586721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КОНВЕРСИЯ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16178" y="3968911"/>
            <a:ext cx="3256322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2363" dirty="0"/>
          </a:p>
        </p:txBody>
      </p:sp>
      <p:sp>
        <p:nvSpPr>
          <p:cNvPr id="42" name="Text 40"/>
          <p:cNvSpPr/>
          <p:nvPr/>
        </p:nvSpPr>
        <p:spPr>
          <a:xfrm>
            <a:off x="5316178" y="4296742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ЛИДА ДО СДЕЛКИ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16178" y="4444752"/>
            <a:ext cx="34803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правильной квалификации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4350" y="4954191"/>
            <a:ext cx="39011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429795" y="4954191"/>
            <a:ext cx="39405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04 · ВНЕДРЕНИЕ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714375" y="1046448"/>
            <a:ext cx="400050" cy="40005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14375" y="1046448"/>
            <a:ext cx="46434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  <p:sp>
        <p:nvSpPr>
          <p:cNvPr id="50" name="Text 48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 01–04. Технические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технических возражения и аргументы. Цель — не победить в споре, а сдвинуть ЛПР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0433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7501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97501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42975" y="1035732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260760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2938" y="1325054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0081" y="149650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6868" y="150329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914400" y="1489360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уже есть система документооборота. Зачем ещё один инструмент?»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2938" y="1760823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938" y="1825117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2938" y="19894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868" y="20033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914400" y="1989423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заменяем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работаем поверх. Мы — интеллектуальный слой финансового контроля.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3438" y="874998"/>
            <a:ext cx="40433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2025" y="97501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2025" y="97501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2063" y="1035732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2025" y="1260760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2025" y="1325054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79169" y="149650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85955" y="150329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043488" y="1489360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«Искусственный интеллект ненадёжен в серьёзных расчётах.»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2025" y="1760823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72025" y="1825117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2025" y="19894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85955" y="20033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043488" y="1989423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Числа считает детерминированный модуль. ИИ только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анализирует текст и выявляет аномалии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2837743"/>
            <a:ext cx="40433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2938" y="2937756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2938" y="2937756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42975" y="2998477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2938" y="3223506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2938" y="3287799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0081" y="345924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6868" y="34660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914400" y="3452106"/>
            <a:ext cx="36244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хотим отдавать данные на внешние серверы.»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2938" y="3723568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2938" y="3787862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2938" y="395216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6868" y="396609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914400" y="3952168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 работает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вашем контуре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локальных моделях. Данные не выходят.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43438" y="2837743"/>
            <a:ext cx="40433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72025" y="2937756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72025" y="2937756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2063" y="2998477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72025" y="3223506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72025" y="3287799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79169" y="345924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85955" y="34660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5043488" y="3452106"/>
            <a:ext cx="36244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нет исторических данных по объектам.»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72025" y="3723568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72025" y="3787862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72025" y="395216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85955" y="396609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9" name="Text 57"/>
          <p:cNvSpPr/>
          <p:nvPr/>
        </p:nvSpPr>
        <p:spPr>
          <a:xfrm>
            <a:off x="5043488" y="3952168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Загружаем нашу базу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250+ объектов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Ваши данные накапливаются в эксплуатации.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350" y="4954191"/>
            <a:ext cx="3939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468304" y="4954191"/>
            <a:ext cx="3902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 01–04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 05–08. Финансовые и организационные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финансовых и организационных возражения. Главное — возврат к калькулятору возврата на инвестиции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0433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7501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97501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42975" y="1035732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260760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2938" y="1325054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0081" y="149650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6868" y="150329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914400" y="1489360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«Это слишком дорого. 22,5 миллиона — много для пилота.»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2938" y="1760823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938" y="1825117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2938" y="19894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868" y="20033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914400" y="1989423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ниже средних потерь на одном объекте. Плюс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за лицензии и 12 мес гарантии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Возврат на инвестиции 62% за 12 мес.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3438" y="874998"/>
            <a:ext cx="40433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2025" y="97501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2025" y="97501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2063" y="1035732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2025" y="1260760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2025" y="1325054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79169" y="149650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85955" y="150329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043488" y="1489360"/>
            <a:ext cx="36244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«Кто отвечает, если система ошиблась в расчёте?»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2025" y="1760823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72025" y="1825117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2025" y="19894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85955" y="20033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043488" y="1989423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 всегда за человеком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Система — инструмент поддержки. Гарантия 12 мес включает исправления.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2837743"/>
            <a:ext cx="40433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2938" y="2937756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2938" y="2937756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42975" y="2998477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2938" y="3223506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2938" y="3287799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0081" y="345924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6868" y="34660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914400" y="3452106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нет специалистов по искусственному интеллекту.»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2938" y="3723568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2938" y="3787862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2938" y="395216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6868" y="396609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914400" y="3952168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нужны.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Веб-интерфейс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обучение 2–3 сессии. Поддержка включена в гарантию.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43438" y="2837743"/>
            <a:ext cx="40433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72025" y="2937756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72025" y="2937756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2063" y="2998477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72025" y="3223506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72025" y="3287799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79169" y="345924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85955" y="34660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5043488" y="3452106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«Мы уже работаем с внешним консультантом по сметам.»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72025" y="3723568"/>
            <a:ext cx="3786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72025" y="3787862"/>
            <a:ext cx="37861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72025" y="395216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85955" y="396609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9" name="Text 57"/>
          <p:cNvSpPr/>
          <p:nvPr/>
        </p:nvSpPr>
        <p:spPr>
          <a:xfrm>
            <a:off x="5043488" y="3952168"/>
            <a:ext cx="35147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Консультант уходит — знания уходят. СтройИнтеллект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остаётся в контуре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накапливает опыт.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350" y="4954191"/>
            <a:ext cx="3939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468304" y="4954191"/>
            <a:ext cx="3902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 05–08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Сценарии звонков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типовых сценария разговора с ЛПР. Готовые фразы для открытия, развития и закрытия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874998"/>
            <a:ext cx="2657475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7580" y="976796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1538" y="976796"/>
            <a:ext cx="89389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СЦЕНАРИЙ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83244" y="957437"/>
            <a:ext cx="711428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06104" y="966974"/>
            <a:ext cx="66570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ХОЛОДНЫЙ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8650" y="1317910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ИСПОЛЬЗОВАТЬ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8650" y="1500076"/>
            <a:ext cx="26231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Первый звонок новому лиду из ICP.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8650" y="1694743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50" y="1773324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ОТКРЫВАЮЩАЯ ФРАЗА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8650" y="1955490"/>
            <a:ext cx="242887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«Здравствуйте, это [ИМЯ] из 7 КРАСНЫХ ЛИНИЙ. Мы помогаем девелоперам находить до 12% скрытых потерь в сметах до подписания договора.»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2425415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2503996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КЛЮЧЕВОЙ ВОПРОС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8650" y="2686162"/>
            <a:ext cx="2428875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 вы сейчас проверяете сметы генподрядчиков?»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8650" y="3006068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8650" y="3084649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ЗАКРЫВАЮЩАЯ ФРАЗА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650" y="3266815"/>
            <a:ext cx="242887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«Могу я прислать короткое описание пилота на 1–2 ваших закрытых объекта?»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1838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71838" y="874998"/>
            <a:ext cx="2657475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95067" y="976796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29025" y="976796"/>
            <a:ext cx="89389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СЦЕНАРИЙ 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92054" y="957437"/>
            <a:ext cx="557909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12718" y="966974"/>
            <a:ext cx="51658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ТЕПЛЫЙ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6138" y="1317910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ИСПОЛЬЗОВАТЬ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86138" y="1500076"/>
            <a:ext cx="2428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скачивания материалов с сайта или вебинара.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86138" y="1694743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6138" y="1773324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ОТКРЫВАЮЩАЯ ФРАЗА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6138" y="1955490"/>
            <a:ext cx="242887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«Вижу, вы скачали наш калькулятор возврата на инвестиции. На каком объекте планируете применить?»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6138" y="2425415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86138" y="2503996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КЛЮЧЕВОЙ ВОПРОС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86138" y="2686162"/>
            <a:ext cx="2428875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«Какой объём сметы на вашем типовом объекте?»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6138" y="3006068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86138" y="3084649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ЗАКРЫВАЮЩАЯ ФРАЗА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6138" y="3266815"/>
            <a:ext cx="242887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«Готовы запустить бесплатный расчёт на 1 закрытом объекте? Срок — 5 рабочих дней.»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29325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029325" y="874998"/>
            <a:ext cx="2657475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52555" y="976796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86513" y="976796"/>
            <a:ext cx="89389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СЦЕНАРИЙ 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17916" y="957437"/>
            <a:ext cx="486905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135950" y="966974"/>
            <a:ext cx="45083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43625" y="1317910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ИСПОЛЬЗОВАТЬ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43625" y="1500076"/>
            <a:ext cx="2428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успешного пилота, на презентации результатов.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43625" y="1817973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43625" y="1896554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ОТКРЫВАЮЩАЯ ФРАЗА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43625" y="2078720"/>
            <a:ext cx="242887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«Результаты пилота: точность ±3-5%, найдено аномалий на 48 млн ₽. Что это значит для вас?»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43625" y="2415815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43625" y="2494397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КЛЮЧЕВОЙ ВОПРОС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43625" y="2676562"/>
            <a:ext cx="2428875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«Какие из найденных отклонений для вас неожиданны?»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43625" y="2996468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43625" y="3075050"/>
            <a:ext cx="254317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ЗАКРЫВАЮЩАЯ ФРАЗА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43625" y="3257215"/>
            <a:ext cx="242887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«Готовлю коммерческое предложение на 22,5 млн ₽. Подходит ли вам срок внедрения 4,5 месяца?»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14350" y="4954191"/>
            <a:ext cx="41420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70673" y="4954191"/>
            <a:ext cx="36996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Чек-лист квалификации лида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пунктов. Если хотя бы 7 — лид квалифицирован. Меньше 5 — стоп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57475" cy="3249848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155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42975" y="1057163"/>
            <a:ext cx="20859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КРИТЕРИИ 01-03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7225" y="1289335"/>
            <a:ext cx="237172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компании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480765"/>
            <a:ext cx="237172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7225" y="1559347"/>
            <a:ext cx="237172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Несколько параллельных объектов (3+)</a:t>
            </a:r>
            <a:endParaRPr lang="en-US" sz="800" dirty="0"/>
          </a:p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Годовой оборот от 5 млрд ₽ (для девелоперов) или 1 млрд ₽ (для корпоративных)</a:t>
            </a:r>
            <a:endParaRPr lang="en-US" sz="800" dirty="0"/>
          </a:p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Своя служба технического заказчика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71838" y="874998"/>
            <a:ext cx="2657475" cy="3249848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14713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8643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3700463" y="1057163"/>
            <a:ext cx="20859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КРИТЕРИИ 04-06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14713" y="1289335"/>
            <a:ext cx="237172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и системы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14713" y="1480765"/>
            <a:ext cx="237172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14713" y="1559347"/>
            <a:ext cx="237172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Система управления ресурсами (1С или аналогичная)</a:t>
            </a:r>
            <a:endParaRPr lang="en-US" sz="800" dirty="0"/>
          </a:p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История данных по 3+ завершённым объектам</a:t>
            </a:r>
            <a:endParaRPr lang="en-US" sz="800" dirty="0"/>
          </a:p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Сметы и договоры в электронном виде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29325" y="874998"/>
            <a:ext cx="2657475" cy="3249848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2200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6130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6457950" y="1057163"/>
            <a:ext cx="20859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КРИТЕРИИ 07-09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72200" y="1289335"/>
            <a:ext cx="237172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Лица и решения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1480765"/>
            <a:ext cx="237172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2200" y="1559347"/>
            <a:ext cx="2371725" cy="904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Согласован ЛПР (финансовый директор или руководитель техзаказчика)</a:t>
            </a:r>
            <a:endParaRPr lang="en-US" sz="800" dirty="0"/>
          </a:p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Бюджет на информационные технологии от 20 млн ₽</a:t>
            </a:r>
            <a:endParaRPr lang="en-US" sz="800" dirty="0"/>
          </a:p>
          <a:p>
            <a:pPr algn="l" marL="342900" indent="-342900">
              <a:lnSpc>
                <a:spcPts val="101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Срок принятия решения до 6 месяцев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4224858"/>
            <a:ext cx="8172450" cy="490017"/>
          </a:xfrm>
          <a:prstGeom prst="roundRect">
            <a:avLst>
              <a:gd name="adj" fmla="val 583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1513" y="4324871"/>
            <a:ext cx="661048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1513" y="4474890"/>
            <a:ext cx="4246848" cy="139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7–9 пунктов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квалифицирован. </a:t>
            </a:r>
            <a:pPr algn="l" indent="0" marL="0">
              <a:lnSpc>
                <a:spcPts val="110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5–6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на усмотрение. </a:t>
            </a:r>
            <a:pPr algn="l" indent="0" marL="0">
              <a:lnSpc>
                <a:spcPts val="110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Меньше 5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стоп.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06107" y="4380856"/>
            <a:ext cx="946391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28967" y="4390392"/>
            <a:ext cx="90067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ЧЕК-ЛИСТ В CRM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4350" y="4954191"/>
            <a:ext cx="41579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86635" y="4954191"/>
            <a:ext cx="36837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ЧЕК-ЛИСТ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01. Бесплатный пилот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Основной инструмент продаж. Снятие возражения о точности модели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1046448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878" y="106895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57288" y="1049350"/>
            <a:ext cx="229020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01 · ОСНОВНОЙ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57288" y="1185081"/>
            <a:ext cx="1746898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пилот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14375" y="1460785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567942"/>
            <a:ext cx="413031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4375" y="1732248"/>
            <a:ext cx="413031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</a:t>
            </a:r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закрытых объектов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клиента. Снятие возражения о точности модели. Доказательство на данных клиента, не на наших примерах.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4375" y="2126940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4375" y="2234096"/>
            <a:ext cx="413031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4375" y="2398402"/>
            <a:ext cx="4130315" cy="17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Клиенты на этапе 2 воронки. После квалификации ICP. До пилота сделка не идёт.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4375" y="2635486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75" y="2742642"/>
            <a:ext cx="413031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ИСПОЛЬЗОВАТЬ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375" y="2906948"/>
            <a:ext cx="4130315" cy="77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Предложить на первом звонке после квалификации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Подписать соглашение о конфиденциальности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Принять документы и запустить расчёт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Презентовать результаты ЛПР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01878" y="874998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25108" y="96965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6178" y="1345034"/>
            <a:ext cx="872252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1–2</a:t>
            </a:r>
            <a:endParaRPr lang="en-US" sz="2363" dirty="0"/>
          </a:p>
        </p:txBody>
      </p:sp>
      <p:sp>
        <p:nvSpPr>
          <p:cNvPr id="23" name="Text 21"/>
          <p:cNvSpPr/>
          <p:nvPr/>
        </p:nvSpPr>
        <p:spPr>
          <a:xfrm>
            <a:off x="5918485" y="1466478"/>
            <a:ext cx="2654015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16178" y="1686483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ЗАКРЫТЫХ ПРОЕКТОВ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16178" y="1834493"/>
            <a:ext cx="34803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известным фактом себестоимости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01878" y="2183532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01878" y="2183532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25108" y="227818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59065" y="2278187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6178" y="2653568"/>
            <a:ext cx="322183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363" dirty="0"/>
          </a:p>
        </p:txBody>
      </p:sp>
      <p:sp>
        <p:nvSpPr>
          <p:cNvPr id="31" name="Text 29"/>
          <p:cNvSpPr/>
          <p:nvPr/>
        </p:nvSpPr>
        <p:spPr>
          <a:xfrm>
            <a:off x="5574692" y="2775012"/>
            <a:ext cx="2997808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16178" y="2995017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РАБОЧИХ ДНЕЙ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16178" y="3143027"/>
            <a:ext cx="3370622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подписания соглашения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1878" y="3492066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01878" y="3492066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01890" y="3563503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59065" y="3586721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16178" y="3968911"/>
            <a:ext cx="3256322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363" dirty="0"/>
          </a:p>
        </p:txBody>
      </p:sp>
      <p:sp>
        <p:nvSpPr>
          <p:cNvPr id="39" name="Text 37"/>
          <p:cNvSpPr/>
          <p:nvPr/>
        </p:nvSpPr>
        <p:spPr>
          <a:xfrm>
            <a:off x="5316178" y="4296742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ОБЯЗАТЕЛЬСТВ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16178" y="4444752"/>
            <a:ext cx="34803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Даже если решат не внедрять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14350" y="4954191"/>
            <a:ext cx="40313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59945" y="4954191"/>
            <a:ext cx="38104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01 · ПИЛОТ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02. Калькулятор возврата на инвестиции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предотвращённых потерь на основе 5% отклонения. Excel + PDF. Для первичного обоснования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1046448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878" y="106895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57288" y="1049350"/>
            <a:ext cx="2106127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02 · ОБОСНОВАНИЕ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57288" y="1185081"/>
            <a:ext cx="1606490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Калькулятор ROI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14375" y="1460785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567942"/>
            <a:ext cx="413031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4375" y="1732248"/>
            <a:ext cx="413031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предотвращённых потерь на основе </a:t>
            </a:r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5% отклонения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от бюджета объекта. Сравнение с ценой внедрения. Возврат на инвестиции за 12 месяцев.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4375" y="2126940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4375" y="2234096"/>
            <a:ext cx="413031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4375" y="2398402"/>
            <a:ext cx="4130315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ЛПР на этапе 1–2 воронки. Для первичного обоснования возврата на инвестиции. Для пересылки руководству.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4375" y="2772556"/>
            <a:ext cx="413031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75" y="2879713"/>
            <a:ext cx="413031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ИСПОЛЬЗОВАТЬ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375" y="3044019"/>
            <a:ext cx="4130315" cy="77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Подставить объём сметы типового объекта клиента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Получить расчёт предотвращённых потерь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Сравнить с ценой внедрения 22,5 млн ₽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Показать возврат на инвестиции 62%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01878" y="874998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25108" y="96965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ОТКЛОНЕНИЕ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6178" y="1351843"/>
            <a:ext cx="3256322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endParaRPr lang="en-US" sz="2363" dirty="0"/>
          </a:p>
        </p:txBody>
      </p:sp>
      <p:sp>
        <p:nvSpPr>
          <p:cNvPr id="23" name="Text 21"/>
          <p:cNvSpPr/>
          <p:nvPr/>
        </p:nvSpPr>
        <p:spPr>
          <a:xfrm>
            <a:off x="5316178" y="1679674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ЗАЛОЖЕНО В РАСЧЁТ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16178" y="1827684"/>
            <a:ext cx="34803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Среднее по базе 250+ объектов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2183532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01878" y="2183532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25108" y="227818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59065" y="2278187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16178" y="2653568"/>
            <a:ext cx="872252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363" b="1" spc="-5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3–5</a:t>
            </a:r>
            <a:endParaRPr lang="en-US" sz="2363" dirty="0"/>
          </a:p>
        </p:txBody>
      </p:sp>
      <p:sp>
        <p:nvSpPr>
          <p:cNvPr id="30" name="Text 28"/>
          <p:cNvSpPr/>
          <p:nvPr/>
        </p:nvSpPr>
        <p:spPr>
          <a:xfrm>
            <a:off x="5918485" y="2775012"/>
            <a:ext cx="2654015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16178" y="2995017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РАСЧЁТ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16178" y="3143027"/>
            <a:ext cx="34803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Подставить объём сметы — получить отчёт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878" y="3492066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01878" y="3492066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25108" y="358672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59065" y="3586721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16178" y="4011439"/>
            <a:ext cx="3256322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 + PDF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5316178" y="4254326"/>
            <a:ext cx="3370622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ПЕРЕСЫЛКИ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16178" y="4402336"/>
            <a:ext cx="3370622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Готовый артефакт для ЛПР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41039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32610" y="4954191"/>
            <a:ext cx="37377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КИТ 02 · ROI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03. Технический аудит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договоров подряда и смет силами агентов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Реестр рисков и аномалий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590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14425" y="1043546"/>
            <a:ext cx="23300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03 · ДОПОЛНИТЕЛЬНЫЙ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4425" y="1193564"/>
            <a:ext cx="1777253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Технический аудит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700088" y="1446498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0088" y="1539367"/>
            <a:ext cx="415889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0088" y="1689385"/>
            <a:ext cx="41588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договоров подряда и смет силами ИИ-агентов </a:t>
            </a:r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 и Сметчик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Реестр рисков и аномалий с финансовым влиянием в рублях.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06979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088" y="2162659"/>
            <a:ext cx="415889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312677"/>
            <a:ext cx="4158890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Клиенты с готовыми документами. Этап 3 воронки — демонстрация ценности на конкретных документах клиента.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0088" y="2672544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088" y="2765413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ИСПОЛЬЗОВАТЬ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2929719"/>
            <a:ext cx="4158890" cy="74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14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Принять от клиента сметы и договоры подряда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Запустить агентов Юрист и Сметчик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реестр рисков с суммами</a:t>
            </a:r>
            <a:endParaRPr lang="en-US" sz="800" dirty="0"/>
          </a:p>
          <a:p>
            <a:pPr algn="l" marL="342900" indent="-342900">
              <a:lnSpc>
                <a:spcPts val="1114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Презентовать на встрече с ЛПР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01878" y="874998"/>
            <a:ext cx="3484922" cy="1213210"/>
          </a:xfrm>
          <a:prstGeom prst="roundRect">
            <a:avLst>
              <a:gd name="adj" fmla="val 314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25108" y="96965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6178" y="1462683"/>
            <a:ext cx="414159" cy="395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6"/>
              </a:lnSpc>
              <a:buNone/>
            </a:pPr>
            <a:r>
              <a:rPr lang="en-US" sz="3038" b="1" spc="-7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3038" dirty="0"/>
          </a:p>
        </p:txBody>
      </p:sp>
      <p:sp>
        <p:nvSpPr>
          <p:cNvPr id="23" name="Text 21"/>
          <p:cNvSpPr/>
          <p:nvPr/>
        </p:nvSpPr>
        <p:spPr>
          <a:xfrm>
            <a:off x="5675040" y="1431094"/>
            <a:ext cx="2206104" cy="171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75040" y="1629668"/>
            <a:ext cx="1893252" cy="9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АУДИТ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75040" y="1750665"/>
            <a:ext cx="150797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приёма документов до отчёта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01878" y="2188220"/>
            <a:ext cx="3484922" cy="1213321"/>
          </a:xfrm>
          <a:prstGeom prst="roundRect">
            <a:avLst>
              <a:gd name="adj" fmla="val 314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01878" y="2188220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25108" y="2282875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59065" y="2282875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6178" y="2775905"/>
            <a:ext cx="414159" cy="395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6"/>
              </a:lnSpc>
              <a:buNone/>
            </a:pPr>
            <a:r>
              <a:rPr lang="en-US" sz="3038" b="1" spc="-7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3038" dirty="0"/>
          </a:p>
        </p:txBody>
      </p:sp>
      <p:sp>
        <p:nvSpPr>
          <p:cNvPr id="31" name="Text 29"/>
          <p:cNvSpPr/>
          <p:nvPr/>
        </p:nvSpPr>
        <p:spPr>
          <a:xfrm>
            <a:off x="5675040" y="2846338"/>
            <a:ext cx="106395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 + СМЕТЧИК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75040" y="2961977"/>
            <a:ext cx="1063958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 9 агентов системы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878" y="3501554"/>
            <a:ext cx="3484922" cy="1213321"/>
          </a:xfrm>
          <a:prstGeom prst="roundRect">
            <a:avLst>
              <a:gd name="adj" fmla="val 314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01878" y="3501554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25108" y="3596208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59065" y="3596208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16178" y="4151077"/>
            <a:ext cx="849570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</a:t>
            </a:r>
            <a:endParaRPr lang="en-US" sz="1913" dirty="0"/>
          </a:p>
        </p:txBody>
      </p:sp>
      <p:sp>
        <p:nvSpPr>
          <p:cNvPr id="38" name="Text 36"/>
          <p:cNvSpPr/>
          <p:nvPr/>
        </p:nvSpPr>
        <p:spPr>
          <a:xfrm>
            <a:off x="5947172" y="4159672"/>
            <a:ext cx="12537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ОТЧЁТ С РЕЕСТРОМ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7172" y="4275311"/>
            <a:ext cx="1176754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с суммами влияния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40390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67647" y="4954191"/>
            <a:ext cx="38027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03 · АУДИТ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СтройИнтеллект выигрывает рынок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Уникальная архитектура, недоступная тиражным решениям. Мы — единственные, кто считает деньги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1978819" cy="17145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155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42975" y="1057163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7225" y="1572630"/>
            <a:ext cx="169306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657225" y="2225948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СВЯЗАННЫХ АГЕНТОВ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7225" y="2350963"/>
            <a:ext cx="179465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Сметчик, экономист, юрист и др.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78894" y="874998"/>
            <a:ext cx="1978819" cy="17145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1769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35699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3007519" y="1057163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БИЗНЕС-МОДЕЛЬ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21769" y="1572630"/>
            <a:ext cx="169306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475" dirty="0"/>
          </a:p>
        </p:txBody>
      </p:sp>
      <p:sp>
        <p:nvSpPr>
          <p:cNvPr id="16" name="Text 14"/>
          <p:cNvSpPr/>
          <p:nvPr/>
        </p:nvSpPr>
        <p:spPr>
          <a:xfrm>
            <a:off x="2721769" y="2225948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ПОДПИСНЫХ ПЛАТЕЖЕЙ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21769" y="2350963"/>
            <a:ext cx="1693069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Единоразовая оплата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3438" y="874998"/>
            <a:ext cx="1978819" cy="17145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6313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0243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072063" y="1057163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86313" y="1572630"/>
            <a:ext cx="169306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4786313" y="2225948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ЛОКАЛЬНАЯ ОБРАБОТКА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6313" y="2350963"/>
            <a:ext cx="1693069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контуре заказчика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07981" y="874998"/>
            <a:ext cx="1978819" cy="17145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50856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64787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7136606" y="1057163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0856" y="1572630"/>
            <a:ext cx="169306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2475" dirty="0"/>
          </a:p>
        </p:txBody>
      </p:sp>
      <p:sp>
        <p:nvSpPr>
          <p:cNvPr id="30" name="Text 28"/>
          <p:cNvSpPr/>
          <p:nvPr/>
        </p:nvSpPr>
        <p:spPr>
          <a:xfrm>
            <a:off x="6850856" y="2225948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БАЗЕ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0856" y="2350963"/>
            <a:ext cx="1693069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Обучающая выборка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2689510"/>
            <a:ext cx="8172450" cy="2025365"/>
          </a:xfrm>
          <a:prstGeom prst="roundRect">
            <a:avLst>
              <a:gd name="adj" fmla="val 188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5800" y="3374306"/>
            <a:ext cx="747370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ПОЗИЦИОНИРОВАНИЕ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3524324"/>
            <a:ext cx="5429250" cy="349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Интеллектуальный слой финансового контроля поверх любых систем документооборота и управления ресурсами.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685800" y="3901380"/>
            <a:ext cx="5429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 — из одного. Конкурентов в нашей категории нет.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80856" y="3597124"/>
            <a:ext cx="1157354" cy="210026"/>
          </a:xfrm>
          <a:prstGeom prst="roundRect">
            <a:avLst>
              <a:gd name="adj" fmla="val 907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403716" y="3608375"/>
            <a:ext cx="111163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 — ОДНА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41949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23581" y="4954191"/>
            <a:ext cx="3646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ПОБЕДА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Конкурентная карта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типа решений на рынке. СтройИнтеллект — единственный в категории «финансовый контроль»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874998"/>
          <a:ext cx="8172450" cy="914400"/>
        </p:xfrm>
        <a:graphic>
          <a:graphicData uri="http://schemas.openxmlformats.org/drawingml/2006/table">
            <a:tbl>
              <a:tblPr/>
              <a:tblGrid>
                <a:gridCol w="1961294"/>
                <a:gridCol w="1797881"/>
                <a:gridCol w="1470943"/>
                <a:gridCol w="1307529"/>
                <a:gridCol w="16348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Тип решения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Примеры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Считает деньги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Локально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Покрытие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Таблицы + человек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Excel, 1С:УСО вручную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Нет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Да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Только смета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Системы документооборота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1С:УСО, BIM-решения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Нет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Да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Только документы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Системы управления ресурсами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1С:ERP, SAP, Oracle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Косвенно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Да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Только финансы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Внешний консультант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Аудиторские компании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Описательно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Данные уходят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Только смета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СтройИнтеллект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 КРАСНЫХ ЛИНИЙ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Да, в рублях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100%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6 сценариев, 9 агентов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026369" y="2825242"/>
            <a:ext cx="51484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— единственный, кто считает деньги в рублях. Все остальные работают с документами или описаниями.</a:t>
            </a:r>
            <a:endParaRPr lang="en-US" sz="619" dirty="0"/>
          </a:p>
        </p:txBody>
      </p:sp>
      <p:sp>
        <p:nvSpPr>
          <p:cNvPr id="6" name="Text 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954191"/>
            <a:ext cx="40861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614751" y="4954191"/>
            <a:ext cx="37556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КОНКУРЕНТЫ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 старта отдела продаж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недели на запуск. Конкретные цели по каждой неделе. Контрольная точка — в конце 3-й недели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874998"/>
            <a:ext cx="2657475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96072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9607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66" dirty="0"/>
          </a:p>
        </p:txBody>
      </p:sp>
      <p:sp>
        <p:nvSpPr>
          <p:cNvPr id="8" name="Text 6"/>
          <p:cNvSpPr/>
          <p:nvPr/>
        </p:nvSpPr>
        <p:spPr>
          <a:xfrm>
            <a:off x="871538" y="976796"/>
            <a:ext cx="7756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73173" y="960437"/>
            <a:ext cx="907212" cy="172022"/>
          </a:xfrm>
          <a:prstGeom prst="roundRect">
            <a:avLst>
              <a:gd name="adj" fmla="val 11074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96033" y="969652"/>
            <a:ext cx="86149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2938" y="1332198"/>
            <a:ext cx="25288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НЕДЕЛИ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2938" y="1514363"/>
            <a:ext cx="252031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Квалифицировать 10 лидов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2938" y="1710817"/>
            <a:ext cx="2520315" cy="15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 по ICP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2938" y="1897224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2938" y="1975805"/>
            <a:ext cx="25288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ЗАДАЧИ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2938" y="2157971"/>
            <a:ext cx="2400300" cy="70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Прозвонить 30 лидов из базы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Заполнить чек-лист квалификации на 10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Выявить стоп-факторы (отказать 4)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Согласовать ЛПР на 6 лидов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2938" y="2862076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2938" y="2940658"/>
            <a:ext cx="25288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938" y="3122823"/>
            <a:ext cx="2592324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квалифицированных лидов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2938" y="3309231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2938" y="3387812"/>
            <a:ext cx="2528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2938" y="3587837"/>
            <a:ext cx="2528888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КВАЛИФИЦИРОВАНО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71838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71838" y="874998"/>
            <a:ext cx="2657475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86138" y="96072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86138" y="9607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3629025" y="976796"/>
            <a:ext cx="7756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7054" y="960437"/>
            <a:ext cx="548265" cy="172022"/>
          </a:xfrm>
          <a:prstGeom prst="roundRect">
            <a:avLst>
              <a:gd name="adj" fmla="val 11074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07360" y="969652"/>
            <a:ext cx="50765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ПИЛОТЫ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00425" y="1332198"/>
            <a:ext cx="25288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НЕДЕЛИ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00425" y="1514363"/>
            <a:ext cx="252031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Запустить 5 пилотов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00425" y="1710817"/>
            <a:ext cx="2520315" cy="15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Бесплатные расчёты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00425" y="1897224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00425" y="1975805"/>
            <a:ext cx="25288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ЗАДАЧИ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00425" y="2157971"/>
            <a:ext cx="2400300" cy="70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Подписать 5 соглашений о конфиденциальности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Принять документы по 5 объектам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Запустить расчёт в системе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отчёты в PDF/Excel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00425" y="2862076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00425" y="2940658"/>
            <a:ext cx="25288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00425" y="3122823"/>
            <a:ext cx="2592324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отчётов с точностью ±3-5%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00425" y="3309231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00425" y="3387812"/>
            <a:ext cx="2528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400425" y="3587837"/>
            <a:ext cx="2528888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ПИЛОТОВ ЗАПУЩЕНО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29325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029325" y="874998"/>
            <a:ext cx="2657475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43625" y="96072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43625" y="9607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266" dirty="0"/>
          </a:p>
        </p:txBody>
      </p:sp>
      <p:sp>
        <p:nvSpPr>
          <p:cNvPr id="46" name="Text 44"/>
          <p:cNvSpPr/>
          <p:nvPr/>
        </p:nvSpPr>
        <p:spPr>
          <a:xfrm>
            <a:off x="6386513" y="976796"/>
            <a:ext cx="7756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03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00762" y="960437"/>
            <a:ext cx="894598" cy="172022"/>
          </a:xfrm>
          <a:prstGeom prst="roundRect">
            <a:avLst>
              <a:gd name="adj" fmla="val 11074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723622" y="969652"/>
            <a:ext cx="8488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ДЕМОНСТРАЦИИ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57913" y="1332198"/>
            <a:ext cx="252888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НЕДЕЛИ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57913" y="1514363"/>
            <a:ext cx="252031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демо для ЛПР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57913" y="1710817"/>
            <a:ext cx="2592324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Демонстрации и коммерческие предложения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57913" y="1897224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57913" y="1975805"/>
            <a:ext cx="252888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ЗАДАЧИ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57913" y="2157971"/>
            <a:ext cx="2400300" cy="70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Презентовать результаты 5 ЛПР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Отработать возражения по чек-листу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3 коммерческих предложения</a:t>
            </a:r>
            <a:endParaRPr lang="en-US" sz="800" dirty="0"/>
          </a:p>
          <a:p>
            <a:pPr algn="l" marL="342900" indent="-342900">
              <a:lnSpc>
                <a:spcPts val="1035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Согласовать условия договора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57913" y="2862076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57913" y="2940658"/>
            <a:ext cx="252888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57913" y="3122823"/>
            <a:ext cx="2592324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коммерческих предложения отправлены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57913" y="3309231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157913" y="3387812"/>
            <a:ext cx="2528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6157913" y="3587837"/>
            <a:ext cx="2528888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 ОТПРАВЛЕНО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14350" y="4954191"/>
            <a:ext cx="4079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08277" y="4954191"/>
            <a:ext cx="37620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 СТАРТА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отдела продаж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ключевых показателей. Контроль — еженедельно. Корректировка — по результатам месяца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13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443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57263" y="1071451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1513" y="1650318"/>
            <a:ext cx="674727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150367" y="1814624"/>
            <a:ext cx="18642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лидов/нед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1513" y="2367037"/>
            <a:ext cx="234315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КВАЛИФИЦИРОВАНО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1513" y="2492053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чек-листу 9 пунктов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71838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9000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42930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3714750" y="1071451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1650318"/>
            <a:ext cx="337364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3697002" y="1814624"/>
            <a:ext cx="2075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пилотов/мес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2367037"/>
            <a:ext cx="234315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ЗАПУЩЕНО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9000" y="2492053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объекта на клиент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29325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86488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00418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6472238" y="1071451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86488" y="1650318"/>
            <a:ext cx="337364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475" dirty="0"/>
          </a:p>
        </p:txBody>
      </p:sp>
      <p:sp>
        <p:nvSpPr>
          <p:cNvPr id="25" name="Text 23"/>
          <p:cNvSpPr/>
          <p:nvPr/>
        </p:nvSpPr>
        <p:spPr>
          <a:xfrm>
            <a:off x="6454490" y="1814624"/>
            <a:ext cx="2075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демо/мес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86488" y="2367037"/>
            <a:ext cx="234315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ЛПР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6488" y="2492053"/>
            <a:ext cx="245287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доказательством точности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4350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513" y="2987762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443" y="30016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957263" y="3041340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1513" y="3620319"/>
            <a:ext cx="337364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475" dirty="0"/>
          </a:p>
        </p:txBody>
      </p:sp>
      <p:sp>
        <p:nvSpPr>
          <p:cNvPr id="33" name="Text 31"/>
          <p:cNvSpPr/>
          <p:nvPr/>
        </p:nvSpPr>
        <p:spPr>
          <a:xfrm>
            <a:off x="939515" y="3784625"/>
            <a:ext cx="2075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КП/мес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1513" y="4337038"/>
            <a:ext cx="234315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ОТПРАВЛЕНО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1513" y="4462053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22,5–34,9 млн 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71838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29000" y="2987762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42930" y="30016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3714750" y="3041340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СДЕЛКИ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29000" y="3620319"/>
            <a:ext cx="337364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475" dirty="0"/>
          </a:p>
        </p:txBody>
      </p:sp>
      <p:sp>
        <p:nvSpPr>
          <p:cNvPr id="41" name="Text 39"/>
          <p:cNvSpPr/>
          <p:nvPr/>
        </p:nvSpPr>
        <p:spPr>
          <a:xfrm>
            <a:off x="3697002" y="3784625"/>
            <a:ext cx="2075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сделка/мес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29000" y="4337038"/>
            <a:ext cx="234315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ЗАКРЫТО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29000" y="4462053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конверсии 15% от лида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29325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86488" y="2987762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00418" y="30016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6472238" y="3041340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ВЫРУЧКА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86488" y="3620319"/>
            <a:ext cx="674727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endParaRPr lang="en-US" sz="2475" dirty="0"/>
          </a:p>
        </p:txBody>
      </p:sp>
      <p:sp>
        <p:nvSpPr>
          <p:cNvPr id="49" name="Text 47"/>
          <p:cNvSpPr/>
          <p:nvPr/>
        </p:nvSpPr>
        <p:spPr>
          <a:xfrm>
            <a:off x="6665342" y="3784625"/>
            <a:ext cx="18642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₽/мес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86488" y="4337038"/>
            <a:ext cx="234315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86488" y="4462053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среднем чеке 30 млн ₽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4350" y="4954191"/>
            <a:ext cx="43024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31073" y="4954191"/>
            <a:ext cx="3539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27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57775" y="0"/>
            <a:ext cx="0" cy="514350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1589484"/>
            <a:ext cx="4082653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Контакты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71500" y="1968103"/>
            <a:ext cx="3286125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Поможем подобрать решения под ваши бизнес-задачи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571500" y="2468166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501" y="247816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42963" y="2507456"/>
            <a:ext cx="670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32880" y="2491383"/>
            <a:ext cx="32212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(495) 198-14-77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1500" y="2739628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1501" y="274962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42963" y="2778919"/>
            <a:ext cx="5088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03846" y="2762845"/>
            <a:ext cx="33503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info@7rlines.com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1500" y="3011091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1501" y="302109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42963" y="3050381"/>
            <a:ext cx="3918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30734" y="3034308"/>
            <a:ext cx="34234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7rlines.ru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1500" y="3282553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1501" y="329255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42963" y="3321844"/>
            <a:ext cx="493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АДРЕС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94135" y="3305770"/>
            <a:ext cx="33600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119049, Москва, ул. Шаболовка, 23к3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30416" y="2464594"/>
            <a:ext cx="331358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6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2026-08-11T21:42:33Z</dcterms:created>
  <dcterms:modified xsi:type="dcterms:W3CDTF">2026-08-11T21:42:33Z</dcterms:modified>
</cp:coreProperties>
</file>