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Открыть с фразы: «мы не продаём ПО, мы продаём предотвращённые потери».
 • Сделать паузу на цифре 0 ₽ — абонентской платы нет, только внедрение.
 • Упомянуть, что презентация займёт 18–20 минут.
 • Вопрос залу: «как вы сейчас проверяете сметы подрядчиков?»
 • Подчеркнуть: 9 агентов, 4,5 месяца внедрения, полный локальный контур.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Это саммари — прочитать все 5 тезисов за 60 секунд.
 • Дальше каждый тезис будет раскрыт детально по разделам.
 • Ключевой тезис №4 (ROI 62% / 12 мес) — главный крючок для ЛПР.
 • Подчеркнуть контраст: 15 минут вместо 5 дней ручной проверки.
 • Цифры доверия (250+ объектов, ±3–5% точность) — подтверждение экспертизы.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Пауза 3 секунды после открытия раздела.
 • Эта глава — про боль клиента.
 • Сказать: «прежде чем говорить о решении — давайте посмотрим, что происходит сейчас».
 • Не торопиться — дать залу вжиться в проблему.
 • Следующий слайд покажет, сколько это стоит в рублях.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Цифра 5–12% — главный шок; дать ей прозвучать.
 • Спросить зал: «какой процент сметы вы проверяете вручную?».
 • Пауза на «50–120 млн ₽» — осязаемая сумма потерь на одном объекте.
 • Четыре причины — это то, что не решается наймом людей, только системой.
 • Следующая глава — 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Переход от проблемы к решению — короткая пауза.
 • Ключевая фраза: «то, что мы сейчас покажем — это не замена ваших специалистов, а их интеллектуальный усилитель».
 • Подчеркнуть: 9 агентов, единая цепочка, один сводный вывод.
 • Дать залу переключиться с «боли» на «картинку решения».
 • Дальше — детали архитектуры команды агентов.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Подчеркнуть: «не замена, а усиление» ваших специалистов.
 • Цепочка работает за 15 минут — это уже упоминалось, теперь видна структура.
 • Руководитель-агент — главный: без него набор разрозненных экспертов.
 • Вопрос залу: «сколько времени у вас уходит на разбор одного КП подрядчика?».
 • Шина оркестрации = единая точка координации всех девяти агентов.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Ключевой контраст — «постфактум» vs «заблаговременно»: потери выявляются до подписания.
 • Вопрос залу: «как бы выглядела ваша работа, если бы одно КП проверялось за 15 минут вместо 5 дней?».
 • Подчеркнуть: 3 сценария вместо 1 — маржа в базе/пессимист/оптимист.
 • Аномалии сразу в рублях — это и есть предотвращённые потери.
 • Целевая цена = переговорная позиция с подрядчиком.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Раздел про доверие и риск — ключевой вопрос ЛПР: «а данные не уйдут?»
• Ответ раскрывается на следующем слайде — локальные модели в контуре Заказчика
• 135 дней — это 4,5 месяца от развёртывания до приёмки
• Пауза после заголовка, дать ЛПР осознать масштаб: безопасность + внедрение = один пакет
• Перейти к слайду 09 с контуром обработки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Главный ответ на возражение «данные уйдут» — локальные модели в контуре Заказчика
• Локальные модели = 0 ₽ за обращения, без лимитов
• Журнал аудита = полная прозрачность всех передач во внешний контур
• Обязательно упомянуть 152-ФЗ и закрытый периметр без интернета
• Пауза на фразе «закрытый периметр без доступа к интернету» — это часто решающий фактор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135 дней = 4,5 месяца от старта до приёмки
• После приёмки — 12 месяцев гарантийного сопровождения включены в цену
• Интеграция с 1С и СМР входит в базовую стоимость
• Обучение — 2–3 сессии для команды Заказчика
• Вопрос ЛПР: «какой срок вам комфортнее — ускоренный или стандартный?»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Самый важный раздел для ЛПР — здесь принимается финансовое решение
• Дальше — ROI-калькулятор и цена внедрения
• Пауза после заголовка, дать ЛПР переключиться в режим «считаем деньги»
• Фраза перехода: «теперь о деньгах»
• Цифры: 22,5 млн ₽ инвестиция, ROI 62% за 12 месяцев, окупаемость на первом объекте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Главный слайд для ЛПР — здесь рождается решение о покупке
• Цифра 70 млн ₽ — предотвращённые потери на одном объекте (7% от 1 млрд ₽)
• ROI 62% за 12 месяцев — выше любого альтернативного вложения капитала
• Сказать: «это не прогноз — это иллюстрация на базе нашей базы 250+ объектов»
• Вопрос: «какой объём сметы на вашем типовом объекте?» — посчитать на месте
• Реальные цифры — подставить в [ЗАПОЛНИТЬ: объект клиента]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Цена 22,5 млн ₽ — отраслевой референс для первого промышленного внедрения
• Для следующих клиентов цена вырастет до 34,9 млн ₽
• Сравнение с потерями 5–12% от сметы — главный аргумент для ЛПР
• Подчеркнуть: 0 ₽ лицензий и 0 лимитов на объекты — это уникально на рынке
• Пауза на фразе «стратегическая цена» — дать осознать, что окно для сделки ограничено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CTA — «бесплатный расчёт на вашем объекте» как лид-магнит
• Срок исполнения — 5 рабочих дней, NDA подписываем до приёмки документов
• Формат выдачи — PDF + Excel с расчётом и реестром отклонений
• Фраза-закрытие: «отправьте нам один закрытый объект — мы покажем точность на ваших данных»
• Пауза после фразы, затем «спасибо за внимание»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6" name="Shape 4"/>
          <p:cNvSpPr/>
          <p:nvPr/>
        </p:nvSpPr>
        <p:spPr>
          <a:xfrm>
            <a:off x="4242160" y="2646313"/>
            <a:ext cx="0" cy="57864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80497" y="2646313"/>
            <a:ext cx="0" cy="57864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0250" y="4018359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1875" y="4261247"/>
            <a:ext cx="6715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0250" y="428625"/>
            <a:ext cx="57471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 · КОНФИДЕНЦИАЛЬНО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61684" y="431304"/>
            <a:ext cx="1238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00250" y="698302"/>
            <a:ext cx="7143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ЦИФРОВАЯ СЛУЖБА ТЕХНИЧЕСКОГО ЗАКАЗЧИКА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00250" y="901898"/>
            <a:ext cx="7050881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СтройИнтеллект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00250" y="1510457"/>
            <a:ext cx="5572125" cy="62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Финансово-технический контроль строительства на базе ИИ в вашем контуре. Девять агентов анализируют сметы, договоры и экономику объекта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того, как отклонения станут потерями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2000250" y="2289125"/>
            <a:ext cx="685800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02648" y="2624882"/>
            <a:ext cx="937797" cy="4654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4,5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507233" y="2889200"/>
            <a:ext cx="153133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spc="-9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00250" y="3117800"/>
            <a:ext cx="26468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ВНЕДРЕНИЯ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79875" y="2624882"/>
            <a:ext cx="432694" cy="4654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4676701" y="2889200"/>
            <a:ext cx="160020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spc="-9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45757" y="3117800"/>
            <a:ext cx="1831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СОСТАВЕ СИСТЕМЫ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84094" y="2646313"/>
            <a:ext cx="183125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6684094" y="3117800"/>
            <a:ext cx="18312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АБОНЕНТСКАЯ ПЛАТА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00250" y="4014788"/>
            <a:ext cx="7143750" cy="215456"/>
          </a:xfrm>
          <a:prstGeom prst="rect">
            <a:avLst/>
          </a:prstGeom>
          <a:noFill/>
          <a:ln/>
        </p:spPr>
        <p:txBody>
          <a:bodyPr wrap="square" lIns="0" tIns="128588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ДЛЯ [ЗАПОЛНИТЬ: НИК КОЛИЕНТА] · ПОДГОТОВЛЕНО [ЗАПОЛНИТЬ: ДАТА]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71875" y="4257675"/>
            <a:ext cx="671512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00500" y="4364831"/>
            <a:ext cx="24308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5672" y="4364831"/>
            <a:ext cx="26983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05834" y="4379119"/>
            <a:ext cx="13816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9645625" y="43648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005834" y="43648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69575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00479" y="317004"/>
            <a:ext cx="76795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ВВОДНАЯ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РУКОВОДИТЕЛЯ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нужно знать за 60 секунд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тезисов — основа решения об инвестиции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промышленное внедрение СтройИнтеллекта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573299"/>
            <a:ext cx="4710075" cy="759247"/>
          </a:xfrm>
          <a:prstGeom prst="roundRect">
            <a:avLst>
              <a:gd name="adj" fmla="val 12545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8644" y="1676884"/>
            <a:ext cx="5029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07269" y="1676884"/>
            <a:ext cx="409828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— до подписания, а не после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7269" y="1830474"/>
            <a:ext cx="3988557" cy="398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выявляет 5–12% отклонений в сметах и КП подрядчиков до того, как договор заключён. На объекте за 1 млрд ₽ это 50–120 млн ₽ предотвращённых потерь.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2197" y="2439702"/>
            <a:ext cx="4710075" cy="626418"/>
          </a:xfrm>
          <a:prstGeom prst="roundRect">
            <a:avLst>
              <a:gd name="adj" fmla="val 1520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2543287"/>
            <a:ext cx="5029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07269" y="2543287"/>
            <a:ext cx="409828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Девять ИИ-агентов в одной цепочке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7269" y="2696877"/>
            <a:ext cx="398855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экономист, юрист и руководитель проекта работают как единая команда. Сводный отчёт — за 15 минут вместо 5 дней ручной проверки.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197" y="3173276"/>
            <a:ext cx="4710075" cy="626418"/>
          </a:xfrm>
          <a:prstGeom prst="roundRect">
            <a:avLst>
              <a:gd name="adj" fmla="val 1520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8644" y="3276860"/>
            <a:ext cx="5029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007269" y="3276860"/>
            <a:ext cx="398855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100% локальная обработка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7269" y="3430451"/>
            <a:ext cx="398855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коммерчески чувствительные данные остаются в вашем контуре. Внешний контур — только для поиска подрядчиков, после анонимизации. Соответствие 152-ФЗ.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2197" y="3906850"/>
            <a:ext cx="4710075" cy="626418"/>
          </a:xfrm>
          <a:prstGeom prst="roundRect">
            <a:avLst>
              <a:gd name="adj" fmla="val 1520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8644" y="4010434"/>
            <a:ext cx="5029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007269" y="4010434"/>
            <a:ext cx="409828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Окупается на первом объекте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7269" y="4164025"/>
            <a:ext cx="398855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 22,5 млн ₽ возвращается на первом же проекте. ROI — 62% за 12 месяцев при средних потерях 7% от сметы.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2197" y="4640424"/>
            <a:ext cx="4710075" cy="626418"/>
          </a:xfrm>
          <a:prstGeom prst="roundRect">
            <a:avLst>
              <a:gd name="adj" fmla="val 15206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8644" y="4744008"/>
            <a:ext cx="5029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51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07269" y="4744008"/>
            <a:ext cx="409828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лицензий. 12 мес. гарантии.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7269" y="4897599"/>
            <a:ext cx="3988557" cy="24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 внедрения. Никаких подписок. 12 месяцев гарантийного сопровождения включены. Без ограничений на число объектов.</a:t>
            </a:r>
            <a:endParaRPr lang="en-US" sz="8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5869" y="1569727"/>
            <a:ext cx="3369394" cy="370068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49441" y="1573299"/>
            <a:ext cx="3362251" cy="3693542"/>
          </a:xfrm>
          <a:prstGeom prst="roundRect">
            <a:avLst>
              <a:gd name="adj" fmla="val 2833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524463" y="1734034"/>
            <a:ext cx="301220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ЦИФРЫ ДОВЕРИЯ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24463" y="1875123"/>
            <a:ext cx="301220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нам доверяют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5524463" y="2168017"/>
            <a:ext cx="400050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524463" y="2282317"/>
            <a:ext cx="2306895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524463" y="2503773"/>
            <a:ext cx="1824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094860" y="2282317"/>
            <a:ext cx="144181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463" dirty="0"/>
          </a:p>
        </p:txBody>
      </p:sp>
      <p:sp>
        <p:nvSpPr>
          <p:cNvPr id="41" name="Text 38"/>
          <p:cNvSpPr/>
          <p:nvPr/>
        </p:nvSpPr>
        <p:spPr>
          <a:xfrm>
            <a:off x="7094860" y="2503773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ОЦЕНКИ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24463" y="2719871"/>
            <a:ext cx="2306895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463" dirty="0"/>
          </a:p>
        </p:txBody>
      </p:sp>
      <p:sp>
        <p:nvSpPr>
          <p:cNvPr id="43" name="Text 40"/>
          <p:cNvSpPr/>
          <p:nvPr/>
        </p:nvSpPr>
        <p:spPr>
          <a:xfrm>
            <a:off x="5524463" y="2941327"/>
            <a:ext cx="1824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ИИ-АГЕНТОВ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094860" y="2719871"/>
            <a:ext cx="144181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 мин</a:t>
            </a:r>
            <a:endParaRPr lang="en-US" sz="1463" dirty="0"/>
          </a:p>
        </p:txBody>
      </p:sp>
      <p:sp>
        <p:nvSpPr>
          <p:cNvPr id="45" name="Text 42"/>
          <p:cNvSpPr/>
          <p:nvPr/>
        </p:nvSpPr>
        <p:spPr>
          <a:xfrm>
            <a:off x="7094860" y="2941327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ЭКСПРЕСС-РЕЖИМ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24463" y="3157426"/>
            <a:ext cx="2306895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463" dirty="0"/>
          </a:p>
        </p:txBody>
      </p:sp>
      <p:sp>
        <p:nvSpPr>
          <p:cNvPr id="47" name="Text 44"/>
          <p:cNvSpPr/>
          <p:nvPr/>
        </p:nvSpPr>
        <p:spPr>
          <a:xfrm>
            <a:off x="5524463" y="3378882"/>
            <a:ext cx="1824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ОБРАБОТКА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094860" y="3157426"/>
            <a:ext cx="1441810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 мес</a:t>
            </a:r>
            <a:endParaRPr lang="en-US" sz="1463" dirty="0"/>
          </a:p>
        </p:txBody>
      </p:sp>
      <p:sp>
        <p:nvSpPr>
          <p:cNvPr id="49" name="Text 46"/>
          <p:cNvSpPr/>
          <p:nvPr/>
        </p:nvSpPr>
        <p:spPr>
          <a:xfrm>
            <a:off x="7094860" y="3378882"/>
            <a:ext cx="1441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24463" y="3580693"/>
            <a:ext cx="3012207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524463" y="3687849"/>
            <a:ext cx="30122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База — 250+ завершённых объектов крупных девелоперов РФ, 2018–2024.</a:t>
            </a:r>
            <a:endParaRPr lang="en-US" sz="619" dirty="0"/>
          </a:p>
        </p:txBody>
      </p:sp>
      <p:sp>
        <p:nvSpPr>
          <p:cNvPr id="52" name="Text 4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28625" y="4936331"/>
            <a:ext cx="39093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352218" y="4936331"/>
            <a:ext cx="3953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Финансово значимые отклонения в сметах видны уже после того, как подписан договор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14375" y="4597003"/>
            <a:ext cx="36023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31010" y="4597003"/>
            <a:ext cx="30175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/ 14 · РАЗДЕЛ 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66411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ПРОБЛЕМА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84033" y="317004"/>
            <a:ext cx="1114756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01 /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БЕЗДЕЙСТВИЯ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 значимые отклонения в сметах и КП подрядчиков часто видны уже после подписания договора. На объекте за 1 млрд ₽ это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50–120 млн ₽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потерь.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724658"/>
            <a:ext cx="4057650" cy="30187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2197" y="1728229"/>
            <a:ext cx="4050506" cy="3011649"/>
          </a:xfrm>
          <a:prstGeom prst="roundRect">
            <a:avLst>
              <a:gd name="adj" fmla="val 3163"/>
            </a:avLst>
          </a:prstGeom>
          <a:noFill/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4369" y="1942654"/>
            <a:ext cx="358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НА ОБЪЕКТЕ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4369" y="2140893"/>
            <a:ext cx="3586163" cy="91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2"/>
              </a:lnSpc>
              <a:buNone/>
            </a:pPr>
            <a:r>
              <a:rPr lang="en-US" sz="7425" b="1" spc="-334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5–12%</a:t>
            </a:r>
            <a:endParaRPr lang="en-US" sz="7425" dirty="0"/>
          </a:p>
        </p:txBody>
      </p:sp>
      <p:sp>
        <p:nvSpPr>
          <p:cNvPr id="17" name="Text 14"/>
          <p:cNvSpPr/>
          <p:nvPr/>
        </p:nvSpPr>
        <p:spPr>
          <a:xfrm>
            <a:off x="664369" y="3103848"/>
            <a:ext cx="271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сметы — типовые потери девелопера без финансово-технического контроля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64369" y="3532473"/>
            <a:ext cx="3586163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4369" y="3796792"/>
            <a:ext cx="2221992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50 млн ₽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4369" y="4003960"/>
            <a:ext cx="22053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5% ПОТЕРЬ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64369" y="4175410"/>
            <a:ext cx="18227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 1 млрд ₽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514600" y="3796792"/>
            <a:ext cx="1735931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-27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120 млн ₽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514600" y="4003960"/>
            <a:ext cx="173593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12% ПОТЕРЬ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514600" y="4175410"/>
            <a:ext cx="17359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 1 млрд ₽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64369" y="4407582"/>
            <a:ext cx="3586163" cy="12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Источник: анализ 250+ завершённых объектов, 2018–2024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61297" y="1728229"/>
            <a:ext cx="4050506" cy="598289"/>
          </a:xfrm>
          <a:prstGeom prst="roundRect">
            <a:avLst>
              <a:gd name="adj" fmla="val 1592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97028" y="1835386"/>
            <a:ext cx="264319" cy="264319"/>
          </a:xfrm>
          <a:prstGeom prst="roundRect">
            <a:avLst>
              <a:gd name="adj" fmla="val 1801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835962" y="187431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164931" y="1831814"/>
            <a:ext cx="3524440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 зависит от человека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64931" y="1976475"/>
            <a:ext cx="341471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и опыт конкретного специалиста. Ушёл в отпуск — проверка встала. Ошибся — отклонение пропущено.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61297" y="2405100"/>
            <a:ext cx="4050506" cy="598289"/>
          </a:xfrm>
          <a:prstGeom prst="roundRect">
            <a:avLst>
              <a:gd name="adj" fmla="val 1592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97028" y="2512256"/>
            <a:ext cx="264319" cy="264319"/>
          </a:xfrm>
          <a:prstGeom prst="roundRect">
            <a:avLst>
              <a:gd name="adj" fmla="val 1801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35962" y="255118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164931" y="2508684"/>
            <a:ext cx="3524440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Несопоставимые наименования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64931" y="2653345"/>
            <a:ext cx="341471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Подрядчики пишут позиции по-разному. Сравнить 3+ КП вручную — невозможно без нормализации.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61297" y="3081970"/>
            <a:ext cx="4050506" cy="598289"/>
          </a:xfrm>
          <a:prstGeom prst="roundRect">
            <a:avLst>
              <a:gd name="adj" fmla="val 1592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797028" y="3189126"/>
            <a:ext cx="264319" cy="264319"/>
          </a:xfrm>
          <a:prstGeom prst="roundRect">
            <a:avLst>
              <a:gd name="adj" fmla="val 1801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35962" y="322806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164931" y="3185554"/>
            <a:ext cx="3414712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не систематизирован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64931" y="3330215"/>
            <a:ext cx="341471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прошлых объектов фрагментарны. Каждый проект — с нуля. Накопленного знания нет.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61297" y="3758840"/>
            <a:ext cx="4050506" cy="598289"/>
          </a:xfrm>
          <a:prstGeom prst="roundRect">
            <a:avLst>
              <a:gd name="adj" fmla="val 15920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97028" y="3865997"/>
            <a:ext cx="264319" cy="264319"/>
          </a:xfrm>
          <a:prstGeom prst="roundRect">
            <a:avLst>
              <a:gd name="adj" fmla="val 1801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835962" y="39049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44" name="Text 41"/>
          <p:cNvSpPr/>
          <p:nvPr/>
        </p:nvSpPr>
        <p:spPr>
          <a:xfrm>
            <a:off x="5164931" y="3862425"/>
            <a:ext cx="3414712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Рынок vs завышение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164931" y="4007086"/>
            <a:ext cx="341471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реальное движение цены от скрытого завышения. Коэффициенты и индексы — чёрный ящик.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28625" y="4936331"/>
            <a:ext cx="41520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594994" y="4936331"/>
            <a:ext cx="371095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187983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714375" y="2788183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981065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714375" y="3515395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Девять ИИ-агентов в единой цепочке: от разбора сметы до сводного вывода для ЛПР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714375" y="4597003"/>
            <a:ext cx="36023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31010" y="4597003"/>
            <a:ext cx="30175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/ 14 · РАЗДЕЛ 02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8625" y="4828617"/>
            <a:ext cx="8286750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314325"/>
            <a:ext cx="66411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РЕШЕНИЕ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84033" y="317004"/>
            <a:ext cx="1114756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 из девяти ИИ-агентов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закрывает свою зону финансово-технического контроля. Сводный вывод делает руководитель проекта — как в живой команде.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2197" y="1728229"/>
            <a:ext cx="2678906" cy="2993231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769" y="1731801"/>
            <a:ext cx="2671763" cy="342900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356" y="181752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214" y="18203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07244" y="1833600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 и ПТО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4356" y="2189001"/>
            <a:ext cx="254317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4356" y="2346164"/>
            <a:ext cx="260775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контроль расценок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356" y="2528329"/>
            <a:ext cx="2414588" cy="68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Выявляют двойной учёт, завышенные коэффициенты, оценивают финансовое влияние расхождений. Сопоставляют с опорной базой 250+ объектов.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356" y="3162337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4356" y="3240918"/>
            <a:ext cx="25431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ЦЕПОЧКЕ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4356" y="3426656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4356" y="3570870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356" y="3749018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4356" y="3893232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наименований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4356" y="4071379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ПТО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4356" y="4215594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КС-2/КС-3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4356" y="4393741"/>
            <a:ext cx="2535317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 коэффициентов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356" y="4537956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надбавки и индексы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32547" y="1728229"/>
            <a:ext cx="2678906" cy="2993231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36119" y="1731801"/>
            <a:ext cx="2671763" cy="342900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64706" y="181752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67564" y="18203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3607594" y="1833600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 и Юрист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64706" y="2189001"/>
            <a:ext cx="254317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АГЕНТА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64706" y="2346164"/>
            <a:ext cx="25353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и риски договора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64706" y="2528329"/>
            <a:ext cx="2414588" cy="68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Считают маржу в трёх сценариях (база/пессимист/оптимист), прогнозируют кассовые разрывы, анализируют авансы, штрафы, удержания в договоре подряда.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64706" y="3162337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64706" y="3240918"/>
            <a:ext cx="25431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В ЦЕПОЧКЕ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64706" y="3426656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64706" y="3570870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64706" y="3749018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4706" y="3893232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и кассовые разрывы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64706" y="4071379"/>
            <a:ext cx="254317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64706" y="4215594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договора подряда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32897" y="1728229"/>
            <a:ext cx="2678906" cy="2993231"/>
          </a:xfrm>
          <a:prstGeom prst="roundRect">
            <a:avLst>
              <a:gd name="adj" fmla="val 3556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36469" y="1731801"/>
            <a:ext cx="2671763" cy="342900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65056" y="181752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7914" y="18203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6407944" y="1833600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65056" y="2189001"/>
            <a:ext cx="254317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АГЕНТ + ШИНА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65056" y="2346164"/>
            <a:ext cx="25353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вывод для ЛПР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65056" y="2528329"/>
            <a:ext cx="2414588" cy="685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Объединяет выводы всех агентов в единый отчёт: что не так, сколько денег на кону, какие корректирующие меры нужны. Готовит executive summary для ЛПР.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65056" y="3162337"/>
            <a:ext cx="241458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65056" y="3240918"/>
            <a:ext cx="25431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ВСПОМОГАТЕЛЬНЫЕ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65056" y="3426656"/>
            <a:ext cx="2535317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65056" y="3570870"/>
            <a:ext cx="2535317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65056" y="3749018"/>
            <a:ext cx="2535317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Нормализация документов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65056" y="3893232"/>
            <a:ext cx="2543175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28625" y="4825045"/>
            <a:ext cx="8286750" cy="357188"/>
          </a:xfrm>
          <a:prstGeom prst="rect">
            <a:avLst/>
          </a:prstGeom>
          <a:solidFill>
            <a:srgbClr val="C9A96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71500" y="4942917"/>
            <a:ext cx="67665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 · 250+ объектов в обучающей базе · ±3–5% точность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29510" y="4907198"/>
            <a:ext cx="1265850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52370" y="4917914"/>
            <a:ext cx="12201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ШИНА ОРКЕСТРАЦИИ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28625" y="4936331"/>
            <a:ext cx="418322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26136" y="4936331"/>
            <a:ext cx="36798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5769" y="2231864"/>
            <a:ext cx="4057650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50581" y="2231864"/>
            <a:ext cx="4057650" cy="0"/>
          </a:xfrm>
          <a:prstGeom prst="line">
            <a:avLst/>
          </a:prstGeom>
          <a:noFill/>
          <a:ln w="7144">
            <a:solidFill>
              <a:srgbClr val="E50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8625" y="314325"/>
            <a:ext cx="66411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ЦЕННОСТЬ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84033" y="317004"/>
            <a:ext cx="1114756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МЕНЯЕТСЯ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Собственная расчётно-аналитическая оценка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не заменяет СОД и ТИМ — он становится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интеллектуальным слоем финансового контроля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поверх них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2197" y="1728229"/>
            <a:ext cx="4064794" cy="3011649"/>
          </a:xfrm>
          <a:prstGeom prst="roundRect">
            <a:avLst>
              <a:gd name="adj" fmla="val 3163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5769" y="1731801"/>
            <a:ext cx="4057650" cy="503634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356" y="1831814"/>
            <a:ext cx="314235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56" y="1967545"/>
            <a:ext cx="212109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 предложений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3193279" y="1872033"/>
            <a:ext cx="1194413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16139" y="1883606"/>
            <a:ext cx="1148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ПРОЦЕСС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2931" y="23854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821531" y="2378311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сопоставление предложений в Excel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2931" y="263548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821531" y="2628342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 и единицы измерения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2931" y="28855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821531" y="2878373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рыночное движение цены от завышения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2931" y="31355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555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821531" y="3128404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прошлых объектов не систематизирован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2931" y="4205883"/>
            <a:ext cx="37433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2931" y="4298752"/>
            <a:ext cx="193542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92931" y="4491633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59719" y="4298752"/>
            <a:ext cx="1548336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5–7 дн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1859719" y="4491633"/>
            <a:ext cx="15308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ОДНО КП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26507" y="4298752"/>
            <a:ext cx="136691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20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Постфактум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3126507" y="4463058"/>
            <a:ext cx="1366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</a:t>
            </a:r>
            <a:endParaRPr lang="en-US" sz="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38" y="1724658"/>
            <a:ext cx="4071938" cy="301879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647009" y="1728229"/>
            <a:ext cx="4064794" cy="3011649"/>
          </a:xfrm>
          <a:prstGeom prst="roundRect">
            <a:avLst>
              <a:gd name="adj" fmla="val 3163"/>
            </a:avLst>
          </a:prstGeom>
          <a:noFill/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650581" y="1731801"/>
            <a:ext cx="4057650" cy="503634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779169" y="1831814"/>
            <a:ext cx="324808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779169" y="1967545"/>
            <a:ext cx="219245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Расчётно-аналитическая оценка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7682456" y="1880034"/>
            <a:ext cx="920048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705316" y="1890750"/>
            <a:ext cx="87432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ИИ-АГЕНТОВ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807744" y="237831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810601" y="238116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5064919" y="2378311"/>
            <a:ext cx="3486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позиций к сопоставимому виду автоматически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807744" y="264977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810601" y="265263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5064919" y="2649773"/>
            <a:ext cx="3486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аномалий с указанием суммы влияния в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рублях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807744" y="292123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10601" y="292409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1" name="Text 48"/>
          <p:cNvSpPr/>
          <p:nvPr/>
        </p:nvSpPr>
        <p:spPr>
          <a:xfrm>
            <a:off x="5064919" y="2921236"/>
            <a:ext cx="3486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Независимая оценка на базе 250+ объектов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807744" y="319269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810601" y="319555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5064919" y="3192698"/>
            <a:ext cx="3486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 с подрядчиком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807744" y="4205883"/>
            <a:ext cx="37433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807744" y="4298752"/>
            <a:ext cx="193542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57" name="Text 54"/>
          <p:cNvSpPr/>
          <p:nvPr/>
        </p:nvSpPr>
        <p:spPr>
          <a:xfrm>
            <a:off x="4807744" y="4491633"/>
            <a:ext cx="1661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СЦЕНАРИЯ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074532" y="4298752"/>
            <a:ext cx="1548336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 мин</a:t>
            </a:r>
            <a:endParaRPr lang="en-US" sz="1238" dirty="0"/>
          </a:p>
        </p:txBody>
      </p:sp>
      <p:sp>
        <p:nvSpPr>
          <p:cNvPr id="59" name="Text 56"/>
          <p:cNvSpPr/>
          <p:nvPr/>
        </p:nvSpPr>
        <p:spPr>
          <a:xfrm>
            <a:off x="6074532" y="4491633"/>
            <a:ext cx="15308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ОДНО КП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341319" y="4298752"/>
            <a:ext cx="136691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spc="-20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Заблаговременно</a:t>
            </a:r>
            <a:endParaRPr lang="en-US" sz="1013" dirty="0"/>
          </a:p>
        </p:txBody>
      </p:sp>
      <p:sp>
        <p:nvSpPr>
          <p:cNvPr id="61" name="Text 58"/>
          <p:cNvSpPr/>
          <p:nvPr/>
        </p:nvSpPr>
        <p:spPr>
          <a:xfrm>
            <a:off x="7341319" y="4463058"/>
            <a:ext cx="1366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428625" y="4936331"/>
            <a:ext cx="41304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573339" y="4936331"/>
            <a:ext cx="37326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-857250"/>
            <a:ext cx="3714750" cy="3714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0" y="-857250"/>
            <a:ext cx="3714750" cy="3714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408415" y="1600200"/>
            <a:ext cx="673558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0"/>
              </a:lnSpc>
              <a:buNone/>
            </a:pPr>
            <a:r>
              <a:rPr lang="en-US" sz="29250" b="1" spc="-1755" kern="0" dirty="0">
                <a:solidFill>
                  <a:srgbClr val="E50914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9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481" y="1285875"/>
            <a:ext cx="7144" cy="2571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289322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89322" y="285750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58225" y="289322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54678" y="285750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5750" y="4854178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9322" y="4657725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54678" y="4657725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58225" y="4854178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4375" y="1329965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16" name="Text 12"/>
          <p:cNvSpPr/>
          <p:nvPr/>
        </p:nvSpPr>
        <p:spPr>
          <a:xfrm>
            <a:off x="714375" y="2930165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4375" y="3123047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 и внедрение</a:t>
            </a:r>
            <a:endParaRPr lang="en-US" sz="3150" dirty="0"/>
          </a:p>
        </p:txBody>
      </p:sp>
      <p:sp>
        <p:nvSpPr>
          <p:cNvPr id="18" name="Text 14"/>
          <p:cNvSpPr/>
          <p:nvPr/>
        </p:nvSpPr>
        <p:spPr>
          <a:xfrm>
            <a:off x="714375" y="3657377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«Локальные модели в контуре Заказчика. 135 дней — от развёртывания до приёмки»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714375" y="4597003"/>
            <a:ext cx="36023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331010" y="4597003"/>
            <a:ext cx="30175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/ 14 · РАЗДЕЛ 03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14375" y="1046001"/>
            <a:ext cx="13708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· 03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770645" y="1046001"/>
            <a:ext cx="66589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ИЗ ЧЕТЫРЁХ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69236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БЕЗОПАСНОСТЬ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66546" y="317004"/>
            <a:ext cx="82077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КОНТУР ОБРАБОТКИ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в контуре Заказчика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Полное разделение внутреннего и внешнего контуров. Все коммерчески чувствительные данные остаются у вас. Соответствие 152-ФЗ.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728229"/>
            <a:ext cx="4050506" cy="2743870"/>
          </a:xfrm>
          <a:prstGeom prst="roundRect">
            <a:avLst>
              <a:gd name="adj" fmla="val 3471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81" y="1917539"/>
            <a:ext cx="371475" cy="371475"/>
          </a:xfrm>
          <a:prstGeom prst="roundRect">
            <a:avLst>
              <a:gd name="adj" fmla="val 1794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0442" y="1947900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2109" dirty="0"/>
          </a:p>
        </p:txBody>
      </p:sp>
      <p:sp>
        <p:nvSpPr>
          <p:cNvPr id="16" name="Text 14"/>
          <p:cNvSpPr/>
          <p:nvPr/>
        </p:nvSpPr>
        <p:spPr>
          <a:xfrm>
            <a:off x="1107281" y="2047019"/>
            <a:ext cx="3157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КОНТУР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0081" y="2389026"/>
            <a:ext cx="361473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spc="-29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Локальные модели</a:t>
            </a:r>
            <a:endParaRPr lang="en-US" sz="1463" dirty="0"/>
          </a:p>
        </p:txBody>
      </p:sp>
      <p:sp>
        <p:nvSpPr>
          <p:cNvPr id="18" name="Text 16"/>
          <p:cNvSpPr/>
          <p:nvPr/>
        </p:nvSpPr>
        <p:spPr>
          <a:xfrm>
            <a:off x="650081" y="2679018"/>
            <a:ext cx="3614738" cy="72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коммерчески чувствительные данные — сметы, договоры, базы — обрабатываются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исключительно локальными моделями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вычислительных мощностях Заказчика. Плата за обращения не взимается.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0081" y="3391607"/>
            <a:ext cx="36147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081" y="3498763"/>
            <a:ext cx="361473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ОБРАБАТЫВАЕТ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0081" y="3656854"/>
            <a:ext cx="502295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3668427"/>
            <a:ext cx="5022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95239" y="3656854"/>
            <a:ext cx="709352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95239" y="3668427"/>
            <a:ext cx="70935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47453" y="3656854"/>
            <a:ext cx="715603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947453" y="3668427"/>
            <a:ext cx="7156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250+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0081" y="3961321"/>
            <a:ext cx="2259012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650081" y="4175633"/>
            <a:ext cx="17134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ОБРАЩЕНИЯ К МОДЕЛЯМ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1297" y="1728229"/>
            <a:ext cx="4050506" cy="2743870"/>
          </a:xfrm>
          <a:prstGeom prst="roundRect">
            <a:avLst>
              <a:gd name="adj" fmla="val 3471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9181" y="1917539"/>
            <a:ext cx="371475" cy="371475"/>
          </a:xfrm>
          <a:prstGeom prst="roundRect">
            <a:avLst>
              <a:gd name="adj" fmla="val 1794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09542" y="1947900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109" dirty="0"/>
          </a:p>
        </p:txBody>
      </p:sp>
      <p:sp>
        <p:nvSpPr>
          <p:cNvPr id="32" name="Text 30"/>
          <p:cNvSpPr/>
          <p:nvPr/>
        </p:nvSpPr>
        <p:spPr>
          <a:xfrm>
            <a:off x="5336381" y="2047019"/>
            <a:ext cx="3157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79181" y="2389026"/>
            <a:ext cx="3614738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spc="-29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Поиск подрядчиков</a:t>
            </a:r>
            <a:endParaRPr lang="en-US" sz="1463" dirty="0"/>
          </a:p>
        </p:txBody>
      </p:sp>
      <p:sp>
        <p:nvSpPr>
          <p:cNvPr id="34" name="Text 32"/>
          <p:cNvSpPr/>
          <p:nvPr/>
        </p:nvSpPr>
        <p:spPr>
          <a:xfrm>
            <a:off x="4879181" y="2679018"/>
            <a:ext cx="3614738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Используется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для поиска подрядчиков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Передача данных выполняется только после анонимизации и маскирования по согласованному регламенту.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79181" y="3238463"/>
            <a:ext cx="3614738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79181" y="3345619"/>
            <a:ext cx="361473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ПЕРЕДАЧА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79181" y="3503710"/>
            <a:ext cx="990637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79181" y="3515283"/>
            <a:ext cx="9906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12681" y="3503710"/>
            <a:ext cx="736922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12681" y="3515283"/>
            <a:ext cx="736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РЕГЛАМЕНТ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92466" y="3503710"/>
            <a:ext cx="1019212" cy="216027"/>
          </a:xfrm>
          <a:prstGeom prst="roundRect">
            <a:avLst>
              <a:gd name="adj" fmla="val 13228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92466" y="3515283"/>
            <a:ext cx="1019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 АУДИТА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2753" y="4114912"/>
            <a:ext cx="164306" cy="164306"/>
          </a:xfrm>
          <a:prstGeom prst="roundRect">
            <a:avLst>
              <a:gd name="adj" fmla="val 23188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82039" y="411419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9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122069" y="4137013"/>
            <a:ext cx="3371850" cy="145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передачи фиксируются в журнале аудита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2197" y="4414279"/>
            <a:ext cx="8279606" cy="407194"/>
          </a:xfrm>
          <a:prstGeom prst="roundRect">
            <a:avLst>
              <a:gd name="adj" fmla="val 14035"/>
            </a:avLst>
          </a:prstGeom>
          <a:solidFill>
            <a:srgbClr val="C9A961">
              <a:alpha val="5000"/>
            </a:srgbClr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2931" y="4517864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9718" y="45246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878681" y="4548225"/>
            <a:ext cx="49944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 152-ФЗ. Возможна установка в закрытом периметре без доступа к интернету.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12778" y="4517864"/>
            <a:ext cx="558994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33482" y="4528579"/>
            <a:ext cx="5175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152-ФЗ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8625" y="4936331"/>
            <a:ext cx="40315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74443" y="4936331"/>
            <a:ext cx="38315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69236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ВНЕДРЕНИЕ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66546" y="317004"/>
            <a:ext cx="82077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ПРОЦЕСС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развёртывания до приёмки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в опытную эксплуатацию. После приёмки — 12 месяцев гарантийного сопровождения.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8625" y="1498290"/>
            <a:ext cx="72423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 ВНЕДРЕНИЯ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85224" y="1500969"/>
            <a:ext cx="13377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 → ДЕНЬ 135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8625" y="1667954"/>
            <a:ext cx="8286750" cy="42863"/>
          </a:xfrm>
          <a:prstGeom prst="roundRect">
            <a:avLst>
              <a:gd name="adj" fmla="val 8888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667954"/>
            <a:ext cx="8286750" cy="4286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28625" y="1767967"/>
            <a:ext cx="233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838564" y="1767967"/>
            <a:ext cx="2152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45 · 33%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495914" y="1767967"/>
            <a:ext cx="2152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85 · 63%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53264" y="1767967"/>
            <a:ext cx="2152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115 · 85%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63202" y="1767967"/>
            <a:ext cx="2152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ДЕНЬ 135 · 100%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2197" y="2021570"/>
            <a:ext cx="2000250" cy="2028825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71500" y="2146585"/>
            <a:ext cx="342900" cy="342900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4356" y="2139442"/>
            <a:ext cx="117369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463" dirty="0"/>
          </a:p>
        </p:txBody>
      </p:sp>
      <p:sp>
        <p:nvSpPr>
          <p:cNvPr id="25" name="Text 22"/>
          <p:cNvSpPr/>
          <p:nvPr/>
        </p:nvSpPr>
        <p:spPr>
          <a:xfrm>
            <a:off x="1730422" y="2229024"/>
            <a:ext cx="591784" cy="178022"/>
          </a:xfrm>
          <a:prstGeom prst="roundRect">
            <a:avLst>
              <a:gd name="adj" fmla="val 16051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752340" y="2238561"/>
            <a:ext cx="54794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 ДНЕЙ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64356" y="2610929"/>
            <a:ext cx="173593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и база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564356" y="2802024"/>
            <a:ext cx="1735931" cy="49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Установка локальных моделей, настройка агентов, наполнение опорной базы из истории Заказчика.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4356" y="3255206"/>
            <a:ext cx="17359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64356" y="3319500"/>
            <a:ext cx="1735931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4356" y="3464161"/>
            <a:ext cx="1735931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запущены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настроены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 Заказчика загружена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525316" y="2021570"/>
            <a:ext cx="2000250" cy="2028825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664619" y="2146585"/>
            <a:ext cx="342900" cy="342900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657475" y="2139442"/>
            <a:ext cx="117369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463" dirty="0"/>
          </a:p>
        </p:txBody>
      </p:sp>
      <p:sp>
        <p:nvSpPr>
          <p:cNvPr id="35" name="Text 32"/>
          <p:cNvSpPr/>
          <p:nvPr/>
        </p:nvSpPr>
        <p:spPr>
          <a:xfrm>
            <a:off x="3823540" y="2229024"/>
            <a:ext cx="591784" cy="178022"/>
          </a:xfrm>
          <a:prstGeom prst="roundRect">
            <a:avLst>
              <a:gd name="adj" fmla="val 16051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845458" y="2238561"/>
            <a:ext cx="54794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ДНЕЙ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57475" y="2610929"/>
            <a:ext cx="173593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Расчётный модуль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2657475" y="2802024"/>
            <a:ext cx="1735931" cy="49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документов, расчёт себестоимости и финансовой модели в трёх сценариях.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657475" y="3255206"/>
            <a:ext cx="17359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657475" y="3319500"/>
            <a:ext cx="1735931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657475" y="3464161"/>
            <a:ext cx="1735931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себестоимости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3 сценария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помесячно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18434" y="2021570"/>
            <a:ext cx="2000250" cy="2028825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57738" y="2146585"/>
            <a:ext cx="342900" cy="342900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750594" y="2139442"/>
            <a:ext cx="117369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463" dirty="0"/>
          </a:p>
        </p:txBody>
      </p:sp>
      <p:sp>
        <p:nvSpPr>
          <p:cNvPr id="45" name="Text 42"/>
          <p:cNvSpPr/>
          <p:nvPr/>
        </p:nvSpPr>
        <p:spPr>
          <a:xfrm>
            <a:off x="5916659" y="2229024"/>
            <a:ext cx="591784" cy="178022"/>
          </a:xfrm>
          <a:prstGeom prst="roundRect">
            <a:avLst>
              <a:gd name="adj" fmla="val 16051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938577" y="2238561"/>
            <a:ext cx="54794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ДНЕЙ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750594" y="2610929"/>
            <a:ext cx="173593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Сравнительный контур</a:t>
            </a:r>
            <a:endParaRPr lang="en-US" sz="844" dirty="0"/>
          </a:p>
        </p:txBody>
      </p:sp>
      <p:sp>
        <p:nvSpPr>
          <p:cNvPr id="48" name="Text 45"/>
          <p:cNvSpPr/>
          <p:nvPr/>
        </p:nvSpPr>
        <p:spPr>
          <a:xfrm>
            <a:off x="4750594" y="2802024"/>
            <a:ext cx="1735931" cy="49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предложений, выявление аномалий, калибровка оценки.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750594" y="3255206"/>
            <a:ext cx="17359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750594" y="3319500"/>
            <a:ext cx="1735931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750594" y="3464161"/>
            <a:ext cx="1735931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711553" y="2021570"/>
            <a:ext cx="2000250" cy="2028825"/>
          </a:xfrm>
          <a:prstGeom prst="roundRect">
            <a:avLst>
              <a:gd name="adj" fmla="val 476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850856" y="2146585"/>
            <a:ext cx="342900" cy="342900"/>
          </a:xfrm>
          <a:prstGeom prst="ellipse">
            <a:avLst/>
          </a:prstGeom>
          <a:solidFill>
            <a:srgbClr val="0A0A0A"/>
          </a:solidFill>
          <a:ln w="14288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843713" y="2139442"/>
            <a:ext cx="117369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463" dirty="0"/>
          </a:p>
        </p:txBody>
      </p:sp>
      <p:sp>
        <p:nvSpPr>
          <p:cNvPr id="55" name="Text 52"/>
          <p:cNvSpPr/>
          <p:nvPr/>
        </p:nvSpPr>
        <p:spPr>
          <a:xfrm>
            <a:off x="8009778" y="2229024"/>
            <a:ext cx="591784" cy="178022"/>
          </a:xfrm>
          <a:prstGeom prst="roundRect">
            <a:avLst>
              <a:gd name="adj" fmla="val 16051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8031696" y="2238561"/>
            <a:ext cx="54794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ДНЕЙ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843713" y="2610929"/>
            <a:ext cx="173593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Интерфейс и приёмка</a:t>
            </a:r>
            <a:endParaRPr lang="en-US" sz="844" dirty="0"/>
          </a:p>
        </p:txBody>
      </p:sp>
      <p:sp>
        <p:nvSpPr>
          <p:cNvPr id="58" name="Text 55"/>
          <p:cNvSpPr/>
          <p:nvPr/>
        </p:nvSpPr>
        <p:spPr>
          <a:xfrm>
            <a:off x="6843713" y="2802024"/>
            <a:ext cx="1735931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Веб-приложение, интеграция с 1С и СМР, обучение пользователей.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843713" y="3127958"/>
            <a:ext cx="1735931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6843713" y="3192252"/>
            <a:ext cx="1735931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18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843713" y="3336913"/>
            <a:ext cx="1735931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 1С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428625" y="4936331"/>
            <a:ext cx="412931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572223" y="4936331"/>
            <a:ext cx="37337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-857250"/>
            <a:ext cx="3714750" cy="3714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0" y="-857250"/>
            <a:ext cx="3714750" cy="3714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408415" y="1600200"/>
            <a:ext cx="673558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0"/>
              </a:lnSpc>
              <a:buNone/>
            </a:pPr>
            <a:r>
              <a:rPr lang="en-US" sz="29250" b="1" spc="-1755" kern="0" dirty="0">
                <a:solidFill>
                  <a:srgbClr val="C9A961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9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481" y="1285875"/>
            <a:ext cx="7144" cy="2571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289322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89322" y="285750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58225" y="289322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54678" y="285750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5750" y="4854178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9322" y="4657725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54678" y="4657725"/>
            <a:ext cx="0" cy="200025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58225" y="4854178"/>
            <a:ext cx="200025" cy="0"/>
          </a:xfrm>
          <a:prstGeom prst="line">
            <a:avLst/>
          </a:prstGeom>
          <a:noFill/>
          <a:ln w="7144">
            <a:solidFill>
              <a:srgbClr val="C9A9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4375" y="1329965"/>
            <a:ext cx="7715250" cy="157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810" kern="0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1475"/>
              </a:lnSpc>
              <a:buNone/>
            </a:pPr>
            <a:r>
              <a:rPr lang="en-US" sz="2025" b="1" spc="-810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3500" dirty="0"/>
          </a:p>
        </p:txBody>
      </p:sp>
      <p:sp>
        <p:nvSpPr>
          <p:cNvPr id="16" name="Text 12"/>
          <p:cNvSpPr/>
          <p:nvPr/>
        </p:nvSpPr>
        <p:spPr>
          <a:xfrm>
            <a:off x="714375" y="2930165"/>
            <a:ext cx="685800" cy="21431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4375" y="3123047"/>
            <a:ext cx="77152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</a:t>
            </a:r>
            <a:endParaRPr lang="en-US" sz="3150" dirty="0"/>
          </a:p>
        </p:txBody>
      </p:sp>
      <p:sp>
        <p:nvSpPr>
          <p:cNvPr id="18" name="Text 14"/>
          <p:cNvSpPr/>
          <p:nvPr/>
        </p:nvSpPr>
        <p:spPr>
          <a:xfrm>
            <a:off x="714375" y="3657377"/>
            <a:ext cx="5143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«Инвестиция 22,5 млн ₽ окупается на первом объекте. ROI 62% за 12 месяцев»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714375" y="4597003"/>
            <a:ext cx="36023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СТРОЙИНТЕЛЛЕКТ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331010" y="4597003"/>
            <a:ext cx="30175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362862" y="4597003"/>
            <a:ext cx="10667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 / 14 · РАЗДЕЛ 04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14375" y="1046001"/>
            <a:ext cx="13708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· 04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770645" y="1046001"/>
            <a:ext cx="66589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ФИНАЛЬНЫЙ ИЗ ЧЕТЫРЁХ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314325"/>
            <a:ext cx="69236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ROI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66546" y="317004"/>
            <a:ext cx="82077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70544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ВОЗВРАТА НА ИНВЕСТИЦИИ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894755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Окупается на первом объекте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25" y="1229060"/>
            <a:ext cx="65722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 22,5 млн ₽ возвращается уже на первом проекте. При средних потерях 7% от сметы — ROI 62% за 12 месяцев. Дальше — чистая прибыль.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2197" y="1656792"/>
            <a:ext cx="8279606" cy="644723"/>
          </a:xfrm>
          <a:prstGeom prst="roundRect">
            <a:avLst>
              <a:gd name="adj" fmla="val 14774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931" y="1841636"/>
            <a:ext cx="3076816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ИЛЛЮСТРАТИВНЫЙ РАСЧЁТ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2931" y="1982725"/>
            <a:ext cx="23526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Типовой объект 1 млрд ₽, средние потери 7%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7433" y="1786049"/>
            <a:ext cx="838833" cy="386097"/>
          </a:xfrm>
          <a:prstGeom prst="roundRect">
            <a:avLst>
              <a:gd name="adj" fmla="val 1480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81017" y="1846771"/>
            <a:ext cx="6316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20049" y="1970001"/>
            <a:ext cx="753600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22,5 млн ₽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6091275" y="1882713"/>
            <a:ext cx="17252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6274110" y="1778236"/>
            <a:ext cx="1236873" cy="401836"/>
          </a:xfrm>
          <a:prstGeom prst="roundRect">
            <a:avLst>
              <a:gd name="adj" fmla="val 14222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77694" y="1838958"/>
            <a:ext cx="102970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 1-Й ОБЪЕКТ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77694" y="1962187"/>
            <a:ext cx="102970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70 млн ₽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585993" y="1882713"/>
            <a:ext cx="17252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1013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5256" y="1774664"/>
            <a:ext cx="785813" cy="4089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68828" y="1778236"/>
            <a:ext cx="778669" cy="401836"/>
          </a:xfrm>
          <a:prstGeom prst="roundRect">
            <a:avLst>
              <a:gd name="adj" fmla="val 14222"/>
            </a:avLst>
          </a:prstGeom>
          <a:noFill/>
          <a:ln w="7144">
            <a:solidFill>
              <a:srgbClr val="E509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063" y="1838958"/>
            <a:ext cx="636199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12 МЕС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872413" y="1962187"/>
            <a:ext cx="571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E509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432197" y="2422959"/>
            <a:ext cx="2000250" cy="1243013"/>
          </a:xfrm>
          <a:prstGeom prst="roundRect">
            <a:avLst>
              <a:gd name="adj" fmla="val 7663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4356" y="2540831"/>
            <a:ext cx="214313" cy="214313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8287" y="25547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850106" y="2591730"/>
            <a:ext cx="1450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ИНВЕСТИЦИЯ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4356" y="2964879"/>
            <a:ext cx="1735931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5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pPr algn="l" indent="0" marL="0">
              <a:lnSpc>
                <a:spcPts val="2138"/>
              </a:lnSpc>
              <a:buNone/>
            </a:pPr>
            <a:r>
              <a:rPr lang="en-US" sz="800" b="1" spc="-53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138" dirty="0"/>
          </a:p>
        </p:txBody>
      </p:sp>
      <p:sp>
        <p:nvSpPr>
          <p:cNvPr id="33" name="Text 30"/>
          <p:cNvSpPr/>
          <p:nvPr/>
        </p:nvSpPr>
        <p:spPr>
          <a:xfrm>
            <a:off x="564356" y="3307779"/>
            <a:ext cx="173593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64356" y="3438153"/>
            <a:ext cx="173593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 НДС 22%, единоразово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25316" y="2422959"/>
            <a:ext cx="2000250" cy="1243013"/>
          </a:xfrm>
          <a:prstGeom prst="roundRect">
            <a:avLst>
              <a:gd name="adj" fmla="val 7663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657475" y="2540831"/>
            <a:ext cx="214313" cy="214313"/>
          </a:xfrm>
          <a:prstGeom prst="roundRect">
            <a:avLst>
              <a:gd name="adj" fmla="val 22222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671405" y="25547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2943225" y="2591730"/>
            <a:ext cx="1450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ВОЗВРАТ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657475" y="2964879"/>
            <a:ext cx="1735931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5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</a:t>
            </a:r>
            <a:pPr algn="l" indent="0" marL="0">
              <a:lnSpc>
                <a:spcPts val="2138"/>
              </a:lnSpc>
              <a:buNone/>
            </a:pPr>
            <a:r>
              <a:rPr lang="en-US" sz="800" b="1" spc="-53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138" dirty="0"/>
          </a:p>
        </p:txBody>
      </p:sp>
      <p:sp>
        <p:nvSpPr>
          <p:cNvPr id="40" name="Text 37"/>
          <p:cNvSpPr/>
          <p:nvPr/>
        </p:nvSpPr>
        <p:spPr>
          <a:xfrm>
            <a:off x="2657475" y="3307779"/>
            <a:ext cx="173593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ПРЕДОТВРАЩЁННЫЕ ПОТЕРИ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657475" y="3438153"/>
            <a:ext cx="173593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7% от сметы 1 млрд ₽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18434" y="2422959"/>
            <a:ext cx="2000250" cy="1243013"/>
          </a:xfrm>
          <a:prstGeom prst="roundRect">
            <a:avLst>
              <a:gd name="adj" fmla="val 7663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50594" y="2540831"/>
            <a:ext cx="214313" cy="214313"/>
          </a:xfrm>
          <a:prstGeom prst="roundRect">
            <a:avLst>
              <a:gd name="adj" fmla="val 22222"/>
            </a:avLst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764524" y="25547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45" name="Text 42"/>
          <p:cNvSpPr/>
          <p:nvPr/>
        </p:nvSpPr>
        <p:spPr>
          <a:xfrm>
            <a:off x="5036344" y="2591730"/>
            <a:ext cx="1450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ВЫИГРЫШ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750594" y="2964879"/>
            <a:ext cx="1735931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5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47,5</a:t>
            </a:r>
            <a:pPr algn="l" indent="0" marL="0">
              <a:lnSpc>
                <a:spcPts val="2138"/>
              </a:lnSpc>
              <a:buNone/>
            </a:pPr>
            <a:r>
              <a:rPr lang="en-US" sz="800" b="1" spc="-53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138" dirty="0"/>
          </a:p>
        </p:txBody>
      </p:sp>
      <p:sp>
        <p:nvSpPr>
          <p:cNvPr id="47" name="Text 44"/>
          <p:cNvSpPr/>
          <p:nvPr/>
        </p:nvSpPr>
        <p:spPr>
          <a:xfrm>
            <a:off x="4750594" y="3307779"/>
            <a:ext cx="173593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1-Й ОБЪЕКТ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750594" y="3438153"/>
            <a:ext cx="173593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70 − 22,5 = 47,5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711553" y="2422959"/>
            <a:ext cx="2000250" cy="1243013"/>
          </a:xfrm>
          <a:prstGeom prst="roundRect">
            <a:avLst>
              <a:gd name="adj" fmla="val 7663"/>
            </a:avLst>
          </a:prstGeom>
          <a:solidFill>
            <a:srgbClr val="141414"/>
          </a:solidFill>
          <a:ln w="7144">
            <a:solidFill>
              <a:srgbClr val="26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843713" y="2540831"/>
            <a:ext cx="214313" cy="214313"/>
          </a:xfrm>
          <a:prstGeom prst="roundRect">
            <a:avLst>
              <a:gd name="adj" fmla="val 22222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857643" y="25547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2" name="Text 49"/>
          <p:cNvSpPr/>
          <p:nvPr/>
        </p:nvSpPr>
        <p:spPr>
          <a:xfrm>
            <a:off x="7129463" y="2591730"/>
            <a:ext cx="1450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843713" y="2964879"/>
            <a:ext cx="1735931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5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2138" dirty="0"/>
          </a:p>
        </p:txBody>
      </p:sp>
      <p:sp>
        <p:nvSpPr>
          <p:cNvPr id="54" name="Text 51"/>
          <p:cNvSpPr/>
          <p:nvPr/>
        </p:nvSpPr>
        <p:spPr>
          <a:xfrm>
            <a:off x="6843713" y="3307779"/>
            <a:ext cx="173593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12 МЕСЯЦЕВ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843713" y="3438153"/>
            <a:ext cx="173593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При средних потерях 7%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32197" y="3787415"/>
            <a:ext cx="8279606" cy="483208"/>
          </a:xfrm>
          <a:prstGeom prst="roundRect">
            <a:avLst>
              <a:gd name="adj" fmla="val 15770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92931" y="3891000"/>
            <a:ext cx="739801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ЧИСТАЯ ПРИБЫЛЬ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92931" y="4032089"/>
            <a:ext cx="5237820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следующий объект — прямой выигрыш 50–120 млн ₽. Без лицензионных платежей.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627538" y="3928951"/>
            <a:ext cx="946391" cy="200025"/>
          </a:xfrm>
          <a:prstGeom prst="roundRect">
            <a:avLst>
              <a:gd name="adj" fmla="val 14286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7650398" y="3939667"/>
            <a:ext cx="90067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 ПОДПИСКИ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428625" y="4936331"/>
            <a:ext cx="43265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4769458" y="4936331"/>
            <a:ext cx="3536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530423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6521" y="2608138"/>
            <a:ext cx="3688854" cy="0"/>
          </a:xfrm>
          <a:prstGeom prst="line">
            <a:avLst/>
          </a:prstGeom>
          <a:noFill/>
          <a:ln w="14288">
            <a:solidFill>
              <a:srgbClr val="E509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1803" y="2600995"/>
            <a:ext cx="0" cy="1081385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6521" y="3678808"/>
            <a:ext cx="3688854" cy="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0093" y="2600995"/>
            <a:ext cx="0" cy="1081385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327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" y="314325"/>
            <a:ext cx="69236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ЦЕНА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6546" y="317004"/>
            <a:ext cx="82077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8625" y="66258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ПРОЕКТА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8625" y="851892"/>
            <a:ext cx="8636000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 в </a:t>
            </a:r>
            <a:pPr algn="l" indent="0" marL="0">
              <a:lnSpc>
                <a:spcPts val="2070"/>
              </a:lnSpc>
              <a:buNone/>
            </a:pPr>
            <a:r>
              <a:rPr lang="en-US" sz="1800" b="1" spc="-32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8625" y="1186197"/>
            <a:ext cx="6572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промышленного внедрения для строительной компании. Полный комплекс работ — без скрытых платежей.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441140"/>
            <a:ext cx="4426446" cy="340109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2197" y="1444712"/>
            <a:ext cx="4419302" cy="3393951"/>
          </a:xfrm>
          <a:prstGeom prst="roundRect">
            <a:avLst>
              <a:gd name="adj" fmla="val 2806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1634021"/>
            <a:ext cx="3983534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92453" y="1789398"/>
            <a:ext cx="4898789" cy="841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277"/>
              </a:lnSpc>
              <a:buNone/>
            </a:pPr>
            <a:r>
              <a:rPr lang="en-US" sz="6975" b="1" spc="-314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pPr algn="l" indent="0" marL="0">
              <a:lnSpc>
                <a:spcPts val="6277"/>
              </a:lnSpc>
              <a:buNone/>
            </a:pPr>
            <a:r>
              <a:rPr lang="en-US" sz="1800" b="1" spc="-314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6975" dirty="0"/>
          </a:p>
        </p:txBody>
      </p:sp>
      <p:sp>
        <p:nvSpPr>
          <p:cNvPr id="21" name="Text 18"/>
          <p:cNvSpPr/>
          <p:nvPr/>
        </p:nvSpPr>
        <p:spPr>
          <a:xfrm>
            <a:off x="650081" y="2658033"/>
            <a:ext cx="4093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полный комплекс работ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0081" y="2897349"/>
            <a:ext cx="3983534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0081" y="2947355"/>
            <a:ext cx="3983534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0081" y="3117019"/>
            <a:ext cx="3983534" cy="113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локальных моделей в контуре Заказчика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Настройка 9 ИИ-агентов под специфику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Загрузка и калибровка опорной базы из истории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 + интеграция с 1С и СМР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пользователей (2–3 сессии)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месяцев гарантийного сопровождения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0081" y="4224300"/>
            <a:ext cx="3983534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0081" y="4331457"/>
            <a:ext cx="2007697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463"/>
              </a:lnSpc>
              <a:buNone/>
            </a:pPr>
            <a:r>
              <a:rPr lang="en-US" sz="800" b="1" spc="-2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1463" dirty="0"/>
          </a:p>
        </p:txBody>
      </p:sp>
      <p:sp>
        <p:nvSpPr>
          <p:cNvPr id="27" name="Text 24"/>
          <p:cNvSpPr/>
          <p:nvPr/>
        </p:nvSpPr>
        <p:spPr>
          <a:xfrm>
            <a:off x="650081" y="4552913"/>
            <a:ext cx="173906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006501" y="4331457"/>
            <a:ext cx="2007697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 ₽</a:t>
            </a:r>
            <a:endParaRPr lang="en-US" sz="1463" dirty="0"/>
          </a:p>
        </p:txBody>
      </p:sp>
      <p:sp>
        <p:nvSpPr>
          <p:cNvPr id="29" name="Text 26"/>
          <p:cNvSpPr/>
          <p:nvPr/>
        </p:nvSpPr>
        <p:spPr>
          <a:xfrm>
            <a:off x="2006501" y="4552913"/>
            <a:ext cx="173906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ЛИЦЕНЗИИ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62920" y="4331457"/>
            <a:ext cx="1270695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463"/>
              </a:lnSpc>
              <a:buNone/>
            </a:pPr>
            <a:r>
              <a:rPr lang="en-US" sz="800" b="1" spc="-29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лимитов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3362920" y="4552913"/>
            <a:ext cx="12706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30093" y="1444712"/>
            <a:ext cx="3681710" cy="1066986"/>
          </a:xfrm>
          <a:prstGeom prst="roundRect">
            <a:avLst>
              <a:gd name="adj" fmla="val 8927"/>
            </a:avLst>
          </a:prstGeom>
          <a:solidFill>
            <a:srgbClr val="1A1A1A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190827" y="1576871"/>
            <a:ext cx="336024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ОТ ПОДПИСКИ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90827" y="1746535"/>
            <a:ext cx="336024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оплата. Никаких ежемесячных платежей. Каждое обращение к локальным моделям — бесплатно.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026521" y="2600995"/>
            <a:ext cx="3688854" cy="1081385"/>
          </a:xfrm>
          <a:prstGeom prst="roundRect">
            <a:avLst>
              <a:gd name="adj" fmla="val 3523"/>
            </a:avLst>
          </a:prstGeom>
          <a:solidFill>
            <a:srgbClr val="1414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90827" y="2743870"/>
            <a:ext cx="336024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ПОТЕРЯМИ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90827" y="2913534"/>
            <a:ext cx="336024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предотвратённая переплата в смете на 4% окупает внедрение.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Средние потери на объекте — 5–12% от сметы.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030093" y="3771677"/>
            <a:ext cx="3681710" cy="1066986"/>
          </a:xfrm>
          <a:prstGeom prst="roundRect">
            <a:avLst>
              <a:gd name="adj" fmla="val 8927"/>
            </a:avLst>
          </a:prstGeom>
          <a:solidFill>
            <a:srgbClr val="050505"/>
          </a:solidFill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190827" y="3903836"/>
            <a:ext cx="336024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ЦЕНА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90827" y="4073500"/>
            <a:ext cx="336024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цена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первого промышленного внедрения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Для следующих клиентов: 34,9 млн ₽.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28625" y="4936331"/>
            <a:ext cx="41106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553583" y="4936331"/>
            <a:ext cx="37523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053" y="0"/>
            <a:ext cx="0" cy="5143500"/>
          </a:xfrm>
          <a:prstGeom prst="line">
            <a:avLst/>
          </a:prstGeom>
          <a:noFill/>
          <a:ln w="7144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71625" y="4832747"/>
            <a:ext cx="7572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571625" cy="51435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16200000">
            <a:off x="214313" y="2478881"/>
            <a:ext cx="113585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000250" y="314325"/>
            <a:ext cx="5352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 ·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66546" y="317004"/>
            <a:ext cx="820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79569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72450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65331" y="363438"/>
            <a:ext cx="157163" cy="14288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58213" y="363438"/>
            <a:ext cx="157163" cy="14288"/>
          </a:xfrm>
          <a:prstGeom prst="rect">
            <a:avLst/>
          </a:prstGeom>
          <a:solidFill>
            <a:srgbClr val="E509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00250" y="555427"/>
            <a:ext cx="67151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00250" y="719733"/>
            <a:ext cx="7143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ПРЕДПРОДАЖНАЯ ПРОВЕРКА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00250" y="923330"/>
            <a:ext cx="6443663" cy="81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F5F5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Проведём расчёт на вашем </a:t>
            </a:r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E5091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закрытом объекте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000250" y="1806253"/>
            <a:ext cx="5286375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Предоставьте сметы, КП и фактическую себестоимость. Мы вернём расчёт и список найденных отклонений в течение 5 рабочих дней.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и без обязательств.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346275"/>
            <a:ext cx="6715125" cy="72151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003822" y="2349847"/>
            <a:ext cx="6707981" cy="714375"/>
          </a:xfrm>
          <a:prstGeom prst="roundRect">
            <a:avLst>
              <a:gd name="adj" fmla="val 13333"/>
            </a:avLst>
          </a:prstGeom>
          <a:noFill/>
          <a:ln w="7144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00275" y="2517725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93131" y="2510582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36031" y="2510582"/>
            <a:ext cx="265061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536031" y="2646313"/>
            <a:ext cx="18064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NDA, приём документов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52888" y="2517725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345744" y="2510582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88644" y="2510582"/>
            <a:ext cx="244737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ДНИ 1–5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88644" y="2646313"/>
            <a:ext cx="16679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на нашей инфраструктуре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505501" y="2517725"/>
            <a:ext cx="242888" cy="242888"/>
          </a:xfrm>
          <a:prstGeom prst="ellipse">
            <a:avLst/>
          </a:prstGeom>
          <a:solidFill>
            <a:srgbClr val="0A0A0A"/>
          </a:solidFill>
          <a:ln w="14288">
            <a:solidFill>
              <a:srgbClr val="C9A96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498357" y="2510582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C9A9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41257" y="2510582"/>
            <a:ext cx="168123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41257" y="2646313"/>
            <a:ext cx="16812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4C4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Excel: расчёт, реестр отклонений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000250" y="3224957"/>
            <a:ext cx="6715125" cy="714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000250" y="336068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021324" y="33817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2314575" y="3360688"/>
            <a:ext cx="192249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314575" y="3496419"/>
            <a:ext cx="1601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+7 (495) [ЗАПОЛНИТЬ]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295738" y="336068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316812" y="33817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4610063" y="3360688"/>
            <a:ext cx="220938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10063" y="3496419"/>
            <a:ext cx="14499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[ЗАПОЛНИТЬ]@7rl.tech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591226" y="3360688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612300" y="33817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6905551" y="3360688"/>
            <a:ext cx="72544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C9A9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905551" y="3496419"/>
            <a:ext cx="580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7rl.tech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000250" y="3750022"/>
            <a:ext cx="5826175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788"/>
              </a:lnSpc>
              <a:buNone/>
            </a:pPr>
            <a:r>
              <a:rPr lang="en-US" sz="800" b="1" spc="63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840712" y="3746450"/>
            <a:ext cx="1135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v.2 · АВГУСТ 2025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571625" y="4829175"/>
            <a:ext cx="7572375" cy="314325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2000250" y="4936331"/>
            <a:ext cx="33667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E509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5F5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381253" y="4936331"/>
            <a:ext cx="29246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320236" y="4950619"/>
            <a:ext cx="3951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5F5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502625" y="493633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87970" y="4936331"/>
            <a:ext cx="138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2026-08-11T21:01:37Z</dcterms:created>
  <dcterms:modified xsi:type="dcterms:W3CDTF">2026-08-11T21:01:37Z</dcterms:modified>
</cp:coreProperties>
</file>