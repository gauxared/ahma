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Открыть: «это квинтэссенция стратегии для отдела продаж».
4 раздела: ICP, цена, воронка, возражения.
Главное — «продаём не ПО, а предотвращённые потери».
14 слайдов держат весь путь сделки.
Документ внутренний — не для внешней публикации.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Саммари стратегии в 5 принципах — заучить дословно.
Главное — позиционирование «категория из одного».
Цифры для питча использовать на каждом звонке.
Каждый принцип раскрывается отдельным разделом дальше.
Контур Заказчика — категоричный ответ на возражение про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квалификацию лида до первого звонка.
2 зелёных профиля ICP и 1 стоп-фактор.
Главное — «не тратьте время на стоп-факторы».
Квалификация — фильтр на входе в воронку.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зелёных профиля ICP + 1 стоп.
Главное — «не тратьте время на стоп».
На стопе — вежливый отказ, вернуться через 6–12 месяцев.
Квалификация лида — до первого звонка.
Вопрос команде: какие из текущих лидов подходят под ICP?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деньги.
Главное — «цена только вверх».
22,5 млн ₽ — для первого клиента (референс).
34,9 млн ₽ — базовая для следующих.
Любое отклонение от диапазона —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Цена только вверх — базовый принцип.
22,5 млн ₽ — для референса, при стратегической ценности.
34,9 млн ₽ — базовая для следующих клиентов.
29,9–32,9 млн ₽ — целевой диапазон сделок.
Любое отклонение от диапазона — согласование с руководителем продукта.
Главное — «не скидываем без стратегической ценности».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 для ЛПР — ROI 62% выше любого депозита.
«Без лицензионных платежей» — добивающий аргумент.
Подставить реальные цифры клиента в [ЗАПОЛНИТЬ].
Вопрос: «какой объём сметы на типовом объекте?» — посчитать на месте.
Калькулятор использовать в каждом питче.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Третий раздел стратегии — про процесс продаж
 • Воронка из 4 этапов: квалификация → лид-магнит → демо → внедрение
 • Средний цикл сделки 60–90 дней
 • Главное правило: без пилота (этап 2) сделка не идёт
 • Конверсия по этапам: 100% → 40% → 25% → 15%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Воронка из 4 этапов: квалификация → лид-магнит → демо → внедрение
 • Средний цикл сделки 60–90 дней
 • Конверсия по этапам: 100% → 40% → 25% → 15%
 • Главное правило: без пилота (этап 2) сделка не идёт
 • Вопрос отделу продаж: на каком этапе у вас сейчас большинство лидов?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Финальный, четвёртый раздел — про тактику продаж
 • 4 типовых возражения + готовые аргументы к каждому
 • 3 инструмента продаж (кит) — что предложить клиенту
 • Главное правило: не спорим с ЛПР, а сдвигаем его
 • Каждый ответ — отдельный аргумент, не эмоция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4 типовых возражения + готовые аргументы к каждому
 • Главное правило: не спорим, а сдвигаем ЛПР
 • На «дорого» — всегда возврат к ROI-калькулятору
 • На «свой СОД» — «мы не заменяем, а усиливаем»
 • Каждый ответ — отдельный аргумент, не эмоция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Три инструмента продаж — на разных этапах воронки
 • Главный — бесплатный пилот (этап 2), без него сделка не идёт
 • Калькулятор эффекта — для обоснования ROI на этапе 1–2
 • Технический аудит — для демонстрации ценности на этапе 3
 • Вопрос отделу продаж: какой инструмент вам сейчас нужнее всего?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4 hero-метрики + позиционирование в одной категории
 • Главное: «категория из одного» — у нас нет конкурентов
 • Не соревнуемся с G-Tech/Exon — мы в другой категории
 • Архитектура из 9 ИИ-агентов недоступна тиражным решениям
 • 0 ₽ подписки + 100% локальной обработки = уникальное предложение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Закрытие презентации и переход к действиям
 • 3-недельный план: квалификация → пилоты → демо
 • Главное: начинаем на следующей неделе
 • Контакты: телефон/почта (заполнить), Slack готов
 • Вопрос отделу продаж: сколько лидов готовы квалифицировать в понедельник?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8053" y="0"/>
            <a:ext cx="0" cy="514350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00250" y="616148"/>
            <a:ext cx="6715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2868439"/>
            <a:ext cx="6715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0250" y="3811414"/>
            <a:ext cx="6715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1625" y="4832747"/>
            <a:ext cx="7572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0"/>
            <a:ext cx="1571625" cy="51435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 rot="16200000">
            <a:off x="214313" y="2478881"/>
            <a:ext cx="113585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9" name="Text 7"/>
          <p:cNvSpPr/>
          <p:nvPr/>
        </p:nvSpPr>
        <p:spPr>
          <a:xfrm>
            <a:off x="1571625" y="0"/>
            <a:ext cx="7572375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00250" y="400050"/>
            <a:ext cx="539129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 ДОКУМЕНТ · 2025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05836" y="400050"/>
            <a:ext cx="130953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V.2 · АВГУСТ 2025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00250" y="891183"/>
            <a:ext cx="6824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ИНСТРУКЦИЯ ДЛЯ ОТДЕЛА ПРОДАЖ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00250" y="1094780"/>
            <a:ext cx="6715125" cy="962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3375" b="1" spc="-84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Продуктовая стратегия </a:t>
            </a:r>
            <a:pPr algn="l" indent="0" marL="0">
              <a:lnSpc>
                <a:spcPts val="3510"/>
              </a:lnSpc>
              <a:buNone/>
            </a:pPr>
            <a:r>
              <a:rPr lang="en-US" sz="3375" b="1" i="1" spc="-84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СтройИнтеллект</a:t>
            </a:r>
            <a:endParaRPr lang="en-US" sz="3375" dirty="0"/>
          </a:p>
        </p:txBody>
      </p:sp>
      <p:sp>
        <p:nvSpPr>
          <p:cNvPr id="14" name="Text 12"/>
          <p:cNvSpPr/>
          <p:nvPr/>
        </p:nvSpPr>
        <p:spPr>
          <a:xfrm>
            <a:off x="2000250" y="2114773"/>
            <a:ext cx="542925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Кому продаём, за сколько, как отрабатываем возражения, что предлагаем в качестве лид-магнита. Квинтэссенция стратегии в 14 слайдах.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2000250" y="2679129"/>
            <a:ext cx="685800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00250" y="3043461"/>
            <a:ext cx="260904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110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pPr algn="l" indent="0" marL="0">
              <a:lnSpc>
                <a:spcPts val="3150"/>
              </a:lnSpc>
              <a:buNone/>
            </a:pPr>
            <a:r>
              <a:rPr lang="en-US" sz="800" b="1" spc="-11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2000250" y="3529236"/>
            <a:ext cx="264687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38613" y="3043461"/>
            <a:ext cx="294126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1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300+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4438613" y="3529236"/>
            <a:ext cx="238713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ЦЕЛЕВЫХ КЛИЕНТОВ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9985" y="3043461"/>
            <a:ext cx="2212357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110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pPr algn="l" indent="0" marL="0">
              <a:lnSpc>
                <a:spcPts val="3150"/>
              </a:lnSpc>
              <a:buNone/>
            </a:pPr>
            <a:r>
              <a:rPr lang="en-US" sz="800" b="1" spc="-11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6676951" y="3529236"/>
            <a:ext cx="203842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МИНИМАЛЬНЫЙ ЧЕК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00250" y="4607719"/>
            <a:ext cx="671512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КРАСНЫХ ЛИНИЙ · ВНУТРЕННИЙ ДОКУМЕНТ · НЕ ДЛЯ ВНЕШНЕЙ ПУБЛИКАЦИИ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71625" y="4829175"/>
            <a:ext cx="7572375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00250" y="4936331"/>
            <a:ext cx="31314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5956" y="4936331"/>
            <a:ext cx="315999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СТРАТЕГИЯ ПРОДАЖ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0435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86427" y="317004"/>
            <a:ext cx="634170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РУКОВОДИТЕЛЯ ОТДЕЛА ПРОДАЖ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принципов стратегии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Квинтэссенция. Каждый принцип — отдельный раздел дальше. Держите их в голове на каждом звонке.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573299"/>
            <a:ext cx="4710075" cy="651421"/>
          </a:xfrm>
          <a:prstGeom prst="roundRect">
            <a:avLst>
              <a:gd name="adj" fmla="val 1462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8644" y="1676884"/>
            <a:ext cx="4343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78694" y="1676884"/>
            <a:ext cx="4126860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Позиционирование — категория из одного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78694" y="1855477"/>
            <a:ext cx="401713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не СОД и не ТИМ. Мы — интеллектуальный слой финансового контроля поверх них. Конкурентов в нашей категории нет.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2197" y="2303301"/>
            <a:ext cx="4710075" cy="651421"/>
          </a:xfrm>
          <a:prstGeom prst="roundRect">
            <a:avLst>
              <a:gd name="adj" fmla="val 1462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644" y="2406886"/>
            <a:ext cx="4343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78694" y="2406886"/>
            <a:ext cx="4126860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Продаём предотвращённые потери, не ПО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78694" y="2585479"/>
            <a:ext cx="401713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22,5 млн ₽ — это 2–3% от предотвращённых потерь на одном объекте. Калькулятор ROI — главный инструмент.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2197" y="3033303"/>
            <a:ext cx="4710075" cy="651421"/>
          </a:xfrm>
          <a:prstGeom prst="roundRect">
            <a:avLst>
              <a:gd name="adj" fmla="val 1462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8644" y="3136888"/>
            <a:ext cx="4343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978694" y="3136888"/>
            <a:ext cx="4126860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 — бесплатный пилот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78694" y="3315481"/>
            <a:ext cx="401713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закрытых объекта клиента. Доказательство точности ±3-5% на его данных. Без пилота сделка не идёт.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2197" y="3763305"/>
            <a:ext cx="4710075" cy="651421"/>
          </a:xfrm>
          <a:prstGeom prst="roundRect">
            <a:avLst>
              <a:gd name="adj" fmla="val 1462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8644" y="3866890"/>
            <a:ext cx="4343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78694" y="3866890"/>
            <a:ext cx="4126860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Контур Заказчика — не подлежит обсуждению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78694" y="4045483"/>
            <a:ext cx="401713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100% локальная обработка. Это не feature, это категоричный ответ на возражение про данные.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2197" y="4493307"/>
            <a:ext cx="4710075" cy="651421"/>
          </a:xfrm>
          <a:prstGeom prst="roundRect">
            <a:avLst>
              <a:gd name="adj" fmla="val 14622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8644" y="4596892"/>
            <a:ext cx="4343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6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978694" y="4596892"/>
            <a:ext cx="4017132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— только вверх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78694" y="4775485"/>
            <a:ext cx="401713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 — для первого клиента (референс). Для следующих — 34,9 млн ₽. Любое отклонение от диапазона — согласование с руководителем продукта.</a:t>
            </a:r>
            <a:endParaRPr lang="en-US" sz="8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5869" y="1569727"/>
            <a:ext cx="3369394" cy="35785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349441" y="1573299"/>
            <a:ext cx="3362251" cy="3571429"/>
          </a:xfrm>
          <a:prstGeom prst="roundRect">
            <a:avLst>
              <a:gd name="adj" fmla="val 2833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524463" y="1734034"/>
            <a:ext cx="3012207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ДЛЯ ПИТЧА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24463" y="1903698"/>
            <a:ext cx="301220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говорить клиенту</a:t>
            </a:r>
            <a:endParaRPr lang="en-US" sz="1013" dirty="0"/>
          </a:p>
        </p:txBody>
      </p:sp>
      <p:sp>
        <p:nvSpPr>
          <p:cNvPr id="37" name="Text 34"/>
          <p:cNvSpPr/>
          <p:nvPr/>
        </p:nvSpPr>
        <p:spPr>
          <a:xfrm>
            <a:off x="5524463" y="2196592"/>
            <a:ext cx="400050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524463" y="2310892"/>
            <a:ext cx="2278059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5–12%</a:t>
            </a:r>
            <a:endParaRPr lang="en-US" sz="1575" dirty="0"/>
          </a:p>
        </p:txBody>
      </p:sp>
      <p:sp>
        <p:nvSpPr>
          <p:cNvPr id="39" name="Text 36"/>
          <p:cNvSpPr/>
          <p:nvPr/>
        </p:nvSpPr>
        <p:spPr>
          <a:xfrm>
            <a:off x="5524463" y="2560923"/>
            <a:ext cx="1831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НА ОБЪЕКТЕ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094860" y="2310892"/>
            <a:ext cx="144181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1575" dirty="0"/>
          </a:p>
        </p:txBody>
      </p:sp>
      <p:sp>
        <p:nvSpPr>
          <p:cNvPr id="41" name="Text 38"/>
          <p:cNvSpPr/>
          <p:nvPr/>
        </p:nvSpPr>
        <p:spPr>
          <a:xfrm>
            <a:off x="7094860" y="2560923"/>
            <a:ext cx="1441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БАЗЕ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24463" y="2782379"/>
            <a:ext cx="230689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575" dirty="0"/>
          </a:p>
        </p:txBody>
      </p:sp>
      <p:sp>
        <p:nvSpPr>
          <p:cNvPr id="43" name="Text 40"/>
          <p:cNvSpPr/>
          <p:nvPr/>
        </p:nvSpPr>
        <p:spPr>
          <a:xfrm>
            <a:off x="5524463" y="3032410"/>
            <a:ext cx="1831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ИИ-АГЕНТОВ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094860" y="2782379"/>
            <a:ext cx="144181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1575" dirty="0"/>
          </a:p>
        </p:txBody>
      </p:sp>
      <p:sp>
        <p:nvSpPr>
          <p:cNvPr id="45" name="Text 42"/>
          <p:cNvSpPr/>
          <p:nvPr/>
        </p:nvSpPr>
        <p:spPr>
          <a:xfrm>
            <a:off x="7094860" y="3032410"/>
            <a:ext cx="1441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524463" y="3253867"/>
            <a:ext cx="1845516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15 мин</a:t>
            </a:r>
            <a:endParaRPr lang="en-US" sz="1575" dirty="0"/>
          </a:p>
        </p:txBody>
      </p:sp>
      <p:sp>
        <p:nvSpPr>
          <p:cNvPr id="47" name="Text 44"/>
          <p:cNvSpPr/>
          <p:nvPr/>
        </p:nvSpPr>
        <p:spPr>
          <a:xfrm>
            <a:off x="5524463" y="3503898"/>
            <a:ext cx="23068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КП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094860" y="3253867"/>
            <a:ext cx="144181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575" dirty="0"/>
          </a:p>
        </p:txBody>
      </p:sp>
      <p:sp>
        <p:nvSpPr>
          <p:cNvPr id="49" name="Text 46"/>
          <p:cNvSpPr/>
          <p:nvPr/>
        </p:nvSpPr>
        <p:spPr>
          <a:xfrm>
            <a:off x="7094860" y="3503898"/>
            <a:ext cx="1441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ЛОКАЛЬНО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24463" y="3711067"/>
            <a:ext cx="3012207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524463" y="3803935"/>
            <a:ext cx="30122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Используйте эти цифры в каждом питче. Они — основа доверия.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28625" y="4936331"/>
            <a:ext cx="39093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352218" y="4936331"/>
            <a:ext cx="39537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7238" y="571500"/>
            <a:ext cx="249238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i="1" spc="371" kern="0" dirty="0">
                <a:solidFill>
                  <a:srgbClr val="55555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 КРАСНЫХ ЛИНИЙ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клиента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Кому продаём. 2 зелёных профиля ICP и 1 стоп. Квалификация лида — до первого звонка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14375" y="4597003"/>
            <a:ext cx="39014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30155" y="4597003"/>
            <a:ext cx="27184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СТРАТЕГИЯ ПРОДАЖ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/ 14 · РАЗДЕЛ 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6469" y="1951918"/>
            <a:ext cx="2671763" cy="0"/>
          </a:xfrm>
          <a:prstGeom prst="line">
            <a:avLst/>
          </a:prstGeom>
          <a:noFill/>
          <a:ln w="7144">
            <a:solidFill>
              <a:srgbClr val="E509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314325"/>
            <a:ext cx="70435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ICP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86427" y="317004"/>
            <a:ext cx="634170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 ЛИДА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Кому продаём — профили ICP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зелёных профиля и 1 стоп. Квалификация лида — до первого звонка. Не тратьте время на стоп-факторы.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219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769" y="1576871"/>
            <a:ext cx="2671763" cy="371475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4356" y="1662596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143" y="166938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5091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835819" y="1692957"/>
            <a:ext cx="2143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КРУПНЫЙ ДЕВЕЛОПЕР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4356" y="2062646"/>
            <a:ext cx="25431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9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 ICP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4356" y="2221595"/>
            <a:ext cx="2414588" cy="77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Несколько параллельных объектов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Своя служба техзаказчика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одной ошибки &gt; цены внедрения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История данных 3+ объекта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356" y="3035982"/>
            <a:ext cx="241458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4356" y="3114563"/>
            <a:ext cx="25431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ЧЕК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4356" y="3273512"/>
            <a:ext cx="253531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29,9–34,9</a:t>
            </a:r>
            <a:pPr algn="l" indent="0" marL="0">
              <a:lnSpc>
                <a:spcPts val="1575"/>
              </a:lnSpc>
              <a:buNone/>
            </a:pPr>
            <a:r>
              <a:rPr lang="en-US" sz="800" b="1" spc="-3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64356" y="3502112"/>
            <a:ext cx="2543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ДИАПАЗОН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1496" y="4403265"/>
            <a:ext cx="1322777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4356" y="4414838"/>
            <a:ext cx="127705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ВЫСОКИЙ ПРИОРИТЕТ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3254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36119" y="1576871"/>
            <a:ext cx="2671763" cy="371475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64706" y="1662596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71493" y="166938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5091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636169" y="1692957"/>
            <a:ext cx="2143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КОРПОРАТИВНЫЙ ЗАКАЗЧИК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64706" y="2062646"/>
            <a:ext cx="25431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9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 ICP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4706" y="2221595"/>
            <a:ext cx="2414588" cy="77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Капитальное строительство для себя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Нужен контроль подрядчиков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1С и исторические данные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на внедрение согласуем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4706" y="3035982"/>
            <a:ext cx="241458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64706" y="3114563"/>
            <a:ext cx="25431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9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ЧЕК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64706" y="3273512"/>
            <a:ext cx="253531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22,5–29,9</a:t>
            </a:r>
            <a:pPr algn="l" indent="0" marL="0">
              <a:lnSpc>
                <a:spcPts val="1575"/>
              </a:lnSpc>
              <a:buNone/>
            </a:pPr>
            <a:r>
              <a:rPr lang="en-US" sz="800" b="1" spc="-3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3364706" y="3502112"/>
            <a:ext cx="2543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ДИАПАЗОН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41846" y="4403265"/>
            <a:ext cx="1299783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64706" y="4414838"/>
            <a:ext cx="1254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 ПРИОРИТЕТ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289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050505"/>
          </a:solidFill>
          <a:ln w="7144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36469" y="1576871"/>
            <a:ext cx="2671763" cy="378619"/>
          </a:xfrm>
          <a:prstGeom prst="rect">
            <a:avLst/>
          </a:prstGeom>
          <a:solidFill>
            <a:srgbClr val="E5091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65056" y="1662596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171843" y="166938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6436519" y="1692957"/>
            <a:ext cx="2143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СТОП-ФАКТОРЫ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65056" y="2069790"/>
            <a:ext cx="254317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9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ПРОДАЁМ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65056" y="2243026"/>
            <a:ext cx="253531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отказываем</a:t>
            </a:r>
            <a:endParaRPr lang="en-US" sz="1013" dirty="0"/>
          </a:p>
        </p:txBody>
      </p:sp>
      <p:sp>
        <p:nvSpPr>
          <p:cNvPr id="47" name="Text 45"/>
          <p:cNvSpPr/>
          <p:nvPr/>
        </p:nvSpPr>
        <p:spPr>
          <a:xfrm>
            <a:off x="6165056" y="2507345"/>
            <a:ext cx="2414588" cy="918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небольшой объект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Отсутствие истории данных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Ожидание полной замены техзаказчика программой</a:t>
            </a:r>
            <a:endParaRPr lang="en-US" sz="800" dirty="0"/>
          </a:p>
          <a:p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5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&lt; 20 млн ₽ на ИТ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65056" y="3455677"/>
            <a:ext cx="241458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65056" y="3534259"/>
            <a:ext cx="25431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9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ДЕЙСТВИЕ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65056" y="3693207"/>
            <a:ext cx="2414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Вежливый отказ. Предложить вернуться через 6–12 месяцев.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45813" y="4418409"/>
            <a:ext cx="519574" cy="200025"/>
          </a:xfrm>
          <a:prstGeom prst="roundRect">
            <a:avLst>
              <a:gd name="adj" fmla="val 14286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65056" y="4429125"/>
            <a:ext cx="4810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28625" y="4936331"/>
            <a:ext cx="43329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75820" y="4936331"/>
            <a:ext cx="35301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7238" y="571500"/>
            <a:ext cx="249238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i="1" spc="371" kern="0" dirty="0">
                <a:solidFill>
                  <a:srgbClr val="55555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 КРАСНЫХ ЛИНИЙ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Ценовая стратегия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22,5 млн ₽ — для первого клиента. 34,9 млн ₽ — для следующих. Целевой диапазон — 29,9–32,9 млн ₽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14375" y="4597003"/>
            <a:ext cx="39014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30155" y="4597003"/>
            <a:ext cx="27184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СТРАТЕГИЯ ПРОДАЖ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/ 14 · РАЗДЕЛ 02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0941" y="2767199"/>
            <a:ext cx="3864434" cy="0"/>
          </a:xfrm>
          <a:prstGeom prst="line">
            <a:avLst/>
          </a:prstGeom>
          <a:noFill/>
          <a:ln w="14288">
            <a:solidFill>
              <a:srgbClr val="E509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1803" y="2760055"/>
            <a:ext cx="0" cy="1111858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50941" y="3868341"/>
            <a:ext cx="3864434" cy="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54513" y="2760055"/>
            <a:ext cx="0" cy="1111858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25" y="314325"/>
            <a:ext cx="70435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ЦЕНА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86427" y="317004"/>
            <a:ext cx="634170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ЦЕНОВАЯ ПОЛИТИКА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Текущая цена — первая промышленная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 — только вверх. Любое отклонение от целевого диапазона — согласование с руководителем продукта.</a:t>
            </a:r>
            <a:endParaRPr lang="en-US" sz="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569727"/>
            <a:ext cx="4250866" cy="34926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2197" y="1573299"/>
            <a:ext cx="4243722" cy="3485480"/>
          </a:xfrm>
          <a:prstGeom prst="roundRect">
            <a:avLst>
              <a:gd name="adj" fmla="val 2733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0081" y="1762609"/>
            <a:ext cx="3917682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ТЕКУЩАЯ ЦЕНА ПЕРВОГО ВНЕДРЕНИЯ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2689" y="1946560"/>
            <a:ext cx="4582738" cy="82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3"/>
              </a:lnSpc>
              <a:buNone/>
            </a:pPr>
            <a:r>
              <a:rPr lang="en-US" sz="6525" b="1" spc="-29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pPr algn="l" indent="0" marL="0">
              <a:lnSpc>
                <a:spcPts val="6003"/>
              </a:lnSpc>
              <a:buNone/>
            </a:pPr>
            <a:r>
              <a:rPr lang="en-US" sz="1913" b="1" spc="-29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6525" dirty="0"/>
          </a:p>
        </p:txBody>
      </p:sp>
      <p:sp>
        <p:nvSpPr>
          <p:cNvPr id="21" name="Text 18"/>
          <p:cNvSpPr/>
          <p:nvPr/>
        </p:nvSpPr>
        <p:spPr>
          <a:xfrm>
            <a:off x="650081" y="2766082"/>
            <a:ext cx="3807954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 · только при стратегической ценности клиента для отраслевого референса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0081" y="3178187"/>
            <a:ext cx="3807954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0081" y="3299631"/>
            <a:ext cx="3807954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СЛЕДУЮЩИХ КЛИЕНТОВ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2250" y="3469295"/>
            <a:ext cx="109863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813" b="1" spc="-70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2813" dirty="0"/>
          </a:p>
        </p:txBody>
      </p:sp>
      <p:sp>
        <p:nvSpPr>
          <p:cNvPr id="25" name="Text 22"/>
          <p:cNvSpPr/>
          <p:nvPr/>
        </p:nvSpPr>
        <p:spPr>
          <a:xfrm>
            <a:off x="1325166" y="3612170"/>
            <a:ext cx="313286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650081" y="3883633"/>
            <a:ext cx="39176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с НДС для всех остальных клиентов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0081" y="4155095"/>
            <a:ext cx="3807954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0081" y="4276539"/>
            <a:ext cx="3807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ДИАПАЗОН СДЕЛОК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884164" y="4474778"/>
            <a:ext cx="25738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ДИАПАЗОН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0081" y="4619439"/>
            <a:ext cx="3807954" cy="85725"/>
          </a:xfrm>
          <a:prstGeom prst="roundRect">
            <a:avLst>
              <a:gd name="adj" fmla="val 6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986" y="4619439"/>
            <a:ext cx="2170472" cy="8572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50081" y="4762314"/>
            <a:ext cx="10153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094244" y="4762314"/>
            <a:ext cx="101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728921" y="4762314"/>
            <a:ext cx="101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363599" y="4762314"/>
            <a:ext cx="101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32,9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998277" y="4762314"/>
            <a:ext cx="101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3442551" y="4762314"/>
            <a:ext cx="101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40+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854513" y="1573299"/>
            <a:ext cx="3857290" cy="1097459"/>
          </a:xfrm>
          <a:prstGeom prst="roundRect">
            <a:avLst>
              <a:gd name="adj" fmla="val 8679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683090" y="1705459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689876" y="171224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41" name="Text 37"/>
          <p:cNvSpPr/>
          <p:nvPr/>
        </p:nvSpPr>
        <p:spPr>
          <a:xfrm>
            <a:off x="6225851" y="2034071"/>
            <a:ext cx="142222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pPr algn="l" indent="0" marL="0">
              <a:lnSpc>
                <a:spcPts val="2025"/>
              </a:lnSpc>
              <a:buNone/>
            </a:pPr>
            <a:r>
              <a:rPr lang="en-US" sz="800" b="1" spc="-4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2025" dirty="0"/>
          </a:p>
        </p:txBody>
      </p:sp>
      <p:sp>
        <p:nvSpPr>
          <p:cNvPr id="42" name="Text 38"/>
          <p:cNvSpPr/>
          <p:nvPr/>
        </p:nvSpPr>
        <p:spPr>
          <a:xfrm>
            <a:off x="6233592" y="2355540"/>
            <a:ext cx="13962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С НДС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850941" y="2760055"/>
            <a:ext cx="3864434" cy="1111858"/>
          </a:xfrm>
          <a:prstGeom prst="roundRect">
            <a:avLst>
              <a:gd name="adj" fmla="val 3427"/>
            </a:avLst>
          </a:prstGeom>
          <a:solidFill>
            <a:srgbClr val="1414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6683090" y="2902930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6689876" y="29097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46" name="Text 42"/>
          <p:cNvSpPr/>
          <p:nvPr/>
        </p:nvSpPr>
        <p:spPr>
          <a:xfrm>
            <a:off x="5874060" y="3231542"/>
            <a:ext cx="232714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</a:t>
            </a:r>
            <a:pPr algn="l" indent="0" marL="0">
              <a:lnSpc>
                <a:spcPts val="2025"/>
              </a:lnSpc>
              <a:buNone/>
            </a:pPr>
            <a:r>
              <a:rPr lang="en-US" sz="800" b="1" spc="-40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2025" dirty="0"/>
          </a:p>
        </p:txBody>
      </p:sp>
      <p:sp>
        <p:nvSpPr>
          <p:cNvPr id="47" name="Text 43"/>
          <p:cNvSpPr/>
          <p:nvPr/>
        </p:nvSpPr>
        <p:spPr>
          <a:xfrm>
            <a:off x="5874060" y="3553011"/>
            <a:ext cx="20194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МИНИМАЛЬНАЯ ЦЕЛЬ ПЕРЕГОВОРОВ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854513" y="3961209"/>
            <a:ext cx="3857290" cy="1097570"/>
          </a:xfrm>
          <a:prstGeom prst="roundRect">
            <a:avLst>
              <a:gd name="adj" fmla="val 8678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5015247" y="4409926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5022034" y="441671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51" name="Text 47"/>
          <p:cNvSpPr/>
          <p:nvPr/>
        </p:nvSpPr>
        <p:spPr>
          <a:xfrm>
            <a:off x="5343860" y="4295626"/>
            <a:ext cx="186580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45+</a:t>
            </a:r>
            <a:pPr algn="l" indent="0" marL="0">
              <a:lnSpc>
                <a:spcPts val="2025"/>
              </a:lnSpc>
              <a:buNone/>
            </a:pPr>
            <a:r>
              <a:rPr lang="en-US" sz="800" b="1" spc="-4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2025" dirty="0"/>
          </a:p>
        </p:txBody>
      </p:sp>
      <p:sp>
        <p:nvSpPr>
          <p:cNvPr id="52" name="Text 48"/>
          <p:cNvSpPr/>
          <p:nvPr/>
        </p:nvSpPr>
        <p:spPr>
          <a:xfrm>
            <a:off x="5343860" y="4617095"/>
            <a:ext cx="17469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ЗРЕЛОЙ ВЕРСИИ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28625" y="4936331"/>
            <a:ext cx="42818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4724809" y="4936331"/>
            <a:ext cx="35811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0435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ROI КЛИЕНТА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86427" y="317004"/>
            <a:ext cx="634170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АРГУМЕНТ ДЛЯ ЛПР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 22,5 млн ₽ — возврат на первом объекте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главный аргумент для ЛПР. Используйте калькулятор в каждом питче. Цифры ниже — иллюстрация на типовом объекте 1 млрд ₽.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728229"/>
            <a:ext cx="8279606" cy="1073237"/>
          </a:xfrm>
          <a:prstGeom prst="roundRect">
            <a:avLst>
              <a:gd name="adj" fmla="val 8875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39269" y="1846101"/>
            <a:ext cx="31997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ИЛЛЮСТРАТИВНЫЙ РАСЧЁТ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39269" y="2001478"/>
            <a:ext cx="244669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Типовой объект 1 млрд ₽, средние потери 7%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26259" y="2314240"/>
            <a:ext cx="818406" cy="357857"/>
          </a:xfrm>
          <a:prstGeom prst="roundRect">
            <a:avLst>
              <a:gd name="adj" fmla="val 15970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29843" y="2374962"/>
            <a:ext cx="61123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8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00528" y="2485690"/>
            <a:ext cx="66986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spc="-18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22,5 млн 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9674" y="2386013"/>
            <a:ext cx="19163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014453" y="2314240"/>
            <a:ext cx="1205843" cy="357857"/>
          </a:xfrm>
          <a:prstGeom prst="roundRect">
            <a:avLst>
              <a:gd name="adj" fmla="val 15970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18037" y="2374962"/>
            <a:ext cx="99867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8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 1-Й ОБЪЕКТ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8037" y="2485690"/>
            <a:ext cx="99867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spc="-18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70 млн ₽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95305" y="2386013"/>
            <a:ext cx="19163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1125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512" y="2302855"/>
            <a:ext cx="734690" cy="3807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90083" y="2306427"/>
            <a:ext cx="727546" cy="373596"/>
          </a:xfrm>
          <a:prstGeom prst="roundRect">
            <a:avLst>
              <a:gd name="adj" fmla="val 15297"/>
            </a:avLst>
          </a:prstGeom>
          <a:noFill/>
          <a:ln w="7144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593668" y="2367149"/>
            <a:ext cx="5203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spc="8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12 МЕС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593668" y="2477877"/>
            <a:ext cx="520378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2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1013" dirty="0"/>
          </a:p>
        </p:txBody>
      </p:sp>
      <p:sp>
        <p:nvSpPr>
          <p:cNvPr id="28" name="Text 25"/>
          <p:cNvSpPr/>
          <p:nvPr/>
        </p:nvSpPr>
        <p:spPr>
          <a:xfrm>
            <a:off x="432197" y="2908622"/>
            <a:ext cx="1989534" cy="1230846"/>
          </a:xfrm>
          <a:prstGeom prst="roundRect">
            <a:avLst>
              <a:gd name="adj" fmla="val 7739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64356" y="302649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71143" y="303328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31" name="Text 28"/>
          <p:cNvSpPr/>
          <p:nvPr/>
        </p:nvSpPr>
        <p:spPr>
          <a:xfrm>
            <a:off x="835819" y="3075608"/>
            <a:ext cx="1453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8354" y="3372631"/>
            <a:ext cx="79101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2025" dirty="0"/>
          </a:p>
        </p:txBody>
      </p:sp>
      <p:sp>
        <p:nvSpPr>
          <p:cNvPr id="33" name="Text 30"/>
          <p:cNvSpPr/>
          <p:nvPr/>
        </p:nvSpPr>
        <p:spPr>
          <a:xfrm>
            <a:off x="1031602" y="3494075"/>
            <a:ext cx="1257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64356" y="3775918"/>
            <a:ext cx="172521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64356" y="3911650"/>
            <a:ext cx="1725216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 НДС, единоразово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528888" y="2908622"/>
            <a:ext cx="1989534" cy="1230846"/>
          </a:xfrm>
          <a:prstGeom prst="roundRect">
            <a:avLst>
              <a:gd name="adj" fmla="val 7739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661047" y="302649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667833" y="303328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2932509" y="3075608"/>
            <a:ext cx="1453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623363" y="3372631"/>
            <a:ext cx="46631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</a:t>
            </a:r>
            <a:endParaRPr lang="en-US" sz="2025" dirty="0"/>
          </a:p>
        </p:txBody>
      </p:sp>
      <p:sp>
        <p:nvSpPr>
          <p:cNvPr id="41" name="Text 38"/>
          <p:cNvSpPr/>
          <p:nvPr/>
        </p:nvSpPr>
        <p:spPr>
          <a:xfrm>
            <a:off x="2948248" y="3494075"/>
            <a:ext cx="14380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661047" y="3775918"/>
            <a:ext cx="172521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ПРЕДОТВРАЩЁННЫЕ ПОТЕРИ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661047" y="3911650"/>
            <a:ext cx="1725216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7% от 1 млрд ₽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625578" y="2908622"/>
            <a:ext cx="1989534" cy="1230846"/>
          </a:xfrm>
          <a:prstGeom prst="roundRect">
            <a:avLst>
              <a:gd name="adj" fmla="val 7739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4757738" y="302649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764524" y="303328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47" name="Text 44"/>
          <p:cNvSpPr/>
          <p:nvPr/>
        </p:nvSpPr>
        <p:spPr>
          <a:xfrm>
            <a:off x="5029200" y="3075608"/>
            <a:ext cx="1453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ЧИСТЫЙ ВЫИГРЫШ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701735" y="3372631"/>
            <a:ext cx="79101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47,5</a:t>
            </a:r>
            <a:endParaRPr lang="en-US" sz="2025" dirty="0"/>
          </a:p>
        </p:txBody>
      </p:sp>
      <p:sp>
        <p:nvSpPr>
          <p:cNvPr id="49" name="Text 46"/>
          <p:cNvSpPr/>
          <p:nvPr/>
        </p:nvSpPr>
        <p:spPr>
          <a:xfrm>
            <a:off x="5224983" y="3494075"/>
            <a:ext cx="1257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757738" y="3775918"/>
            <a:ext cx="172521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1-Й ОБЪЕКТ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757738" y="3911650"/>
            <a:ext cx="1725216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70 − 22,5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722269" y="2908622"/>
            <a:ext cx="1989534" cy="1230846"/>
          </a:xfrm>
          <a:prstGeom prst="roundRect">
            <a:avLst>
              <a:gd name="adj" fmla="val 7739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854428" y="302649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861215" y="303328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5" name="Text 52"/>
          <p:cNvSpPr/>
          <p:nvPr/>
        </p:nvSpPr>
        <p:spPr>
          <a:xfrm>
            <a:off x="7125891" y="3075608"/>
            <a:ext cx="1453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854428" y="3372631"/>
            <a:ext cx="172521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2025" dirty="0"/>
          </a:p>
        </p:txBody>
      </p:sp>
      <p:sp>
        <p:nvSpPr>
          <p:cNvPr id="57" name="Text 54"/>
          <p:cNvSpPr/>
          <p:nvPr/>
        </p:nvSpPr>
        <p:spPr>
          <a:xfrm>
            <a:off x="6854428" y="3775918"/>
            <a:ext cx="172521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12 МЕСЯЦЕВ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854428" y="3911650"/>
            <a:ext cx="1725216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Выше любого депозита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432197" y="4246625"/>
            <a:ext cx="8279606" cy="493254"/>
          </a:xfrm>
          <a:prstGeom prst="roundRect">
            <a:avLst>
              <a:gd name="adj" fmla="val 19311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92931" y="4350209"/>
            <a:ext cx="7672018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 — ЧИСТАЯ ПРИБЫЛЬ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592931" y="4491298"/>
            <a:ext cx="5431817" cy="1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следующий объект — прямой выигрыш 50–120 млн ₽.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лицензионных платежей.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627538" y="4393183"/>
            <a:ext cx="946391" cy="200025"/>
          </a:xfrm>
          <a:prstGeom prst="roundRect">
            <a:avLst>
              <a:gd name="adj" fmla="val 14286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7650398" y="4403899"/>
            <a:ext cx="90067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ПОДПИСКИ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428625" y="4936331"/>
            <a:ext cx="40891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4532040" y="4936331"/>
            <a:ext cx="377390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КЛИЕНТА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90293" y="-285750"/>
            <a:ext cx="7253707" cy="367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75"/>
              </a:lnSpc>
              <a:buNone/>
            </a:pPr>
            <a:r>
              <a:rPr lang="en-US" sz="31500" b="1" spc="-1890" kern="0" dirty="0">
                <a:solidFill>
                  <a:srgbClr val="E50914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714375" y="1298042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714375" y="2898242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3091123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 продаж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714375" y="3625453"/>
            <a:ext cx="514350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 этапа от квалификации до внедрения. Средний цикл сделки — 60–90 дней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14375" y="4597003"/>
            <a:ext cx="39014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30155" y="4597003"/>
            <a:ext cx="27184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СТРАТЕГИЯ ПРОДАЖ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 / 14 · РАЗДЕЛ 03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8625" y="2387687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625" y="3209218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8625" y="4030749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25" y="314325"/>
            <a:ext cx="75366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ВОРОНКА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 продаж — 4 этапа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квалификации до внедрения. Средний цикл — 60–90 дней. Без пилота сделка не идёт.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788" y="1669740"/>
            <a:ext cx="21431" cy="297369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0150" y="1740843"/>
            <a:ext cx="5072427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КВАЛИФИКАЦИЯ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00150" y="1889075"/>
            <a:ext cx="4209000" cy="162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200150" y="2079054"/>
            <a:ext cx="3591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ICP. Наличие 3+ объектов, истории, бюджета. Согласование ЛПР.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89302" y="1658167"/>
            <a:ext cx="748933" cy="216027"/>
          </a:xfrm>
          <a:prstGeom prst="roundRect">
            <a:avLst>
              <a:gd name="adj" fmla="val 1322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12162" y="1669740"/>
            <a:ext cx="703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 ДНЕЙ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35738" y="1926915"/>
            <a:ext cx="829925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7506407" y="2176946"/>
            <a:ext cx="55685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34277" y="1926915"/>
            <a:ext cx="687000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40%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8132378" y="2176946"/>
            <a:ext cx="5829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ПИЛОТА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00150" y="2562374"/>
            <a:ext cx="5242695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2 · ЛИД-МАГНИТ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00150" y="2710607"/>
            <a:ext cx="4350286" cy="162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1200150" y="2900586"/>
            <a:ext cx="371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Предложение бесплатного расчёта 1–2 закрытых объектов. Подписание NDA.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9019" y="2479698"/>
            <a:ext cx="689216" cy="216027"/>
          </a:xfrm>
          <a:prstGeom prst="roundRect">
            <a:avLst>
              <a:gd name="adj" fmla="val 1322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71879" y="2491271"/>
            <a:ext cx="6434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1–5 ДНЕЙ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38653" y="2748446"/>
            <a:ext cx="66526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7271445" y="2998477"/>
            <a:ext cx="8036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ПИЛОТА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34277" y="2748446"/>
            <a:ext cx="687000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25%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8251813" y="2998477"/>
            <a:ext cx="4635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ДЕМО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00150" y="3383905"/>
            <a:ext cx="4870154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3 · ДЕМОНСТРАЦИЯ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00150" y="3532138"/>
            <a:ext cx="4041158" cy="162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Демонстрация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1200150" y="3722117"/>
            <a:ext cx="3448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расчёта системы с фактом. Доказательство точности ±3-5%.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89302" y="3301230"/>
            <a:ext cx="748933" cy="216027"/>
          </a:xfrm>
          <a:prstGeom prst="roundRect">
            <a:avLst>
              <a:gd name="adj" fmla="val 1322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012162" y="3312802"/>
            <a:ext cx="703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 ДНЕЙ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38653" y="3569977"/>
            <a:ext cx="66526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1688" dirty="0"/>
          </a:p>
        </p:txBody>
      </p:sp>
      <p:sp>
        <p:nvSpPr>
          <p:cNvPr id="40" name="Text 38"/>
          <p:cNvSpPr/>
          <p:nvPr/>
        </p:nvSpPr>
        <p:spPr>
          <a:xfrm>
            <a:off x="7390879" y="3820009"/>
            <a:ext cx="6389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ДЕМО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34277" y="3569977"/>
            <a:ext cx="687000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15%</a:t>
            </a:r>
            <a:endParaRPr lang="en-US" sz="1688" dirty="0"/>
          </a:p>
        </p:txBody>
      </p:sp>
      <p:sp>
        <p:nvSpPr>
          <p:cNvPr id="42" name="Text 40"/>
          <p:cNvSpPr/>
          <p:nvPr/>
        </p:nvSpPr>
        <p:spPr>
          <a:xfrm>
            <a:off x="8397925" y="3820009"/>
            <a:ext cx="317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КП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200150" y="4205436"/>
            <a:ext cx="5231659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4 · ВНЕДРЕНИЕ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00150" y="4353669"/>
            <a:ext cx="4741164" cy="162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Внедрение</a:t>
            </a:r>
            <a:endParaRPr lang="en-US" sz="1013" dirty="0"/>
          </a:p>
        </p:txBody>
      </p:sp>
      <p:sp>
        <p:nvSpPr>
          <p:cNvPr id="45" name="Text 43"/>
          <p:cNvSpPr/>
          <p:nvPr/>
        </p:nvSpPr>
        <p:spPr>
          <a:xfrm>
            <a:off x="1200150" y="4543648"/>
            <a:ext cx="3704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 на 22,5–34,9 млн ₽. Договор, развёртывание в контуре клиента, обучение.</a:t>
            </a:r>
            <a:endParaRPr lang="en-US" sz="703" dirty="0"/>
          </a:p>
        </p:txBody>
      </p:sp>
      <p:sp>
        <p:nvSpPr>
          <p:cNvPr id="46" name="Text 44"/>
          <p:cNvSpPr/>
          <p:nvPr/>
        </p:nvSpPr>
        <p:spPr>
          <a:xfrm>
            <a:off x="7929585" y="4122761"/>
            <a:ext cx="808650" cy="216027"/>
          </a:xfrm>
          <a:prstGeom prst="roundRect">
            <a:avLst>
              <a:gd name="adj" fmla="val 1322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952445" y="4134334"/>
            <a:ext cx="76293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45–75 ДНЕЙ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412199" y="4391509"/>
            <a:ext cx="66526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7246330" y="4641540"/>
            <a:ext cx="801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СДЕЛКИ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13725" y="4391509"/>
            <a:ext cx="89811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→ СДЕЛКА</a:t>
            </a:r>
            <a:endParaRPr lang="en-US" sz="1013" dirty="0"/>
          </a:p>
        </p:txBody>
      </p:sp>
      <p:sp>
        <p:nvSpPr>
          <p:cNvPr id="51" name="Text 49"/>
          <p:cNvSpPr/>
          <p:nvPr/>
        </p:nvSpPr>
        <p:spPr>
          <a:xfrm>
            <a:off x="8360308" y="4555815"/>
            <a:ext cx="5681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ФИНАЛ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35769" y="1812615"/>
            <a:ext cx="328613" cy="328613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8625" y="180547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54" name="Text 52"/>
          <p:cNvSpPr/>
          <p:nvPr/>
        </p:nvSpPr>
        <p:spPr>
          <a:xfrm>
            <a:off x="435769" y="2634146"/>
            <a:ext cx="328613" cy="328613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28625" y="26270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435769" y="3455677"/>
            <a:ext cx="328613" cy="328613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28625" y="3448534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58" name="Text 56"/>
          <p:cNvSpPr/>
          <p:nvPr/>
        </p:nvSpPr>
        <p:spPr>
          <a:xfrm>
            <a:off x="435769" y="4277209"/>
            <a:ext cx="328613" cy="328613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28625" y="427006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  <p:sp>
        <p:nvSpPr>
          <p:cNvPr id="60" name="Text 58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28625" y="4936331"/>
            <a:ext cx="41853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628257" y="4936331"/>
            <a:ext cx="36776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90293" y="-285750"/>
            <a:ext cx="7253707" cy="367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75"/>
              </a:lnSpc>
              <a:buNone/>
            </a:pPr>
            <a:r>
              <a:rPr lang="en-US" sz="31500" b="1" spc="-1890" kern="0" dirty="0">
                <a:solidFill>
                  <a:srgbClr val="E50914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 и кит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 типовых возражения и аргументы к ним. 3 инструмента продаж — что предложить клиенту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14375" y="4597003"/>
            <a:ext cx="39014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30155" y="4597003"/>
            <a:ext cx="27184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СТРАТЕГИЯ ПРОДАЖ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/ 14 · РАЗДЕЛ 04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5366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ВОЗРАЖЕНИЯ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С ВОЗРАЖЕНИЯМИ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типовых возражения — 4 ответа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— не победить в споре, а сдвинуть ЛПР. Каждый ответ — отдельный аргумент, не эмоция.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2197" y="1573299"/>
            <a:ext cx="4086225" cy="1529655"/>
          </a:xfrm>
          <a:prstGeom prst="roundRect">
            <a:avLst>
              <a:gd name="adj" fmla="val 6227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644" y="1705459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3653" y="1730462"/>
            <a:ext cx="125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106" y="1749214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8644" y="1976921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8644" y="2055502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8644" y="22108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764381" y="2210879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уже есть G-Tech / Exon».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8644" y="2416262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8644" y="2494843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644" y="2650220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5430" y="265700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835819" y="2650220"/>
            <a:ext cx="3536156" cy="32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не заменяем СОД и ТИМ. Мы —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интеллектуальный слой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поверх них для финансового контроля.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5578" y="1573299"/>
            <a:ext cx="4086225" cy="1529655"/>
          </a:xfrm>
          <a:prstGeom prst="roundRect">
            <a:avLst>
              <a:gd name="adj" fmla="val 6227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72025" y="1705459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47034" y="1730462"/>
            <a:ext cx="125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43488" y="1749214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2025" y="1976921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72025" y="2055502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2025" y="22108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4957763" y="2210879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«ИИ ненадёжен в серьёзных расчётах».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2025" y="2416262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72025" y="2494843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2025" y="2650220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8812" y="265700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029200" y="2650220"/>
            <a:ext cx="3536156" cy="32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Числа считает детерминированный модуль. ИИ только анализирует текст и выявляет аномалии.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2197" y="3210111"/>
            <a:ext cx="4086225" cy="1529767"/>
          </a:xfrm>
          <a:prstGeom prst="roundRect">
            <a:avLst>
              <a:gd name="adj" fmla="val 622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8644" y="3342270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53653" y="3367274"/>
            <a:ext cx="125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0106" y="3386026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8644" y="3613733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8644" y="3692314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78644" y="38476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764381" y="3847691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хотим отдавать данные на внешние серверы».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78644" y="4053074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8644" y="4131655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8644" y="4287031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5430" y="42938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0" name="Text 48"/>
          <p:cNvSpPr/>
          <p:nvPr/>
        </p:nvSpPr>
        <p:spPr>
          <a:xfrm>
            <a:off x="835819" y="4287031"/>
            <a:ext cx="3536156" cy="320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 работает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вашем контуре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локальных моделях. Данные не выходят за пределы.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25578" y="3210111"/>
            <a:ext cx="4086225" cy="1529767"/>
          </a:xfrm>
          <a:prstGeom prst="roundRect">
            <a:avLst>
              <a:gd name="adj" fmla="val 622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772025" y="3342270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47034" y="3367274"/>
            <a:ext cx="1250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43488" y="3386026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72025" y="3613733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72025" y="3692314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72025" y="38476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58" name="Text 56"/>
          <p:cNvSpPr/>
          <p:nvPr/>
        </p:nvSpPr>
        <p:spPr>
          <a:xfrm>
            <a:off x="4957763" y="3847691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«Это слишком дорого (40 млн+)».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72025" y="4053074"/>
            <a:ext cx="37933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72025" y="4131655"/>
            <a:ext cx="379333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72025" y="4287031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778812" y="42938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63" name="Text 61"/>
          <p:cNvSpPr/>
          <p:nvPr/>
        </p:nvSpPr>
        <p:spPr>
          <a:xfrm>
            <a:off x="5029200" y="4287031"/>
            <a:ext cx="3536156" cy="320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ниже средних потерь на одном объекте. Плюс 0 ₽ за лицензии и 12 мес. гарантии.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28625" y="4936331"/>
            <a:ext cx="408399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26905" y="4936331"/>
            <a:ext cx="37790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5366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КИТ ПРОДАЖ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ИНСТРУМЕНТЫ ПРОДАЖ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предложить клиенту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инструмента — на разных этапах воронки. Каждый — отдельный артефакт, не слайд.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219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5769" y="1576871"/>
            <a:ext cx="2671763" cy="328613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3286" y="1671526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2956" y="1671526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ПИЛОТ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8644" y="2034071"/>
            <a:ext cx="2528888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8644" y="2225501"/>
            <a:ext cx="2576894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1–2 закрытых объектов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8644" y="2439814"/>
            <a:ext cx="2386013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расчёт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закрытых объектов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клиента. Снятие возражения о точности модели.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8644" y="2825576"/>
            <a:ext cx="238601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8644" y="2932733"/>
            <a:ext cx="2528888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8644" y="3124163"/>
            <a:ext cx="2386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Клиенты на этапе 2 воронки. После квалификации ICP.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644" y="3481350"/>
            <a:ext cx="238601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644" y="3602794"/>
            <a:ext cx="1181268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1–2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578644" y="3852825"/>
            <a:ext cx="1030572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97719" y="3602794"/>
            <a:ext cx="1196400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1397719" y="3852825"/>
            <a:ext cx="1196400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16907" y="3602794"/>
            <a:ext cx="890625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 ₽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2216907" y="3852825"/>
            <a:ext cx="890625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5784" y="4410837"/>
            <a:ext cx="1442881" cy="208026"/>
          </a:xfrm>
          <a:prstGeom prst="roundRect">
            <a:avLst>
              <a:gd name="adj" fmla="val 13736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8644" y="4421981"/>
            <a:ext cx="139716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ОСНОВНОЙ ИНСТРУМЕНТ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3254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236119" y="1576871"/>
            <a:ext cx="2671763" cy="328613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73636" y="1671526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93306" y="1671526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КАЛЬКУЛЯТОР ЭФФЕКТА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78994" y="2034071"/>
            <a:ext cx="2528888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78994" y="2225501"/>
            <a:ext cx="2576894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предотвращённых потерь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78994" y="2439814"/>
            <a:ext cx="2386013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предотвращённых потерь на основе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5% отклонения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от бюджета объекта. Excel + PDF.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78994" y="2825576"/>
            <a:ext cx="238601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78994" y="2932733"/>
            <a:ext cx="2528888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78994" y="3124163"/>
            <a:ext cx="2576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ЛПР на этапе 1–2. Для первичного обоснования ROI.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78994" y="3352763"/>
            <a:ext cx="238601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78994" y="3474207"/>
            <a:ext cx="1196221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3378994" y="3724238"/>
            <a:ext cx="949827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ОТКЛОНЕНИЕ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98069" y="3474207"/>
            <a:ext cx="1181445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3–5</a:t>
            </a:r>
            <a:endParaRPr lang="en-US" sz="1688" dirty="0"/>
          </a:p>
        </p:txBody>
      </p:sp>
      <p:sp>
        <p:nvSpPr>
          <p:cNvPr id="45" name="Text 43"/>
          <p:cNvSpPr/>
          <p:nvPr/>
        </p:nvSpPr>
        <p:spPr>
          <a:xfrm>
            <a:off x="4198069" y="3724238"/>
            <a:ext cx="1196400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17257" y="3474207"/>
            <a:ext cx="89062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XLSX+PDF</a:t>
            </a:r>
            <a:endParaRPr lang="en-US" sz="1013" dirty="0"/>
          </a:p>
        </p:txBody>
      </p:sp>
      <p:sp>
        <p:nvSpPr>
          <p:cNvPr id="47" name="Text 45"/>
          <p:cNvSpPr/>
          <p:nvPr/>
        </p:nvSpPr>
        <p:spPr>
          <a:xfrm>
            <a:off x="5017257" y="3638513"/>
            <a:ext cx="890625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56134" y="4395692"/>
            <a:ext cx="1161373" cy="224028"/>
          </a:xfrm>
          <a:prstGeom prst="roundRect">
            <a:avLst>
              <a:gd name="adj" fmla="val 12755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378994" y="4407694"/>
            <a:ext cx="11156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ОБОСНОВАНИЕ ROI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32897" y="1573299"/>
            <a:ext cx="2678906" cy="3166579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036469" y="1576871"/>
            <a:ext cx="2671763" cy="328613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73986" y="1671526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93656" y="1671526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ТЕХНИЧЕСКИЙ АУДИТ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79344" y="2034071"/>
            <a:ext cx="2528888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79344" y="2225501"/>
            <a:ext cx="25053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 договоров и смет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79344" y="2439814"/>
            <a:ext cx="2386013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договоров подряда и смет силами ИИ-агентов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«Юрист» и «Сметчик»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Реестр рисков и аномалий.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79344" y="2968451"/>
            <a:ext cx="238601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79344" y="3075608"/>
            <a:ext cx="2528888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79344" y="3267038"/>
            <a:ext cx="2386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Клиенты с готовыми документами. Этап 3 — демонстрация ценности.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79344" y="3624225"/>
            <a:ext cx="238601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79344" y="3745669"/>
            <a:ext cx="1196221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688" dirty="0"/>
          </a:p>
        </p:txBody>
      </p:sp>
      <p:sp>
        <p:nvSpPr>
          <p:cNvPr id="62" name="Text 60"/>
          <p:cNvSpPr/>
          <p:nvPr/>
        </p:nvSpPr>
        <p:spPr>
          <a:xfrm>
            <a:off x="6179344" y="3995700"/>
            <a:ext cx="1196221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ДНЯ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98419" y="3745669"/>
            <a:ext cx="1196400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688" dirty="0"/>
          </a:p>
        </p:txBody>
      </p:sp>
      <p:sp>
        <p:nvSpPr>
          <p:cNvPr id="64" name="Text 62"/>
          <p:cNvSpPr/>
          <p:nvPr/>
        </p:nvSpPr>
        <p:spPr>
          <a:xfrm>
            <a:off x="6998419" y="3995700"/>
            <a:ext cx="1030726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АГЕНТОВ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817607" y="3745669"/>
            <a:ext cx="890625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PDF</a:t>
            </a:r>
            <a:endParaRPr lang="en-US" sz="1688" dirty="0"/>
          </a:p>
        </p:txBody>
      </p:sp>
      <p:sp>
        <p:nvSpPr>
          <p:cNvPr id="66" name="Text 64"/>
          <p:cNvSpPr/>
          <p:nvPr/>
        </p:nvSpPr>
        <p:spPr>
          <a:xfrm>
            <a:off x="7817607" y="3995700"/>
            <a:ext cx="890625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ОТЧЁТ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56484" y="4395692"/>
            <a:ext cx="1102883" cy="224028"/>
          </a:xfrm>
          <a:prstGeom prst="roundRect">
            <a:avLst>
              <a:gd name="adj" fmla="val 12755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179344" y="4407694"/>
            <a:ext cx="1057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b="1" spc="79" kern="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ДОПОЛНИТЕЛЬНО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28625" y="4936331"/>
            <a:ext cx="40923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35277" y="4936331"/>
            <a:ext cx="37706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КИТ ПРОДАЖ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75366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ПОЗИЦИОНИРОВАНИЕ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ПОБЕДА НА РЫНКЕ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СтройИнтеллект выигрывает рынок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Уникальная архитектура, недоступная тиражным решениям. Мы — единственные, кто считает деньги.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2197" y="1573299"/>
            <a:ext cx="1989534" cy="1707356"/>
          </a:xfrm>
          <a:prstGeom prst="roundRect">
            <a:avLst>
              <a:gd name="adj" fmla="val 5579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7219" y="173403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4005" y="174082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878681" y="1777789"/>
            <a:ext cx="13680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2475" y="2111983"/>
            <a:ext cx="55632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607219" y="2867099"/>
            <a:ext cx="163949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СВЯЗАННЫХ ИИ-АГЕНТОВ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7219" y="3009974"/>
            <a:ext cx="173786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Сметчик, экономист, юрист и др.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28888" y="1573299"/>
            <a:ext cx="1989534" cy="1707356"/>
          </a:xfrm>
          <a:prstGeom prst="roundRect">
            <a:avLst>
              <a:gd name="adj" fmla="val 5579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03909" y="173403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10696" y="174082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2975372" y="1777789"/>
            <a:ext cx="13680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БИЗНЕС-МОДЕЛЬ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03909" y="2111983"/>
            <a:ext cx="1055699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 ₽</a:t>
            </a:r>
            <a:endParaRPr lang="en-US" sz="4050" dirty="0"/>
          </a:p>
        </p:txBody>
      </p:sp>
      <p:sp>
        <p:nvSpPr>
          <p:cNvPr id="24" name="Text 22"/>
          <p:cNvSpPr/>
          <p:nvPr/>
        </p:nvSpPr>
        <p:spPr>
          <a:xfrm>
            <a:off x="2703909" y="2867099"/>
            <a:ext cx="163949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ПОДПИСНЫХ ПЛАТЕЖЕЙ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03909" y="3009974"/>
            <a:ext cx="163949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Без абонентской платы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25578" y="1573299"/>
            <a:ext cx="1989534" cy="1707356"/>
          </a:xfrm>
          <a:prstGeom prst="roundRect">
            <a:avLst>
              <a:gd name="adj" fmla="val 5579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173403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7387" y="174082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072063" y="1777789"/>
            <a:ext cx="13680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0600" y="2111983"/>
            <a:ext cx="1639491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4050" dirty="0"/>
          </a:p>
        </p:txBody>
      </p:sp>
      <p:sp>
        <p:nvSpPr>
          <p:cNvPr id="31" name="Text 29"/>
          <p:cNvSpPr/>
          <p:nvPr/>
        </p:nvSpPr>
        <p:spPr>
          <a:xfrm>
            <a:off x="4800600" y="2867099"/>
            <a:ext cx="163949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ЛОКАЛЬНАЯ ОБРАБОТКА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3009974"/>
            <a:ext cx="163949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 контуре Заказчика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2269" y="1573299"/>
            <a:ext cx="1989534" cy="1707356"/>
          </a:xfrm>
          <a:prstGeom prst="roundRect">
            <a:avLst>
              <a:gd name="adj" fmla="val 5579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97291" y="173403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04077" y="174082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7168753" y="1777789"/>
            <a:ext cx="13680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97291" y="2111983"/>
            <a:ext cx="160466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4050" dirty="0"/>
          </a:p>
        </p:txBody>
      </p:sp>
      <p:sp>
        <p:nvSpPr>
          <p:cNvPr id="38" name="Text 36"/>
          <p:cNvSpPr/>
          <p:nvPr/>
        </p:nvSpPr>
        <p:spPr>
          <a:xfrm>
            <a:off x="6897291" y="2867099"/>
            <a:ext cx="163949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БАЗЕ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97291" y="3009974"/>
            <a:ext cx="163949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Обучающая выборка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2197" y="3430674"/>
            <a:ext cx="8279606" cy="1309204"/>
          </a:xfrm>
          <a:prstGeom prst="roundRect">
            <a:avLst>
              <a:gd name="adj" fmla="val 7275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5794" y="3828938"/>
            <a:ext cx="682966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ПОЗИЦИОНИРОВАНИЕ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5794" y="3984315"/>
            <a:ext cx="4835426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b="1" i="1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Интеллектуальный слой финансового контроля поверх любых СОД и ТИМ.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635794" y="4212915"/>
            <a:ext cx="48354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 — из одного. Конкурентов в нашей категории нет.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280062" y="3977207"/>
            <a:ext cx="1251005" cy="216027"/>
          </a:xfrm>
          <a:prstGeom prst="roundRect">
            <a:avLst>
              <a:gd name="adj" fmla="val 1322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02922" y="3988780"/>
            <a:ext cx="120528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 — ОДНА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28625" y="4936331"/>
            <a:ext cx="42162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59176" y="4936331"/>
            <a:ext cx="364677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ПОБЕДА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8053" y="0"/>
            <a:ext cx="0" cy="514350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71625" y="4832747"/>
            <a:ext cx="7572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571625" cy="51435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 rot="16200000">
            <a:off x="214313" y="2478881"/>
            <a:ext cx="113585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000250" y="314325"/>
            <a:ext cx="59650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 ·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00250" y="526852"/>
            <a:ext cx="67151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00250" y="705445"/>
            <a:ext cx="71437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ИНСТРУМЕНТЫ ГОТОВЫ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00250" y="909042"/>
            <a:ext cx="6443663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67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Начинаем </a:t>
            </a:r>
            <a:pPr algn="l" indent="0" marL="0">
              <a:lnSpc>
                <a:spcPts val="2970"/>
              </a:lnSpc>
              <a:buNone/>
            </a:pPr>
            <a:r>
              <a:rPr lang="en-US" sz="2700" b="1" spc="-67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квалификацию лидов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000250" y="1414797"/>
            <a:ext cx="5286375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материалы — в общей папке отдела продаж. Вопросы по продукту — руководителю продукта. Вопросы по цене —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руководителю продаж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1969108"/>
            <a:ext cx="6715125" cy="9697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003822" y="1972680"/>
            <a:ext cx="6707981" cy="962620"/>
          </a:xfrm>
          <a:prstGeom prst="roundRect">
            <a:avLst>
              <a:gd name="adj" fmla="val 9895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200275" y="2140558"/>
            <a:ext cx="242888" cy="242888"/>
          </a:xfrm>
          <a:prstGeom prst="ellipse">
            <a:avLst/>
          </a:prstGeom>
          <a:solidFill>
            <a:srgbClr val="0A0A0A"/>
          </a:solidFill>
          <a:ln w="14288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193131" y="21334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93131" y="2462026"/>
            <a:ext cx="3223102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193131" y="2645978"/>
            <a:ext cx="218594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 10 лидов по ICP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352888" y="2140558"/>
            <a:ext cx="242888" cy="242888"/>
          </a:xfrm>
          <a:prstGeom prst="ellipse">
            <a:avLst/>
          </a:prstGeom>
          <a:solidFill>
            <a:srgbClr val="0A0A0A"/>
          </a:solidFill>
          <a:ln w="14288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345744" y="21334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45744" y="2462026"/>
            <a:ext cx="3223102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45744" y="2645978"/>
            <a:ext cx="218594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NDA + 5 пилотов на закрытых объектах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05501" y="2140558"/>
            <a:ext cx="242888" cy="242888"/>
          </a:xfrm>
          <a:prstGeom prst="ellipse">
            <a:avLst/>
          </a:prstGeom>
          <a:solidFill>
            <a:srgbClr val="0A0A0A"/>
          </a:solidFill>
          <a:ln w="14288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98357" y="21334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98357" y="2462026"/>
            <a:ext cx="2024137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98357" y="2645978"/>
            <a:ext cx="21338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демо с доказательством точности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000250" y="3110322"/>
            <a:ext cx="67151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000250" y="3265698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007037" y="327248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2286000" y="3231766"/>
            <a:ext cx="153524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286000" y="3360353"/>
            <a:ext cx="1305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+7 (495) [ЗАПОЛНИТЬ]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295738" y="3265698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302524" y="327248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4581488" y="3231766"/>
            <a:ext cx="1787188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581488" y="3360353"/>
            <a:ext cx="13091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[ЗАПОЛНИТЬ]@7rl.tech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591226" y="3265698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598012" y="327248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6876976" y="3231766"/>
            <a:ext cx="157930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SLACK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76976" y="3360353"/>
            <a:ext cx="1085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#stroy-intellect-sales</a:t>
            </a:r>
            <a:endParaRPr lang="en-US" sz="731" dirty="0"/>
          </a:p>
        </p:txBody>
      </p:sp>
      <p:sp>
        <p:nvSpPr>
          <p:cNvPr id="42" name="Text 39"/>
          <p:cNvSpPr/>
          <p:nvPr/>
        </p:nvSpPr>
        <p:spPr>
          <a:xfrm>
            <a:off x="2000250" y="4611291"/>
            <a:ext cx="5747147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788"/>
              </a:lnSpc>
              <a:buNone/>
            </a:pPr>
            <a:r>
              <a:rPr lang="en-US" sz="800" b="1" spc="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788"/>
              </a:lnSpc>
              <a:buNone/>
            </a:pPr>
            <a:r>
              <a:rPr lang="en-US" sz="800" b="1" spc="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761684" y="4607719"/>
            <a:ext cx="1238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V.2 · АВГУСТ 2025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571625" y="4829175"/>
            <a:ext cx="7572375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2000250" y="4936331"/>
            <a:ext cx="34767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491311" y="4936331"/>
            <a:ext cx="28146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2026-08-11T21:02:15Z</dcterms:created>
  <dcterms:modified xsi:type="dcterms:W3CDTF">2026-08-11T21:02:15Z</dcterms:modified>
</cp:coreProperties>
</file>