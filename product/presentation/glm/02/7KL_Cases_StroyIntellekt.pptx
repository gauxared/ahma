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Открыть с «покажем не слайды — реальную работу»
 • 3 кейса = 3 разных сценария применения СтройИнтеллекта
 • Главное — «каждая цифра проверяема на вашем объекте»
 • Завершить вопросом: «какой из сценариев вам ближе?»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Саммари 3 кейсов — по 15 секунд на каждый
 • Дальше каждый кейс раскрыт детально
 • Главный — Кейс 01 (14 млн ₽ сэкономлено)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Эта глава — обзорная
 • 6 сценариев = 6 точек применения СтройИнтеллекта
 • Выбрать 1–2 релевантных клиенту
 • Пауза перед переходом к бенто-сценариев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6 сценариев = 6 точек применения СтройИнтеллекта
 • Выбрать 2–3 релевантных клиенту
 • Вопрос залу: «какие из этих процессов у вас сейчас съедают больше всего времени?»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Переход к первому детальному кейсу
 • Главный кейс деки — самый нагруженный цифрами
 • Пауза перед раскрытием
 • Ключевая фраза: «реальная ситуация, реальные цифры»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Главный кейс деки — самая «живая» история
 • 1 час работы системы вместо 5 дней ручной проверки
 • 14 млн ₽ — реальная экономия на одном объекте
 • Спросить зал: «какой был бы результат, если бы вы проверяли вручную?»
 • Пауза на цифре «4%» — пусть осмыслит масштаб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Переход ко второму детальному кейсу.
 • Подчеркнуть: «теперь — выбор подрядчика».
 • Пауза 2 секунды перед переключением.
 • 3 КП с разными наименованиями — типовая боль ЛПР.
 • Главный посыл раздела: нормализация + собственная оценка.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Кейс про нормализацию разнородных КП.
 • 60% позиций — несопоставимы у каждого подрядчика.
 • 12% аномалия — главный сигнал о риске невыполнения.
 • «С позиции силы» — главная ценность для ЛПР.
 • Спросить: «как вы сейчас сравниваете 3+ КП?»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Третий детальный кейс — про деньги и риск.
 • Плавный переход: «после сметы и КП — самое чувствительное — финансы».
 • Пауза перед переключением.
 • Главный контраст на следующем слайде: «постфактум» vs «заблаговременно».
 • Короткая пауза на тэглайне.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Кейс про деньги — самая чувствительная зона для ЛПР.
 • «Постфактум» vs «заблаговременно» — главный контраст.
 • 3 сценария = база / пессимист / оптимист.
 • Синхронизация эскроу и СМР — скрытая ценность.
 • Спросить: «как вы сейчас прогнозируете кассовые разрывы?»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CTA — бесплатный пилот на ваших данных.
 • 5 рабочих дней · без обязательств · NDA до приёма.
 • Фраза-закрытие: «отправьте 1 объект — покажем точность на ваших данных».
 • Подчеркнуть: «0 ₽» — это сознательное решение, не триал.
 • Перейти к контактам.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Закрытие презентации.
 • Ключевая фраза: «отправьте 1 объект — мы покажем точность на ваших данных».
 • Пауза на CTA — дать время записать контакты.
 • Подчеркнуть: NDA до приёма, 5 дней, бесплатно.
 • Завершить словом «спасибо» и вопросом: «какой объект отправим первым?»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68053" y="0"/>
            <a:ext cx="0" cy="5143500"/>
          </a:xfrm>
          <a:prstGeom prst="line">
            <a:avLst/>
          </a:prstGeom>
          <a:noFill/>
          <a:ln w="7144">
            <a:solidFill>
              <a:srgbClr val="26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00250" y="2292697"/>
            <a:ext cx="6715125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00250" y="3235226"/>
            <a:ext cx="6715125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42160" y="2296269"/>
            <a:ext cx="0" cy="935385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80497" y="2296269"/>
            <a:ext cx="0" cy="935385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71625" y="4832747"/>
            <a:ext cx="7572375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0"/>
            <a:ext cx="1571625" cy="5143500"/>
          </a:xfrm>
          <a:prstGeom prst="rect">
            <a:avLst/>
          </a:prstGeom>
          <a:solidFill>
            <a:srgbClr val="05050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 rot="16200000">
            <a:off x="214313" y="2478881"/>
            <a:ext cx="1135856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spc="263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1463"/>
              </a:lnSpc>
              <a:buNone/>
            </a:pPr>
            <a:r>
              <a:rPr lang="en-US" sz="1463" b="1" spc="263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1463"/>
              </a:lnSpc>
              <a:buNone/>
            </a:pPr>
            <a:r>
              <a:rPr lang="en-US" sz="1463" b="1" spc="263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1463" dirty="0"/>
          </a:p>
        </p:txBody>
      </p:sp>
      <p:sp>
        <p:nvSpPr>
          <p:cNvPr id="10" name="Text 8"/>
          <p:cNvSpPr/>
          <p:nvPr/>
        </p:nvSpPr>
        <p:spPr>
          <a:xfrm>
            <a:off x="2000250" y="342900"/>
            <a:ext cx="56484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КЕЙСЫ · 2025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663011" y="342900"/>
            <a:ext cx="14042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V.2 · АВГУСТ 2025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000250" y="726877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ИСХОДНЫХ ДАННЫХ К ПРЕДОТВРАЩЁННЫМ ПОТЕРЯМ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000250" y="930473"/>
            <a:ext cx="7143750" cy="51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90" kern="0" dirty="0">
                <a:solidFill>
                  <a:srgbClr val="F5F5F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СтройИнтеллект </a:t>
            </a:r>
            <a:pPr algn="l" indent="0" marL="0">
              <a:lnSpc>
                <a:spcPts val="3780"/>
              </a:lnSpc>
              <a:buNone/>
            </a:pPr>
            <a:r>
              <a:rPr lang="en-US" sz="3600" b="1" spc="-90" kern="0" dirty="0">
                <a:solidFill>
                  <a:srgbClr val="E5091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в действии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000250" y="1539032"/>
            <a:ext cx="5429250" cy="39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Шесть типовых сценариев, три детальных кейса с конкретными цифрами и один бесплатный пилот на вашем закрытом объекте.</a:t>
            </a:r>
            <a:endParaRPr lang="en-US" sz="956" dirty="0"/>
          </a:p>
        </p:txBody>
      </p:sp>
      <p:sp>
        <p:nvSpPr>
          <p:cNvPr id="15" name="Text 13"/>
          <p:cNvSpPr/>
          <p:nvPr/>
        </p:nvSpPr>
        <p:spPr>
          <a:xfrm>
            <a:off x="2000250" y="2103388"/>
            <a:ext cx="685800" cy="14288"/>
          </a:xfrm>
          <a:prstGeom prst="rect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200275" y="2467719"/>
            <a:ext cx="2353008" cy="410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93"/>
              </a:lnSpc>
              <a:buNone/>
            </a:pPr>
            <a:r>
              <a:rPr lang="en-US" sz="3150" b="1" spc="-126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l" indent="0" marL="0">
              <a:lnSpc>
                <a:spcPts val="2993"/>
              </a:lnSpc>
              <a:buNone/>
            </a:pPr>
            <a:r>
              <a:rPr lang="en-US" sz="800" b="1" spc="-126" kern="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кейса</a:t>
            </a:r>
            <a:endParaRPr lang="en-US" sz="3150" dirty="0"/>
          </a:p>
        </p:txBody>
      </p:sp>
      <p:sp>
        <p:nvSpPr>
          <p:cNvPr id="17" name="Text 15"/>
          <p:cNvSpPr/>
          <p:nvPr/>
        </p:nvSpPr>
        <p:spPr>
          <a:xfrm>
            <a:off x="2200275" y="2947690"/>
            <a:ext cx="23716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95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ДЕТАЛЬНЫЙ РАЗБОР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445757" y="2467719"/>
            <a:ext cx="1831144" cy="410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93"/>
              </a:lnSpc>
              <a:buNone/>
            </a:pPr>
            <a:r>
              <a:rPr lang="en-US" sz="3150" b="1" spc="-126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95%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4445757" y="2947690"/>
            <a:ext cx="183114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95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ТОЧНОСТЬ ИЗВЛЕЧЕНИЯ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684094" y="2467719"/>
            <a:ext cx="1831256" cy="410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93"/>
              </a:lnSpc>
              <a:buNone/>
            </a:pPr>
            <a:r>
              <a:rPr lang="en-US" sz="3150" b="1" spc="-126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70%</a:t>
            </a:r>
            <a:endParaRPr lang="en-US" sz="3150" dirty="0"/>
          </a:p>
        </p:txBody>
      </p:sp>
      <p:sp>
        <p:nvSpPr>
          <p:cNvPr id="21" name="Text 19"/>
          <p:cNvSpPr/>
          <p:nvPr/>
        </p:nvSpPr>
        <p:spPr>
          <a:xfrm>
            <a:off x="6684094" y="2947690"/>
            <a:ext cx="1940984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95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ПОЛНОТА РЕЕСТРА НАРУШЕНИЙ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000250" y="4536281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 КРАСНЫХ ЛИНИЙ · КЕЙСЫ И СОЦИАЛЬНЫЕ ДОКАЗАТЕЛЬСТВА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571625" y="4829175"/>
            <a:ext cx="7572375" cy="314325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000250" y="4936331"/>
            <a:ext cx="346014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74680" y="4936331"/>
            <a:ext cx="283126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КЕЙСЫ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320236" y="4950619"/>
            <a:ext cx="39513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502625" y="4936331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587970" y="4936331"/>
            <a:ext cx="1381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530423"/>
            <a:ext cx="82867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32747"/>
            <a:ext cx="91440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8625" y="314325"/>
            <a:ext cx="721139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654305" y="3634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47186" y="3634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40067" y="3634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32949" y="3634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475836" y="317004"/>
            <a:ext cx="239539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 / 4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28625" y="70544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ОБЗОР КЕЙСОВ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8625" y="894755"/>
            <a:ext cx="8636000" cy="283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32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Три кейса — три сценария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8625" y="1229060"/>
            <a:ext cx="6572250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Каждый кейс — связка: что подаём на вход, что анализирует система, что получаем на выходе. Все цифры — из пилотных расчётов 2024–2025.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2197" y="1728229"/>
            <a:ext cx="2678906" cy="3011649"/>
          </a:xfrm>
          <a:prstGeom prst="roundRect">
            <a:avLst>
              <a:gd name="adj" fmla="val 3556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7219" y="1888964"/>
            <a:ext cx="2328863" cy="44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600" b="1" spc="-144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07219" y="2371837"/>
            <a:ext cx="2328862" cy="142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01 · СМЕТА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7219" y="2541501"/>
            <a:ext cx="2438591" cy="163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b="1" spc="-10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Проверка завышения расценок</a:t>
            </a:r>
            <a:endParaRPr lang="en-US" sz="956" dirty="0"/>
          </a:p>
        </p:txBody>
      </p:sp>
      <p:sp>
        <p:nvSpPr>
          <p:cNvPr id="17" name="Text 15"/>
          <p:cNvSpPr/>
          <p:nvPr/>
        </p:nvSpPr>
        <p:spPr>
          <a:xfrm>
            <a:off x="607219" y="2779030"/>
            <a:ext cx="2328863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7219" y="2871899"/>
            <a:ext cx="2328863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96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7219" y="2995129"/>
            <a:ext cx="2438591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Смета 2 000 позиций от генподрядчика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7219" y="3176513"/>
            <a:ext cx="2328863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96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7219" y="3299743"/>
            <a:ext cx="2438591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ИИ-агент «Сметчик» + база 250 объектов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7219" y="3481127"/>
            <a:ext cx="2328863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9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7219" y="3604357"/>
            <a:ext cx="2438591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Реестр нарушений на 4% от сметы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7219" y="4021931"/>
            <a:ext cx="2328863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07219" y="4114800"/>
            <a:ext cx="1794510" cy="222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7%</a:t>
            </a:r>
            <a:endParaRPr lang="en-US" sz="1688" dirty="0"/>
          </a:p>
        </p:txBody>
      </p:sp>
      <p:sp>
        <p:nvSpPr>
          <p:cNvPr id="26" name="Text 24"/>
          <p:cNvSpPr/>
          <p:nvPr/>
        </p:nvSpPr>
        <p:spPr>
          <a:xfrm>
            <a:off x="607219" y="4364831"/>
            <a:ext cx="142488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СНИЖЕНИЕ ЦЕЛЕВОЙ ЦЕНЫ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814513" y="4114800"/>
            <a:ext cx="1121569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25" kern="0" dirty="0">
                <a:solidFill>
                  <a:srgbClr val="E5091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~14 млн ₽</a:t>
            </a:r>
            <a:endParaRPr lang="en-US" sz="1238" dirty="0"/>
          </a:p>
        </p:txBody>
      </p:sp>
      <p:sp>
        <p:nvSpPr>
          <p:cNvPr id="28" name="Text 26"/>
          <p:cNvSpPr/>
          <p:nvPr/>
        </p:nvSpPr>
        <p:spPr>
          <a:xfrm>
            <a:off x="1814513" y="4307681"/>
            <a:ext cx="11215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СОЭКОНОМИЛИ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32547" y="1728229"/>
            <a:ext cx="2678906" cy="3011649"/>
          </a:xfrm>
          <a:prstGeom prst="roundRect">
            <a:avLst>
              <a:gd name="adj" fmla="val 3556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407569" y="1888964"/>
            <a:ext cx="2328863" cy="44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600" b="1" spc="-144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3407569" y="2371837"/>
            <a:ext cx="2328862" cy="142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02 · СРАВНЕНИЕ КП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407569" y="2541501"/>
            <a:ext cx="2328863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b="1" spc="-10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Сравнение 3 предложений</a:t>
            </a:r>
            <a:endParaRPr lang="en-US" sz="956" dirty="0"/>
          </a:p>
        </p:txBody>
      </p:sp>
      <p:sp>
        <p:nvSpPr>
          <p:cNvPr id="33" name="Text 31"/>
          <p:cNvSpPr/>
          <p:nvPr/>
        </p:nvSpPr>
        <p:spPr>
          <a:xfrm>
            <a:off x="3407569" y="2779030"/>
            <a:ext cx="2328863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407569" y="2871899"/>
            <a:ext cx="2328863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96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407569" y="2995129"/>
            <a:ext cx="2438591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КП с разными наименованиями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407569" y="3176513"/>
            <a:ext cx="2328863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96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407569" y="3299743"/>
            <a:ext cx="2438591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Нормализация + собственная оценка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407569" y="3481127"/>
            <a:ext cx="2328863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9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407569" y="3604357"/>
            <a:ext cx="2438591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Целевая цена + реестр рисков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407569" y="4021931"/>
            <a:ext cx="2328863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407569" y="4114800"/>
            <a:ext cx="1794510" cy="222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12%</a:t>
            </a:r>
            <a:endParaRPr lang="en-US" sz="1688" dirty="0"/>
          </a:p>
        </p:txBody>
      </p:sp>
      <p:sp>
        <p:nvSpPr>
          <p:cNvPr id="42" name="Text 40"/>
          <p:cNvSpPr/>
          <p:nvPr/>
        </p:nvSpPr>
        <p:spPr>
          <a:xfrm>
            <a:off x="3407569" y="4364831"/>
            <a:ext cx="142488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АНОМАЛИЯ ПОДРЯДЧИКА А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614863" y="4114800"/>
            <a:ext cx="1121569" cy="194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spc="-29" kern="0" dirty="0">
                <a:solidFill>
                  <a:srgbClr val="E5091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 час</a:t>
            </a:r>
            <a:endParaRPr lang="en-US" sz="1463" dirty="0"/>
          </a:p>
        </p:txBody>
      </p:sp>
      <p:sp>
        <p:nvSpPr>
          <p:cNvPr id="44" name="Text 42"/>
          <p:cNvSpPr/>
          <p:nvPr/>
        </p:nvSpPr>
        <p:spPr>
          <a:xfrm>
            <a:off x="4614863" y="4336256"/>
            <a:ext cx="11215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ВРЕМЯ СРАВНЕНИЯ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032897" y="1728229"/>
            <a:ext cx="2678906" cy="3011649"/>
          </a:xfrm>
          <a:prstGeom prst="roundRect">
            <a:avLst>
              <a:gd name="adj" fmla="val 3556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207919" y="1888964"/>
            <a:ext cx="2328863" cy="44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600" b="1" spc="-144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3600" dirty="0"/>
          </a:p>
        </p:txBody>
      </p:sp>
      <p:sp>
        <p:nvSpPr>
          <p:cNvPr id="47" name="Text 45"/>
          <p:cNvSpPr/>
          <p:nvPr/>
        </p:nvSpPr>
        <p:spPr>
          <a:xfrm>
            <a:off x="6207919" y="2371837"/>
            <a:ext cx="2328862" cy="142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03 · ФИНАНСЫ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207919" y="2541501"/>
            <a:ext cx="2438590" cy="163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b="1" spc="-10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Прогноз кассовых разрывов</a:t>
            </a:r>
            <a:endParaRPr lang="en-US" sz="956" dirty="0"/>
          </a:p>
        </p:txBody>
      </p:sp>
      <p:sp>
        <p:nvSpPr>
          <p:cNvPr id="49" name="Text 47"/>
          <p:cNvSpPr/>
          <p:nvPr/>
        </p:nvSpPr>
        <p:spPr>
          <a:xfrm>
            <a:off x="6207919" y="2779030"/>
            <a:ext cx="2328863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207919" y="2871899"/>
            <a:ext cx="2328863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96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207919" y="2995129"/>
            <a:ext cx="2438590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Параметры кредита, эскроу, БДДС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207919" y="3176513"/>
            <a:ext cx="2328863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96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207919" y="3299743"/>
            <a:ext cx="2328863" cy="159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Маржа в 3 сценариях + БДДС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207919" y="3481127"/>
            <a:ext cx="2328863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9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207919" y="3604357"/>
            <a:ext cx="2438590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Прогноз разрывов с периодом и суммой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207919" y="4186238"/>
            <a:ext cx="2328863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207919" y="4279106"/>
            <a:ext cx="1314479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25" kern="0" dirty="0">
                <a:solidFill>
                  <a:srgbClr val="E5091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3 сценария</a:t>
            </a:r>
            <a:endParaRPr lang="en-US" sz="1238" dirty="0"/>
          </a:p>
        </p:txBody>
      </p:sp>
      <p:sp>
        <p:nvSpPr>
          <p:cNvPr id="58" name="Text 56"/>
          <p:cNvSpPr/>
          <p:nvPr/>
        </p:nvSpPr>
        <p:spPr>
          <a:xfrm>
            <a:off x="6207919" y="4471988"/>
            <a:ext cx="179451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МАРЖА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415213" y="4279106"/>
            <a:ext cx="1121569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25" kern="0" dirty="0">
                <a:solidFill>
                  <a:srgbClr val="E5091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Помесячно</a:t>
            </a:r>
            <a:endParaRPr lang="en-US" sz="1238" dirty="0"/>
          </a:p>
        </p:txBody>
      </p:sp>
      <p:sp>
        <p:nvSpPr>
          <p:cNvPr id="60" name="Text 58"/>
          <p:cNvSpPr/>
          <p:nvPr/>
        </p:nvSpPr>
        <p:spPr>
          <a:xfrm>
            <a:off x="7415213" y="4471988"/>
            <a:ext cx="112156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БДДС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0" y="4829175"/>
            <a:ext cx="9144000" cy="314325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428625" y="4936331"/>
            <a:ext cx="425198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694895" y="4936331"/>
            <a:ext cx="361105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ОБЗОР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320236" y="4950619"/>
            <a:ext cx="39513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502625" y="4936331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8587970" y="4936331"/>
            <a:ext cx="1381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4375" y="1187983"/>
            <a:ext cx="7715250" cy="1573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75"/>
              </a:lnSpc>
              <a:buNone/>
            </a:pPr>
            <a:r>
              <a:rPr lang="en-US" sz="13500" b="1" spc="-810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pPr algn="l" indent="0" marL="0">
              <a:lnSpc>
                <a:spcPts val="11475"/>
              </a:lnSpc>
              <a:buNone/>
            </a:pPr>
            <a:r>
              <a:rPr lang="en-US" sz="2025" b="1" spc="-810" kern="0" dirty="0">
                <a:solidFill>
                  <a:srgbClr val="5555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04</a:t>
            </a:r>
            <a:endParaRPr lang="en-US" sz="13500" dirty="0"/>
          </a:p>
        </p:txBody>
      </p:sp>
      <p:sp>
        <p:nvSpPr>
          <p:cNvPr id="4" name="Text 2"/>
          <p:cNvSpPr/>
          <p:nvPr/>
        </p:nvSpPr>
        <p:spPr>
          <a:xfrm>
            <a:off x="714375" y="2788183"/>
            <a:ext cx="685800" cy="21431"/>
          </a:xfrm>
          <a:prstGeom prst="rect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4375" y="2981065"/>
            <a:ext cx="7715250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Сценарии использования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714375" y="3515395"/>
            <a:ext cx="5143500" cy="47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i="1" dirty="0">
                <a:solidFill>
                  <a:srgbClr val="C9A961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Шесть типовых кейсов СтройИнтеллекта в эксплуатации — от сметы до контроля исполнения</a:t>
            </a:r>
            <a:endParaRPr lang="en-US" sz="1238" dirty="0"/>
          </a:p>
        </p:txBody>
      </p:sp>
      <p:sp>
        <p:nvSpPr>
          <p:cNvPr id="7" name="Text 5"/>
          <p:cNvSpPr/>
          <p:nvPr/>
        </p:nvSpPr>
        <p:spPr>
          <a:xfrm>
            <a:off x="714375" y="4597003"/>
            <a:ext cx="426314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 · СТРОЙИНТЕЛЛЕКТ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991807" y="4597003"/>
            <a:ext cx="235676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КЕЙСЫ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62862" y="4597003"/>
            <a:ext cx="106676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/ 12 · РАЗДЕЛ 01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530423"/>
            <a:ext cx="82867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32747"/>
            <a:ext cx="91440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8625" y="314325"/>
            <a:ext cx="721139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· СЦЕНАРИИ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654305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47186" y="3634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40067" y="3634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32949" y="3634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475836" y="317004"/>
            <a:ext cx="239539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/ 4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28625" y="70544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ТИПОВЫЕ СЦЕНАРИИ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8625" y="894755"/>
            <a:ext cx="863600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32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Шесть сценариев в эксплуатации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8625" y="1229060"/>
            <a:ext cx="657225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Каждый сценарий — связка: что подаём на вход, что анализирует система, что получаем на выходе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2197" y="1573299"/>
            <a:ext cx="2688394" cy="1529655"/>
          </a:xfrm>
          <a:prstGeom prst="roundRect">
            <a:avLst>
              <a:gd name="adj" fmla="val 6227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631824" y="1648309"/>
            <a:ext cx="466310" cy="249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2025" b="1" spc="-40" kern="0" dirty="0">
                <a:solidFill>
                  <a:srgbClr val="C9A961">
                    <a:alpha val="2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582216" y="1709031"/>
            <a:ext cx="192881" cy="192881"/>
          </a:xfrm>
          <a:prstGeom prst="roundRect">
            <a:avLst>
              <a:gd name="adj" fmla="val 19753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5430" y="171224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96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850106" y="1741177"/>
            <a:ext cx="18382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spc="-4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Сметный контроль</a:t>
            </a:r>
            <a:endParaRPr lang="en-US" sz="844" dirty="0"/>
          </a:p>
        </p:txBody>
      </p:sp>
      <p:sp>
        <p:nvSpPr>
          <p:cNvPr id="18" name="Text 16"/>
          <p:cNvSpPr/>
          <p:nvPr/>
        </p:nvSpPr>
        <p:spPr>
          <a:xfrm>
            <a:off x="578644" y="1976921"/>
            <a:ext cx="2395500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78644" y="2055502"/>
            <a:ext cx="23955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78644" y="2169802"/>
            <a:ext cx="239550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смета и ВОР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78644" y="2332658"/>
            <a:ext cx="23955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8644" y="2446958"/>
            <a:ext cx="2505228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двойной учёт, коэффициенты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78644" y="2609813"/>
            <a:ext cx="23955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78644" y="2724113"/>
            <a:ext cx="250522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реестр потенциальных переплат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27747" y="1573299"/>
            <a:ext cx="2688394" cy="1529655"/>
          </a:xfrm>
          <a:prstGeom prst="roundRect">
            <a:avLst>
              <a:gd name="adj" fmla="val 6227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427374" y="1648309"/>
            <a:ext cx="466310" cy="249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2025" b="1" spc="-40" kern="0" dirty="0">
                <a:solidFill>
                  <a:srgbClr val="C9A961">
                    <a:alpha val="2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3377766" y="1709031"/>
            <a:ext cx="192881" cy="192881"/>
          </a:xfrm>
          <a:prstGeom prst="roundRect">
            <a:avLst>
              <a:gd name="adj" fmla="val 19753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380981" y="171224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96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3645657" y="1741177"/>
            <a:ext cx="18382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spc="-4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Снабжение</a:t>
            </a:r>
            <a:endParaRPr lang="en-US" sz="844" dirty="0"/>
          </a:p>
        </p:txBody>
      </p:sp>
      <p:sp>
        <p:nvSpPr>
          <p:cNvPr id="30" name="Text 28"/>
          <p:cNvSpPr/>
          <p:nvPr/>
        </p:nvSpPr>
        <p:spPr>
          <a:xfrm>
            <a:off x="3374194" y="1976921"/>
            <a:ext cx="2395500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374194" y="2055502"/>
            <a:ext cx="23955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74194" y="2169802"/>
            <a:ext cx="239550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спецификация материалов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74194" y="2332658"/>
            <a:ext cx="23955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74194" y="2446958"/>
            <a:ext cx="2505228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сроки поставки, опорные цены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74194" y="2609813"/>
            <a:ext cx="23955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374194" y="2724113"/>
            <a:ext cx="2395500" cy="153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критические сроки заказа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023297" y="1573299"/>
            <a:ext cx="2688506" cy="1529655"/>
          </a:xfrm>
          <a:prstGeom prst="roundRect">
            <a:avLst>
              <a:gd name="adj" fmla="val 6227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223036" y="1648309"/>
            <a:ext cx="466310" cy="249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2025" b="1" spc="-40" kern="0" dirty="0">
                <a:solidFill>
                  <a:srgbClr val="C9A961">
                    <a:alpha val="2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2025" dirty="0"/>
          </a:p>
        </p:txBody>
      </p:sp>
      <p:sp>
        <p:nvSpPr>
          <p:cNvPr id="39" name="Text 37"/>
          <p:cNvSpPr/>
          <p:nvPr/>
        </p:nvSpPr>
        <p:spPr>
          <a:xfrm>
            <a:off x="6173316" y="1709031"/>
            <a:ext cx="192881" cy="192881"/>
          </a:xfrm>
          <a:prstGeom prst="roundRect">
            <a:avLst>
              <a:gd name="adj" fmla="val 19753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176531" y="171224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96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266" dirty="0"/>
          </a:p>
        </p:txBody>
      </p:sp>
      <p:sp>
        <p:nvSpPr>
          <p:cNvPr id="41" name="Text 39"/>
          <p:cNvSpPr/>
          <p:nvPr/>
        </p:nvSpPr>
        <p:spPr>
          <a:xfrm>
            <a:off x="6441207" y="1741177"/>
            <a:ext cx="1838399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spc="-4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Сравнение КП</a:t>
            </a:r>
            <a:endParaRPr lang="en-US" sz="844" dirty="0"/>
          </a:p>
        </p:txBody>
      </p:sp>
      <p:sp>
        <p:nvSpPr>
          <p:cNvPr id="42" name="Text 40"/>
          <p:cNvSpPr/>
          <p:nvPr/>
        </p:nvSpPr>
        <p:spPr>
          <a:xfrm>
            <a:off x="6169744" y="1976921"/>
            <a:ext cx="2395612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169744" y="2055502"/>
            <a:ext cx="239561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169744" y="2169802"/>
            <a:ext cx="250534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3+ предложения подрядчиков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169744" y="2332658"/>
            <a:ext cx="239561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169744" y="2446958"/>
            <a:ext cx="250534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приведение к сопоставимому виду, медиана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169744" y="2609813"/>
            <a:ext cx="239561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169744" y="2724113"/>
            <a:ext cx="25053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целевая цена для переговоров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32197" y="3210111"/>
            <a:ext cx="2688394" cy="1529767"/>
          </a:xfrm>
          <a:prstGeom prst="roundRect">
            <a:avLst>
              <a:gd name="adj" fmla="val 6226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631824" y="3285120"/>
            <a:ext cx="466310" cy="249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2025" b="1" spc="-40" kern="0" dirty="0">
                <a:solidFill>
                  <a:srgbClr val="C9A961">
                    <a:alpha val="2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2025" dirty="0"/>
          </a:p>
        </p:txBody>
      </p:sp>
      <p:sp>
        <p:nvSpPr>
          <p:cNvPr id="51" name="Text 49"/>
          <p:cNvSpPr/>
          <p:nvPr/>
        </p:nvSpPr>
        <p:spPr>
          <a:xfrm>
            <a:off x="582216" y="3345842"/>
            <a:ext cx="192881" cy="192881"/>
          </a:xfrm>
          <a:prstGeom prst="roundRect">
            <a:avLst>
              <a:gd name="adj" fmla="val 19753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85430" y="334905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96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🏛</a:t>
            </a:r>
            <a:endParaRPr lang="en-US" sz="1266" dirty="0"/>
          </a:p>
        </p:txBody>
      </p:sp>
      <p:sp>
        <p:nvSpPr>
          <p:cNvPr id="53" name="Text 51"/>
          <p:cNvSpPr/>
          <p:nvPr/>
        </p:nvSpPr>
        <p:spPr>
          <a:xfrm>
            <a:off x="850106" y="3377989"/>
            <a:ext cx="18382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spc="-4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Финансовая модель</a:t>
            </a:r>
            <a:endParaRPr lang="en-US" sz="844" dirty="0"/>
          </a:p>
        </p:txBody>
      </p:sp>
      <p:sp>
        <p:nvSpPr>
          <p:cNvPr id="54" name="Text 52"/>
          <p:cNvSpPr/>
          <p:nvPr/>
        </p:nvSpPr>
        <p:spPr>
          <a:xfrm>
            <a:off x="578644" y="3613733"/>
            <a:ext cx="2395500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78644" y="3692314"/>
            <a:ext cx="23955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78644" y="3806614"/>
            <a:ext cx="2505228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параметры кредита и эскроу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78644" y="3969469"/>
            <a:ext cx="23955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78644" y="4083769"/>
            <a:ext cx="239550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выборка кредита, БДДС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78644" y="4246625"/>
            <a:ext cx="23955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78644" y="4360925"/>
            <a:ext cx="250522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прогноз кассовых разрывов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227747" y="3210111"/>
            <a:ext cx="2688394" cy="1529767"/>
          </a:xfrm>
          <a:prstGeom prst="roundRect">
            <a:avLst>
              <a:gd name="adj" fmla="val 6226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5427374" y="3285120"/>
            <a:ext cx="466310" cy="249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2025" b="1" spc="-40" kern="0" dirty="0">
                <a:solidFill>
                  <a:srgbClr val="C9A961">
                    <a:alpha val="2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2025" dirty="0"/>
          </a:p>
        </p:txBody>
      </p:sp>
      <p:sp>
        <p:nvSpPr>
          <p:cNvPr id="63" name="Text 61"/>
          <p:cNvSpPr/>
          <p:nvPr/>
        </p:nvSpPr>
        <p:spPr>
          <a:xfrm>
            <a:off x="3377766" y="3345842"/>
            <a:ext cx="192881" cy="192881"/>
          </a:xfrm>
          <a:prstGeom prst="roundRect">
            <a:avLst>
              <a:gd name="adj" fmla="val 19753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3380981" y="334905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96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266" dirty="0"/>
          </a:p>
        </p:txBody>
      </p:sp>
      <p:sp>
        <p:nvSpPr>
          <p:cNvPr id="65" name="Text 63"/>
          <p:cNvSpPr/>
          <p:nvPr/>
        </p:nvSpPr>
        <p:spPr>
          <a:xfrm>
            <a:off x="3645657" y="3377989"/>
            <a:ext cx="18382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spc="-4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Договорной аудит</a:t>
            </a:r>
            <a:endParaRPr lang="en-US" sz="844" dirty="0"/>
          </a:p>
        </p:txBody>
      </p:sp>
      <p:sp>
        <p:nvSpPr>
          <p:cNvPr id="66" name="Text 64"/>
          <p:cNvSpPr/>
          <p:nvPr/>
        </p:nvSpPr>
        <p:spPr>
          <a:xfrm>
            <a:off x="3374194" y="3613733"/>
            <a:ext cx="2395500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3374194" y="3692314"/>
            <a:ext cx="23955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3374194" y="3806614"/>
            <a:ext cx="239550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проект договора подряда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3374194" y="3969469"/>
            <a:ext cx="23955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3374194" y="4083769"/>
            <a:ext cx="239550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аванс, штрафы, удержания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3374194" y="4246625"/>
            <a:ext cx="23955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3374194" y="4360925"/>
            <a:ext cx="250522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перечень рисков и рекомендации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023297" y="3210111"/>
            <a:ext cx="2688506" cy="1529767"/>
          </a:xfrm>
          <a:prstGeom prst="roundRect">
            <a:avLst>
              <a:gd name="adj" fmla="val 6226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8223036" y="3285120"/>
            <a:ext cx="466310" cy="249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2025" b="1" spc="-40" kern="0" dirty="0">
                <a:solidFill>
                  <a:srgbClr val="C9A961">
                    <a:alpha val="2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2025" dirty="0"/>
          </a:p>
        </p:txBody>
      </p:sp>
      <p:sp>
        <p:nvSpPr>
          <p:cNvPr id="75" name="Text 73"/>
          <p:cNvSpPr/>
          <p:nvPr/>
        </p:nvSpPr>
        <p:spPr>
          <a:xfrm>
            <a:off x="6173316" y="3345842"/>
            <a:ext cx="192881" cy="192881"/>
          </a:xfrm>
          <a:prstGeom prst="roundRect">
            <a:avLst>
              <a:gd name="adj" fmla="val 19753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6176531" y="334905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96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77" name="Text 75"/>
          <p:cNvSpPr/>
          <p:nvPr/>
        </p:nvSpPr>
        <p:spPr>
          <a:xfrm>
            <a:off x="6441207" y="3377989"/>
            <a:ext cx="1838399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spc="-4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Контроль исполнения</a:t>
            </a:r>
            <a:endParaRPr lang="en-US" sz="844" dirty="0"/>
          </a:p>
        </p:txBody>
      </p:sp>
      <p:sp>
        <p:nvSpPr>
          <p:cNvPr id="78" name="Text 76"/>
          <p:cNvSpPr/>
          <p:nvPr/>
        </p:nvSpPr>
        <p:spPr>
          <a:xfrm>
            <a:off x="6169744" y="3613733"/>
            <a:ext cx="2395612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6169744" y="3692314"/>
            <a:ext cx="239561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6169744" y="3806614"/>
            <a:ext cx="2395612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формы КС-2, КС-3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6169744" y="3969469"/>
            <a:ext cx="239561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6169744" y="4083769"/>
            <a:ext cx="250534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финансовое влияние расхождений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169744" y="4246625"/>
            <a:ext cx="239561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6169744" y="4360925"/>
            <a:ext cx="2395612" cy="153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влияние на маржу проекта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0" y="4829175"/>
            <a:ext cx="9144000" cy="314325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428625" y="4936331"/>
            <a:ext cx="415632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4599236" y="4936331"/>
            <a:ext cx="370671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СЦЕНАРИИ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8320236" y="4950619"/>
            <a:ext cx="39513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8502625" y="4936331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8587970" y="4936331"/>
            <a:ext cx="1381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4375" y="1187983"/>
            <a:ext cx="7715250" cy="1573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75"/>
              </a:lnSpc>
              <a:buNone/>
            </a:pPr>
            <a:r>
              <a:rPr lang="en-US" sz="13500" b="1" spc="-810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pPr algn="l" indent="0" marL="0">
              <a:lnSpc>
                <a:spcPts val="11475"/>
              </a:lnSpc>
              <a:buNone/>
            </a:pPr>
            <a:r>
              <a:rPr lang="en-US" sz="2025" b="1" spc="-810" kern="0" dirty="0">
                <a:solidFill>
                  <a:srgbClr val="5555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04</a:t>
            </a:r>
            <a:endParaRPr lang="en-US" sz="13500" dirty="0"/>
          </a:p>
        </p:txBody>
      </p:sp>
      <p:sp>
        <p:nvSpPr>
          <p:cNvPr id="4" name="Text 2"/>
          <p:cNvSpPr/>
          <p:nvPr/>
        </p:nvSpPr>
        <p:spPr>
          <a:xfrm>
            <a:off x="714375" y="2788183"/>
            <a:ext cx="685800" cy="21431"/>
          </a:xfrm>
          <a:prstGeom prst="rect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4375" y="2981065"/>
            <a:ext cx="7715250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01. Смета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714375" y="3515395"/>
            <a:ext cx="5143500" cy="47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i="1" dirty="0">
                <a:solidFill>
                  <a:srgbClr val="C9A961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2 000 позиций от генподрядчика — 14 млн ₽ предотвращённых потерь за 1 час работы системы</a:t>
            </a:r>
            <a:endParaRPr lang="en-US" sz="1238" dirty="0"/>
          </a:p>
        </p:txBody>
      </p:sp>
      <p:sp>
        <p:nvSpPr>
          <p:cNvPr id="7" name="Text 5"/>
          <p:cNvSpPr/>
          <p:nvPr/>
        </p:nvSpPr>
        <p:spPr>
          <a:xfrm>
            <a:off x="714375" y="4597003"/>
            <a:ext cx="426314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 · СТРОЙИНТЕЛЛЕКТ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991807" y="4597003"/>
            <a:ext cx="235676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КЕЙСЫ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62862" y="4597003"/>
            <a:ext cx="106676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05 / 12 · РАЗДЕЛ 02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530423"/>
            <a:ext cx="82867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5769" y="1869765"/>
            <a:ext cx="2671763" cy="0"/>
          </a:xfrm>
          <a:prstGeom prst="line">
            <a:avLst/>
          </a:prstGeom>
          <a:noFill/>
          <a:ln w="7144">
            <a:solidFill>
              <a:srgbClr val="2626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36119" y="1869765"/>
            <a:ext cx="2671763" cy="0"/>
          </a:xfrm>
          <a:prstGeom prst="line">
            <a:avLst/>
          </a:prstGeom>
          <a:noFill/>
          <a:ln w="7144">
            <a:solidFill>
              <a:srgbClr val="26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6469" y="1869765"/>
            <a:ext cx="2671763" cy="0"/>
          </a:xfrm>
          <a:prstGeom prst="line">
            <a:avLst/>
          </a:prstGeom>
          <a:noFill/>
          <a:ln w="7144">
            <a:solidFill>
              <a:srgbClr val="C9A9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32747"/>
            <a:ext cx="91440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8625" y="314325"/>
            <a:ext cx="721139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· КЕЙС 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654305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847186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040067" y="3634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232949" y="3634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475836" y="317004"/>
            <a:ext cx="239539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/ 4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28625" y="70544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01 · СМЕТА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8625" y="894755"/>
            <a:ext cx="863600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32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Проверка завышения расценок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28625" y="1229060"/>
            <a:ext cx="657225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Генподрядчик прислал смету на 2 000 позиций. СтройИнтеллект нашёл переплату за 1 час работы.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32197" y="1573299"/>
            <a:ext cx="2678906" cy="3166579"/>
          </a:xfrm>
          <a:prstGeom prst="roundRect">
            <a:avLst>
              <a:gd name="adj" fmla="val 3556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35769" y="1576871"/>
            <a:ext cx="2671763" cy="296466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64356" y="1665275"/>
            <a:ext cx="1241561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820205" y="1662596"/>
            <a:ext cx="115873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ИСХОДНЫЕ ДАННЫЕ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2931" y="2001924"/>
            <a:ext cx="2514600" cy="4154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79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2 000</a:t>
            </a:r>
            <a:endParaRPr lang="en-US" sz="3150" dirty="0"/>
          </a:p>
        </p:txBody>
      </p:sp>
      <p:sp>
        <p:nvSpPr>
          <p:cNvPr id="21" name="Text 19"/>
          <p:cNvSpPr/>
          <p:nvPr/>
        </p:nvSpPr>
        <p:spPr>
          <a:xfrm>
            <a:off x="592931" y="2444837"/>
            <a:ext cx="2514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ПОЗИЦИЙ В СМЕТЕ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2931" y="2637718"/>
            <a:ext cx="2357438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92931" y="2730587"/>
            <a:ext cx="2514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ПАРАМЕТРЫ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92931" y="2935970"/>
            <a:ext cx="889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ФОРМАТ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250156" y="2928826"/>
            <a:ext cx="170021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Excel + PDF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92931" y="3105969"/>
            <a:ext cx="9144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ОБЪЁМ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250156" y="3098825"/>
            <a:ext cx="170021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850 МБ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92931" y="3275967"/>
            <a:ext cx="9144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СРОК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250156" y="3268824"/>
            <a:ext cx="170021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рабочий день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92931" y="3445966"/>
            <a:ext cx="889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ИСТОЧНИК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250156" y="3438823"/>
            <a:ext cx="170021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генподрядчик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92931" y="4321969"/>
            <a:ext cx="2357438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70071" y="4403265"/>
            <a:ext cx="1687331" cy="216027"/>
          </a:xfrm>
          <a:prstGeom prst="roundRect">
            <a:avLst>
              <a:gd name="adj" fmla="val 13228"/>
            </a:avLst>
          </a:prstGeom>
          <a:noFill/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92931" y="4414838"/>
            <a:ext cx="164161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РУЧНАЯ ПРОВЕРКА — 5 ДНЕЙ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232547" y="1573299"/>
            <a:ext cx="2678906" cy="3166579"/>
          </a:xfrm>
          <a:prstGeom prst="roundRect">
            <a:avLst>
              <a:gd name="adj" fmla="val 3556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236119" y="1576871"/>
            <a:ext cx="2671763" cy="296466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364706" y="1665275"/>
            <a:ext cx="1169454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48448" y="1662596"/>
            <a:ext cx="123084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ДЕЛАЛ СМЕТЧИК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393281" y="2001924"/>
            <a:ext cx="2514600" cy="4154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79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endParaRPr lang="en-US" sz="3150" dirty="0"/>
          </a:p>
        </p:txBody>
      </p:sp>
      <p:sp>
        <p:nvSpPr>
          <p:cNvPr id="40" name="Text 38"/>
          <p:cNvSpPr/>
          <p:nvPr/>
        </p:nvSpPr>
        <p:spPr>
          <a:xfrm>
            <a:off x="3393281" y="2444837"/>
            <a:ext cx="2514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ИИ-АГЕНТОВ В ЦЕПОЧКЕ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393281" y="2637718"/>
            <a:ext cx="2357438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393281" y="2730587"/>
            <a:ext cx="2514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ШАГИ АНАЛИЗА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393281" y="2935970"/>
            <a:ext cx="128588" cy="128588"/>
          </a:xfrm>
          <a:prstGeom prst="ellipse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393281" y="2935970"/>
            <a:ext cx="1643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A0A0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593306" y="2928826"/>
            <a:ext cx="21574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Разбор позиций и нормализация наименований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393281" y="3250295"/>
            <a:ext cx="128588" cy="128588"/>
          </a:xfrm>
          <a:prstGeom prst="ellipse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393281" y="3250295"/>
            <a:ext cx="1643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A0A0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593306" y="3243151"/>
            <a:ext cx="23300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Сопоставление с опорной базой 250 объектов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393281" y="3443176"/>
            <a:ext cx="128588" cy="128588"/>
          </a:xfrm>
          <a:prstGeom prst="ellipse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3393281" y="3443176"/>
            <a:ext cx="1643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A0A0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593306" y="3436032"/>
            <a:ext cx="23300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Выявление двойного учёта арматуры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393281" y="3636057"/>
            <a:ext cx="128588" cy="128588"/>
          </a:xfrm>
          <a:prstGeom prst="ellipse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3393281" y="3636057"/>
            <a:ext cx="1643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A0A0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593306" y="3628913"/>
            <a:ext cx="23300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 завышения коэффициентов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393281" y="4321969"/>
            <a:ext cx="2357438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3370421" y="4403265"/>
            <a:ext cx="1556623" cy="216027"/>
          </a:xfrm>
          <a:prstGeom prst="roundRect">
            <a:avLst>
              <a:gd name="adj" fmla="val 13228"/>
            </a:avLst>
          </a:prstGeom>
          <a:noFill/>
          <a:ln w="7144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3393281" y="4414838"/>
            <a:ext cx="151090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КАЛИБРОВКА ПОД РЕГИОН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032897" y="1573299"/>
            <a:ext cx="2678906" cy="3166579"/>
          </a:xfrm>
          <a:prstGeom prst="roundRect">
            <a:avLst>
              <a:gd name="adj" fmla="val 3556"/>
            </a:avLst>
          </a:prstGeom>
          <a:solidFill>
            <a:srgbClr val="050505"/>
          </a:solidFill>
          <a:ln w="7144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036469" y="1576871"/>
            <a:ext cx="2671763" cy="296466"/>
          </a:xfrm>
          <a:prstGeom prst="rect">
            <a:avLst/>
          </a:prstGeom>
          <a:solidFill>
            <a:srgbClr val="C9A961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165056" y="1665275"/>
            <a:ext cx="1441363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620707" y="1662596"/>
            <a:ext cx="95893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ЗАКАЗЧИКА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193631" y="2001924"/>
            <a:ext cx="2514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РЕЕСТР НАРУШЕНИЙ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193631" y="2200163"/>
            <a:ext cx="2514600" cy="632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4860"/>
              </a:lnSpc>
              <a:buNone/>
            </a:pPr>
            <a:r>
              <a:rPr lang="en-US" sz="5400" b="1" spc="-243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4%</a:t>
            </a:r>
            <a:endParaRPr lang="en-US" sz="5400" dirty="0"/>
          </a:p>
        </p:txBody>
      </p:sp>
      <p:sp>
        <p:nvSpPr>
          <p:cNvPr id="64" name="Text 62"/>
          <p:cNvSpPr/>
          <p:nvPr/>
        </p:nvSpPr>
        <p:spPr>
          <a:xfrm>
            <a:off x="6193631" y="2860179"/>
            <a:ext cx="2514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сметы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193631" y="3095923"/>
            <a:ext cx="2357438" cy="7144"/>
          </a:xfrm>
          <a:prstGeom prst="rect">
            <a:avLst/>
          </a:prstGeom>
          <a:solidFill>
            <a:srgbClr val="C9A961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6193631" y="3188791"/>
            <a:ext cx="1828800" cy="194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spc="-29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7%</a:t>
            </a:r>
            <a:endParaRPr lang="en-US" sz="1463" dirty="0"/>
          </a:p>
        </p:txBody>
      </p:sp>
      <p:sp>
        <p:nvSpPr>
          <p:cNvPr id="67" name="Text 65"/>
          <p:cNvSpPr/>
          <p:nvPr/>
        </p:nvSpPr>
        <p:spPr>
          <a:xfrm>
            <a:off x="6193631" y="3410248"/>
            <a:ext cx="144648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75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СНИЖЕНИЕ ЦЕЛЕВОЙ ЦЕНЫ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408069" y="3188791"/>
            <a:ext cx="1300163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25" kern="0" dirty="0">
                <a:solidFill>
                  <a:srgbClr val="E5091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~14 млн ₽</a:t>
            </a:r>
            <a:endParaRPr lang="en-US" sz="1238" dirty="0"/>
          </a:p>
        </p:txBody>
      </p:sp>
      <p:sp>
        <p:nvSpPr>
          <p:cNvPr id="69" name="Text 67"/>
          <p:cNvSpPr/>
          <p:nvPr/>
        </p:nvSpPr>
        <p:spPr>
          <a:xfrm>
            <a:off x="7408069" y="3381673"/>
            <a:ext cx="130016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75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СОЭКОНОМИЛИ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193631" y="4329113"/>
            <a:ext cx="2357438" cy="7144"/>
          </a:xfrm>
          <a:prstGeom prst="rect">
            <a:avLst/>
          </a:prstGeom>
          <a:solidFill>
            <a:srgbClr val="C9A961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6170771" y="4418409"/>
            <a:ext cx="1445560" cy="200025"/>
          </a:xfrm>
          <a:prstGeom prst="roundRect">
            <a:avLst>
              <a:gd name="adj" fmla="val 14286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6193631" y="4429125"/>
            <a:ext cx="1399840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ЧАС РАБОТЫ СИСТЕМЫ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0" y="4829175"/>
            <a:ext cx="9144000" cy="314325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428625" y="4936331"/>
            <a:ext cx="420789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650804" y="4936331"/>
            <a:ext cx="365514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01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8320236" y="4950619"/>
            <a:ext cx="39513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8502625" y="4936331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8587970" y="4936331"/>
            <a:ext cx="1381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D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08415" y="2414588"/>
            <a:ext cx="6735585" cy="2157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63"/>
              </a:lnSpc>
              <a:buNone/>
            </a:pPr>
            <a:r>
              <a:rPr lang="en-US" sz="29250" b="1" spc="-1755" kern="0" dirty="0">
                <a:solidFill>
                  <a:srgbClr val="E50914">
                    <a:alpha val="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29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25" y="571500"/>
            <a:ext cx="7144" cy="4000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4375" y="1187983"/>
            <a:ext cx="7715250" cy="1573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75"/>
              </a:lnSpc>
              <a:buNone/>
            </a:pPr>
            <a:r>
              <a:rPr lang="en-US" sz="13500" b="1" spc="-810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pPr algn="l" indent="0" marL="0">
              <a:lnSpc>
                <a:spcPts val="11475"/>
              </a:lnSpc>
              <a:buNone/>
            </a:pPr>
            <a:r>
              <a:rPr lang="en-US" sz="2025" b="1" spc="-810" kern="0" dirty="0">
                <a:solidFill>
                  <a:srgbClr val="5555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04</a:t>
            </a:r>
            <a:endParaRPr lang="en-US" sz="13500" dirty="0"/>
          </a:p>
        </p:txBody>
      </p:sp>
      <p:sp>
        <p:nvSpPr>
          <p:cNvPr id="6" name="Text 3"/>
          <p:cNvSpPr/>
          <p:nvPr/>
        </p:nvSpPr>
        <p:spPr>
          <a:xfrm>
            <a:off x="714375" y="2788183"/>
            <a:ext cx="685800" cy="21431"/>
          </a:xfrm>
          <a:prstGeom prst="rect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14375" y="2981065"/>
            <a:ext cx="7715250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02. Сравнение КП</a:t>
            </a:r>
            <a:endParaRPr lang="en-US" sz="3150" dirty="0"/>
          </a:p>
        </p:txBody>
      </p:sp>
      <p:sp>
        <p:nvSpPr>
          <p:cNvPr id="8" name="Text 5"/>
          <p:cNvSpPr/>
          <p:nvPr/>
        </p:nvSpPr>
        <p:spPr>
          <a:xfrm>
            <a:off x="714375" y="3515395"/>
            <a:ext cx="5143500" cy="47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i="1" dirty="0">
                <a:solidFill>
                  <a:srgbClr val="C9A961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«Три коммерческих предложения с разными наименованиями — одна аналитическая оценка за 1 час»</a:t>
            </a:r>
            <a:endParaRPr lang="en-US" sz="1238" dirty="0"/>
          </a:p>
        </p:txBody>
      </p:sp>
      <p:sp>
        <p:nvSpPr>
          <p:cNvPr id="9" name="Text 6"/>
          <p:cNvSpPr/>
          <p:nvPr/>
        </p:nvSpPr>
        <p:spPr>
          <a:xfrm>
            <a:off x="714375" y="4597003"/>
            <a:ext cx="423803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 </a:t>
            </a:r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СТРОЙИНТЕЛЛЕКТ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966692" y="4597003"/>
            <a:ext cx="218174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КЕЙСЫ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162726" y="4597003"/>
            <a:ext cx="126689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 </a:t>
            </a:r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РАЗДЕЛ 03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14375" y="428625"/>
            <a:ext cx="63516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 · КЕЙСЫ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080349" y="428625"/>
            <a:ext cx="92002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ПРОГРЕСС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693819" y="4777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886700" y="4777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8079581" y="4777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8272463" y="4777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530423"/>
            <a:ext cx="82867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32747"/>
            <a:ext cx="91440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8625" y="314325"/>
            <a:ext cx="704351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· КЕЙС 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86427" y="317004"/>
            <a:ext cx="634170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979569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72450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65331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558213" y="3634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28625" y="70544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02 · СРАВНЕНИЕ КП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8625" y="894755"/>
            <a:ext cx="863600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32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Три предложения — одна аналитическая оценка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8625" y="1229060"/>
            <a:ext cx="6572250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Подрядчики писали позиции по-разному. Сравнить вручную — невозможно. СтройИнтеллект привёл к сопоставимому виду и выявил скрытые риски.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2197" y="1728229"/>
            <a:ext cx="4726707" cy="3033861"/>
          </a:xfrm>
          <a:prstGeom prst="roundRect">
            <a:avLst>
              <a:gd name="adj" fmla="val 3140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50081" y="1917539"/>
            <a:ext cx="42909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СИТУАЦИЯ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50081" y="2115778"/>
            <a:ext cx="4290938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Поступило три коммерческих предложения с разными наименованиями работ. Сравнить вручную — невозможно: </a:t>
            </a:r>
            <a:pPr algn="l" indent="0" marL="0">
              <a:lnSpc>
                <a:spcPts val="1291"/>
              </a:lnSpc>
              <a:buNone/>
            </a:pPr>
            <a:r>
              <a:rPr lang="en-US" sz="800" b="1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60% позиций</a:t>
            </a:r>
            <a:pPr algn="l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у каждого подрядчика написано по-своему.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50081" y="2750232"/>
            <a:ext cx="4290938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50081" y="2900251"/>
            <a:ext cx="44006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СДЕЛАЛ СТРОЙИНТЕЛЛЕКТ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0081" y="3098490"/>
            <a:ext cx="4290938" cy="74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Привёл позиции к сопоставимому виду, рассчитал </a:t>
            </a:r>
            <a:pPr algn="l" indent="0" marL="0">
              <a:lnSpc>
                <a:spcPts val="1291"/>
              </a:lnSpc>
              <a:buNone/>
            </a:pPr>
            <a:r>
              <a:rPr lang="en-US" sz="800" b="1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собственную аналитическую оценку</a:t>
            </a:r>
            <a:pPr algn="l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и выявил аномалию: предложение подрядчика А было ниже рынка на </a:t>
            </a:r>
            <a:pPr algn="l" indent="0" marL="0">
              <a:lnSpc>
                <a:spcPts val="1291"/>
              </a:lnSpc>
              <a:buNone/>
            </a:pPr>
            <a:r>
              <a:rPr lang="en-US" sz="800" b="1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12%</a:t>
            </a:r>
            <a:pPr algn="l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высокий риск невыполнения. Подрядчик Б имел скрытые завышения объёмов.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50081" y="3896804"/>
            <a:ext cx="4290938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50081" y="4046823"/>
            <a:ext cx="42909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50081" y="4245062"/>
            <a:ext cx="4290938" cy="32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Заказчик получил целевую цену для переговоров и реестр рисков по каждому подрядчику. Переговоры шли </a:t>
            </a:r>
            <a:pPr algn="l" indent="0" marL="0">
              <a:lnSpc>
                <a:spcPts val="1291"/>
              </a:lnSpc>
              <a:buNone/>
            </a:pPr>
            <a:r>
              <a:rPr lang="en-US" sz="800" b="1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позиции силы</a:t>
            </a:r>
            <a:pPr algn="l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а не угадывания.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37497" y="1728229"/>
            <a:ext cx="3374194" cy="949337"/>
          </a:xfrm>
          <a:prstGeom prst="roundRect">
            <a:avLst>
              <a:gd name="adj" fmla="val 10033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498232" y="2102830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505018" y="210961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A0A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5826844" y="1995674"/>
            <a:ext cx="2724113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51" kern="0" dirty="0">
                <a:solidFill>
                  <a:srgbClr val="C9A961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0 ₽</a:t>
            </a:r>
            <a:endParaRPr lang="en-US" sz="2025" dirty="0"/>
          </a:p>
        </p:txBody>
      </p:sp>
      <p:sp>
        <p:nvSpPr>
          <p:cNvPr id="26" name="Text 24"/>
          <p:cNvSpPr/>
          <p:nvPr/>
        </p:nvSpPr>
        <p:spPr>
          <a:xfrm>
            <a:off x="5826844" y="2309999"/>
            <a:ext cx="2833841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spc="9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РАСХОЖДЕНИЕ СУММ РАЗДЕЛОВ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37497" y="2770436"/>
            <a:ext cx="3374194" cy="949449"/>
          </a:xfrm>
          <a:prstGeom prst="roundRect">
            <a:avLst>
              <a:gd name="adj" fmla="val 10032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498232" y="3145148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505018" y="3151934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30" name="Text 28"/>
          <p:cNvSpPr/>
          <p:nvPr/>
        </p:nvSpPr>
        <p:spPr>
          <a:xfrm>
            <a:off x="5826844" y="3037991"/>
            <a:ext cx="2724113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51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95%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5826844" y="3352316"/>
            <a:ext cx="2833841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spc="90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КОРРЕКТНО ИЗВЛЕЧЁННЫХ ПОЗИЦИЙ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37497" y="3812753"/>
            <a:ext cx="3374194" cy="949337"/>
          </a:xfrm>
          <a:prstGeom prst="roundRect">
            <a:avLst>
              <a:gd name="adj" fmla="val 10033"/>
            </a:avLst>
          </a:prstGeom>
          <a:solidFill>
            <a:srgbClr val="050505"/>
          </a:solidFill>
          <a:ln w="7144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498232" y="4187354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505018" y="4194140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A0A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266" dirty="0"/>
          </a:p>
        </p:txBody>
      </p:sp>
      <p:sp>
        <p:nvSpPr>
          <p:cNvPr id="35" name="Text 33"/>
          <p:cNvSpPr/>
          <p:nvPr/>
        </p:nvSpPr>
        <p:spPr>
          <a:xfrm>
            <a:off x="5826844" y="4080197"/>
            <a:ext cx="2724113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51" kern="0" dirty="0">
                <a:solidFill>
                  <a:srgbClr val="C9A961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 час</a:t>
            </a:r>
            <a:endParaRPr lang="en-US" sz="2025" dirty="0"/>
          </a:p>
        </p:txBody>
      </p:sp>
      <p:sp>
        <p:nvSpPr>
          <p:cNvPr id="36" name="Text 34"/>
          <p:cNvSpPr/>
          <p:nvPr/>
        </p:nvSpPr>
        <p:spPr>
          <a:xfrm>
            <a:off x="5826844" y="4394522"/>
            <a:ext cx="2833841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spc="9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ВРЕМЯ ФОРМИРОВАНИЯ ТАБЛИЦЫ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0" y="4829175"/>
            <a:ext cx="9144000" cy="314325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28625" y="4936331"/>
            <a:ext cx="420789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50804" y="4936331"/>
            <a:ext cx="365514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320236" y="4950619"/>
            <a:ext cx="39513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502625" y="4936331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587970" y="4936331"/>
            <a:ext cx="1381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D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08415" y="2414588"/>
            <a:ext cx="6735585" cy="2157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63"/>
              </a:lnSpc>
              <a:buNone/>
            </a:pPr>
            <a:r>
              <a:rPr lang="en-US" sz="29250" b="1" spc="-1755" kern="0" dirty="0">
                <a:solidFill>
                  <a:srgbClr val="C9A961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29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25" y="571500"/>
            <a:ext cx="7144" cy="4000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4375" y="1187983"/>
            <a:ext cx="7715250" cy="1573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75"/>
              </a:lnSpc>
              <a:buNone/>
            </a:pPr>
            <a:r>
              <a:rPr lang="en-US" sz="13500" b="1" spc="-810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pPr algn="l" indent="0" marL="0">
              <a:lnSpc>
                <a:spcPts val="11475"/>
              </a:lnSpc>
              <a:buNone/>
            </a:pPr>
            <a:r>
              <a:rPr lang="en-US" sz="2025" b="1" spc="-810" kern="0" dirty="0">
                <a:solidFill>
                  <a:srgbClr val="5555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04</a:t>
            </a:r>
            <a:endParaRPr lang="en-US" sz="13500" dirty="0"/>
          </a:p>
        </p:txBody>
      </p:sp>
      <p:sp>
        <p:nvSpPr>
          <p:cNvPr id="6" name="Text 3"/>
          <p:cNvSpPr/>
          <p:nvPr/>
        </p:nvSpPr>
        <p:spPr>
          <a:xfrm>
            <a:off x="714375" y="2788183"/>
            <a:ext cx="685800" cy="21431"/>
          </a:xfrm>
          <a:prstGeom prst="rect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14375" y="2981065"/>
            <a:ext cx="7715250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03. Финансы</a:t>
            </a:r>
            <a:endParaRPr lang="en-US" sz="3150" dirty="0"/>
          </a:p>
        </p:txBody>
      </p:sp>
      <p:sp>
        <p:nvSpPr>
          <p:cNvPr id="8" name="Text 5"/>
          <p:cNvSpPr/>
          <p:nvPr/>
        </p:nvSpPr>
        <p:spPr>
          <a:xfrm>
            <a:off x="714375" y="3515395"/>
            <a:ext cx="5143500" cy="47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i="1" dirty="0">
                <a:solidFill>
                  <a:srgbClr val="C9A961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«От ручной БДДС в Excel — к автоматическому прогнозу кассовых разрывов в трёх сценариях»</a:t>
            </a:r>
            <a:endParaRPr lang="en-US" sz="1238" dirty="0"/>
          </a:p>
        </p:txBody>
      </p:sp>
      <p:sp>
        <p:nvSpPr>
          <p:cNvPr id="9" name="Text 6"/>
          <p:cNvSpPr/>
          <p:nvPr/>
        </p:nvSpPr>
        <p:spPr>
          <a:xfrm>
            <a:off x="714375" y="4597003"/>
            <a:ext cx="423803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 </a:t>
            </a:r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СТРОЙИНТЕЛЛЕКТ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966692" y="4597003"/>
            <a:ext cx="218174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КЕЙСЫ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162726" y="4597003"/>
            <a:ext cx="126689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 </a:t>
            </a:r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РАЗДЕЛ 04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14375" y="428625"/>
            <a:ext cx="63516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 · КЕЙСЫ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080349" y="428625"/>
            <a:ext cx="92002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ПРОГРЕСС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693819" y="4777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886700" y="4777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8079581" y="4777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8272463" y="4777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530423"/>
            <a:ext cx="82867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5769" y="2076934"/>
            <a:ext cx="4057650" cy="0"/>
          </a:xfrm>
          <a:prstGeom prst="line">
            <a:avLst/>
          </a:prstGeom>
          <a:noFill/>
          <a:ln w="7144">
            <a:solidFill>
              <a:srgbClr val="2626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32747"/>
            <a:ext cx="91440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8625" y="314325"/>
            <a:ext cx="704351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 · КЕЙС 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486427" y="317004"/>
            <a:ext cx="634170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979569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72450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365331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558213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28625" y="70544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03 · ФИНАНСЫ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28625" y="894755"/>
            <a:ext cx="863600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32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Управление финансами проекта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8625" y="1229060"/>
            <a:ext cx="657225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ручной БДДС в Excel — к автоматическому прогнозу кассовых разрывов в трёх сценариях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32197" y="1573299"/>
            <a:ext cx="4064794" cy="3166579"/>
          </a:xfrm>
          <a:prstGeom prst="roundRect">
            <a:avLst>
              <a:gd name="adj" fmla="val 3008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35769" y="1576871"/>
            <a:ext cx="4057650" cy="503634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64356" y="1676884"/>
            <a:ext cx="2741414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24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4356" y="1812615"/>
            <a:ext cx="179905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spc="-4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Ручная финансовая модель</a:t>
            </a:r>
            <a:endParaRPr lang="en-US" sz="844" dirty="0"/>
          </a:p>
        </p:txBody>
      </p:sp>
      <p:sp>
        <p:nvSpPr>
          <p:cNvPr id="18" name="Text 16"/>
          <p:cNvSpPr/>
          <p:nvPr/>
        </p:nvSpPr>
        <p:spPr>
          <a:xfrm>
            <a:off x="3876458" y="1717103"/>
            <a:ext cx="507157" cy="216027"/>
          </a:xfrm>
          <a:prstGeom prst="roundRect">
            <a:avLst>
              <a:gd name="adj" fmla="val 13228"/>
            </a:avLst>
          </a:prstGeom>
          <a:noFill/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895241" y="1728676"/>
            <a:ext cx="46959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EXCEL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6503" y="2212665"/>
            <a:ext cx="192881" cy="192881"/>
          </a:xfrm>
          <a:prstGeom prst="roundRect">
            <a:avLst>
              <a:gd name="adj" fmla="val 19753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99718" y="2215880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5555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⊖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878681" y="2209093"/>
            <a:ext cx="34575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 маржи в одном сценарии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96503" y="2491271"/>
            <a:ext cx="192881" cy="192881"/>
          </a:xfrm>
          <a:prstGeom prst="roundRect">
            <a:avLst>
              <a:gd name="adj" fmla="val 19753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99718" y="249448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5555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⊖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878681" y="2487699"/>
            <a:ext cx="34575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Ручное построение БДДС в Excel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96503" y="2769877"/>
            <a:ext cx="192881" cy="192881"/>
          </a:xfrm>
          <a:prstGeom prst="roundRect">
            <a:avLst>
              <a:gd name="adj" fmla="val 19753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99718" y="277309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5555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⊖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878681" y="2766306"/>
            <a:ext cx="34575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Риски кассовых разрывов выявляются постфактум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96503" y="3048484"/>
            <a:ext cx="192881" cy="192881"/>
          </a:xfrm>
          <a:prstGeom prst="roundRect">
            <a:avLst>
              <a:gd name="adj" fmla="val 19753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99718" y="305169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5555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⊖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878681" y="3044912"/>
            <a:ext cx="34575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Дата раскрытия эскроу не синхронизирована с план-графиком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92931" y="4155207"/>
            <a:ext cx="3743325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92931" y="4319513"/>
            <a:ext cx="1935420" cy="1732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99"/>
              </a:lnSpc>
              <a:buNone/>
            </a:pPr>
            <a:r>
              <a:rPr lang="en-US" sz="1238" b="1" spc="-25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238" dirty="0"/>
          </a:p>
        </p:txBody>
      </p:sp>
      <p:sp>
        <p:nvSpPr>
          <p:cNvPr id="34" name="Text 32"/>
          <p:cNvSpPr/>
          <p:nvPr/>
        </p:nvSpPr>
        <p:spPr>
          <a:xfrm>
            <a:off x="592931" y="4520208"/>
            <a:ext cx="16614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75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СЦЕНАРИЙ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859719" y="4319513"/>
            <a:ext cx="1548336" cy="1732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99"/>
              </a:lnSpc>
              <a:buNone/>
            </a:pPr>
            <a:r>
              <a:rPr lang="en-US" sz="1238" b="1" spc="-25" kern="0" dirty="0">
                <a:solidFill>
                  <a:srgbClr val="F5F5F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5–7 дн</a:t>
            </a:r>
            <a:endParaRPr lang="en-US" sz="1238" dirty="0"/>
          </a:p>
        </p:txBody>
      </p:sp>
      <p:sp>
        <p:nvSpPr>
          <p:cNvPr id="36" name="Text 34"/>
          <p:cNvSpPr/>
          <p:nvPr/>
        </p:nvSpPr>
        <p:spPr>
          <a:xfrm>
            <a:off x="1859719" y="4520208"/>
            <a:ext cx="16614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75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БДДС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126507" y="4319513"/>
            <a:ext cx="1366912" cy="1732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99"/>
              </a:lnSpc>
              <a:buNone/>
            </a:pPr>
            <a:r>
              <a:rPr lang="en-US" sz="1238" b="1" spc="-25" kern="0" dirty="0">
                <a:solidFill>
                  <a:srgbClr val="F5F5F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Постфактум</a:t>
            </a:r>
            <a:endParaRPr lang="en-US" sz="1238" dirty="0"/>
          </a:p>
        </p:txBody>
      </p:sp>
      <p:sp>
        <p:nvSpPr>
          <p:cNvPr id="38" name="Text 36"/>
          <p:cNvSpPr/>
          <p:nvPr/>
        </p:nvSpPr>
        <p:spPr>
          <a:xfrm>
            <a:off x="3126507" y="4520208"/>
            <a:ext cx="13669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75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ВЫЯВЛЕНИЕ</a:t>
            </a:r>
            <a:endParaRPr lang="en-US" sz="800" dirty="0"/>
          </a:p>
        </p:txBody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3438" y="1569727"/>
            <a:ext cx="4071938" cy="3173723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4647009" y="1573299"/>
            <a:ext cx="4064794" cy="3166579"/>
          </a:xfrm>
          <a:prstGeom prst="roundRect">
            <a:avLst>
              <a:gd name="adj" fmla="val 3008"/>
            </a:avLst>
          </a:prstGeom>
          <a:noFill/>
          <a:ln w="7144">
            <a:solidFill>
              <a:srgbClr val="E5091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650581" y="1576871"/>
            <a:ext cx="4057650" cy="496491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4779169" y="1676884"/>
            <a:ext cx="2955905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2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4779169" y="1812615"/>
            <a:ext cx="1995236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-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Финмодель СтройИнтеллекта</a:t>
            </a:r>
            <a:endParaRPr lang="en-US" sz="844" dirty="0"/>
          </a:p>
        </p:txBody>
      </p:sp>
      <p:sp>
        <p:nvSpPr>
          <p:cNvPr id="44" name="Text 41"/>
          <p:cNvSpPr/>
          <p:nvPr/>
        </p:nvSpPr>
        <p:spPr>
          <a:xfrm>
            <a:off x="8146527" y="1725104"/>
            <a:ext cx="449775" cy="200025"/>
          </a:xfrm>
          <a:prstGeom prst="roundRect">
            <a:avLst>
              <a:gd name="adj" fmla="val 14286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8163185" y="1735820"/>
            <a:ext cx="41645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АВТО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4807744" y="2201949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4814530" y="220873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48" name="Text 45"/>
          <p:cNvSpPr/>
          <p:nvPr/>
        </p:nvSpPr>
        <p:spPr>
          <a:xfrm>
            <a:off x="5093494" y="2201949"/>
            <a:ext cx="34575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Автоматический расчёт </a:t>
            </a:r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трёх сценариев маржи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4807744" y="2480556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4814530" y="248734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51" name="Text 48"/>
          <p:cNvSpPr/>
          <p:nvPr/>
        </p:nvSpPr>
        <p:spPr>
          <a:xfrm>
            <a:off x="5093494" y="2480556"/>
            <a:ext cx="34575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Прогноз кассовых разрывов с периодом и суммой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4807744" y="2759162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4814530" y="276594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54" name="Text 51"/>
          <p:cNvSpPr/>
          <p:nvPr/>
        </p:nvSpPr>
        <p:spPr>
          <a:xfrm>
            <a:off x="5093494" y="2759162"/>
            <a:ext cx="34575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Помесячный БДДС с учётом графика выборки проектного кредита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4807744" y="3037768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4814530" y="304455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57" name="Text 54"/>
          <p:cNvSpPr/>
          <p:nvPr/>
        </p:nvSpPr>
        <p:spPr>
          <a:xfrm>
            <a:off x="5093494" y="3037768"/>
            <a:ext cx="34575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Синхронизация эскроу и план-графика СМР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4807744" y="4155207"/>
            <a:ext cx="3743325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6"/>
          <p:cNvSpPr/>
          <p:nvPr/>
        </p:nvSpPr>
        <p:spPr>
          <a:xfrm>
            <a:off x="4807744" y="4319513"/>
            <a:ext cx="1935420" cy="1732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99"/>
              </a:lnSpc>
              <a:buNone/>
            </a:pPr>
            <a:r>
              <a:rPr lang="en-US" sz="1238" b="1" spc="-25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238" dirty="0"/>
          </a:p>
        </p:txBody>
      </p:sp>
      <p:sp>
        <p:nvSpPr>
          <p:cNvPr id="60" name="Text 57"/>
          <p:cNvSpPr/>
          <p:nvPr/>
        </p:nvSpPr>
        <p:spPr>
          <a:xfrm>
            <a:off x="4807744" y="4520208"/>
            <a:ext cx="16614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75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СЦЕНАРИЯ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6074532" y="4319513"/>
            <a:ext cx="1911228" cy="1732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99"/>
              </a:lnSpc>
              <a:buNone/>
            </a:pPr>
            <a:r>
              <a:rPr lang="en-US" sz="1238" b="1" spc="-25" kern="0" dirty="0">
                <a:solidFill>
                  <a:srgbClr val="E5091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 час</a:t>
            </a:r>
            <a:endParaRPr lang="en-US" sz="1238" dirty="0"/>
          </a:p>
        </p:txBody>
      </p:sp>
      <p:sp>
        <p:nvSpPr>
          <p:cNvPr id="62" name="Text 59"/>
          <p:cNvSpPr/>
          <p:nvPr/>
        </p:nvSpPr>
        <p:spPr>
          <a:xfrm>
            <a:off x="6074532" y="4520208"/>
            <a:ext cx="16614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75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БДДС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7341319" y="4319513"/>
            <a:ext cx="1366912" cy="1732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99"/>
              </a:lnSpc>
              <a:buNone/>
            </a:pPr>
            <a:r>
              <a:rPr lang="en-US" sz="1238" b="1" spc="-25" kern="0" dirty="0">
                <a:solidFill>
                  <a:srgbClr val="E5091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Заблаговременно</a:t>
            </a:r>
            <a:endParaRPr lang="en-US" sz="1238" dirty="0"/>
          </a:p>
        </p:txBody>
      </p:sp>
      <p:sp>
        <p:nvSpPr>
          <p:cNvPr id="64" name="Text 61"/>
          <p:cNvSpPr/>
          <p:nvPr/>
        </p:nvSpPr>
        <p:spPr>
          <a:xfrm>
            <a:off x="7341319" y="4520208"/>
            <a:ext cx="13669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75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ВЫЯВЛЕНИЕ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0" y="4829175"/>
            <a:ext cx="9144000" cy="314325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428625" y="4936331"/>
            <a:ext cx="420789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4650804" y="4936331"/>
            <a:ext cx="365514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03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8320236" y="4950619"/>
            <a:ext cx="39513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8502625" y="4936331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8587970" y="4936331"/>
            <a:ext cx="1381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530423"/>
            <a:ext cx="82867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32747"/>
            <a:ext cx="91440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8625" y="314325"/>
            <a:ext cx="704351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 · ЛИД-МАГНИТ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86427" y="317004"/>
            <a:ext cx="634170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979569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72450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65331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558213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28625" y="70544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ПРЕДПРОДАЖНАЯ ПРОВЕРКА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8625" y="894755"/>
            <a:ext cx="863600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32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Бесплатный расчёт на вашем объекте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8625" y="1229060"/>
            <a:ext cx="657225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Доказательство точности на ваших данных. 5 рабочих дней. NDA до приёмки документов. Без обязательств.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2197" y="1573299"/>
            <a:ext cx="4064794" cy="2478993"/>
          </a:xfrm>
          <a:prstGeom prst="roundRect">
            <a:avLst>
              <a:gd name="adj" fmla="val 3842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1506" y="1734034"/>
            <a:ext cx="371475" cy="371475"/>
          </a:xfrm>
          <a:prstGeom prst="roundRect">
            <a:avLst>
              <a:gd name="adj" fmla="val 17949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1867" y="1764395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0A0A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2109" dirty="0"/>
          </a:p>
        </p:txBody>
      </p:sp>
      <p:sp>
        <p:nvSpPr>
          <p:cNvPr id="16" name="Text 14"/>
          <p:cNvSpPr/>
          <p:nvPr/>
        </p:nvSpPr>
        <p:spPr>
          <a:xfrm>
            <a:off x="1092994" y="1863514"/>
            <a:ext cx="32146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1 · ПИЛОТ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1506" y="2191234"/>
            <a:ext cx="3686175" cy="21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350" b="1" spc="-27" kern="0" dirty="0">
                <a:solidFill>
                  <a:srgbClr val="F5F5F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Что делаем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1506" y="2459794"/>
            <a:ext cx="3686175" cy="542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Бесплатно рассчитываем </a:t>
            </a:r>
            <a:pPr algn="l" indent="0" marL="0">
              <a:lnSpc>
                <a:spcPts val="1207"/>
              </a:lnSpc>
              <a:buNone/>
            </a:pPr>
            <a:r>
              <a:rPr lang="en-US" sz="800" b="1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1–2 ваших закрытых объектов</a:t>
            </a:r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Вы предоставляете сметы, КП и фактическую себестоимость. Мы загружаем их в СтройИнтеллект и сравниваем результат с фактом.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1506" y="3033526"/>
            <a:ext cx="3686175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1506" y="3126395"/>
            <a:ext cx="3686175" cy="15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 ПРЕДОСТАВЛЯЕТЕ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1506" y="3298774"/>
            <a:ext cx="516582" cy="216027"/>
          </a:xfrm>
          <a:prstGeom prst="roundRect">
            <a:avLst>
              <a:gd name="adj" fmla="val 13228"/>
            </a:avLst>
          </a:prstGeom>
          <a:noFill/>
          <a:ln w="7144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21506" y="3310347"/>
            <a:ext cx="51658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СМЕТЫ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80951" y="3298774"/>
            <a:ext cx="309637" cy="216027"/>
          </a:xfrm>
          <a:prstGeom prst="roundRect">
            <a:avLst>
              <a:gd name="adj" fmla="val 13228"/>
            </a:avLst>
          </a:prstGeom>
          <a:noFill/>
          <a:ln w="7144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80951" y="3310347"/>
            <a:ext cx="30963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КП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533451" y="3298774"/>
            <a:ext cx="1360326" cy="216027"/>
          </a:xfrm>
          <a:prstGeom prst="roundRect">
            <a:avLst>
              <a:gd name="adj" fmla="val 13228"/>
            </a:avLst>
          </a:prstGeom>
          <a:noFill/>
          <a:ln w="7144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533451" y="3310347"/>
            <a:ext cx="136032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ФАКТ. СЕБЕСТОИМОСТЬ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47009" y="1573299"/>
            <a:ext cx="4064794" cy="2478993"/>
          </a:xfrm>
          <a:prstGeom prst="roundRect">
            <a:avLst>
              <a:gd name="adj" fmla="val 3842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36319" y="1734034"/>
            <a:ext cx="371475" cy="371475"/>
          </a:xfrm>
          <a:prstGeom prst="roundRect">
            <a:avLst>
              <a:gd name="adj" fmla="val 17949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66680" y="1764395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0A0A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2109" dirty="0"/>
          </a:p>
        </p:txBody>
      </p:sp>
      <p:sp>
        <p:nvSpPr>
          <p:cNvPr id="30" name="Text 28"/>
          <p:cNvSpPr/>
          <p:nvPr/>
        </p:nvSpPr>
        <p:spPr>
          <a:xfrm>
            <a:off x="5307806" y="1863514"/>
            <a:ext cx="32146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2 · ОТЧЁТ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36319" y="2191234"/>
            <a:ext cx="3686175" cy="21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350" b="1" spc="-27" kern="0" dirty="0">
                <a:solidFill>
                  <a:srgbClr val="F5F5F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Что получаете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836319" y="2459794"/>
            <a:ext cx="3686175" cy="542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Демонстрацию точности модели на ваших данных. Список выявленных аномалий, которые система нашла </a:t>
            </a:r>
            <a:pPr algn="l" indent="0" marL="0">
              <a:lnSpc>
                <a:spcPts val="1207"/>
              </a:lnSpc>
              <a:buNone/>
            </a:pPr>
            <a:r>
              <a:rPr lang="en-US" sz="800" b="1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автоматически</a:t>
            </a:r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Обоснованный бизнес-кейс для внедрения с цифрами предотвращённых потерь.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36319" y="3033526"/>
            <a:ext cx="3686175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36319" y="3126395"/>
            <a:ext cx="3686175" cy="15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МЫ ВОЗВРАЩАЕМ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36319" y="3298774"/>
            <a:ext cx="1040197" cy="216027"/>
          </a:xfrm>
          <a:prstGeom prst="roundRect">
            <a:avLst>
              <a:gd name="adj" fmla="val 13228"/>
            </a:avLst>
          </a:prstGeom>
          <a:noFill/>
          <a:ln w="7144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36319" y="3310347"/>
            <a:ext cx="104019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ТОЧНОСТЬ ±3-5%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919378" y="3298774"/>
            <a:ext cx="1130945" cy="216027"/>
          </a:xfrm>
          <a:prstGeom prst="roundRect">
            <a:avLst>
              <a:gd name="adj" fmla="val 13228"/>
            </a:avLst>
          </a:prstGeom>
          <a:noFill/>
          <a:ln w="7144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919378" y="3310347"/>
            <a:ext cx="113094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РЕЕСТР АНОМАЛИЙ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093186" y="3298774"/>
            <a:ext cx="856580" cy="216027"/>
          </a:xfrm>
          <a:prstGeom prst="roundRect">
            <a:avLst>
              <a:gd name="adj" fmla="val 13228"/>
            </a:avLst>
          </a:prstGeom>
          <a:noFill/>
          <a:ln w="7144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093186" y="3310347"/>
            <a:ext cx="85658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БИЗНЕС-КЕЙС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32197" y="4173736"/>
            <a:ext cx="8279606" cy="566142"/>
          </a:xfrm>
          <a:prstGeom prst="roundRect">
            <a:avLst>
              <a:gd name="adj" fmla="val 16824"/>
            </a:avLst>
          </a:prstGeom>
          <a:solidFill>
            <a:srgbClr val="050505"/>
          </a:solidFill>
          <a:ln w="7144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92931" y="4316611"/>
            <a:ext cx="5621987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ГАРАНТИИ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92931" y="4457700"/>
            <a:ext cx="3530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рабочих дней · без обязательств · NDA до приёма документов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250335" y="4277320"/>
            <a:ext cx="1199971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spc="-29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1463" dirty="0"/>
          </a:p>
        </p:txBody>
      </p:sp>
      <p:sp>
        <p:nvSpPr>
          <p:cNvPr id="45" name="Text 43"/>
          <p:cNvSpPr/>
          <p:nvPr/>
        </p:nvSpPr>
        <p:spPr>
          <a:xfrm>
            <a:off x="6250335" y="4534495"/>
            <a:ext cx="959133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РАБОЧИХ ДНЕЙ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200342" y="4277320"/>
            <a:ext cx="918666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spc="-29" kern="0" dirty="0">
                <a:solidFill>
                  <a:srgbClr val="C9A961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0 ₽</a:t>
            </a:r>
            <a:endParaRPr lang="en-US" sz="1463" dirty="0"/>
          </a:p>
        </p:txBody>
      </p:sp>
      <p:sp>
        <p:nvSpPr>
          <p:cNvPr id="47" name="Text 45"/>
          <p:cNvSpPr/>
          <p:nvPr/>
        </p:nvSpPr>
        <p:spPr>
          <a:xfrm>
            <a:off x="7200342" y="4534495"/>
            <a:ext cx="806377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СТОИМОСТЬ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981801" y="4277320"/>
            <a:ext cx="569268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spc="-29" kern="0" dirty="0">
                <a:solidFill>
                  <a:srgbClr val="C9A961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NDA</a:t>
            </a:r>
            <a:endParaRPr lang="en-US" sz="1463" dirty="0"/>
          </a:p>
        </p:txBody>
      </p:sp>
      <p:sp>
        <p:nvSpPr>
          <p:cNvPr id="49" name="Text 47"/>
          <p:cNvSpPr/>
          <p:nvPr/>
        </p:nvSpPr>
        <p:spPr>
          <a:xfrm>
            <a:off x="7981801" y="4534495"/>
            <a:ext cx="569268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 ПРИЁМА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0" y="4829175"/>
            <a:ext cx="9144000" cy="314325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28625" y="4936331"/>
            <a:ext cx="409816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541081" y="4936331"/>
            <a:ext cx="376486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ЛИД-МАГНИТ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320236" y="4950619"/>
            <a:ext cx="39513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502625" y="4936331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587970" y="4936331"/>
            <a:ext cx="1381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68053" y="0"/>
            <a:ext cx="0" cy="5143500"/>
          </a:xfrm>
          <a:prstGeom prst="line">
            <a:avLst/>
          </a:prstGeom>
          <a:noFill/>
          <a:ln w="7144">
            <a:solidFill>
              <a:srgbClr val="26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71675" y="487561"/>
            <a:ext cx="6772275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04097" y="2325514"/>
            <a:ext cx="0" cy="476845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75797" y="2325514"/>
            <a:ext cx="0" cy="476845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71625" y="4832747"/>
            <a:ext cx="7572375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0"/>
            <a:ext cx="1571625" cy="5143500"/>
          </a:xfrm>
          <a:prstGeom prst="rect">
            <a:avLst/>
          </a:prstGeom>
          <a:solidFill>
            <a:srgbClr val="05050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 rot="16200000">
            <a:off x="214313" y="2478881"/>
            <a:ext cx="1135856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spc="263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1463"/>
              </a:lnSpc>
              <a:buNone/>
            </a:pPr>
            <a:r>
              <a:rPr lang="en-US" sz="1463" b="1" spc="263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1463"/>
              </a:lnSpc>
              <a:buNone/>
            </a:pPr>
            <a:r>
              <a:rPr lang="en-US" sz="1463" b="1" spc="263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1463" dirty="0"/>
          </a:p>
        </p:txBody>
      </p:sp>
      <p:sp>
        <p:nvSpPr>
          <p:cNvPr id="9" name="Text 7"/>
          <p:cNvSpPr/>
          <p:nvPr/>
        </p:nvSpPr>
        <p:spPr>
          <a:xfrm>
            <a:off x="1971675" y="271463"/>
            <a:ext cx="540915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СЛЕДУЮЩИЙ ШАГ · 12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95121" y="274141"/>
            <a:ext cx="820772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ПРОГРЕСС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08144" y="320576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01025" y="320576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393906" y="320576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86788" y="320576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971675" y="648295"/>
            <a:ext cx="71723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ОТВЕТ ЗА 5 РАБОЧИХ ДНЕЙ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971675" y="851892"/>
            <a:ext cx="5857875" cy="746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spc="-62" kern="0" dirty="0">
                <a:solidFill>
                  <a:srgbClr val="F5F5F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Отправьте нам </a:t>
            </a:r>
            <a:pPr algn="l" indent="0" marL="0">
              <a:lnSpc>
                <a:spcPts val="2723"/>
              </a:lnSpc>
              <a:buNone/>
            </a:pPr>
            <a:r>
              <a:rPr lang="en-US" sz="2475" b="1" spc="-62" kern="0" dirty="0">
                <a:solidFill>
                  <a:srgbClr val="E5091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 закрытый объект</a:t>
            </a:r>
            <a:pPr algn="l" indent="0" marL="0">
              <a:lnSpc>
                <a:spcPts val="2723"/>
              </a:lnSpc>
              <a:buNone/>
            </a:pPr>
            <a:r>
              <a:rPr lang="en-US" sz="2475" b="1" spc="-62" kern="0" dirty="0">
                <a:solidFill>
                  <a:srgbClr val="F5F5F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— вернём расчёт и найденные отклонения</a:t>
            </a:r>
            <a:endParaRPr lang="en-US" sz="2475" dirty="0"/>
          </a:p>
        </p:txBody>
      </p:sp>
      <p:sp>
        <p:nvSpPr>
          <p:cNvPr id="17" name="Text 15"/>
          <p:cNvSpPr/>
          <p:nvPr/>
        </p:nvSpPr>
        <p:spPr>
          <a:xfrm>
            <a:off x="1971675" y="1657573"/>
            <a:ext cx="5286375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Бесплатно, без обязательств. NDA подписываем до приёма документов. Срок — </a:t>
            </a:r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рабочих дней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44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1675" y="2161208"/>
            <a:ext cx="6772275" cy="80545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975247" y="2164779"/>
            <a:ext cx="6765131" cy="798314"/>
          </a:xfrm>
          <a:prstGeom prst="roundRect">
            <a:avLst>
              <a:gd name="adj" fmla="val 11931"/>
            </a:avLst>
          </a:prstGeom>
          <a:noFill/>
          <a:ln w="7144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164556" y="2325514"/>
            <a:ext cx="257175" cy="257175"/>
          </a:xfrm>
          <a:prstGeom prst="ellipse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164556" y="2325514"/>
            <a:ext cx="3000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0A0A0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013" dirty="0"/>
          </a:p>
        </p:txBody>
      </p:sp>
      <p:sp>
        <p:nvSpPr>
          <p:cNvPr id="22" name="Text 19"/>
          <p:cNvSpPr/>
          <p:nvPr/>
        </p:nvSpPr>
        <p:spPr>
          <a:xfrm>
            <a:off x="2507456" y="2397844"/>
            <a:ext cx="15787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ДЕНЬ 0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164556" y="2668414"/>
            <a:ext cx="2031397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Подписание NDA, приём документов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336256" y="2325514"/>
            <a:ext cx="257175" cy="257175"/>
          </a:xfrm>
          <a:prstGeom prst="ellipse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336256" y="2325514"/>
            <a:ext cx="3000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0A0A0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013" dirty="0"/>
          </a:p>
        </p:txBody>
      </p:sp>
      <p:sp>
        <p:nvSpPr>
          <p:cNvPr id="26" name="Text 23"/>
          <p:cNvSpPr/>
          <p:nvPr/>
        </p:nvSpPr>
        <p:spPr>
          <a:xfrm>
            <a:off x="4679156" y="2397844"/>
            <a:ext cx="15787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ДНИ 1–5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336256" y="2668414"/>
            <a:ext cx="2031397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 на нашей инфраструктуре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507956" y="2325514"/>
            <a:ext cx="257175" cy="257175"/>
          </a:xfrm>
          <a:prstGeom prst="ellipse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507956" y="2325514"/>
            <a:ext cx="3000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0A0A0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013" dirty="0"/>
          </a:p>
        </p:txBody>
      </p:sp>
      <p:sp>
        <p:nvSpPr>
          <p:cNvPr id="30" name="Text 27"/>
          <p:cNvSpPr/>
          <p:nvPr/>
        </p:nvSpPr>
        <p:spPr>
          <a:xfrm>
            <a:off x="6850856" y="2397844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ДЕНЬ 5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507956" y="2668414"/>
            <a:ext cx="215284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PDF + Excel: расчёт и реестр отклонений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971675" y="3123828"/>
            <a:ext cx="6772275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1971675" y="3285455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1978462" y="329224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A0A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☎</a:t>
            </a:r>
            <a:endParaRPr lang="en-US" sz="1266" dirty="0"/>
          </a:p>
        </p:txBody>
      </p:sp>
      <p:sp>
        <p:nvSpPr>
          <p:cNvPr id="35" name="Text 32"/>
          <p:cNvSpPr/>
          <p:nvPr/>
        </p:nvSpPr>
        <p:spPr>
          <a:xfrm>
            <a:off x="2271713" y="3245272"/>
            <a:ext cx="1921849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118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ТЕЛЕФОН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2271713" y="3375645"/>
            <a:ext cx="15784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8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+7 (495) [ЗАПОЛНИТЬ]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286250" y="3285455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4293037" y="329224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A0A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1266" dirty="0"/>
          </a:p>
        </p:txBody>
      </p:sp>
      <p:sp>
        <p:nvSpPr>
          <p:cNvPr id="39" name="Text 36"/>
          <p:cNvSpPr/>
          <p:nvPr/>
        </p:nvSpPr>
        <p:spPr>
          <a:xfrm>
            <a:off x="4586288" y="3245272"/>
            <a:ext cx="2177415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118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ПОЧТА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586288" y="3375645"/>
            <a:ext cx="15949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8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[ЗАПОЛНИТЬ]@7rl.tech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600825" y="3285455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6607612" y="329224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A0A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266" dirty="0"/>
          </a:p>
        </p:txBody>
      </p:sp>
      <p:sp>
        <p:nvSpPr>
          <p:cNvPr id="43" name="Text 40"/>
          <p:cNvSpPr/>
          <p:nvPr/>
        </p:nvSpPr>
        <p:spPr>
          <a:xfrm>
            <a:off x="6900863" y="3245272"/>
            <a:ext cx="712589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118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САЙТ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6900863" y="3375645"/>
            <a:ext cx="5700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8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7rl.tech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1971675" y="4611291"/>
            <a:ext cx="5755742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b="1" spc="126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788"/>
              </a:lnSpc>
              <a:buNone/>
            </a:pPr>
            <a:r>
              <a:rPr lang="en-US" sz="800" b="1" spc="12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788"/>
              </a:lnSpc>
              <a:buNone/>
            </a:pPr>
            <a:r>
              <a:rPr lang="en-US" sz="800" b="1" spc="126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741704" y="4607719"/>
            <a:ext cx="13296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24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V.2 · АВГУСТ 2025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571625" y="4829175"/>
            <a:ext cx="7572375" cy="314325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2000250" y="4936331"/>
            <a:ext cx="336671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5381253" y="4936331"/>
            <a:ext cx="292469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КОНТАКТЫ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8320236" y="4950619"/>
            <a:ext cx="39513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8502625" y="4936331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8587970" y="4936331"/>
            <a:ext cx="1381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2026-08-11T21:01:55Z</dcterms:created>
  <dcterms:modified xsi:type="dcterms:W3CDTF">2026-08-11T21:01:55Z</dcterms:modified>
</cp:coreProperties>
</file>