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Открыть с «покажем не слайды — реальную работу»; главное — «каждая цифра проверяема на вашем объекте»; 6 сценариев + 3 детальных кейса; бесплатный пилот на закрытом объекте.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разделов; главное — 3 детальных кейса; вопрос: «какой сценарий вам ближе?»; структура: сценарии → 3 кейса → цифры → пилот.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сценариев; выбрать 2-3 релевантных клиенту; вопрос: «какие процессы съедают больше времени?»; связка вход → анализ → результат.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шага; главное — шина оркестрации; 15 минут против 5-7 дней; руководитель проекта делает сводный вывод.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Контекст кейса 01; главное — 1 час вместо 5 дней; 48 млн ₽ — реальная экономия; 4% от сметы 1,2 млрд 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категории отклонений; 18 млн ₽ — двойный учёт; главное — «каждая категория с суммой»; итог 48 млн 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48 млн ₽ — на одном объекте; ROI на первом же объекте; главное — «перешли в переговоры с целевой ценой»; цена внедрения 22,5 млн 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Одна страница — для пересылки коллегам
 • Главное: 48 млн ₽ предотвращено за 1 час
 • 4% от сметы — реальная, проверяемая цифра
 • Ускорение в 40 раз против ручной проверки
 • Решение принимается на одной странице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60% позиций — несопоставимы между подрядчиками
 • 12% аномалия — главный сигнал о риске невыполнения
 • «С позиции силы» — главная ценность для ЛПР
 • 0 ₽ расхождение сумм разделов после нормализации
 • Спросить зал: «как вы сейчас сравниваете 3+ КП?»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3 подрядчика — 3 разных вывода
 • Подрядчик А: −12% — скрытый риск невыполнения
 • Подрядчик Б: +8% — завышение, нужны переговоры
 • Подрядчик В: ±2% — целевой, без переговоров
 • Главное: «не угадывание, а аналитика»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20% разброс — после нормализации, не «на глаз»
 • Главное: «не угадывание, а позиция силы»
 • Подрядчик В — целевой, без переговоров
 • Подрядчик Б: согласована скидка −8%
 • Подрядчик А: отклонён, высокий риск невыполнения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Одна страница — для пересылки коллегам
 • Главное: 8% скидка после переговоров с целевой ценой
 • 60% позиций были несопоставимы до нормализации
 • 1 час работы системы вместо 5–7 дней ручного сравнения
 • Целевая цена + реестр рисков — для каждого подрядчика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Контекст кейса 03: 1,5 млрд ₽, кредит + эскроу
 • Главное: «заблаговременно вместо постфактум»
 • 3 сценария: база / пессимист / оптимист
 • Цепочка из 3 агентов: Экономист, Финансист, Руководитель
 • Прогноз кассовых разрывов помесячно — с периодом и суммой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Главное: «постфактум vs заблаговременно»
 • 5–7 дней ручного обновления vs 15 минут авто
 • 1 сценарий маржи vs 3 сценария
 • Тот же отдел, те же данные — другой уровень контроля
 • Вопрос залу: «как вы сейчас прогнозируете кассовые разрывы?»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2 разрыва — М3 и М4
 • Главное — «заблаговременно, с суммой и причиной»
 • Рекомендация — сдвиг платежей или выборка кредита
 • Суммарный дефицит — 42 млн ₽
 • Контраст с постфактум-выявлением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2 разрыва за 2 месяца до наступления
 • 5 млн ₽ штрафов избежали
 • Главное — «заблаговременно = время на меры»
 • Репутация перед банком — скрытая ценность
 • Сдвиг платежей + выборка кредита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6 цифр из 3 кейсов
 • Главное — 48 млн ₽ и 95% извлечение
 • Все числа — из реальной эксплуатации
 • 250+ объектов в обучении — фундамент
 • 15 минут — про экспресс-режим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Одна таблица — все три кейса
 • Главное — ROI на первом объекте везде
 • Сравнение по 6 параметрам
 • Цифры подтверждены заказчиками
 • Источники указаны явно — прозрачность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1–2 закрытых объекта — формат пилота
 • 5 рабочих дней — срок
 • Главное — «0 ₽ и без обязательств»
 • NDA подписываем до приёма документов
 • Цепочка из 9 агентов — полный прогон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3 артефакта — PDF, Excel, презентация
 • Главное — «точность на ваших данных, не на наших примерах»
 • ROI считается на ваших цифрах
 • Реестр аномалий — с суммой влияния каждой
 • Список для внутреннего обоснования ЛПР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5 шагов за 5 рабочих дней
 • Главное — «без давления»
 • NDA подписываем ДО приёма документов
 • Цепочка из 9 агентов на 2–4 день
 • Финал — осознанное решение клиента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Шесть гарантий пилота — коротко и по делу.
 • Главное — «без обязательств» и «0 ₽ за пилот».
 • NDA подписываем до приёма любых документов.
 • Срок — 5 рабочих дней от соглашения до презентации.
 • Данные обезличены, возврат в течение 30 дней.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Три коротких отзыва от ЛПР.
 • [ЗАПОЛНИТЬ] реальные имена и компании.
 • Главное — «окупилось на первом же объекте».
 • Финансовый директор — про кассовые разрывы.
 • Главный инженер — про переход от угадывания к аналитике.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53 млн ₽ предотвращено на трёх объектах.
 • 150+ млн ₽ — прогноз на 5 объектов в год.
 • Главное — ROI более 200% на первом году.
 • Цена внедрения 22,5 млн ₽ против 53 млн ₽ предотвращённых потерь.
 • Потери 3–5% от сметы — норма для стройотрасли без автоматизации.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Закрытие презентации.
 • Ключевая фраза: «отправьте 1 закрытый объект — покажем точность на ваших данных».
 • Пауза — дать время записать контакты.
 • Подчеркнуть: NDA до приёма, 5 дней, бесплатно.
 • Завершить словом «спасибо».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68895" y="2478881"/>
            <a:ext cx="2474305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spc="59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1463"/>
              </a:lnSpc>
              <a:buNone/>
            </a:pPr>
            <a:r>
              <a:rPr lang="en-US" sz="1463" b="1" spc="59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1463"/>
              </a:lnSpc>
              <a:buNone/>
            </a:pPr>
            <a:r>
              <a:rPr lang="en-US" sz="1463" b="1" spc="5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1463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7144" cy="5143500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150394" y="1728564"/>
            <a:ext cx="5979319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2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СтройИнтеллект </a:t>
            </a:r>
            <a:pPr algn="l" indent="0" marL="0">
              <a:lnSpc>
                <a:spcPts val="2025"/>
              </a:lnSpc>
              <a:buNone/>
            </a:pPr>
            <a:r>
              <a:rPr lang="en-US" sz="1688" b="1" spc="-2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действии</a:t>
            </a:r>
            <a:endParaRPr lang="en-US" sz="1688" dirty="0"/>
          </a:p>
        </p:txBody>
      </p:sp>
      <p:sp>
        <p:nvSpPr>
          <p:cNvPr id="6" name="Text 4"/>
          <p:cNvSpPr/>
          <p:nvPr/>
        </p:nvSpPr>
        <p:spPr>
          <a:xfrm>
            <a:off x="3150394" y="2085752"/>
            <a:ext cx="4714875" cy="50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 исходных данных к предотвращённым потерям. Шесть типовых сценариев, </a:t>
            </a:r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три детальных кейса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с конкретными цифрами и один бесплатный пилот на вашем закрытом объекте.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150394" y="2779142"/>
            <a:ext cx="1504876" cy="635794"/>
          </a:xfrm>
          <a:prstGeom prst="roundRect">
            <a:avLst>
              <a:gd name="adj" fmla="val 599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278981" y="2893442"/>
            <a:ext cx="1247701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spc="-1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 кейса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278981" y="3107754"/>
            <a:ext cx="12477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ДЕТАЛЬНЫЙ РАЗБОР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755282" y="2779142"/>
            <a:ext cx="1504987" cy="635794"/>
          </a:xfrm>
          <a:prstGeom prst="roundRect">
            <a:avLst>
              <a:gd name="adj" fmla="val 599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83869" y="2893442"/>
            <a:ext cx="124781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spc="-13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95%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883869" y="3107754"/>
            <a:ext cx="12478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ТОЧНОСТЬ ИЗВЛЕЧЕНИЯ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360282" y="2779142"/>
            <a:ext cx="1504987" cy="635794"/>
          </a:xfrm>
          <a:prstGeom prst="roundRect">
            <a:avLst>
              <a:gd name="adj" fmla="val 599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488869" y="2893442"/>
            <a:ext cx="124781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spc="-13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70%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88869" y="3107754"/>
            <a:ext cx="1247812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ПОЛНОТА РЕЕСТРА НАРУШЕНИЙ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629650" cy="2382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Содержание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Пять разделов — от обзора сценариев до бесплатного пилота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7922" y="878570"/>
            <a:ext cx="8165306" cy="492919"/>
          </a:xfrm>
          <a:prstGeom prst="roundRect">
            <a:avLst>
              <a:gd name="adj" fmla="val 7729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50081" y="910717"/>
            <a:ext cx="428625" cy="428625"/>
          </a:xfrm>
          <a:prstGeom prst="roundRect">
            <a:avLst>
              <a:gd name="adj" fmla="val 8889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50081" y="910717"/>
            <a:ext cx="492919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214438" y="1025017"/>
            <a:ext cx="200025" cy="200025"/>
          </a:xfrm>
          <a:prstGeom prst="roundRect">
            <a:avLst>
              <a:gd name="adj" fmla="val 14286"/>
            </a:avLst>
          </a:prstGeom>
          <a:noFill/>
          <a:ln w="14288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21224" y="103180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9" name="Text 7"/>
          <p:cNvSpPr/>
          <p:nvPr/>
        </p:nvSpPr>
        <p:spPr>
          <a:xfrm>
            <a:off x="1550194" y="999344"/>
            <a:ext cx="1710683" cy="113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Сценарии использования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550194" y="1140768"/>
            <a:ext cx="1759559" cy="141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Шесть типовых кейсов в эксплуатации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61591" y="1039304"/>
            <a:ext cx="305707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→ 03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7922" y="1435782"/>
            <a:ext cx="8165306" cy="492919"/>
          </a:xfrm>
          <a:prstGeom prst="roundRect">
            <a:avLst>
              <a:gd name="adj" fmla="val 7729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50081" y="1467929"/>
            <a:ext cx="428625" cy="428625"/>
          </a:xfrm>
          <a:prstGeom prst="roundRect">
            <a:avLst>
              <a:gd name="adj" fmla="val 8889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50081" y="1467929"/>
            <a:ext cx="492919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214438" y="1582229"/>
            <a:ext cx="200025" cy="200025"/>
          </a:xfrm>
          <a:prstGeom prst="roundRect">
            <a:avLst>
              <a:gd name="adj" fmla="val 14286"/>
            </a:avLst>
          </a:prstGeom>
          <a:noFill/>
          <a:ln w="14288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221224" y="1589016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“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1550194" y="1556556"/>
            <a:ext cx="2230474" cy="113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Кейс 01. Смета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550194" y="1697980"/>
            <a:ext cx="2294202" cy="141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2 000 позиций, 14 млн ₽ предотвращённых потерь</a:t>
            </a:r>
            <a:endParaRPr lang="en-US" sz="619" dirty="0"/>
          </a:p>
        </p:txBody>
      </p:sp>
      <p:sp>
        <p:nvSpPr>
          <p:cNvPr id="19" name="Text 17"/>
          <p:cNvSpPr/>
          <p:nvPr/>
        </p:nvSpPr>
        <p:spPr>
          <a:xfrm>
            <a:off x="8261591" y="1596517"/>
            <a:ext cx="305707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→ 05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17922" y="1992995"/>
            <a:ext cx="8165306" cy="492919"/>
          </a:xfrm>
          <a:prstGeom prst="roundRect">
            <a:avLst>
              <a:gd name="adj" fmla="val 7729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50081" y="2025142"/>
            <a:ext cx="428625" cy="428625"/>
          </a:xfrm>
          <a:prstGeom prst="roundRect">
            <a:avLst>
              <a:gd name="adj" fmla="val 8889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50081" y="2025142"/>
            <a:ext cx="492919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214438" y="2139442"/>
            <a:ext cx="200025" cy="200025"/>
          </a:xfrm>
          <a:prstGeom prst="roundRect">
            <a:avLst>
              <a:gd name="adj" fmla="val 14286"/>
            </a:avLst>
          </a:prstGeom>
          <a:noFill/>
          <a:ln w="14288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221224" y="214622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266" dirty="0"/>
          </a:p>
        </p:txBody>
      </p:sp>
      <p:sp>
        <p:nvSpPr>
          <p:cNvPr id="25" name="Text 23"/>
          <p:cNvSpPr/>
          <p:nvPr/>
        </p:nvSpPr>
        <p:spPr>
          <a:xfrm>
            <a:off x="1550194" y="2113769"/>
            <a:ext cx="1805007" cy="113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Кейс 02. Сравнение предложений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550194" y="2255193"/>
            <a:ext cx="1805007" cy="141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Три подрядчика, 12% аномалия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61591" y="2153729"/>
            <a:ext cx="305707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→ 09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7922" y="2550207"/>
            <a:ext cx="8165306" cy="492919"/>
          </a:xfrm>
          <a:prstGeom prst="roundRect">
            <a:avLst>
              <a:gd name="adj" fmla="val 7729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50081" y="2582354"/>
            <a:ext cx="428625" cy="428625"/>
          </a:xfrm>
          <a:prstGeom prst="roundRect">
            <a:avLst>
              <a:gd name="adj" fmla="val 8889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50081" y="2582354"/>
            <a:ext cx="492919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214438" y="2696654"/>
            <a:ext cx="200025" cy="200025"/>
          </a:xfrm>
          <a:prstGeom prst="roundRect">
            <a:avLst>
              <a:gd name="adj" fmla="val 14286"/>
            </a:avLst>
          </a:prstGeom>
          <a:noFill/>
          <a:ln w="14288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221224" y="2703441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🏛</a:t>
            </a:r>
            <a:endParaRPr lang="en-US" sz="1266" dirty="0"/>
          </a:p>
        </p:txBody>
      </p:sp>
      <p:sp>
        <p:nvSpPr>
          <p:cNvPr id="33" name="Text 31"/>
          <p:cNvSpPr/>
          <p:nvPr/>
        </p:nvSpPr>
        <p:spPr>
          <a:xfrm>
            <a:off x="1550194" y="2670981"/>
            <a:ext cx="2017166" cy="113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Кейс 03. Финансы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550194" y="2812405"/>
            <a:ext cx="2074799" cy="141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Прогноз кассовых разрывов заблаговременно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261591" y="2710942"/>
            <a:ext cx="305707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→ 13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7922" y="3107420"/>
            <a:ext cx="8165306" cy="492919"/>
          </a:xfrm>
          <a:prstGeom prst="roundRect">
            <a:avLst>
              <a:gd name="adj" fmla="val 7729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50081" y="3139567"/>
            <a:ext cx="428625" cy="428625"/>
          </a:xfrm>
          <a:prstGeom prst="roundRect">
            <a:avLst>
              <a:gd name="adj" fmla="val 8889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50081" y="3139567"/>
            <a:ext cx="492919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214438" y="3253867"/>
            <a:ext cx="200025" cy="200025"/>
          </a:xfrm>
          <a:prstGeom prst="roundRect">
            <a:avLst>
              <a:gd name="adj" fmla="val 14286"/>
            </a:avLst>
          </a:prstGeom>
          <a:noFill/>
          <a:ln w="14288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221224" y="326065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41" name="Text 39"/>
          <p:cNvSpPr/>
          <p:nvPr/>
        </p:nvSpPr>
        <p:spPr>
          <a:xfrm>
            <a:off x="1550194" y="3228194"/>
            <a:ext cx="1960598" cy="113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Цифры доверия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550194" y="3369618"/>
            <a:ext cx="1806695" cy="141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Шесть чисел из реальной эксплуатации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261591" y="3268154"/>
            <a:ext cx="305707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→ 17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17922" y="3664632"/>
            <a:ext cx="8165306" cy="492919"/>
          </a:xfrm>
          <a:prstGeom prst="roundRect">
            <a:avLst>
              <a:gd name="adj" fmla="val 7729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50081" y="3696779"/>
            <a:ext cx="428625" cy="428625"/>
          </a:xfrm>
          <a:prstGeom prst="roundRect">
            <a:avLst>
              <a:gd name="adj" fmla="val 8889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50081" y="3696779"/>
            <a:ext cx="492919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1214438" y="3811079"/>
            <a:ext cx="200025" cy="200025"/>
          </a:xfrm>
          <a:prstGeom prst="roundRect">
            <a:avLst>
              <a:gd name="adj" fmla="val 14286"/>
            </a:avLst>
          </a:prstGeom>
          <a:noFill/>
          <a:ln w="14288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1221224" y="3817866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1266" dirty="0"/>
          </a:p>
        </p:txBody>
      </p:sp>
      <p:sp>
        <p:nvSpPr>
          <p:cNvPr id="49" name="Text 47"/>
          <p:cNvSpPr/>
          <p:nvPr/>
        </p:nvSpPr>
        <p:spPr>
          <a:xfrm>
            <a:off x="1550194" y="3785406"/>
            <a:ext cx="1837104" cy="113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Лид-магнит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550194" y="3926830"/>
            <a:ext cx="1692895" cy="141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Бесплатный пилот на вашем объекте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261591" y="3825367"/>
            <a:ext cx="305707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→ 19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514350" y="4954191"/>
            <a:ext cx="407372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602361" y="4954191"/>
            <a:ext cx="376799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СОДЕРЖАНИЕ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25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629650" cy="23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Шесть сценариев в эксплуатации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Каждый сценарий — связка: что подаём на вход, что анализирует система, что получаем на выходе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4998"/>
            <a:ext cx="2666963" cy="1635919"/>
          </a:xfrm>
          <a:prstGeom prst="roundRect">
            <a:avLst>
              <a:gd name="adj" fmla="val 2329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8650" y="97501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28650" y="975010"/>
            <a:ext cx="2643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28688" y="982154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42618" y="996084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“</a:t>
            </a:r>
            <a:endParaRPr lang="en-US" sz="1266" dirty="0"/>
          </a:p>
        </p:txBody>
      </p:sp>
      <p:sp>
        <p:nvSpPr>
          <p:cNvPr id="9" name="Text 7"/>
          <p:cNvSpPr/>
          <p:nvPr/>
        </p:nvSpPr>
        <p:spPr>
          <a:xfrm>
            <a:off x="1214438" y="1031267"/>
            <a:ext cx="185257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Сметный контроль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28650" y="1260760"/>
            <a:ext cx="2438363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8650" y="1325054"/>
            <a:ext cx="384334" cy="165735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b="1" spc="6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ВХОД: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11721" y="1325054"/>
            <a:ext cx="2155292" cy="158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смета и ведомость объёмов работ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28650" y="1496058"/>
            <a:ext cx="522774" cy="165735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b="1" spc="6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АНАЛИЗ: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18654" y="1496058"/>
            <a:ext cx="2048359" cy="158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двойной учёт, коэффициенты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28650" y="1667061"/>
            <a:ext cx="611843" cy="165735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b="1" spc="6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РЕЗУЛЬТАТ: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32954" y="1667061"/>
            <a:ext cx="1934059" cy="159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реестр потенциальных переплат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67038" y="874998"/>
            <a:ext cx="2666963" cy="1635919"/>
          </a:xfrm>
          <a:prstGeom prst="roundRect">
            <a:avLst>
              <a:gd name="adj" fmla="val 2329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381338" y="97501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381338" y="975010"/>
            <a:ext cx="2643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681375" y="982154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695306" y="996084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66" dirty="0"/>
          </a:p>
        </p:txBody>
      </p:sp>
      <p:sp>
        <p:nvSpPr>
          <p:cNvPr id="22" name="Text 20"/>
          <p:cNvSpPr/>
          <p:nvPr/>
        </p:nvSpPr>
        <p:spPr>
          <a:xfrm>
            <a:off x="3967125" y="1031267"/>
            <a:ext cx="185257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Снабжение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381338" y="1260760"/>
            <a:ext cx="2438363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381338" y="1325054"/>
            <a:ext cx="384334" cy="165735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b="1" spc="6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ВХОД: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664409" y="1325054"/>
            <a:ext cx="2155292" cy="158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спецификация материалов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381338" y="1496058"/>
            <a:ext cx="522774" cy="165735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b="1" spc="6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АНАЛИЗ: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771342" y="1496058"/>
            <a:ext cx="2048359" cy="158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сроки поставки, опорные цены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381338" y="1667061"/>
            <a:ext cx="611843" cy="165735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b="1" spc="6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РЕЗУЛЬТАТ: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885642" y="1667061"/>
            <a:ext cx="1934059" cy="159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критические сроки заказа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019726" y="874998"/>
            <a:ext cx="2667074" cy="1635919"/>
          </a:xfrm>
          <a:prstGeom prst="roundRect">
            <a:avLst>
              <a:gd name="adj" fmla="val 2329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134026" y="97501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134026" y="975010"/>
            <a:ext cx="2643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434063" y="982154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447993" y="996084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266" dirty="0"/>
          </a:p>
        </p:txBody>
      </p:sp>
      <p:sp>
        <p:nvSpPr>
          <p:cNvPr id="35" name="Text 33"/>
          <p:cNvSpPr/>
          <p:nvPr/>
        </p:nvSpPr>
        <p:spPr>
          <a:xfrm>
            <a:off x="6719813" y="1031267"/>
            <a:ext cx="1852687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Сравнение предложений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134026" y="1260760"/>
            <a:ext cx="2438474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134026" y="1325054"/>
            <a:ext cx="384334" cy="165735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b="1" spc="6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ВХОД: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417097" y="1325054"/>
            <a:ext cx="2155403" cy="158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3+ предложения подрядчиков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134026" y="1496058"/>
            <a:ext cx="522774" cy="165735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b="1" spc="6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АНАЛИЗ: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524030" y="1496058"/>
            <a:ext cx="2048470" cy="158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приведение к сопоставимому виду, медиана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134026" y="1667061"/>
            <a:ext cx="611843" cy="165735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b="1" spc="6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РЕЗУЛЬТАТ: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638330" y="1667061"/>
            <a:ext cx="1934170" cy="159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целевая цена для переговоров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14350" y="2596642"/>
            <a:ext cx="2666963" cy="1635919"/>
          </a:xfrm>
          <a:prstGeom prst="roundRect">
            <a:avLst>
              <a:gd name="adj" fmla="val 2329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28650" y="2696654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28650" y="2696654"/>
            <a:ext cx="2643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928688" y="2703798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942618" y="271772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🏛</a:t>
            </a:r>
            <a:endParaRPr lang="en-US" sz="1266" dirty="0"/>
          </a:p>
        </p:txBody>
      </p:sp>
      <p:sp>
        <p:nvSpPr>
          <p:cNvPr id="48" name="Text 46"/>
          <p:cNvSpPr/>
          <p:nvPr/>
        </p:nvSpPr>
        <p:spPr>
          <a:xfrm>
            <a:off x="1214438" y="2752911"/>
            <a:ext cx="185257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Финансовая модель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28650" y="2982404"/>
            <a:ext cx="2438363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28650" y="3046698"/>
            <a:ext cx="384334" cy="165735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b="1" spc="6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ВХОД: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911721" y="3046698"/>
            <a:ext cx="2155292" cy="158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параметры кредита и эскроу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28650" y="3217701"/>
            <a:ext cx="522774" cy="165735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b="1" spc="6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АНАЛИЗ: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018654" y="3217701"/>
            <a:ext cx="2048359" cy="158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выборка кредита, БДДС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28650" y="3388705"/>
            <a:ext cx="611843" cy="165735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b="1" spc="6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РЕЗУЛЬТАТ: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132954" y="3388705"/>
            <a:ext cx="1934059" cy="159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прогноз кассовых разрывов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267038" y="2596642"/>
            <a:ext cx="2666963" cy="1635919"/>
          </a:xfrm>
          <a:prstGeom prst="roundRect">
            <a:avLst>
              <a:gd name="adj" fmla="val 2329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3381338" y="2696654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3381338" y="2696654"/>
            <a:ext cx="2643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681375" y="2703798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3695306" y="271772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266" dirty="0"/>
          </a:p>
        </p:txBody>
      </p:sp>
      <p:sp>
        <p:nvSpPr>
          <p:cNvPr id="61" name="Text 59"/>
          <p:cNvSpPr/>
          <p:nvPr/>
        </p:nvSpPr>
        <p:spPr>
          <a:xfrm>
            <a:off x="3967125" y="2752911"/>
            <a:ext cx="185257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Договорной аудит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3381338" y="2982404"/>
            <a:ext cx="2438363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3381338" y="3046698"/>
            <a:ext cx="384334" cy="165735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b="1" spc="6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ВХОД: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3664409" y="3046698"/>
            <a:ext cx="2155292" cy="158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проект договора подряда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3381338" y="3217701"/>
            <a:ext cx="522774" cy="165735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b="1" spc="6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АНАЛИЗ: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3771342" y="3217701"/>
            <a:ext cx="2048359" cy="158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аванс, штрафы, удержания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3381338" y="3388705"/>
            <a:ext cx="611843" cy="165735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b="1" spc="6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РЕЗУЛЬТАТ: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3885642" y="3388705"/>
            <a:ext cx="1934059" cy="159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перечень рисков и рекомендации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6019726" y="2596642"/>
            <a:ext cx="2667074" cy="1635919"/>
          </a:xfrm>
          <a:prstGeom prst="roundRect">
            <a:avLst>
              <a:gd name="adj" fmla="val 2329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6134026" y="2696654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6134026" y="2696654"/>
            <a:ext cx="2643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6434063" y="2703798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6447993" y="271772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74" name="Text 72"/>
          <p:cNvSpPr/>
          <p:nvPr/>
        </p:nvSpPr>
        <p:spPr>
          <a:xfrm>
            <a:off x="6719813" y="2752911"/>
            <a:ext cx="1852687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Контроль исполнения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6134026" y="2982404"/>
            <a:ext cx="2438474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6134026" y="3046698"/>
            <a:ext cx="384334" cy="165735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b="1" spc="6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ВХОД: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6417097" y="3046698"/>
            <a:ext cx="2155403" cy="158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формы КС-2, КС-3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6134026" y="3217701"/>
            <a:ext cx="522774" cy="165735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b="1" spc="6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АНАЛИЗ: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6524030" y="3217701"/>
            <a:ext cx="2048470" cy="158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финансовое влияние расхождений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6134026" y="3388705"/>
            <a:ext cx="611843" cy="165735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b="1" spc="6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РЕЗУЛЬТАТ: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6638330" y="3388705"/>
            <a:ext cx="1934170" cy="159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влияние на маржу проекта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514350" y="4954191"/>
            <a:ext cx="414203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4670673" y="4954191"/>
            <a:ext cx="36996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СЦЕНАРИИ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25</a:t>
            </a:r>
            <a:endParaRPr lang="en-US" sz="600" dirty="0"/>
          </a:p>
        </p:txBody>
      </p:sp>
      <p:sp>
        <p:nvSpPr>
          <p:cNvPr id="86" name="Text 84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629650" cy="23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Как агенты работают в цепочке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Каждый кейс — это последовательность вызовов агентов. Сводный вывод делает руководитель проекта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4998"/>
            <a:ext cx="1946672" cy="3143250"/>
          </a:xfrm>
          <a:prstGeom prst="roundRect">
            <a:avLst>
              <a:gd name="adj" fmla="val 1957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8650" y="108931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33333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814388" y="975010"/>
            <a:ext cx="342900" cy="342900"/>
          </a:xfrm>
          <a:prstGeom prst="ellipse">
            <a:avLst/>
          </a:prstGeom>
          <a:solidFill>
            <a:srgbClr val="FF0000"/>
          </a:solidFill>
          <a:ln/>
          <a:effectLst>
            <a:outerShdw sx="100000" sy="100000" kx="0" ky="0" algn="bl" rotWithShape="0" blurRad="101600" dist="50800" dir="16200000">
              <a:srgbClr val="F5F5F5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14388" y="975010"/>
            <a:ext cx="153233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628650" y="1389348"/>
            <a:ext cx="1718072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ШАГ 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28650" y="1553654"/>
            <a:ext cx="171807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Вход и нормализация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28650" y="1726890"/>
            <a:ext cx="1718072" cy="339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Загрузка сметы, договора, КС-2/КС-3. Нормализация наименований.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28650" y="2038536"/>
            <a:ext cx="1718072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8650" y="2102830"/>
            <a:ext cx="1718072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АГЕНТЫ В ШАГЕ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28650" y="2267136"/>
            <a:ext cx="1718072" cy="306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Сметчик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Нормализатор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589609" y="874998"/>
            <a:ext cx="1946672" cy="3143250"/>
          </a:xfrm>
          <a:prstGeom prst="roundRect">
            <a:avLst>
              <a:gd name="adj" fmla="val 1957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703909" y="108931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33333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2889647" y="975010"/>
            <a:ext cx="342900" cy="342900"/>
          </a:xfrm>
          <a:prstGeom prst="ellipse">
            <a:avLst/>
          </a:prstGeom>
          <a:solidFill>
            <a:srgbClr val="FF0000"/>
          </a:solidFill>
          <a:ln/>
          <a:effectLst>
            <a:outerShdw sx="100000" sy="100000" kx="0" ky="0" algn="bl" rotWithShape="0" blurRad="101600" dist="50800" dir="16200000">
              <a:srgbClr val="F5F5F5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889647" y="975010"/>
            <a:ext cx="153233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2703909" y="1389348"/>
            <a:ext cx="1718072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ШАГ 02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703909" y="1553654"/>
            <a:ext cx="171807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Анализ и аудит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703909" y="1726890"/>
            <a:ext cx="1718072" cy="339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Выявление двойного учёта, коэффициентов, рисков договора.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03909" y="2038536"/>
            <a:ext cx="1718072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703909" y="2102830"/>
            <a:ext cx="1718072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АГЕНТЫ В ШАГЕ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703909" y="2267136"/>
            <a:ext cx="1718072" cy="461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Аудитор коэффициентов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Юрист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ПТО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64869" y="874998"/>
            <a:ext cx="1946672" cy="3143250"/>
          </a:xfrm>
          <a:prstGeom prst="roundRect">
            <a:avLst>
              <a:gd name="adj" fmla="val 1957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79169" y="108931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33333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🏛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4964906" y="975010"/>
            <a:ext cx="342900" cy="342900"/>
          </a:xfrm>
          <a:prstGeom prst="ellipse">
            <a:avLst/>
          </a:prstGeom>
          <a:solidFill>
            <a:srgbClr val="FF0000"/>
          </a:solidFill>
          <a:ln/>
          <a:effectLst>
            <a:outerShdw sx="100000" sy="100000" kx="0" ky="0" algn="bl" rotWithShape="0" blurRad="101600" dist="50800" dir="16200000">
              <a:srgbClr val="F5F5F5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964906" y="975010"/>
            <a:ext cx="153233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4779169" y="1389348"/>
            <a:ext cx="1718072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ШАГ 03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79169" y="1553654"/>
            <a:ext cx="171807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Финансы и прогноз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79169" y="1726890"/>
            <a:ext cx="1718072" cy="339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Расчёт маржи в 3 сценариях, прогноз кассовых разрывов.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79169" y="2038536"/>
            <a:ext cx="1718072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779169" y="2102830"/>
            <a:ext cx="1718072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АГЕНТЫ В ШАГЕ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79169" y="2267136"/>
            <a:ext cx="1718072" cy="306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Экономист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Финансист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40128" y="874998"/>
            <a:ext cx="1946672" cy="3143250"/>
          </a:xfrm>
          <a:prstGeom prst="roundRect">
            <a:avLst>
              <a:gd name="adj" fmla="val 1957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854428" y="108931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33333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7040166" y="975010"/>
            <a:ext cx="342900" cy="342900"/>
          </a:xfrm>
          <a:prstGeom prst="ellipse">
            <a:avLst/>
          </a:prstGeom>
          <a:solidFill>
            <a:srgbClr val="FF0000"/>
          </a:solidFill>
          <a:ln/>
          <a:effectLst>
            <a:outerShdw sx="100000" sy="100000" kx="0" ky="0" algn="bl" rotWithShape="0" blurRad="101600" dist="50800" dir="16200000">
              <a:srgbClr val="F5F5F5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7040166" y="975010"/>
            <a:ext cx="153233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1125" dirty="0"/>
          </a:p>
        </p:txBody>
      </p:sp>
      <p:sp>
        <p:nvSpPr>
          <p:cNvPr id="38" name="Text 36"/>
          <p:cNvSpPr/>
          <p:nvPr/>
        </p:nvSpPr>
        <p:spPr>
          <a:xfrm>
            <a:off x="6854428" y="1389348"/>
            <a:ext cx="1718072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ШАГ 04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54428" y="1553654"/>
            <a:ext cx="171807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Сводный вывод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854428" y="1726890"/>
            <a:ext cx="1718072" cy="339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Объединение всех выводов в отчёт для ЛПР с приоритетами.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854428" y="2038536"/>
            <a:ext cx="1718072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854428" y="2102830"/>
            <a:ext cx="1718072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АГЕНТЫ В ШАГЕ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854428" y="2267136"/>
            <a:ext cx="1718072" cy="11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Руководитель проекта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14350" y="4118260"/>
            <a:ext cx="81724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Полный цикл — 15 минут в экспресс-режиме. Без шины оркестрации — 5–7 дней ручной работы.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14350" y="4954191"/>
            <a:ext cx="396254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491186" y="4954191"/>
            <a:ext cx="387916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ЦЕПОЧКА АГЕНТОВ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25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2478881" y="2328751"/>
            <a:ext cx="15716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38" dirty="0"/>
          </a:p>
        </p:txBody>
      </p:sp>
      <p:sp>
        <p:nvSpPr>
          <p:cNvPr id="51" name="Text 49"/>
          <p:cNvSpPr/>
          <p:nvPr/>
        </p:nvSpPr>
        <p:spPr>
          <a:xfrm>
            <a:off x="4521994" y="2328751"/>
            <a:ext cx="15716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38" dirty="0"/>
          </a:p>
        </p:txBody>
      </p:sp>
      <p:sp>
        <p:nvSpPr>
          <p:cNvPr id="52" name="Text 50"/>
          <p:cNvSpPr/>
          <p:nvPr/>
        </p:nvSpPr>
        <p:spPr>
          <a:xfrm>
            <a:off x="6565106" y="2328751"/>
            <a:ext cx="15716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38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629650" cy="23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Кейс 01. Проверка завышения расценок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Генподрядчик прислал смету на 2 000 позиций. СтройИнтеллект нашёл переплату за 1 час работы системы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4998"/>
            <a:ext cx="4530365" cy="3357563"/>
          </a:xfrm>
          <a:prstGeom prst="roundRect">
            <a:avLst>
              <a:gd name="adj" fmla="val 1135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" y="1017873"/>
            <a:ext cx="4187465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СИТУАЦИЯ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" y="1203610"/>
            <a:ext cx="4187465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Крупный девелопер получил от генподрядчика смету на 2 000 позиций по объекту стоимостью </a:t>
            </a:r>
            <a:pPr algn="l" indent="0" marL="0">
              <a:lnSpc>
                <a:spcPts val="1125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1,2 млрд ₽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Срок проверки — 1 рабочий день. Вручную один специалист справился бы за 5 дней.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1710817"/>
            <a:ext cx="4187465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5800" y="1796542"/>
            <a:ext cx="4187465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ПОСТАВЛЕННАЯ ЗАДАЧА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1982279"/>
            <a:ext cx="4187465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Найти все отклонения до согласования сметы. Получить целевую цену для переговоров. Оценить финансовое влияние каждого отклонения в рублях.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85800" y="2346610"/>
            <a:ext cx="4187465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85800" y="2432335"/>
            <a:ext cx="4187465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РЕШЕНИЕ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85800" y="2618073"/>
            <a:ext cx="4187465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Загрузили смету в СтройИнтеллект. Цепочка из </a:t>
            </a:r>
            <a:pPr algn="l" indent="0" marL="0">
              <a:lnSpc>
                <a:spcPts val="1125"/>
              </a:lnSpc>
              <a:buNone/>
            </a:pPr>
            <a:r>
              <a:rPr lang="en-US" sz="800" b="1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 агентов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Сметчик, Нормализатор, Аудитор коэффициентов, Руководитель проекта — отработала за 1 час. Сводный отчёт — 4% от сметы потенциальных переплат.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85800" y="3125279"/>
            <a:ext cx="4187465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85800" y="3229185"/>
            <a:ext cx="581881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85800" y="3239579"/>
            <a:ext cx="58188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СМЕТЧИК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324831" y="3229185"/>
            <a:ext cx="890625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324831" y="3239579"/>
            <a:ext cx="89062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НОРМАЛИЗАТОР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272605" y="3229185"/>
            <a:ext cx="580541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272605" y="3239579"/>
            <a:ext cx="58054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АУДИТОР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201878" y="874998"/>
            <a:ext cx="3484922" cy="1061963"/>
          </a:xfrm>
          <a:prstGeom prst="roundRect">
            <a:avLst>
              <a:gd name="adj" fmla="val 3588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201878" y="874998"/>
            <a:ext cx="3484922" cy="314325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301890" y="96786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3" name="Text 21"/>
          <p:cNvSpPr/>
          <p:nvPr/>
        </p:nvSpPr>
        <p:spPr>
          <a:xfrm>
            <a:off x="5501915" y="962509"/>
            <a:ext cx="308487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Вход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316178" y="1289335"/>
            <a:ext cx="3370622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spc="-13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2 000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316178" y="1489360"/>
            <a:ext cx="3370622" cy="169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5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ПОЗИЦИЙ В СМЕТЕ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316178" y="1646076"/>
            <a:ext cx="3370622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Excel + PDF, 850 МБ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201878" y="2022686"/>
            <a:ext cx="3484922" cy="1062075"/>
          </a:xfrm>
          <a:prstGeom prst="roundRect">
            <a:avLst>
              <a:gd name="adj" fmla="val 3587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201878" y="2022686"/>
            <a:ext cx="3484922" cy="314325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301890" y="211555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30" name="Text 28"/>
          <p:cNvSpPr/>
          <p:nvPr/>
        </p:nvSpPr>
        <p:spPr>
          <a:xfrm>
            <a:off x="5501915" y="2110197"/>
            <a:ext cx="308487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Срок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316178" y="2437023"/>
            <a:ext cx="3370622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spc="-1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час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316178" y="2637048"/>
            <a:ext cx="3370622" cy="169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5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ВМЕСТО 5 ДНЕЙ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316178" y="2793764"/>
            <a:ext cx="3370622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Ускорение в 40 раз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201878" y="3170486"/>
            <a:ext cx="3484922" cy="1062075"/>
          </a:xfrm>
          <a:prstGeom prst="roundRect">
            <a:avLst>
              <a:gd name="adj" fmla="val 3587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201878" y="3170486"/>
            <a:ext cx="3484922" cy="314325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301890" y="326335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37" name="Text 35"/>
          <p:cNvSpPr/>
          <p:nvPr/>
        </p:nvSpPr>
        <p:spPr>
          <a:xfrm>
            <a:off x="5501915" y="3257996"/>
            <a:ext cx="308487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316178" y="3584823"/>
            <a:ext cx="3370622" cy="3411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700" b="1" spc="-67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4%</a:t>
            </a:r>
            <a:endParaRPr lang="en-US" sz="2700" dirty="0"/>
          </a:p>
        </p:txBody>
      </p:sp>
      <p:sp>
        <p:nvSpPr>
          <p:cNvPr id="39" name="Text 37"/>
          <p:cNvSpPr/>
          <p:nvPr/>
        </p:nvSpPr>
        <p:spPr>
          <a:xfrm>
            <a:off x="5316178" y="3953396"/>
            <a:ext cx="3370622" cy="129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85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РЕЕСТР НАРУШЕНИЙ ОТ СМЕТЫ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316178" y="4110112"/>
            <a:ext cx="3480350" cy="122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 1,2 млрд ₽ — 48 млн ₽ предотвращённых потерь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14350" y="4954191"/>
            <a:ext cx="392772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456361" y="4954191"/>
            <a:ext cx="39139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КЕЙС 01 · КОНТЕКСТ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25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581073" cy="2382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нашли в смете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Четыре категории отклонений, выявленных агентами. Каждая — с финансовым влиянием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4998"/>
            <a:ext cx="1978819" cy="3143250"/>
          </a:xfrm>
          <a:prstGeom prst="roundRect">
            <a:avLst>
              <a:gd name="adj" fmla="val 1925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874998"/>
            <a:ext cx="1978819" cy="314325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4363" y="953579"/>
            <a:ext cx="157163" cy="157163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0435" y="959651"/>
            <a:ext cx="145018" cy="145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⎘</a:t>
            </a:r>
            <a:endParaRPr lang="en-US" sz="984" dirty="0"/>
          </a:p>
        </p:txBody>
      </p:sp>
      <p:sp>
        <p:nvSpPr>
          <p:cNvPr id="8" name="Text 6"/>
          <p:cNvSpPr/>
          <p:nvPr/>
        </p:nvSpPr>
        <p:spPr>
          <a:xfrm>
            <a:off x="842963" y="982824"/>
            <a:ext cx="1550194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b="1" spc="14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Двойной учёт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28650" y="1289335"/>
            <a:ext cx="1864519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spc="-1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18 млн ₽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28650" y="1489360"/>
            <a:ext cx="18645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АРМАТУРА И БЕТОН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28650" y="1657238"/>
            <a:ext cx="1750219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8650" y="1735820"/>
            <a:ext cx="1864519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НАШЛИ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28650" y="1914413"/>
            <a:ext cx="1750219" cy="571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Дублирование позиций арматуры в разделе 4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Повторный учёт бетона в фундаментах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28650" y="2484127"/>
            <a:ext cx="1750219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05790" y="2552315"/>
            <a:ext cx="1795939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8650" y="2562709"/>
            <a:ext cx="175021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АГЕНТ: СМЕТЧИК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578894" y="874998"/>
            <a:ext cx="1978819" cy="3143250"/>
          </a:xfrm>
          <a:prstGeom prst="roundRect">
            <a:avLst>
              <a:gd name="adj" fmla="val 1925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578894" y="874998"/>
            <a:ext cx="1978819" cy="314325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678906" y="953579"/>
            <a:ext cx="157163" cy="157163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684978" y="959651"/>
            <a:ext cx="145018" cy="145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984" dirty="0"/>
          </a:p>
        </p:txBody>
      </p:sp>
      <p:sp>
        <p:nvSpPr>
          <p:cNvPr id="21" name="Text 19"/>
          <p:cNvSpPr/>
          <p:nvPr/>
        </p:nvSpPr>
        <p:spPr>
          <a:xfrm>
            <a:off x="2907506" y="982824"/>
            <a:ext cx="1550194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b="1" spc="14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Коэффициенты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693194" y="1289335"/>
            <a:ext cx="1864519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spc="-1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12 млн ₽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2693194" y="1489360"/>
            <a:ext cx="18645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ЗАВЫШЕНИЕ НАДБАВОК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693194" y="1657238"/>
            <a:ext cx="1750219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693194" y="1735820"/>
            <a:ext cx="1864519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НАШЛИ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693194" y="1914413"/>
            <a:ext cx="1750219" cy="571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Коэффициент стеснённости 1,15 вместо 1,08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Зимнее удорожание применено дважды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693194" y="2484127"/>
            <a:ext cx="1750219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670334" y="2552315"/>
            <a:ext cx="1795939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693194" y="2562709"/>
            <a:ext cx="175021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АГЕНТ: АУДИТОР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643438" y="874998"/>
            <a:ext cx="1978819" cy="3143250"/>
          </a:xfrm>
          <a:prstGeom prst="roundRect">
            <a:avLst>
              <a:gd name="adj" fmla="val 1925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643438" y="874998"/>
            <a:ext cx="1978819" cy="314325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743450" y="953579"/>
            <a:ext cx="157163" cy="157163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749522" y="959651"/>
            <a:ext cx="145018" cy="145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984" dirty="0"/>
          </a:p>
        </p:txBody>
      </p:sp>
      <p:sp>
        <p:nvSpPr>
          <p:cNvPr id="34" name="Text 32"/>
          <p:cNvSpPr/>
          <p:nvPr/>
        </p:nvSpPr>
        <p:spPr>
          <a:xfrm>
            <a:off x="4972050" y="982824"/>
            <a:ext cx="1550194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b="1" spc="14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Объёмы работ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57738" y="1289335"/>
            <a:ext cx="1864519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spc="-1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10 млн ₽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4757738" y="1489360"/>
            <a:ext cx="18645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СКРЫТОЕ ЗАВЫШЕНИЕ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757738" y="1657238"/>
            <a:ext cx="1750219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757738" y="1735820"/>
            <a:ext cx="1864519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НАШЛИ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757738" y="1914413"/>
            <a:ext cx="1750219" cy="329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Объём изоляции +8% против проекта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Длина кабельных трасс +5%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757738" y="2256420"/>
            <a:ext cx="1750219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734878" y="2324608"/>
            <a:ext cx="1795939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757738" y="2335002"/>
            <a:ext cx="175021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АГЕНТ: СМЕТЧИК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707981" y="874998"/>
            <a:ext cx="1978819" cy="3143250"/>
          </a:xfrm>
          <a:prstGeom prst="roundRect">
            <a:avLst>
              <a:gd name="adj" fmla="val 1925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707981" y="874998"/>
            <a:ext cx="1978819" cy="314325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807994" y="953579"/>
            <a:ext cx="157163" cy="157163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814066" y="959651"/>
            <a:ext cx="145018" cy="145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47" name="Text 45"/>
          <p:cNvSpPr/>
          <p:nvPr/>
        </p:nvSpPr>
        <p:spPr>
          <a:xfrm>
            <a:off x="7036594" y="982824"/>
            <a:ext cx="1550194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b="1" spc="14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Переводные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822281" y="1289335"/>
            <a:ext cx="1864519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spc="-1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8 млн ₽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6822281" y="1489360"/>
            <a:ext cx="18645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ИНДЕКСЫ ПЕРЕСЧЁТА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822281" y="1657238"/>
            <a:ext cx="1750219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822281" y="1735820"/>
            <a:ext cx="1864519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НАШЛИ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822281" y="1914413"/>
            <a:ext cx="1750219" cy="571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Индекс пересчёта в текущие цены +0,12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Коэффициент перехода от сметной к контрактной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822281" y="2484127"/>
            <a:ext cx="1750219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6799421" y="2552315"/>
            <a:ext cx="1795939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6822281" y="2562709"/>
            <a:ext cx="175021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АГЕНТ: АУДИТОР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14350" y="4118260"/>
            <a:ext cx="81724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Итого: 48 млн ₽</a:t>
            </a:r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потенциальных переплат — 4% от сметы 1,2 млрд ₽. Целевая цена для переговоров снижена на 7%.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514350" y="4954191"/>
            <a:ext cx="397806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506702" y="4954191"/>
            <a:ext cx="386365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КЕЙС 01 · АНАЛИЗ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25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581073" cy="2382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 для заказчика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получил девелопер после внедрения СтройИнтеллекта на один объект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4998"/>
            <a:ext cx="4198404" cy="3357563"/>
          </a:xfrm>
          <a:prstGeom prst="roundRect">
            <a:avLst>
              <a:gd name="adj" fmla="val 1135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28663" y="1335100"/>
            <a:ext cx="3769779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ПРЕДОТВРАЩЁННЫЕ ПОТЕРИ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28663" y="1513694"/>
            <a:ext cx="1139428" cy="556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61"/>
              </a:lnSpc>
              <a:buNone/>
            </a:pPr>
            <a:r>
              <a:rPr lang="en-US" sz="4275" b="1" spc="-171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48</a:t>
            </a:r>
            <a:endParaRPr lang="en-US" sz="4275" dirty="0"/>
          </a:p>
        </p:txBody>
      </p:sp>
      <p:sp>
        <p:nvSpPr>
          <p:cNvPr id="7" name="Text 5"/>
          <p:cNvSpPr/>
          <p:nvPr/>
        </p:nvSpPr>
        <p:spPr>
          <a:xfrm>
            <a:off x="1512243" y="1736489"/>
            <a:ext cx="2986199" cy="316325"/>
          </a:xfrm>
          <a:prstGeom prst="rect">
            <a:avLst/>
          </a:prstGeom>
          <a:noFill/>
          <a:ln/>
        </p:spPr>
        <p:txBody>
          <a:bodyPr wrap="none" lIns="0" tIns="0" rIns="0" bIns="5715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млн ₽</a:t>
            </a:r>
            <a:endParaRPr lang="en-US" sz="1238" dirty="0"/>
          </a:p>
        </p:txBody>
      </p:sp>
      <p:sp>
        <p:nvSpPr>
          <p:cNvPr id="8" name="Text 6"/>
          <p:cNvSpPr/>
          <p:nvPr/>
        </p:nvSpPr>
        <p:spPr>
          <a:xfrm>
            <a:off x="728663" y="2100821"/>
            <a:ext cx="376977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4% от сметы 1,2 млрд ₽ — реестр выявленных нарушений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28663" y="2382999"/>
            <a:ext cx="3769779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8663" y="2533017"/>
            <a:ext cx="2947154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spc="-13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7%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28663" y="2733042"/>
            <a:ext cx="227535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СНИЖЕНИЕ ЦЕЛЕВОЙ ЦЕНЫ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656359" y="2533017"/>
            <a:ext cx="1842083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spc="-13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40×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656359" y="2733042"/>
            <a:ext cx="184208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УСКОРЕНИЕ ПРОВЕРКИ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28663" y="2972358"/>
            <a:ext cx="3769779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28663" y="3122377"/>
            <a:ext cx="3879507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КАК ИСПОЛЬЗОВАЛИ РЕЗУЛЬТАТ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28663" y="3300971"/>
            <a:ext cx="3769779" cy="542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Перешли в переговоры с целевой ценой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Согласовали снижение на 7% от первоначальной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Сохранили отношения с генподрядчиком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69917" y="874998"/>
            <a:ext cx="3816883" cy="1119113"/>
          </a:xfrm>
          <a:prstGeom prst="roundRect">
            <a:avLst>
              <a:gd name="adj" fmla="val 3404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98504" y="1070558"/>
            <a:ext cx="3559708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 ВНЕДРЕНИЯ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998504" y="1249152"/>
            <a:ext cx="3559708" cy="2440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spc="-3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 дней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998504" y="1520614"/>
            <a:ext cx="3559708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 ПРОВЕРКУ ОДНОЙ СМЕТЫ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998504" y="1688492"/>
            <a:ext cx="3669436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Один специалист, фрагментарная проверка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69917" y="2079836"/>
            <a:ext cx="3816883" cy="919200"/>
          </a:xfrm>
          <a:prstGeom prst="roundRect">
            <a:avLst>
              <a:gd name="adj" fmla="val 4145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69917" y="2079836"/>
            <a:ext cx="3816883" cy="314325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969929" y="217270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5" name="Text 23"/>
          <p:cNvSpPr/>
          <p:nvPr/>
        </p:nvSpPr>
        <p:spPr>
          <a:xfrm>
            <a:off x="5169954" y="2167347"/>
            <a:ext cx="341683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После внедрения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998504" y="2494173"/>
            <a:ext cx="3688296" cy="2440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spc="-3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час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998504" y="2765636"/>
            <a:ext cx="3688296" cy="1435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85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 ТУ ЖЕ СМЕТУ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998504" y="2936639"/>
            <a:ext cx="3798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 агента в цепочке, 100% покрытие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77060" y="3091904"/>
            <a:ext cx="3802596" cy="113351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4288">
            <a:solidFill>
              <a:srgbClr val="00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012792" y="3294720"/>
            <a:ext cx="3531133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ВОЗВРАТ ИНВЕСТИЦИИ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012792" y="3473314"/>
            <a:ext cx="3531133" cy="2440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spc="-3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48 млн ₽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012792" y="3744776"/>
            <a:ext cx="3531133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 ОДНОМ ОБЪЕКТЕ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012792" y="3912654"/>
            <a:ext cx="3531133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 цене внедрения 22,5 млн ₽ — ROI на первом же объекте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14350" y="4954191"/>
            <a:ext cx="391354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442185" y="4954191"/>
            <a:ext cx="392817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КЕЙС 01 · РЕЗУЛЬТАТ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25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581073" cy="2382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Кейс 01. Кратко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Одна страница — для пересылки коллегам и принятия решения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4998"/>
            <a:ext cx="2666963" cy="1877020"/>
          </a:xfrm>
          <a:prstGeom prst="roundRect">
            <a:avLst>
              <a:gd name="adj" fmla="val 203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2938" y="989298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56868" y="100322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7" name="Text 5"/>
          <p:cNvSpPr/>
          <p:nvPr/>
        </p:nvSpPr>
        <p:spPr>
          <a:xfrm>
            <a:off x="928688" y="1042876"/>
            <a:ext cx="21240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ЗАКАЗЧИК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2938" y="1260760"/>
            <a:ext cx="240978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Крупный девелопер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2938" y="1433996"/>
            <a:ext cx="2409788" cy="339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Несколько параллельных объектов, своя служба техзаказчика.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67038" y="874998"/>
            <a:ext cx="2666963" cy="1877020"/>
          </a:xfrm>
          <a:prstGeom prst="roundRect">
            <a:avLst>
              <a:gd name="adj" fmla="val 203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95625" y="989298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09556" y="100322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13" name="Text 11"/>
          <p:cNvSpPr/>
          <p:nvPr/>
        </p:nvSpPr>
        <p:spPr>
          <a:xfrm>
            <a:off x="3681375" y="1042876"/>
            <a:ext cx="21240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ОБЪЕКТ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395625" y="1260760"/>
            <a:ext cx="240978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Жилой комплекс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95625" y="1433996"/>
            <a:ext cx="2519516" cy="169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Смета 1,2 млрд ₽, 2 000 позиций от генподрядчика.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19726" y="874998"/>
            <a:ext cx="2667074" cy="1877020"/>
          </a:xfrm>
          <a:prstGeom prst="roundRect">
            <a:avLst>
              <a:gd name="adj" fmla="val 203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48313" y="989298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162243" y="100322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9" name="Text 17"/>
          <p:cNvSpPr/>
          <p:nvPr/>
        </p:nvSpPr>
        <p:spPr>
          <a:xfrm>
            <a:off x="6434063" y="1042876"/>
            <a:ext cx="212414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ВХОД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148313" y="1260760"/>
            <a:ext cx="240989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Смета в Excel+PDF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148313" y="1433996"/>
            <a:ext cx="2519627" cy="169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Объём 850 МБ, срок проверки 1 рабочий день.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14350" y="2837743"/>
            <a:ext cx="2666963" cy="1877132"/>
          </a:xfrm>
          <a:prstGeom prst="roundRect">
            <a:avLst>
              <a:gd name="adj" fmla="val 203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42938" y="2952043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56868" y="296597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5" name="Text 23"/>
          <p:cNvSpPr/>
          <p:nvPr/>
        </p:nvSpPr>
        <p:spPr>
          <a:xfrm>
            <a:off x="928688" y="3005621"/>
            <a:ext cx="21240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АГЕНТЫ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42938" y="3223506"/>
            <a:ext cx="240978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 агента в цепочке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2938" y="3396742"/>
            <a:ext cx="2409788" cy="339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Сметчик, Нормализатор, Аудитор коэффициентов, Руководитель.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67038" y="2837743"/>
            <a:ext cx="2666963" cy="1877132"/>
          </a:xfrm>
          <a:prstGeom prst="roundRect">
            <a:avLst>
              <a:gd name="adj" fmla="val 203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395625" y="2952043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409556" y="296597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3681375" y="3005621"/>
            <a:ext cx="21240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395625" y="3223506"/>
            <a:ext cx="240978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48 млн ₽</a:t>
            </a:r>
            <a:pPr algn="l" indent="0" marL="0">
              <a:lnSpc>
                <a:spcPts val="914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предотвращено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395625" y="3396742"/>
            <a:ext cx="2519516" cy="169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4% от сметы. Целевая цена снижена на 7%.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019726" y="2837743"/>
            <a:ext cx="2667074" cy="1877132"/>
          </a:xfrm>
          <a:prstGeom prst="roundRect">
            <a:avLst>
              <a:gd name="adj" fmla="val 203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148313" y="2952043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162243" y="296597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37" name="Text 35"/>
          <p:cNvSpPr/>
          <p:nvPr/>
        </p:nvSpPr>
        <p:spPr>
          <a:xfrm>
            <a:off x="6434063" y="3005621"/>
            <a:ext cx="212414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ВРЕМЯ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148313" y="3223506"/>
            <a:ext cx="240989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час работы системы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148313" y="3396742"/>
            <a:ext cx="2519627" cy="169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Вместо 5 дней ручной проверки. Ускорение в 40 раз.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14350" y="4954191"/>
            <a:ext cx="392560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454240" y="4954191"/>
            <a:ext cx="391611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КЕЙС 01 · ВЫЖИМКА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25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629650" cy="23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Кейс 02. Сравнение предложений подрядчиков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Три коммерческих предложения с разными наименованиями работ — одна аналитическая оценка за 1 час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4998"/>
            <a:ext cx="4530365" cy="3839877"/>
          </a:xfrm>
          <a:prstGeom prst="roundRect">
            <a:avLst>
              <a:gd name="adj" fmla="val 992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00088" y="1032160"/>
            <a:ext cx="41588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СИТУАЦИЯ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00088" y="1239329"/>
            <a:ext cx="4158890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Поступило три коммерческих предложения с разными наименованиями работ. Сравнить вручную — невозможно: </a:t>
            </a:r>
            <a:pPr algn="l" indent="0" marL="0">
              <a:lnSpc>
                <a:spcPts val="1195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60% позиций</a:t>
            </a:r>
            <a:pPr algn="l" indent="0" marL="0">
              <a:lnSpc>
                <a:spcPts val="1195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у каждого подрядчика написано по-своему.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00088" y="1794756"/>
            <a:ext cx="415889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00088" y="1901912"/>
            <a:ext cx="426861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СДЕЛАЛ СТРОЙИНТЕЛЛЕКТ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00088" y="2109081"/>
            <a:ext cx="4158890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Привёл позиции к сопоставимому виду, рассчитал </a:t>
            </a:r>
            <a:pPr algn="l" indent="0" marL="0">
              <a:lnSpc>
                <a:spcPts val="1195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собственную аналитическую оценку</a:t>
            </a:r>
            <a:pPr algn="l" indent="0" marL="0">
              <a:lnSpc>
                <a:spcPts val="1195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и выявил аномалию: предложение подрядчика А было ниже рынка на 12% — высокий риск невыполнения. Подрядчик Б имел скрытые завышения объёмов.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00088" y="2664507"/>
            <a:ext cx="415889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00088" y="2771663"/>
            <a:ext cx="41588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00088" y="2978832"/>
            <a:ext cx="415889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Заказчик получил целевую цену для переговоров и реестр рисков по каждому подрядчику. Переговоры шли </a:t>
            </a:r>
            <a:pPr algn="l" indent="0" marL="0">
              <a:lnSpc>
                <a:spcPts val="1195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 позиции силы</a:t>
            </a:r>
            <a:pPr algn="l" indent="0" marL="0">
              <a:lnSpc>
                <a:spcPts val="1195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а не угадывания.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00088" y="3382454"/>
            <a:ext cx="415889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00088" y="4374082"/>
            <a:ext cx="890625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00088" y="4384477"/>
            <a:ext cx="89062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НОРМАЛИЗАТОР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647862" y="4374082"/>
            <a:ext cx="716161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647862" y="4384477"/>
            <a:ext cx="71616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ЭКОНОМИСТ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421173" y="4374082"/>
            <a:ext cx="881249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421173" y="4384477"/>
            <a:ext cx="88124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РУКОВОДИТЕЛЬ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201878" y="874998"/>
            <a:ext cx="3484922" cy="1222809"/>
          </a:xfrm>
          <a:prstGeom prst="roundRect">
            <a:avLst>
              <a:gd name="adj" fmla="val 311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201878" y="874998"/>
            <a:ext cx="3484922" cy="328613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325108" y="969652"/>
            <a:ext cx="13930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559065" y="969652"/>
            <a:ext cx="3027722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РАСХОЖДЕНИЕ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316178" y="1421383"/>
            <a:ext cx="3370622" cy="3411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700" b="1" spc="-67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 ₽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5316178" y="1789956"/>
            <a:ext cx="3480350" cy="153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СУММ РАЗДЕЛОВ ПОСЛЕ НОРМАЛИЗАЦИИ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201878" y="2183532"/>
            <a:ext cx="3484922" cy="1222809"/>
          </a:xfrm>
          <a:prstGeom prst="roundRect">
            <a:avLst>
              <a:gd name="adj" fmla="val 311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201878" y="2183532"/>
            <a:ext cx="3484922" cy="328613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325108" y="2278187"/>
            <a:ext cx="13930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559065" y="2278187"/>
            <a:ext cx="3027722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ИЗВЛЕЧЕНИЕ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316178" y="2729917"/>
            <a:ext cx="3370622" cy="3411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700" b="1" spc="-67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95%</a:t>
            </a:r>
            <a:endParaRPr lang="en-US" sz="2700" dirty="0"/>
          </a:p>
        </p:txBody>
      </p:sp>
      <p:sp>
        <p:nvSpPr>
          <p:cNvPr id="31" name="Text 29"/>
          <p:cNvSpPr/>
          <p:nvPr/>
        </p:nvSpPr>
        <p:spPr>
          <a:xfrm>
            <a:off x="5316178" y="3098490"/>
            <a:ext cx="3480350" cy="153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КОРРЕКТНО ИЗВЛЕЧЁННЫХ ПОЗИЦИЙ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201878" y="3492066"/>
            <a:ext cx="3484922" cy="1222809"/>
          </a:xfrm>
          <a:prstGeom prst="roundRect">
            <a:avLst>
              <a:gd name="adj" fmla="val 311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201878" y="3492066"/>
            <a:ext cx="3484922" cy="328613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325108" y="3586721"/>
            <a:ext cx="13930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559065" y="3586721"/>
            <a:ext cx="3027722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ВРЕМЯ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316178" y="4038451"/>
            <a:ext cx="3370622" cy="3411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700" b="1" spc="-67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час</a:t>
            </a:r>
            <a:endParaRPr lang="en-US" sz="2700" dirty="0"/>
          </a:p>
        </p:txBody>
      </p:sp>
      <p:sp>
        <p:nvSpPr>
          <p:cNvPr id="37" name="Text 35"/>
          <p:cNvSpPr/>
          <p:nvPr/>
        </p:nvSpPr>
        <p:spPr>
          <a:xfrm>
            <a:off x="5316178" y="4407024"/>
            <a:ext cx="3480350" cy="153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 ФОРМИРОВАНИЕ СРАВНИТЕЛЬНОЙ ТАБЛИЦЫ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14350" y="4954191"/>
            <a:ext cx="392772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456361" y="4954191"/>
            <a:ext cx="39139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КЕЙС 02 · КОНТЕКСТ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25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629650" cy="23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Сравнение трёх подрядчиков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показал СтройИнтеллект по каждому предложению после нормализации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4998"/>
            <a:ext cx="2657475" cy="3839877"/>
          </a:xfrm>
          <a:prstGeom prst="roundRect">
            <a:avLst>
              <a:gd name="adj" fmla="val 1434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874998"/>
            <a:ext cx="2657475" cy="357188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28650" y="960723"/>
            <a:ext cx="185738" cy="18573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8650" y="960723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↘</a:t>
            </a:r>
            <a:endParaRPr lang="en-US" sz="1266" dirty="0"/>
          </a:p>
        </p:txBody>
      </p:sp>
      <p:sp>
        <p:nvSpPr>
          <p:cNvPr id="8" name="Text 6"/>
          <p:cNvSpPr/>
          <p:nvPr/>
        </p:nvSpPr>
        <p:spPr>
          <a:xfrm>
            <a:off x="885825" y="983940"/>
            <a:ext cx="814616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ПОДРЯДЧИК А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384919" y="964580"/>
            <a:ext cx="695466" cy="178022"/>
          </a:xfrm>
          <a:prstGeom prst="roundRect">
            <a:avLst>
              <a:gd name="adj" fmla="val 10701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407779" y="974117"/>
            <a:ext cx="649746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АНОМАЛИЯ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2938" y="1346485"/>
            <a:ext cx="2528888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spc="-13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−12%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2938" y="1546510"/>
            <a:ext cx="25288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НИЖЕ РЫНКА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2938" y="1714388"/>
            <a:ext cx="240030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42938" y="1792970"/>
            <a:ext cx="2528888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ВЫВОД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42938" y="1971563"/>
            <a:ext cx="2400300" cy="50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Предложение ниже рыночной медианы на 12%. Высокий риск невыполнения работ или скрытых удорожаний по ходу.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42938" y="2424745"/>
            <a:ext cx="240030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2938" y="2503326"/>
            <a:ext cx="2528888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РЕКОМЕНДАЦИЯ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2938" y="2681920"/>
            <a:ext cx="25923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Отклонить или требовать гарантий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2938" y="2876587"/>
            <a:ext cx="240030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0078" y="4416945"/>
            <a:ext cx="918485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42938" y="4427339"/>
            <a:ext cx="87276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ВЫСОКИЙ РИСК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71838" y="874998"/>
            <a:ext cx="2657475" cy="3839877"/>
          </a:xfrm>
          <a:prstGeom prst="roundRect">
            <a:avLst>
              <a:gd name="adj" fmla="val 1434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271838" y="874998"/>
            <a:ext cx="2657475" cy="357188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386138" y="960723"/>
            <a:ext cx="185738" cy="18573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386138" y="960723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3643313" y="983940"/>
            <a:ext cx="807944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ПОДРЯДЧИК Б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75210" y="964580"/>
            <a:ext cx="762662" cy="178022"/>
          </a:xfrm>
          <a:prstGeom prst="roundRect">
            <a:avLst>
              <a:gd name="adj" fmla="val 10701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098070" y="974117"/>
            <a:ext cx="716942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ЗАВЫШЕНИЕ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400425" y="1346485"/>
            <a:ext cx="2528888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spc="-13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+8%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3400425" y="1546510"/>
            <a:ext cx="25288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ВЫШЕ РЫНКА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400425" y="1714388"/>
            <a:ext cx="240030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400425" y="1792970"/>
            <a:ext cx="2528888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ВЫВОД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400425" y="1971563"/>
            <a:ext cx="2400300" cy="339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Скрытое завышение объёмов работ по 3 разделам. После нормализации — выше медианы на 8%.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400425" y="2297497"/>
            <a:ext cx="240030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400425" y="2376078"/>
            <a:ext cx="2528888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РЕКОМЕНДАЦИЯ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400425" y="2554672"/>
            <a:ext cx="25923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Переговоры с целевой ценой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400425" y="2749339"/>
            <a:ext cx="240030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377565" y="4416945"/>
            <a:ext cx="800502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400425" y="4427339"/>
            <a:ext cx="754782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ПЕРЕГОВОРЫ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029325" y="874998"/>
            <a:ext cx="2657475" cy="3839877"/>
          </a:xfrm>
          <a:prstGeom prst="roundRect">
            <a:avLst>
              <a:gd name="adj" fmla="val 1434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029325" y="874998"/>
            <a:ext cx="2657475" cy="357188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143625" y="960723"/>
            <a:ext cx="185738" cy="18573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143625" y="960723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44" name="Text 42"/>
          <p:cNvSpPr/>
          <p:nvPr/>
        </p:nvSpPr>
        <p:spPr>
          <a:xfrm>
            <a:off x="6400800" y="983940"/>
            <a:ext cx="808598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ПОДРЯДЧИК В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981042" y="964580"/>
            <a:ext cx="614206" cy="178022"/>
          </a:xfrm>
          <a:prstGeom prst="roundRect">
            <a:avLst>
              <a:gd name="adj" fmla="val 10701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8003791" y="974117"/>
            <a:ext cx="568709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ЦЕЛЕВОЙ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157913" y="1346485"/>
            <a:ext cx="2528887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spc="-13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±2%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6157913" y="1546510"/>
            <a:ext cx="25288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РЫНКА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157913" y="1714388"/>
            <a:ext cx="240030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157913" y="1792970"/>
            <a:ext cx="2528888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ВЫВОД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157913" y="1971563"/>
            <a:ext cx="2400300" cy="339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Предложение в пределах рыночной медианы. Расхождения по объёмам в пределах нормы.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157913" y="2297497"/>
            <a:ext cx="240030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157913" y="2376078"/>
            <a:ext cx="2528887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РЕКОМЕНДАЦИЯ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157913" y="2554672"/>
            <a:ext cx="2400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Целевой подрядчик. Цена для переговоров — текущая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157913" y="2872569"/>
            <a:ext cx="240030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6135053" y="4416945"/>
            <a:ext cx="884218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6157913" y="4427339"/>
            <a:ext cx="83849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РЕКОМЕНДУЕМ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514350" y="4954191"/>
            <a:ext cx="38584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387044" y="4954191"/>
            <a:ext cx="398331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КЕЙС 02 · ПОДРЯДЧИКИ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25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629650" cy="23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 сравнения предложений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получил заказчик после анализа трёх коммерческих предложений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4998"/>
            <a:ext cx="4198404" cy="3839877"/>
          </a:xfrm>
          <a:prstGeom prst="roundRect">
            <a:avLst>
              <a:gd name="adj" fmla="val 992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28663" y="1390464"/>
            <a:ext cx="387950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РАЗНИЦА МЕЖДУ ПОДРЯДЧИКАМИ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28663" y="1583345"/>
            <a:ext cx="2014180" cy="556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61"/>
              </a:lnSpc>
              <a:buNone/>
            </a:pPr>
            <a:r>
              <a:rPr lang="en-US" sz="4275" b="1" spc="-107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20%</a:t>
            </a:r>
            <a:endParaRPr lang="en-US" sz="4275" dirty="0"/>
          </a:p>
        </p:txBody>
      </p:sp>
      <p:sp>
        <p:nvSpPr>
          <p:cNvPr id="7" name="Text 5"/>
          <p:cNvSpPr/>
          <p:nvPr/>
        </p:nvSpPr>
        <p:spPr>
          <a:xfrm>
            <a:off x="2087538" y="1854808"/>
            <a:ext cx="2410904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разброс</a:t>
            </a:r>
            <a:endParaRPr lang="en-US" sz="1238" dirty="0"/>
          </a:p>
        </p:txBody>
      </p:sp>
      <p:sp>
        <p:nvSpPr>
          <p:cNvPr id="8" name="Text 6"/>
          <p:cNvSpPr/>
          <p:nvPr/>
        </p:nvSpPr>
        <p:spPr>
          <a:xfrm>
            <a:off x="728663" y="2184760"/>
            <a:ext cx="3769779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Между самым дешёвым (А, −12%) и самым дорогим (Б, +8%) предложением после нормализации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28663" y="2590167"/>
            <a:ext cx="3769779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8663" y="2725899"/>
            <a:ext cx="376977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ПОЛУЧИЛ ЗАКАЗЧИК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28663" y="2954499"/>
            <a:ext cx="57150" cy="5715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7250" y="2918780"/>
            <a:ext cx="3641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Целевую цену для переговоров (рыночная медиана)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28663" y="3133092"/>
            <a:ext cx="57150" cy="5715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57250" y="3097374"/>
            <a:ext cx="3641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Реестр рисков по каждому подрядчику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28663" y="3311686"/>
            <a:ext cx="57150" cy="5715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57250" y="3275967"/>
            <a:ext cx="3641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Аргументы для отказа подрядчику А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28663" y="3490280"/>
            <a:ext cx="57150" cy="5715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57250" y="3454561"/>
            <a:ext cx="3641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Целевую скидку для подрядчика Б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28663" y="3668874"/>
            <a:ext cx="57150" cy="5715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57250" y="3633155"/>
            <a:ext cx="3641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Подтверждение корректности подрядчика В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28663" y="3890330"/>
            <a:ext cx="3769779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32234" y="4029633"/>
            <a:ext cx="1808038" cy="166092"/>
          </a:xfrm>
          <a:prstGeom prst="roundRect">
            <a:avLst>
              <a:gd name="adj" fmla="val 11470"/>
            </a:avLst>
          </a:prstGeom>
          <a:noFill/>
          <a:ln w="7144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28663" y="4026061"/>
            <a:ext cx="1836613" cy="280095"/>
          </a:xfrm>
          <a:prstGeom prst="rect">
            <a:avLst/>
          </a:prstGeom>
          <a:noFill/>
          <a:ln/>
        </p:spPr>
        <p:txBody>
          <a:bodyPr wrap="none" lIns="71438" tIns="28575" rIns="71438" bIns="28575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 ₽ РАСХОЖДЕНИЕ СУММ РАЗДЕЛОВ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586707" y="4015667"/>
            <a:ext cx="958937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586707" y="4026061"/>
            <a:ext cx="958937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95% ИЗВЛЕЧЕНИЕ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588507" y="4015667"/>
            <a:ext cx="818629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588507" y="4026061"/>
            <a:ext cx="81862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ЧАС РАБОТЫ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69917" y="874998"/>
            <a:ext cx="3816883" cy="1222809"/>
          </a:xfrm>
          <a:prstGeom prst="roundRect">
            <a:avLst>
              <a:gd name="adj" fmla="val 311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69917" y="874998"/>
            <a:ext cx="3816883" cy="328613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993146" y="969652"/>
            <a:ext cx="13930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↘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227104" y="969652"/>
            <a:ext cx="3359683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ПОДРЯДЧИК А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984217" y="1389571"/>
            <a:ext cx="3702583" cy="215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spc="-32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Отклонён</a:t>
            </a:r>
            <a:endParaRPr lang="en-US" sz="1575" dirty="0"/>
          </a:p>
        </p:txBody>
      </p:sp>
      <p:sp>
        <p:nvSpPr>
          <p:cNvPr id="33" name="Text 31"/>
          <p:cNvSpPr/>
          <p:nvPr/>
        </p:nvSpPr>
        <p:spPr>
          <a:xfrm>
            <a:off x="4984217" y="1632458"/>
            <a:ext cx="3812311" cy="133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ВЫСОКИЙ РИСК НЕВЫПОЛНЕНИЯ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984217" y="1793863"/>
            <a:ext cx="381231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−12% от рынка — скрытый риск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69917" y="2183532"/>
            <a:ext cx="3816883" cy="1222809"/>
          </a:xfrm>
          <a:prstGeom prst="roundRect">
            <a:avLst>
              <a:gd name="adj" fmla="val 311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869917" y="2183532"/>
            <a:ext cx="3816883" cy="328613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993146" y="2278187"/>
            <a:ext cx="13930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✻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227104" y="2278187"/>
            <a:ext cx="3359683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ПОДРЯДЧИК Б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984217" y="2698105"/>
            <a:ext cx="3702583" cy="215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spc="-32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−8%</a:t>
            </a:r>
            <a:endParaRPr lang="en-US" sz="1575" dirty="0"/>
          </a:p>
        </p:txBody>
      </p:sp>
      <p:sp>
        <p:nvSpPr>
          <p:cNvPr id="40" name="Text 38"/>
          <p:cNvSpPr/>
          <p:nvPr/>
        </p:nvSpPr>
        <p:spPr>
          <a:xfrm>
            <a:off x="4984217" y="2940993"/>
            <a:ext cx="3702583" cy="1339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СОГЛАСОВАНА СКИДКА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984217" y="3102397"/>
            <a:ext cx="381231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 целевой ценой после переговоров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869917" y="3492066"/>
            <a:ext cx="3816883" cy="1222809"/>
          </a:xfrm>
          <a:prstGeom prst="roundRect">
            <a:avLst>
              <a:gd name="adj" fmla="val 311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869917" y="3492066"/>
            <a:ext cx="3816883" cy="328613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993146" y="3586721"/>
            <a:ext cx="13930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227104" y="3586721"/>
            <a:ext cx="3359683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ПОДРЯДЧИК В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984217" y="4006639"/>
            <a:ext cx="3702583" cy="215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spc="-32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Целевой</a:t>
            </a:r>
            <a:endParaRPr lang="en-US" sz="1575" dirty="0"/>
          </a:p>
        </p:txBody>
      </p:sp>
      <p:sp>
        <p:nvSpPr>
          <p:cNvPr id="47" name="Text 45"/>
          <p:cNvSpPr/>
          <p:nvPr/>
        </p:nvSpPr>
        <p:spPr>
          <a:xfrm>
            <a:off x="4984217" y="4249527"/>
            <a:ext cx="3702583" cy="1339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РЫНКА, РЕКОМЕНДОВАН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984217" y="4410931"/>
            <a:ext cx="381231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Без переговоров, корректная цена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514350" y="4954191"/>
            <a:ext cx="391354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442185" y="4954191"/>
            <a:ext cx="392817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КЕЙС 02 · РЕЗУЛЬТАТ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25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581073" cy="2382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Кейс 02. Кратко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7152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Одна страница — для пересылки коллегам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4998"/>
            <a:ext cx="2666963" cy="1877020"/>
          </a:xfrm>
          <a:prstGeom prst="roundRect">
            <a:avLst>
              <a:gd name="adj" fmla="val 203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2938" y="989298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56868" y="100322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7" name="Text 5"/>
          <p:cNvSpPr/>
          <p:nvPr/>
        </p:nvSpPr>
        <p:spPr>
          <a:xfrm>
            <a:off x="928688" y="1042876"/>
            <a:ext cx="21240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ЗАКАЗЧИК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2938" y="1260760"/>
            <a:ext cx="240978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Корпоративный заказчик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2938" y="1433996"/>
            <a:ext cx="2409788" cy="339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Капитальное строительство для себя, несколько подрядчиков.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67038" y="874998"/>
            <a:ext cx="2666963" cy="1877020"/>
          </a:xfrm>
          <a:prstGeom prst="roundRect">
            <a:avLst>
              <a:gd name="adj" fmla="val 203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95625" y="989298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09556" y="100322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266" dirty="0"/>
          </a:p>
        </p:txBody>
      </p:sp>
      <p:sp>
        <p:nvSpPr>
          <p:cNvPr id="13" name="Text 11"/>
          <p:cNvSpPr/>
          <p:nvPr/>
        </p:nvSpPr>
        <p:spPr>
          <a:xfrm>
            <a:off x="3681375" y="1042876"/>
            <a:ext cx="21240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ВХОД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395625" y="1260760"/>
            <a:ext cx="25195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 коммерческих предложения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95625" y="1433996"/>
            <a:ext cx="2409788" cy="339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Разные наименования работ, 60% позиций несопоставимы.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19726" y="874998"/>
            <a:ext cx="2667074" cy="1877020"/>
          </a:xfrm>
          <a:prstGeom prst="roundRect">
            <a:avLst>
              <a:gd name="adj" fmla="val 203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48313" y="989298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162243" y="100322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266" dirty="0"/>
          </a:p>
        </p:txBody>
      </p:sp>
      <p:sp>
        <p:nvSpPr>
          <p:cNvPr id="19" name="Text 17"/>
          <p:cNvSpPr/>
          <p:nvPr/>
        </p:nvSpPr>
        <p:spPr>
          <a:xfrm>
            <a:off x="6434063" y="1042876"/>
            <a:ext cx="212414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АГЕНТЫ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148313" y="1260760"/>
            <a:ext cx="240989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Нормализатор + Экономист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148313" y="1433996"/>
            <a:ext cx="2409899" cy="339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Приведение к сопоставимому виду + собственная оценка.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14350" y="2837743"/>
            <a:ext cx="2666963" cy="1877132"/>
          </a:xfrm>
          <a:prstGeom prst="roundRect">
            <a:avLst>
              <a:gd name="adj" fmla="val 203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42938" y="2952043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56868" y="296597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25" name="Text 23"/>
          <p:cNvSpPr/>
          <p:nvPr/>
        </p:nvSpPr>
        <p:spPr>
          <a:xfrm>
            <a:off x="928688" y="3005621"/>
            <a:ext cx="21240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42938" y="3223506"/>
            <a:ext cx="25195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Целевая цена + реестр рисков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2938" y="3396742"/>
            <a:ext cx="2519516" cy="169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 каждому подрядчику с рекомендацией.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67038" y="2837743"/>
            <a:ext cx="2666963" cy="1877132"/>
          </a:xfrm>
          <a:prstGeom prst="roundRect">
            <a:avLst>
              <a:gd name="adj" fmla="val 203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395625" y="2952043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409556" y="296597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3681375" y="3005621"/>
            <a:ext cx="21240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ЭФФЕКТ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395625" y="3223506"/>
            <a:ext cx="240978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Скидка </a:t>
            </a:r>
            <a:pPr algn="l" indent="0" marL="0">
              <a:lnSpc>
                <a:spcPts val="914"/>
              </a:lnSpc>
              <a:buNone/>
            </a:pPr>
            <a:r>
              <a:rPr lang="en-US" sz="800" b="1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8%</a:t>
            </a:r>
            <a:pPr algn="l" indent="0" marL="0">
              <a:lnSpc>
                <a:spcPts val="914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от подрядчика Б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395625" y="3396742"/>
            <a:ext cx="2519516" cy="169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Согласована после переговоров с целевой ценой.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019726" y="2837743"/>
            <a:ext cx="2667074" cy="1877132"/>
          </a:xfrm>
          <a:prstGeom prst="roundRect">
            <a:avLst>
              <a:gd name="adj" fmla="val 203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148313" y="2952043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162243" y="296597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37" name="Text 35"/>
          <p:cNvSpPr/>
          <p:nvPr/>
        </p:nvSpPr>
        <p:spPr>
          <a:xfrm>
            <a:off x="6434063" y="3005621"/>
            <a:ext cx="212414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ВРЕМЯ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148313" y="3223506"/>
            <a:ext cx="240989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час работы системы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148313" y="3396742"/>
            <a:ext cx="2519627" cy="169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Вместо 5–7 дней ручного сравнения в Excel.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14350" y="4954191"/>
            <a:ext cx="392560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454240" y="4954191"/>
            <a:ext cx="391611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КЕЙС 02 · ВЫЖИМКА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25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629650" cy="23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Кейс 03. Управление финансами проекта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 ручного бюджета движения денежных средств в Excel — к автоматическому прогнозу кассовых разрывов в трёх сценариях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4998"/>
            <a:ext cx="4530365" cy="3839877"/>
          </a:xfrm>
          <a:prstGeom prst="roundRect">
            <a:avLst>
              <a:gd name="adj" fmla="val 992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00088" y="1032160"/>
            <a:ext cx="41588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СИТУАЦИЯ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00088" y="1239329"/>
            <a:ext cx="4158890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Девелопер строит жилой комплекс за </a:t>
            </a:r>
            <a:pPr algn="l" indent="0" marL="0">
              <a:lnSpc>
                <a:spcPts val="1195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1,5 млрд ₽</a:t>
            </a:r>
            <a:pPr algn="l" indent="0" marL="0">
              <a:lnSpc>
                <a:spcPts val="1195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с проектным кредитом и эскроу-счетами. Финансовый аналитик строит бюджет движения денежных средств вручную в Excel. Расхождения выявляются постфактум — когда уже поздно.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00088" y="1794756"/>
            <a:ext cx="415889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00088" y="1901912"/>
            <a:ext cx="41588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ПОСТАВЛЕННАЯ ЗАДАЧА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00088" y="2109081"/>
            <a:ext cx="415889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Перейти от постфактум-контроля к заблаговременному прогнозу. Заранее видеть кассовые разрывы с периодом и суммой.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00088" y="2512702"/>
            <a:ext cx="415889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00088" y="2619859"/>
            <a:ext cx="41588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РЕШЕНИЕ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00088" y="2827027"/>
            <a:ext cx="4158890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Загрузили параметры кредита, эскроу и план-график в СтройИнтеллект. Цепочка из </a:t>
            </a:r>
            <a:pPr algn="l" indent="0" marL="0">
              <a:lnSpc>
                <a:spcPts val="1195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 агентов</a:t>
            </a:r>
            <a:pPr algn="l" indent="0" marL="0">
              <a:lnSpc>
                <a:spcPts val="1195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Экономист, Финансист, Руководитель — построила помесячный бюджет движения денежных средств с прогнозом разрывов в трёх сценариях.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00088" y="3382454"/>
            <a:ext cx="415889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00088" y="4374082"/>
            <a:ext cx="716161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00088" y="4384477"/>
            <a:ext cx="71616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ЭКОНОМИСТ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473398" y="4374082"/>
            <a:ext cx="711250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473398" y="4384477"/>
            <a:ext cx="71125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ФИНАНСИСТ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241798" y="4374082"/>
            <a:ext cx="881249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241798" y="4384477"/>
            <a:ext cx="88124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РУКОВОДИТЕЛЬ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201878" y="874998"/>
            <a:ext cx="3484922" cy="1222809"/>
          </a:xfrm>
          <a:prstGeom prst="roundRect">
            <a:avLst>
              <a:gd name="adj" fmla="val 311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201878" y="874998"/>
            <a:ext cx="3484922" cy="328613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325108" y="969652"/>
            <a:ext cx="13930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559065" y="969652"/>
            <a:ext cx="3027722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ВХОД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316178" y="1322152"/>
            <a:ext cx="930831" cy="351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700" b="1" spc="-67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1,5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5955097" y="1457883"/>
            <a:ext cx="2617403" cy="215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9"/>
              </a:lnSpc>
              <a:buNone/>
            </a:pPr>
            <a:r>
              <a:rPr lang="en-US" sz="1013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млрд ₽</a:t>
            </a:r>
            <a:endParaRPr lang="en-US" sz="1013" dirty="0"/>
          </a:p>
        </p:txBody>
      </p:sp>
      <p:sp>
        <p:nvSpPr>
          <p:cNvPr id="26" name="Text 24"/>
          <p:cNvSpPr/>
          <p:nvPr/>
        </p:nvSpPr>
        <p:spPr>
          <a:xfrm>
            <a:off x="5316178" y="1699989"/>
            <a:ext cx="3370622" cy="1339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ОБЪЁМ ПРОЕКТА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316178" y="1861393"/>
            <a:ext cx="34803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Кредит + эскроу + план-график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01878" y="2183532"/>
            <a:ext cx="3484922" cy="1222809"/>
          </a:xfrm>
          <a:prstGeom prst="roundRect">
            <a:avLst>
              <a:gd name="adj" fmla="val 311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201878" y="2183532"/>
            <a:ext cx="3484922" cy="328613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325108" y="2278187"/>
            <a:ext cx="13930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559065" y="2278187"/>
            <a:ext cx="3027722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ОБРАБОТКА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316178" y="2635262"/>
            <a:ext cx="3370622" cy="3411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700" b="1" spc="-67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 сценария</a:t>
            </a:r>
            <a:endParaRPr lang="en-US" sz="2700" dirty="0"/>
          </a:p>
        </p:txBody>
      </p:sp>
      <p:sp>
        <p:nvSpPr>
          <p:cNvPr id="33" name="Text 31"/>
          <p:cNvSpPr/>
          <p:nvPr/>
        </p:nvSpPr>
        <p:spPr>
          <a:xfrm>
            <a:off x="5316178" y="3003835"/>
            <a:ext cx="3370622" cy="1339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МАРЖА И БДДС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316178" y="3165239"/>
            <a:ext cx="34803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База/пессимист/оптимист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201878" y="3492066"/>
            <a:ext cx="3484922" cy="1222809"/>
          </a:xfrm>
          <a:prstGeom prst="roundRect">
            <a:avLst>
              <a:gd name="adj" fmla="val 311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201878" y="3492066"/>
            <a:ext cx="3484922" cy="328613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325108" y="3586721"/>
            <a:ext cx="13930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559065" y="3586721"/>
            <a:ext cx="3027722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316178" y="3943796"/>
            <a:ext cx="3370622" cy="3411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700" b="1" spc="-67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Помесячно</a:t>
            </a:r>
            <a:endParaRPr lang="en-US" sz="2700" dirty="0"/>
          </a:p>
        </p:txBody>
      </p:sp>
      <p:sp>
        <p:nvSpPr>
          <p:cNvPr id="40" name="Text 38"/>
          <p:cNvSpPr/>
          <p:nvPr/>
        </p:nvSpPr>
        <p:spPr>
          <a:xfrm>
            <a:off x="5316178" y="4312369"/>
            <a:ext cx="3480350" cy="133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ПРОГНОЗ КАССОВЫХ РАЗРЫВОВ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316178" y="4473773"/>
            <a:ext cx="34803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 периодом и суммой дефицита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14350" y="4954191"/>
            <a:ext cx="392772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456361" y="4954191"/>
            <a:ext cx="39139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КЕЙС 03 · КОНТЕКСТ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25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629650" cy="23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изменилось в управлении финансами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Тот же финансовый отдел. Те же данные. Совершенно другой уровень контроля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4998"/>
            <a:ext cx="4021931" cy="3839877"/>
          </a:xfrm>
          <a:prstGeom prst="roundRect">
            <a:avLst>
              <a:gd name="adj" fmla="val 992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874998"/>
            <a:ext cx="4021931" cy="344686"/>
          </a:xfrm>
          <a:prstGeom prst="rect">
            <a:avLst/>
          </a:prstGeom>
          <a:solidFill>
            <a:srgbClr val="9999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28650" y="993763"/>
            <a:ext cx="560249" cy="140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0243" y="972331"/>
            <a:ext cx="1363262" cy="161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Ручная финансовая модель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978069" y="950329"/>
            <a:ext cx="460986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995142" y="960723"/>
            <a:ext cx="42683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EXCEL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57225" y="1355415"/>
            <a:ext cx="157163" cy="157163"/>
          </a:xfrm>
          <a:prstGeom prst="roundRect">
            <a:avLst>
              <a:gd name="adj" fmla="val 12121"/>
            </a:avLst>
          </a:prstGeom>
          <a:solidFill>
            <a:srgbClr val="9999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63297" y="1361487"/>
            <a:ext cx="145018" cy="145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−</a:t>
            </a:r>
            <a:endParaRPr lang="en-US" sz="984" dirty="0"/>
          </a:p>
        </p:txBody>
      </p:sp>
      <p:sp>
        <p:nvSpPr>
          <p:cNvPr id="12" name="Text 10"/>
          <p:cNvSpPr/>
          <p:nvPr/>
        </p:nvSpPr>
        <p:spPr>
          <a:xfrm>
            <a:off x="885825" y="1348271"/>
            <a:ext cx="35075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Расчёт маржи в одном сценарии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57225" y="1598302"/>
            <a:ext cx="157163" cy="157163"/>
          </a:xfrm>
          <a:prstGeom prst="roundRect">
            <a:avLst>
              <a:gd name="adj" fmla="val 12121"/>
            </a:avLst>
          </a:prstGeom>
          <a:solidFill>
            <a:srgbClr val="9999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63297" y="1604375"/>
            <a:ext cx="145018" cy="145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−</a:t>
            </a:r>
            <a:endParaRPr lang="en-US" sz="984" dirty="0"/>
          </a:p>
        </p:txBody>
      </p:sp>
      <p:sp>
        <p:nvSpPr>
          <p:cNvPr id="15" name="Text 13"/>
          <p:cNvSpPr/>
          <p:nvPr/>
        </p:nvSpPr>
        <p:spPr>
          <a:xfrm>
            <a:off x="885825" y="1591159"/>
            <a:ext cx="35075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Ручное построение БДДС в Excel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57225" y="1841190"/>
            <a:ext cx="157163" cy="157163"/>
          </a:xfrm>
          <a:prstGeom prst="roundRect">
            <a:avLst>
              <a:gd name="adj" fmla="val 12121"/>
            </a:avLst>
          </a:prstGeom>
          <a:solidFill>
            <a:srgbClr val="9999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63297" y="1847262"/>
            <a:ext cx="145018" cy="145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−</a:t>
            </a:r>
            <a:endParaRPr lang="en-US" sz="984" dirty="0"/>
          </a:p>
        </p:txBody>
      </p:sp>
      <p:sp>
        <p:nvSpPr>
          <p:cNvPr id="18" name="Text 16"/>
          <p:cNvSpPr/>
          <p:nvPr/>
        </p:nvSpPr>
        <p:spPr>
          <a:xfrm>
            <a:off x="885825" y="1834046"/>
            <a:ext cx="35075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Риски кассовых разрывов выявляются постфактум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57225" y="2084077"/>
            <a:ext cx="157163" cy="157163"/>
          </a:xfrm>
          <a:prstGeom prst="roundRect">
            <a:avLst>
              <a:gd name="adj" fmla="val 12121"/>
            </a:avLst>
          </a:prstGeom>
          <a:solidFill>
            <a:srgbClr val="9999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63297" y="2090150"/>
            <a:ext cx="145018" cy="145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−</a:t>
            </a:r>
            <a:endParaRPr lang="en-US" sz="984" dirty="0"/>
          </a:p>
        </p:txBody>
      </p:sp>
      <p:sp>
        <p:nvSpPr>
          <p:cNvPr id="21" name="Text 19"/>
          <p:cNvSpPr/>
          <p:nvPr/>
        </p:nvSpPr>
        <p:spPr>
          <a:xfrm>
            <a:off x="885825" y="2076934"/>
            <a:ext cx="35075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Дата раскрытия эскроу не синхронизирована с план-графиком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57225" y="2326965"/>
            <a:ext cx="157163" cy="157163"/>
          </a:xfrm>
          <a:prstGeom prst="roundRect">
            <a:avLst>
              <a:gd name="adj" fmla="val 12121"/>
            </a:avLst>
          </a:prstGeom>
          <a:solidFill>
            <a:srgbClr val="9999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63297" y="2333037"/>
            <a:ext cx="145018" cy="145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−</a:t>
            </a:r>
            <a:endParaRPr lang="en-US" sz="984" dirty="0"/>
          </a:p>
        </p:txBody>
      </p:sp>
      <p:sp>
        <p:nvSpPr>
          <p:cNvPr id="24" name="Text 22"/>
          <p:cNvSpPr/>
          <p:nvPr/>
        </p:nvSpPr>
        <p:spPr>
          <a:xfrm>
            <a:off x="885825" y="2319821"/>
            <a:ext cx="35075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Обновление при изменении графика — 2–3 дня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57225" y="4259126"/>
            <a:ext cx="3736181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57225" y="4324906"/>
            <a:ext cx="1197694" cy="274183"/>
          </a:xfrm>
          <a:prstGeom prst="roundRect">
            <a:avLst>
              <a:gd name="adj" fmla="val 10422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07231" y="4402001"/>
            <a:ext cx="1097682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сценарий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926357" y="4324906"/>
            <a:ext cx="1197806" cy="274183"/>
          </a:xfrm>
          <a:prstGeom prst="roundRect">
            <a:avLst>
              <a:gd name="adj" fmla="val 10422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976363" y="4402001"/>
            <a:ext cx="1097793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5–7 дней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195600" y="4324906"/>
            <a:ext cx="1197806" cy="274183"/>
          </a:xfrm>
          <a:prstGeom prst="roundRect">
            <a:avLst>
              <a:gd name="adj" fmla="val 10422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245607" y="4402001"/>
            <a:ext cx="1097793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Постфактум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664869" y="874998"/>
            <a:ext cx="4021931" cy="3839877"/>
          </a:xfrm>
          <a:prstGeom prst="roundRect">
            <a:avLst>
              <a:gd name="adj" fmla="val 992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664869" y="874998"/>
            <a:ext cx="4021931" cy="3429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779169" y="992870"/>
            <a:ext cx="8727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ПОСЛЕ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396099" y="971438"/>
            <a:ext cx="1481931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Финмодель СтройИнтеллекта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179085" y="957437"/>
            <a:ext cx="408547" cy="178022"/>
          </a:xfrm>
          <a:prstGeom prst="roundRect">
            <a:avLst>
              <a:gd name="adj" fmla="val 10701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8194216" y="966974"/>
            <a:ext cx="378284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АВТО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807744" y="1353629"/>
            <a:ext cx="157163" cy="157163"/>
          </a:xfrm>
          <a:prstGeom prst="roundRect">
            <a:avLst>
              <a:gd name="adj" fmla="val 12121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813816" y="1359701"/>
            <a:ext cx="145018" cy="145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40" name="Text 38"/>
          <p:cNvSpPr/>
          <p:nvPr/>
        </p:nvSpPr>
        <p:spPr>
          <a:xfrm>
            <a:off x="5036344" y="1346485"/>
            <a:ext cx="35075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Автоматический расчёт </a:t>
            </a:r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трёх сценариев маржи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807744" y="1596517"/>
            <a:ext cx="157163" cy="157163"/>
          </a:xfrm>
          <a:prstGeom prst="roundRect">
            <a:avLst>
              <a:gd name="adj" fmla="val 12121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813816" y="1602589"/>
            <a:ext cx="145018" cy="145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43" name="Text 41"/>
          <p:cNvSpPr/>
          <p:nvPr/>
        </p:nvSpPr>
        <p:spPr>
          <a:xfrm>
            <a:off x="5036344" y="1589373"/>
            <a:ext cx="35075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Прогноз кассовых разрывов с периодом и суммой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807744" y="1839404"/>
            <a:ext cx="157163" cy="157163"/>
          </a:xfrm>
          <a:prstGeom prst="roundRect">
            <a:avLst>
              <a:gd name="adj" fmla="val 12121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813816" y="1845476"/>
            <a:ext cx="145018" cy="145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46" name="Text 44"/>
          <p:cNvSpPr/>
          <p:nvPr/>
        </p:nvSpPr>
        <p:spPr>
          <a:xfrm>
            <a:off x="5036344" y="1832260"/>
            <a:ext cx="35075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Помесячный БДДС с учётом графика выборки кредита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807744" y="2082292"/>
            <a:ext cx="157163" cy="157163"/>
          </a:xfrm>
          <a:prstGeom prst="roundRect">
            <a:avLst>
              <a:gd name="adj" fmla="val 12121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813816" y="2088364"/>
            <a:ext cx="145018" cy="145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49" name="Text 47"/>
          <p:cNvSpPr/>
          <p:nvPr/>
        </p:nvSpPr>
        <p:spPr>
          <a:xfrm>
            <a:off x="5036344" y="2075148"/>
            <a:ext cx="35075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Синхронизация эскроу и план-графика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807744" y="2325179"/>
            <a:ext cx="157163" cy="157163"/>
          </a:xfrm>
          <a:prstGeom prst="roundRect">
            <a:avLst>
              <a:gd name="adj" fmla="val 12121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813816" y="2331251"/>
            <a:ext cx="145018" cy="145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52" name="Text 50"/>
          <p:cNvSpPr/>
          <p:nvPr/>
        </p:nvSpPr>
        <p:spPr>
          <a:xfrm>
            <a:off x="5036344" y="2318035"/>
            <a:ext cx="35075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Обновление при изменении графика — 15 минут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807744" y="4259126"/>
            <a:ext cx="3736181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4807744" y="4324906"/>
            <a:ext cx="1197694" cy="274183"/>
          </a:xfrm>
          <a:prstGeom prst="roundRect">
            <a:avLst>
              <a:gd name="adj" fmla="val 10422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4857750" y="4402001"/>
            <a:ext cx="1097682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 сценария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076876" y="4324906"/>
            <a:ext cx="1197806" cy="274183"/>
          </a:xfrm>
          <a:prstGeom prst="roundRect">
            <a:avLst>
              <a:gd name="adj" fmla="val 10422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6126882" y="4402001"/>
            <a:ext cx="1097793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15 мин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346119" y="4324906"/>
            <a:ext cx="1197806" cy="274183"/>
          </a:xfrm>
          <a:prstGeom prst="roundRect">
            <a:avLst>
              <a:gd name="adj" fmla="val 10422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7396125" y="4402001"/>
            <a:ext cx="1097793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Заблаговременно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514350" y="4954191"/>
            <a:ext cx="392716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455802" y="4954191"/>
            <a:ext cx="391455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КЕЙС 03 · ДО/ПОСЛЕ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25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629650" cy="23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Прогноз кассовых разрывов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увидел финансовый директор девелопера — заблаговременно, по месяцам, с суммами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4998"/>
            <a:ext cx="8172450" cy="2241352"/>
          </a:xfrm>
          <a:prstGeom prst="roundRect">
            <a:avLst>
              <a:gd name="adj" fmla="val 170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2938" y="1035732"/>
            <a:ext cx="377100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ПОМЕСЯЧНЫЙ БЮДЖЕТ ДВИЖЕНИЯ ДЕНЕЖНЫХ СРЕДСТВ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2938" y="1214326"/>
            <a:ext cx="7915275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2938" y="1278620"/>
          <a:ext cx="7915275" cy="914400"/>
        </p:xfrm>
        <a:graphic>
          <a:graphicData uri="http://schemas.openxmlformats.org/drawingml/2006/table">
            <a:tbl>
              <a:tblPr/>
              <a:tblGrid>
                <a:gridCol w="1038188"/>
                <a:gridCol w="1795425"/>
                <a:gridCol w="1324942"/>
                <a:gridCol w="1235757"/>
                <a:gridCol w="1256295"/>
                <a:gridCol w="1264667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99999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Месяц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99999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Поступления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99999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Платежи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99999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Сальдо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99999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Остаток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99999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Статус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М1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50 млн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35 млн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+15 млн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15 млн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 Норма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М2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30 млн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42 млн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−12 млн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3 млн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 Норма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М3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20 млн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55 млн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−35 млн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−32 млн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9999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⚠ Разрыв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М4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60 млн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38 млн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+22 млн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−10 млн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9999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⚠ Разрыв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М5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45 млн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30 млн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+15 млн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5 млн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 Норма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М6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70 млн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40 млн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+30 млн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35 млн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 Норма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14350" y="3216362"/>
            <a:ext cx="2666963" cy="1498513"/>
          </a:xfrm>
          <a:prstGeom prst="roundRect">
            <a:avLst>
              <a:gd name="adj" fmla="val 2543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14350" y="3216362"/>
            <a:ext cx="2666963" cy="314325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28650" y="330923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57250" y="3309231"/>
            <a:ext cx="22383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РАЗРЫВ М3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28650" y="3868006"/>
            <a:ext cx="2552663" cy="2297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34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−32 млн ₽</a:t>
            </a:r>
            <a:endParaRPr lang="en-US" sz="1688" dirty="0"/>
          </a:p>
        </p:txBody>
      </p:sp>
      <p:sp>
        <p:nvSpPr>
          <p:cNvPr id="13" name="Text 10"/>
          <p:cNvSpPr/>
          <p:nvPr/>
        </p:nvSpPr>
        <p:spPr>
          <a:xfrm>
            <a:off x="628650" y="4125181"/>
            <a:ext cx="2552663" cy="1149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85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ДЕФИЦИТ НА КОНЕЦ МЕСЯЦА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28650" y="4267609"/>
            <a:ext cx="2633432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Причина: рассинхрон эскроу и выборки кредита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267038" y="3216362"/>
            <a:ext cx="2666963" cy="1498513"/>
          </a:xfrm>
          <a:prstGeom prst="roundRect">
            <a:avLst>
              <a:gd name="adj" fmla="val 2543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3267038" y="3216362"/>
            <a:ext cx="2666963" cy="314325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3381338" y="330923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3609938" y="3309231"/>
            <a:ext cx="22383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РАЗРЫВ М4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3381338" y="3868006"/>
            <a:ext cx="2552663" cy="2297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34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−10 млн ₽</a:t>
            </a:r>
            <a:endParaRPr lang="en-US" sz="1688" dirty="0"/>
          </a:p>
        </p:txBody>
      </p:sp>
      <p:sp>
        <p:nvSpPr>
          <p:cNvPr id="20" name="Text 17"/>
          <p:cNvSpPr/>
          <p:nvPr/>
        </p:nvSpPr>
        <p:spPr>
          <a:xfrm>
            <a:off x="3381338" y="4125181"/>
            <a:ext cx="2552663" cy="1149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85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ПЕРЕКРЫТИЕ ИЗ М3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3381338" y="4267609"/>
            <a:ext cx="2633432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Требуется дополнительное финансирование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019726" y="3216362"/>
            <a:ext cx="2667074" cy="1498513"/>
          </a:xfrm>
          <a:prstGeom prst="roundRect">
            <a:avLst>
              <a:gd name="adj" fmla="val 2543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019726" y="3216362"/>
            <a:ext cx="2667074" cy="314325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6134026" y="330923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362626" y="3309231"/>
            <a:ext cx="223844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РЕКОМЕНДАЦИЯ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134026" y="3896581"/>
            <a:ext cx="2552774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spc="-2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Сдвиг графика</a:t>
            </a:r>
            <a:endParaRPr lang="en-US" sz="1238" dirty="0"/>
          </a:p>
        </p:txBody>
      </p:sp>
      <p:sp>
        <p:nvSpPr>
          <p:cNvPr id="27" name="Text 24"/>
          <p:cNvSpPr/>
          <p:nvPr/>
        </p:nvSpPr>
        <p:spPr>
          <a:xfrm>
            <a:off x="6134026" y="4096606"/>
            <a:ext cx="2552774" cy="1149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85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ПЛАТЕЖЕЙ ПОДРЯДЧИКАМ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134026" y="4239034"/>
            <a:ext cx="2633552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Или досрочная выборка кредита на 35 млн ₽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14350" y="4954191"/>
            <a:ext cx="39512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479913" y="4954191"/>
            <a:ext cx="389044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КЕЙС 03 · ПРОГНОЗ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25</a:t>
            </a:r>
            <a:endParaRPr lang="en-US" sz="600" dirty="0"/>
          </a:p>
        </p:txBody>
      </p:sp>
      <p:sp>
        <p:nvSpPr>
          <p:cNvPr id="33" name="Text 3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629650" cy="23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 для финансового директора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изменилось в работе финансового отдела после внедрения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4998"/>
            <a:ext cx="4198404" cy="3839877"/>
          </a:xfrm>
          <a:prstGeom prst="roundRect">
            <a:avLst>
              <a:gd name="adj" fmla="val 992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28663" y="1461455"/>
            <a:ext cx="3879507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ПРОГНОЗИРОВАННЫЕ РАЗРЫВЫ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28663" y="1640049"/>
            <a:ext cx="578465" cy="556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61"/>
              </a:lnSpc>
              <a:buNone/>
            </a:pPr>
            <a:r>
              <a:rPr lang="en-US" sz="4275" b="1" spc="-128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4275" dirty="0"/>
          </a:p>
        </p:txBody>
      </p:sp>
      <p:sp>
        <p:nvSpPr>
          <p:cNvPr id="7" name="Text 5"/>
          <p:cNvSpPr/>
          <p:nvPr/>
        </p:nvSpPr>
        <p:spPr>
          <a:xfrm>
            <a:off x="1190216" y="1915083"/>
            <a:ext cx="3308226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разрыва</a:t>
            </a:r>
            <a:endParaRPr lang="en-US" sz="1238" dirty="0"/>
          </a:p>
        </p:txBody>
      </p:sp>
      <p:sp>
        <p:nvSpPr>
          <p:cNvPr id="8" name="Text 6"/>
          <p:cNvSpPr/>
          <p:nvPr/>
        </p:nvSpPr>
        <p:spPr>
          <a:xfrm>
            <a:off x="728663" y="2212888"/>
            <a:ext cx="37697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Выявлены заблаговременно — за 2 месяца до наступления. Сумма дефицита — 42 млн ₽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28663" y="2680804"/>
            <a:ext cx="3769779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8663" y="2787960"/>
            <a:ext cx="376977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СДЕЛАЛИ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28663" y="3009416"/>
            <a:ext cx="3769779" cy="71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Сдвинули график платежей подрядчикам на 2 недели</a:t>
            </a:r>
            <a:endParaRPr lang="en-US" sz="800" dirty="0"/>
          </a:p>
          <a:p>
            <a:pPr algn="l" indent="0" marL="0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Досрочно выбрали кредит на 35 млн ₽</a:t>
            </a:r>
            <a:endParaRPr lang="en-US" sz="800" dirty="0"/>
          </a:p>
          <a:p>
            <a:pPr algn="l" indent="0" marL="0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Избежали штрафов за просрочку (5 млн ₽)</a:t>
            </a:r>
            <a:endParaRPr lang="en-US" sz="800" dirty="0"/>
          </a:p>
          <a:p>
            <a:pPr algn="l" indent="0" marL="0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Сохранили репутацию перед банком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28663" y="3747901"/>
            <a:ext cx="3769779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28663" y="3944676"/>
            <a:ext cx="1054261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28663" y="3955070"/>
            <a:ext cx="105426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ЗАБЛАГОВРЕМЕННО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825786" y="3944676"/>
            <a:ext cx="663922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825786" y="3955070"/>
            <a:ext cx="663922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 РАЗРЫВА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532571" y="3944676"/>
            <a:ext cx="698302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532571" y="3955070"/>
            <a:ext cx="698302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 ШТРАФОВ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69917" y="874998"/>
            <a:ext cx="3816883" cy="1279959"/>
          </a:xfrm>
          <a:prstGeom prst="roundRect">
            <a:avLst>
              <a:gd name="adj" fmla="val 2977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998504" y="1197471"/>
            <a:ext cx="3559708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 ВНЕДРЕНИЯ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998504" y="1368921"/>
            <a:ext cx="3559708" cy="1797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spc="-2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Постфактум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998504" y="1576090"/>
            <a:ext cx="3559708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ВЫЯВЛЕНИЕ РАЗРЫВОВ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998504" y="1722537"/>
            <a:ext cx="3669436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Когда уже поздно что-то менять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69917" y="2240682"/>
            <a:ext cx="3816883" cy="1079934"/>
          </a:xfrm>
          <a:prstGeom prst="roundRect">
            <a:avLst>
              <a:gd name="adj" fmla="val 3528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69917" y="2240682"/>
            <a:ext cx="3816883" cy="314325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998504" y="233355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227104" y="2333551"/>
            <a:ext cx="335968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ПОСЛЕ ВНЕДРЕНИЯ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998504" y="2702793"/>
            <a:ext cx="3688296" cy="1411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 2 мес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998504" y="2871341"/>
            <a:ext cx="3688296" cy="1411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 НАСТУПЛЕНИЯ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998504" y="3039889"/>
            <a:ext cx="3798024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Время на корректирующие меры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77060" y="3413485"/>
            <a:ext cx="3802596" cy="1294247"/>
          </a:xfrm>
          <a:prstGeom prst="roundRect">
            <a:avLst>
              <a:gd name="adj" fmla="val 2944"/>
            </a:avLst>
          </a:prstGeom>
          <a:solidFill>
            <a:srgbClr val="FFFFFF"/>
          </a:solidFill>
          <a:ln w="14288">
            <a:solidFill>
              <a:srgbClr val="00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012792" y="3743102"/>
            <a:ext cx="353113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СОХРАНЕННЫЕ ДЕНЬГИ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012792" y="3914552"/>
            <a:ext cx="3531133" cy="1797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spc="-2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 млн ₽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012792" y="4121721"/>
            <a:ext cx="3531133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ШТРАФЫ ИЗБЕЖАНЫ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012792" y="4268167"/>
            <a:ext cx="3640861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Плюс репутация перед банком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14350" y="4954191"/>
            <a:ext cx="391354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442185" y="4954191"/>
            <a:ext cx="392817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КЕЙС 03 · РЕЗУЛЬТАТ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25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629650" cy="2382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Цифры доверия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Шесть чисел, на которых строится доверие заказчиков. Из реальной эксплуатации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4998"/>
            <a:ext cx="2657475" cy="1869877"/>
          </a:xfrm>
          <a:prstGeom prst="roundRect">
            <a:avLst>
              <a:gd name="adj" fmla="val 2038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1513" y="1003585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443" y="1017516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“</a:t>
            </a:r>
            <a:endParaRPr lang="en-US" sz="1266" dirty="0"/>
          </a:p>
        </p:txBody>
      </p:sp>
      <p:sp>
        <p:nvSpPr>
          <p:cNvPr id="7" name="Text 5"/>
          <p:cNvSpPr/>
          <p:nvPr/>
        </p:nvSpPr>
        <p:spPr>
          <a:xfrm>
            <a:off x="957263" y="1057163"/>
            <a:ext cx="20574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КЕЙС 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1513" y="1643286"/>
            <a:ext cx="736163" cy="351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700" b="1" spc="-67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48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188765" y="1829023"/>
            <a:ext cx="1825898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млн ₽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71513" y="2394272"/>
            <a:ext cx="245287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58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ПРЕДОТВРАЩЕНО НА 1 ОБЪЕКТЕ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71513" y="2506340"/>
            <a:ext cx="2343150" cy="1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i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4% от сметы 1,2 млрд ₽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71838" y="874998"/>
            <a:ext cx="2657475" cy="1869877"/>
          </a:xfrm>
          <a:prstGeom prst="roundRect">
            <a:avLst>
              <a:gd name="adj" fmla="val 2038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29000" y="1003585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42930" y="1017516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266" dirty="0"/>
          </a:p>
        </p:txBody>
      </p:sp>
      <p:sp>
        <p:nvSpPr>
          <p:cNvPr id="15" name="Text 13"/>
          <p:cNvSpPr/>
          <p:nvPr/>
        </p:nvSpPr>
        <p:spPr>
          <a:xfrm>
            <a:off x="3714750" y="1057163"/>
            <a:ext cx="20574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КЕЙС 02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429000" y="1643286"/>
            <a:ext cx="2343150" cy="351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700" b="1" spc="-67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20%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3429000" y="2394272"/>
            <a:ext cx="245287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58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РАЗБРОС МЕЖДУ ПОДРЯДЧИКАМИ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429000" y="2506340"/>
            <a:ext cx="2452878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i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После нормализации 3 предложений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029325" y="874998"/>
            <a:ext cx="2657475" cy="1869877"/>
          </a:xfrm>
          <a:prstGeom prst="roundRect">
            <a:avLst>
              <a:gd name="adj" fmla="val 2038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186488" y="1003585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200418" y="1017516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🏛</a:t>
            </a:r>
            <a:endParaRPr lang="en-US" sz="1266" dirty="0"/>
          </a:p>
        </p:txBody>
      </p:sp>
      <p:sp>
        <p:nvSpPr>
          <p:cNvPr id="22" name="Text 20"/>
          <p:cNvSpPr/>
          <p:nvPr/>
        </p:nvSpPr>
        <p:spPr>
          <a:xfrm>
            <a:off x="6472238" y="1057163"/>
            <a:ext cx="20574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КЕЙС 03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186488" y="1643286"/>
            <a:ext cx="2343150" cy="351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700" b="1" spc="-67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6186488" y="2394272"/>
            <a:ext cx="245287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58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ПРОГНОЗИРОВАННЫХ РАЗРЫВА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186488" y="2506340"/>
            <a:ext cx="2343150" cy="1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i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 2 месяца до наступления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14350" y="2844887"/>
            <a:ext cx="2657475" cy="1869988"/>
          </a:xfrm>
          <a:prstGeom prst="roundRect">
            <a:avLst>
              <a:gd name="adj" fmla="val 2037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71513" y="2973474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85443" y="2987405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266" dirty="0"/>
          </a:p>
        </p:txBody>
      </p:sp>
      <p:sp>
        <p:nvSpPr>
          <p:cNvPr id="29" name="Text 27"/>
          <p:cNvSpPr/>
          <p:nvPr/>
        </p:nvSpPr>
        <p:spPr>
          <a:xfrm>
            <a:off x="957263" y="3027052"/>
            <a:ext cx="20574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ТОЧНОСТЬ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71513" y="3613175"/>
            <a:ext cx="2343150" cy="351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700" b="1" spc="-67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95%</a:t>
            </a:r>
            <a:endParaRPr lang="en-US" sz="2700" dirty="0"/>
          </a:p>
        </p:txBody>
      </p:sp>
      <p:sp>
        <p:nvSpPr>
          <p:cNvPr id="31" name="Text 29"/>
          <p:cNvSpPr/>
          <p:nvPr/>
        </p:nvSpPr>
        <p:spPr>
          <a:xfrm>
            <a:off x="671513" y="4364273"/>
            <a:ext cx="23431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658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ИЗВЛЕЧЕНИЕ ПОЗИЦИЙ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1513" y="4476341"/>
            <a:ext cx="2343150" cy="1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i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Из смет в Excel/PDF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271838" y="2844887"/>
            <a:ext cx="2657475" cy="1869988"/>
          </a:xfrm>
          <a:prstGeom prst="roundRect">
            <a:avLst>
              <a:gd name="adj" fmla="val 2037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429000" y="2973474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442930" y="2987405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36" name="Text 34"/>
          <p:cNvSpPr/>
          <p:nvPr/>
        </p:nvSpPr>
        <p:spPr>
          <a:xfrm>
            <a:off x="3714750" y="3027052"/>
            <a:ext cx="20574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СКОРОСТЬ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429000" y="3613175"/>
            <a:ext cx="736163" cy="351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700" b="1" spc="-67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</a:t>
            </a:r>
            <a:endParaRPr lang="en-US" sz="2700" dirty="0"/>
          </a:p>
        </p:txBody>
      </p:sp>
      <p:sp>
        <p:nvSpPr>
          <p:cNvPr id="38" name="Text 36"/>
          <p:cNvSpPr/>
          <p:nvPr/>
        </p:nvSpPr>
        <p:spPr>
          <a:xfrm>
            <a:off x="3946252" y="3798912"/>
            <a:ext cx="1825898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мин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29000" y="4364273"/>
            <a:ext cx="23431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658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 ПОЛНЫЙ ОТЧЁТ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429000" y="4476341"/>
            <a:ext cx="2343150" cy="1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i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экспресс-режиме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029325" y="2844887"/>
            <a:ext cx="2657475" cy="1869988"/>
          </a:xfrm>
          <a:prstGeom prst="roundRect">
            <a:avLst>
              <a:gd name="adj" fmla="val 2037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186488" y="2973474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200418" y="2987405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44" name="Text 42"/>
          <p:cNvSpPr/>
          <p:nvPr/>
        </p:nvSpPr>
        <p:spPr>
          <a:xfrm>
            <a:off x="6472238" y="3027052"/>
            <a:ext cx="20574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БАЗА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186488" y="3613175"/>
            <a:ext cx="2343150" cy="351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700" b="1" spc="-67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250+</a:t>
            </a:r>
            <a:endParaRPr lang="en-US" sz="2700" dirty="0"/>
          </a:p>
        </p:txBody>
      </p:sp>
      <p:sp>
        <p:nvSpPr>
          <p:cNvPr id="46" name="Text 44"/>
          <p:cNvSpPr/>
          <p:nvPr/>
        </p:nvSpPr>
        <p:spPr>
          <a:xfrm>
            <a:off x="6186488" y="4364273"/>
            <a:ext cx="23431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658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ОБЪЕКТОВ В ОБУЧЕНИИ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186488" y="4476341"/>
            <a:ext cx="2452878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i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Крупные девелоперы РФ, 2018–2024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14350" y="4954191"/>
            <a:ext cx="400351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532151" y="4954191"/>
            <a:ext cx="38382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ЦИФРЫ ДОВЕРИЯ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17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25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581073" cy="2382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Сводка по трём кейсам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Одна таблица — для сравнения эффектов внедрения по разным сценариям</a:t>
            </a:r>
            <a:endParaRPr lang="en-US" sz="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4350" y="1056717"/>
          <a:ext cx="8172450" cy="914400"/>
        </p:xfrm>
        <a:graphic>
          <a:graphicData uri="http://schemas.openxmlformats.org/drawingml/2006/table">
            <a:tbl>
              <a:tblPr/>
              <a:tblGrid>
                <a:gridCol w="1144116"/>
                <a:gridCol w="1797881"/>
                <a:gridCol w="1797881"/>
                <a:gridCol w="1797881"/>
                <a:gridCol w="163469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99999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Параметр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00013" marT="100013" marB="1285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99999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Кейс 01. Смета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00013" marT="100013" marB="1285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99999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Кейс 02. Сравнение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00013" marT="100013" marB="1285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99999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Кейс 03. Финансы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00013" marT="100013" marB="1285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99999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Источник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00013" marT="100013" marB="1285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Объект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7163" marR="100013" marT="100013" marB="15716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Жилой комплекс, 1,2 млрд ₽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7163" marR="100013" marT="100013" marB="15716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Кап. строительство, 800 млн ₽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7163" marR="100013" marT="100013" marB="15716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Жилой комплекс, 1,5 млрд ₽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7163" marR="100013" marT="100013" marB="15716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Данные заказчика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7163" marR="100013" marT="100013" marB="15716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Вход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7163" marR="100013" marT="100013" marB="15716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Смета 2 000 позиций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7163" marR="100013" marT="100013" marB="15716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3 КП подрядчиков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7163" marR="100013" marT="100013" marB="15716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Параметры кредита, эскроу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7163" marR="100013" marT="100013" marB="15716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Документы заказчика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7163" marR="100013" marT="100013" marB="15716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Агенты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7163" marR="100013" marT="100013" marB="15716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Сметчик, Нормализатор, Аудитор, Руководитель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7163" marR="100013" marT="100013" marB="15716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Нормализатор, Экономист, Руководитель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7163" marR="100013" marT="100013" marB="15716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Экономист, Финансист, Руководитель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7163" marR="100013" marT="100013" marB="15716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Цепочка системы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7163" marR="100013" marT="100013" marB="15716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Время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7163" marR="100013" marT="100013" marB="15716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 час вместо 5 дней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7163" marR="100013" marT="100013" marB="15716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 час вместо 5–7 дней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7163" marR="100013" marT="100013" marB="15716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15 мин вместо 2–3 дней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7163" marR="100013" marT="100013" marB="15716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Журнал системы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7163" marR="100013" marT="100013" marB="15716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Результат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7163" marR="100013" marT="100013" marB="15716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48 млн ₽ предотвращено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7163" marR="100013" marT="100013" marB="15716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8% скидка от подрядчика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7163" marR="100013" marT="100013" marB="15716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 разрыва прогнозированы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7163" marR="100013" marT="100013" marB="15716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Отчёт системы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7163" marR="100013" marT="100013" marB="15716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ROI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7163" marR="100013" marT="100013" marB="15716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На первом объекте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7163" marR="100013" marT="100013" marB="15716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На первом объекте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7163" marR="100013" marT="100013" marB="15716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5 млн ₽ штрафов избежано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7163" marR="100013" marT="100013" marB="15716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Расчёт заказчика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7163" marR="100013" marT="100013" marB="15716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14350" y="4294622"/>
            <a:ext cx="8172450" cy="333081"/>
          </a:xfrm>
          <a:prstGeom prst="rect">
            <a:avLst/>
          </a:prstGeom>
          <a:noFill/>
          <a:ln/>
        </p:spPr>
        <p:txBody>
          <a:bodyPr wrap="square" lIns="0" tIns="128588" rIns="0" bIns="0" rtlCol="0" anchor="t"/>
          <a:lstStyle/>
          <a:p>
            <a:pPr algn="ctr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Все кейсы — из пилотных расчётов 2024–2025. Цифры подтверждены заказчиками.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14350" y="4954191"/>
            <a:ext cx="419405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722688" y="4954191"/>
            <a:ext cx="36476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СВОДКА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25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629650" cy="23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Бесплатный пилот на вашем объекте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Доказательство точности на ваших данных. Без обязательств. С подписанием соглашения о конфиденциальности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4998"/>
            <a:ext cx="4007644" cy="3839877"/>
          </a:xfrm>
          <a:prstGeom prst="roundRect">
            <a:avLst>
              <a:gd name="adj" fmla="val 992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00088" y="1032160"/>
            <a:ext cx="314325" cy="314325"/>
          </a:xfrm>
          <a:prstGeom prst="roundRect">
            <a:avLst>
              <a:gd name="adj" fmla="val 12121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2590" y="1054663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828" dirty="0"/>
          </a:p>
        </p:txBody>
      </p:sp>
      <p:sp>
        <p:nvSpPr>
          <p:cNvPr id="7" name="Text 5"/>
          <p:cNvSpPr/>
          <p:nvPr/>
        </p:nvSpPr>
        <p:spPr>
          <a:xfrm>
            <a:off x="1114425" y="1135745"/>
            <a:ext cx="32218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ЭТАП 01 · ПИЛОТ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00088" y="1489360"/>
            <a:ext cx="3636169" cy="19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1238" b="1" spc="-1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делаем</a:t>
            </a:r>
            <a:endParaRPr lang="en-US" sz="1238" dirty="0"/>
          </a:p>
        </p:txBody>
      </p:sp>
      <p:sp>
        <p:nvSpPr>
          <p:cNvPr id="9" name="Text 7"/>
          <p:cNvSpPr/>
          <p:nvPr/>
        </p:nvSpPr>
        <p:spPr>
          <a:xfrm>
            <a:off x="700088" y="1727225"/>
            <a:ext cx="3636169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Бесплатно рассчитываем </a:t>
            </a:r>
            <a:pPr algn="l" indent="0" marL="0">
              <a:lnSpc>
                <a:spcPts val="1125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1–2 ваших закрытых объекта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Вы предоставляете сметы, коммерческие предложения и фактическую себестоимость. Мы загружаем их в СтройИнтеллект и сравниваем результат с фактом.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00088" y="2441600"/>
            <a:ext cx="3636169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00088" y="2548756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 ПРЕДОСТАВЛЯЕТЕ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00088" y="2731243"/>
            <a:ext cx="471488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00088" y="2741637"/>
            <a:ext cx="47148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СМЕТЫ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214438" y="2731243"/>
            <a:ext cx="1620403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214438" y="2741637"/>
            <a:ext cx="162040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КОММЕРЧЕСКИЕ ПРЕДЛОЖЕНИЯ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877703" y="2731243"/>
            <a:ext cx="1235087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877703" y="2741637"/>
            <a:ext cx="1235087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ФАКТ. СЕБЕСТОИМОСТЬ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00088" y="3057748"/>
            <a:ext cx="3636169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00088" y="3164904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МЫ ДЕЛАЕМ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00088" y="3357786"/>
            <a:ext cx="3636169" cy="71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Подписываем соглашение о конфиденциальности</a:t>
            </a:r>
            <a:endParaRPr lang="en-US" sz="800" dirty="0"/>
          </a:p>
          <a:p>
            <a:pPr algn="l" indent="0" marL="0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Загружаем данные в СтройИнтеллект</a:t>
            </a:r>
            <a:endParaRPr lang="en-US" sz="800" dirty="0"/>
          </a:p>
          <a:p>
            <a:pPr algn="l" indent="0" marL="0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Запускаем цепочку из 9 агентов</a:t>
            </a:r>
            <a:endParaRPr lang="en-US" sz="800" dirty="0"/>
          </a:p>
          <a:p>
            <a:pPr algn="l" indent="0" marL="0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Готовим отчёт в PDF и Excel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79156" y="874998"/>
            <a:ext cx="4007644" cy="1222809"/>
          </a:xfrm>
          <a:prstGeom prst="roundRect">
            <a:avLst>
              <a:gd name="adj" fmla="val 311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679156" y="874998"/>
            <a:ext cx="4007644" cy="314325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07744" y="96786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036344" y="967867"/>
            <a:ext cx="355044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ФОРМАТ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07744" y="1410221"/>
            <a:ext cx="3879056" cy="1797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spc="-27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1–2 объекта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807744" y="1617390"/>
            <a:ext cx="3879056" cy="1221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85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ЗАКРЫТЫХ ПРОЕКТОВ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07744" y="1766962"/>
            <a:ext cx="3988784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 известным фактом себестоимости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679156" y="2183532"/>
            <a:ext cx="4007644" cy="1222809"/>
          </a:xfrm>
          <a:prstGeom prst="roundRect">
            <a:avLst>
              <a:gd name="adj" fmla="val 311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679156" y="2183532"/>
            <a:ext cx="4007644" cy="314325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07744" y="227640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036344" y="2276401"/>
            <a:ext cx="355044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СРОК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07744" y="2718755"/>
            <a:ext cx="3879056" cy="1797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spc="-27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 дней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4807744" y="2925924"/>
            <a:ext cx="3879056" cy="1221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85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РАБОЧИХ ДНЕЙ НА РАСЧЁТ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07744" y="3075496"/>
            <a:ext cx="3988784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 момента подписания соглашения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79156" y="3492066"/>
            <a:ext cx="4007644" cy="1222809"/>
          </a:xfrm>
          <a:prstGeom prst="roundRect">
            <a:avLst>
              <a:gd name="adj" fmla="val 311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679156" y="3492066"/>
            <a:ext cx="4007644" cy="314325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779169" y="3556360"/>
            <a:ext cx="22145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$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036344" y="3584935"/>
            <a:ext cx="355044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СТОИМОСТЬ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07744" y="4027289"/>
            <a:ext cx="3879056" cy="1797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spc="-27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 ₽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4807744" y="4234458"/>
            <a:ext cx="3988784" cy="122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85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БЕСПЛАТНО И БЕЗ ОБЯЗАТЕЛЬСТВ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807744" y="4384030"/>
            <a:ext cx="3988784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Даже если решите не внедрять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14350" y="4954191"/>
            <a:ext cx="396545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494088" y="4954191"/>
            <a:ext cx="38762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ЛИД-МАГНИТ · ЧТО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25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581073" cy="2382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вы получаете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Демонстрация точности на ваших данных. Список аномалий. Бизнес-кейс для внедрения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74998"/>
            <a:ext cx="4007644" cy="3839877"/>
          </a:xfrm>
          <a:prstGeom prst="roundRect">
            <a:avLst>
              <a:gd name="adj" fmla="val 992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00088" y="1032160"/>
            <a:ext cx="314325" cy="314325"/>
          </a:xfrm>
          <a:prstGeom prst="roundRect">
            <a:avLst>
              <a:gd name="adj" fmla="val 12121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2590" y="1054663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828" dirty="0"/>
          </a:p>
        </p:txBody>
      </p:sp>
      <p:sp>
        <p:nvSpPr>
          <p:cNvPr id="7" name="Text 5"/>
          <p:cNvSpPr/>
          <p:nvPr/>
        </p:nvSpPr>
        <p:spPr>
          <a:xfrm>
            <a:off x="1114425" y="1135745"/>
            <a:ext cx="32218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ЭТАП 02 · ОТЧЁТ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00088" y="1489360"/>
            <a:ext cx="3636169" cy="19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1238" b="1" spc="-1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получаете</a:t>
            </a:r>
            <a:endParaRPr lang="en-US" sz="1238" dirty="0"/>
          </a:p>
        </p:txBody>
      </p:sp>
      <p:sp>
        <p:nvSpPr>
          <p:cNvPr id="9" name="Text 7"/>
          <p:cNvSpPr/>
          <p:nvPr/>
        </p:nvSpPr>
        <p:spPr>
          <a:xfrm>
            <a:off x="700088" y="1727225"/>
            <a:ext cx="3636169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Демонстрацию точности модели на ваших данных. Список выявленных аномалий, которые система нашла </a:t>
            </a:r>
            <a:pPr algn="l" indent="0" marL="0">
              <a:lnSpc>
                <a:spcPts val="1125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автоматически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Обоснованный бизнес-кейс для внедрения с цифрами предотвращённых потерь.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00088" y="2298725"/>
            <a:ext cx="3636169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00088" y="2405881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МЫ ВОЗВРАЩАЕМ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00088" y="2588368"/>
            <a:ext cx="944426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00088" y="2598762"/>
            <a:ext cx="94442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ТОЧНОСТЬ ±3-5%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687376" y="2588368"/>
            <a:ext cx="1027919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687376" y="2598762"/>
            <a:ext cx="102791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РЕЕСТР АНОМАЛИЙ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758157" y="2588368"/>
            <a:ext cx="778222" cy="194024"/>
          </a:xfrm>
          <a:prstGeom prst="roundRect">
            <a:avLst>
              <a:gd name="adj" fmla="val 9818"/>
            </a:avLst>
          </a:prstGeom>
          <a:noFill/>
          <a:ln w="7144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758157" y="2598762"/>
            <a:ext cx="778222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БИЗНЕС-КЕЙС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00088" y="2914873"/>
            <a:ext cx="3636169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00088" y="3022029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ФОРМАТ ОТЧЁТА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00088" y="3214911"/>
            <a:ext cx="3636169" cy="533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PDF с executive summary для ЛПР</a:t>
            </a:r>
            <a:endParaRPr lang="en-US" sz="800" dirty="0"/>
          </a:p>
          <a:p>
            <a:pPr algn="l" indent="0" marL="0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Excel с реестром всех отклонений и сумм</a:t>
            </a:r>
            <a:endParaRPr lang="en-US" sz="800" dirty="0"/>
          </a:p>
          <a:p>
            <a:pPr algn="l" indent="0" marL="0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4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Презентация для внутреннего обоснования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79156" y="874998"/>
            <a:ext cx="4007644" cy="1222809"/>
          </a:xfrm>
          <a:prstGeom prst="roundRect">
            <a:avLst>
              <a:gd name="adj" fmla="val 311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679156" y="874998"/>
            <a:ext cx="4007644" cy="314325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07744" y="96786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036344" y="967867"/>
            <a:ext cx="355044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ТОЧНОСТЬ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07744" y="1410221"/>
            <a:ext cx="3879056" cy="1797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spc="-27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±3-5%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807744" y="1617390"/>
            <a:ext cx="3879056" cy="1221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85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РАСХОЖДЕНИЕ С ФАКТОМ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07744" y="1766962"/>
            <a:ext cx="3988784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 ваших исторических данных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679156" y="2183532"/>
            <a:ext cx="4007644" cy="1222809"/>
          </a:xfrm>
          <a:prstGeom prst="roundRect">
            <a:avLst>
              <a:gd name="adj" fmla="val 311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679156" y="2183532"/>
            <a:ext cx="4007644" cy="314325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07744" y="227640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036344" y="2276401"/>
            <a:ext cx="355044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АНОМАЛИИ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07744" y="2718755"/>
            <a:ext cx="3879056" cy="1797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spc="-2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Реестр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4807744" y="2925924"/>
            <a:ext cx="3879056" cy="1221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85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НАЙДЕННЫХ ОТКЛОНЕНИЙ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07744" y="3075496"/>
            <a:ext cx="3988784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 суммой влияния каждой позиции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79156" y="3492066"/>
            <a:ext cx="4007644" cy="1222809"/>
          </a:xfrm>
          <a:prstGeom prst="roundRect">
            <a:avLst>
              <a:gd name="adj" fmla="val 311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679156" y="3492066"/>
            <a:ext cx="4007644" cy="314325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779169" y="3556360"/>
            <a:ext cx="22145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$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036344" y="3584935"/>
            <a:ext cx="355044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БИЗНЕС-КЕЙС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07744" y="4027289"/>
            <a:ext cx="3879056" cy="1797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spc="-27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ROI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4807744" y="4234458"/>
            <a:ext cx="3879056" cy="1221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85"/>
              </a:lnSpc>
              <a:buNone/>
            </a:pPr>
            <a:r>
              <a:rPr lang="en-US" sz="800" spc="51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 РАСЧЁТОМ НА ВАШИХ ДАННЫХ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807744" y="4384030"/>
            <a:ext cx="3988784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Цифры предотвращённых потерь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14350" y="4954191"/>
            <a:ext cx="37060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234681" y="4954191"/>
            <a:ext cx="41356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ЛИД-МАГНИТ · ЧТО ПОЛУЧАЕТЕ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25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581073" cy="2382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Процесс пилота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 рабочих дней от подписания соглашения до отчёта. Прозрачный и предсказуемый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331528" y="1986632"/>
            <a:ext cx="6538094" cy="28575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4954191"/>
            <a:ext cx="38517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380347" y="4954191"/>
            <a:ext cx="399000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ЛИД-МАГНИТ · ПРОЦЕСС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21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25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1077255" y="1786607"/>
            <a:ext cx="428625" cy="428625"/>
          </a:xfrm>
          <a:prstGeom prst="ellipse">
            <a:avLst/>
          </a:prstGeom>
          <a:solidFill>
            <a:srgbClr val="FF0000"/>
          </a:solidFill>
          <a:ln/>
          <a:effectLst>
            <a:outerShdw sx="100000" sy="100000" kx="0" ky="0" algn="bl" rotWithShape="0" blurRad="101600" dist="50800" dir="16200000">
              <a:srgbClr val="FFFFFF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77255" y="1786607"/>
            <a:ext cx="4286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14350" y="2315245"/>
            <a:ext cx="1554435" cy="1487909"/>
          </a:xfrm>
          <a:prstGeom prst="roundRect">
            <a:avLst>
              <a:gd name="adj" fmla="val 2561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09857" y="2405720"/>
            <a:ext cx="507398" cy="178022"/>
          </a:xfrm>
          <a:prstGeom prst="roundRect">
            <a:avLst>
              <a:gd name="adj" fmla="val 10701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8650" y="2415257"/>
            <a:ext cx="469813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ДЕНЬ 0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28650" y="2624212"/>
            <a:ext cx="1325835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ШАГ 01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28650" y="2781374"/>
            <a:ext cx="1325835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Соглашение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28650" y="2942779"/>
            <a:ext cx="1405385" cy="4619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Подписание соглашения о конфиденциальности. Приём документов.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28650" y="3360688"/>
            <a:ext cx="1325835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28650" y="3432125"/>
            <a:ext cx="1325835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28650" y="3589288"/>
            <a:ext cx="1325835" cy="113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NDA подписано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731703" y="1786607"/>
            <a:ext cx="428625" cy="428625"/>
          </a:xfrm>
          <a:prstGeom prst="ellipse">
            <a:avLst/>
          </a:prstGeom>
          <a:solidFill>
            <a:srgbClr val="FF0000"/>
          </a:solidFill>
          <a:ln/>
          <a:effectLst>
            <a:outerShdw sx="100000" sy="100000" kx="0" ky="0" algn="bl" rotWithShape="0" blurRad="101600" dist="50800" dir="16200000">
              <a:srgbClr val="FFFFFF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731703" y="1786607"/>
            <a:ext cx="4286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168798" y="2315245"/>
            <a:ext cx="1554435" cy="1487909"/>
          </a:xfrm>
          <a:prstGeom prst="roundRect">
            <a:avLst>
              <a:gd name="adj" fmla="val 2561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264305" y="2405720"/>
            <a:ext cx="507398" cy="178022"/>
          </a:xfrm>
          <a:prstGeom prst="roundRect">
            <a:avLst>
              <a:gd name="adj" fmla="val 10701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283098" y="2415257"/>
            <a:ext cx="469813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ДЕНЬ 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283098" y="2624212"/>
            <a:ext cx="1325835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ШАГ 02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283098" y="2781374"/>
            <a:ext cx="1325835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Загрузка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283098" y="2942779"/>
            <a:ext cx="1405385" cy="4619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Загрузка смет, КП и факта в СтройИнтеллект. Настройка под специфику.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283098" y="3360688"/>
            <a:ext cx="1325835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283098" y="3432125"/>
            <a:ext cx="1325835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283098" y="3589288"/>
            <a:ext cx="1325835" cy="113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Данные в системе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386151" y="1786607"/>
            <a:ext cx="428625" cy="428625"/>
          </a:xfrm>
          <a:prstGeom prst="ellipse">
            <a:avLst/>
          </a:prstGeom>
          <a:solidFill>
            <a:srgbClr val="FF0000"/>
          </a:solidFill>
          <a:ln/>
          <a:effectLst>
            <a:outerShdw sx="100000" sy="100000" kx="0" ky="0" algn="bl" rotWithShape="0" blurRad="101600" dist="50800" dir="16200000">
              <a:srgbClr val="FFFFFF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386151" y="1786607"/>
            <a:ext cx="4286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3823246" y="2315245"/>
            <a:ext cx="1554547" cy="1487909"/>
          </a:xfrm>
          <a:prstGeom prst="roundRect">
            <a:avLst>
              <a:gd name="adj" fmla="val 2561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917119" y="2405720"/>
            <a:ext cx="551520" cy="178022"/>
          </a:xfrm>
          <a:prstGeom prst="roundRect">
            <a:avLst>
              <a:gd name="adj" fmla="val 10701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937546" y="2415257"/>
            <a:ext cx="510667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ДНИ 2-4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937546" y="2624212"/>
            <a:ext cx="1325947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ШАГ 03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937546" y="2781374"/>
            <a:ext cx="1325947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Расчёт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937546" y="2942779"/>
            <a:ext cx="1405504" cy="4619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Запуск цепочки из 9 агентов. Полный анализ по 6 сценариям.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937546" y="3360688"/>
            <a:ext cx="1325947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3937546" y="3432125"/>
            <a:ext cx="1325947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937546" y="3589288"/>
            <a:ext cx="1325947" cy="113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Отчёт готов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040710" y="1786607"/>
            <a:ext cx="428625" cy="428625"/>
          </a:xfrm>
          <a:prstGeom prst="ellipse">
            <a:avLst/>
          </a:prstGeom>
          <a:solidFill>
            <a:srgbClr val="FF0000"/>
          </a:solidFill>
          <a:ln/>
          <a:effectLst>
            <a:outerShdw sx="100000" sy="100000" kx="0" ky="0" algn="bl" rotWithShape="0" blurRad="101600" dist="50800" dir="16200000">
              <a:srgbClr val="FFFFFF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040710" y="1786607"/>
            <a:ext cx="4286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5477805" y="2315245"/>
            <a:ext cx="1554435" cy="1370037"/>
          </a:xfrm>
          <a:prstGeom prst="roundRect">
            <a:avLst>
              <a:gd name="adj" fmla="val 2781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573313" y="2405720"/>
            <a:ext cx="507398" cy="178022"/>
          </a:xfrm>
          <a:prstGeom prst="roundRect">
            <a:avLst>
              <a:gd name="adj" fmla="val 10701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592105" y="2415257"/>
            <a:ext cx="469813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ДЕНЬ 5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592105" y="2624212"/>
            <a:ext cx="1325835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ШАП 04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592105" y="2781374"/>
            <a:ext cx="1325835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Презентация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592105" y="2942779"/>
            <a:ext cx="140538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Презентация результатов для ЛПР. Сравнение с фактом.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592105" y="3242816"/>
            <a:ext cx="1325835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592105" y="3314254"/>
            <a:ext cx="1325835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592105" y="3471416"/>
            <a:ext cx="1325835" cy="113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Точность ±3-5%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695158" y="1786607"/>
            <a:ext cx="428625" cy="428625"/>
          </a:xfrm>
          <a:prstGeom prst="ellipse">
            <a:avLst/>
          </a:prstGeom>
          <a:solidFill>
            <a:srgbClr val="FF0000"/>
          </a:solidFill>
          <a:ln/>
          <a:effectLst>
            <a:outerShdw sx="100000" sy="100000" kx="0" ky="0" algn="bl" rotWithShape="0" blurRad="101600" dist="50800" dir="16200000">
              <a:srgbClr val="FFFFFF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7695158" y="1786607"/>
            <a:ext cx="4286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1350" dirty="0"/>
          </a:p>
        </p:txBody>
      </p:sp>
      <p:sp>
        <p:nvSpPr>
          <p:cNvPr id="55" name="Text 53"/>
          <p:cNvSpPr/>
          <p:nvPr/>
        </p:nvSpPr>
        <p:spPr>
          <a:xfrm>
            <a:off x="7132253" y="2315245"/>
            <a:ext cx="1554547" cy="1370037"/>
          </a:xfrm>
          <a:prstGeom prst="roundRect">
            <a:avLst>
              <a:gd name="adj" fmla="val 2781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7225157" y="2405720"/>
            <a:ext cx="577679" cy="178022"/>
          </a:xfrm>
          <a:prstGeom prst="roundRect">
            <a:avLst>
              <a:gd name="adj" fmla="val 10701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7246553" y="2415257"/>
            <a:ext cx="534888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ДАЛЬШЕ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246553" y="2624212"/>
            <a:ext cx="1325947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ШАГ 05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246553" y="2781374"/>
            <a:ext cx="1325947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Решение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7246553" y="2942779"/>
            <a:ext cx="140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Обсуждение коммерческого предложения. Без давления.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246553" y="3242816"/>
            <a:ext cx="1325947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7246553" y="3314254"/>
            <a:ext cx="1325947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7246553" y="3471416"/>
            <a:ext cx="1325947" cy="113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Осознанное решение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581073" cy="2382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Гарантии пилота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Чёткие правила взаимодействия. Без сюрпризов и скрытых обязательств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903573"/>
            <a:ext cx="2666963" cy="1862733"/>
          </a:xfrm>
          <a:prstGeom prst="roundRect">
            <a:avLst>
              <a:gd name="adj" fmla="val 2045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2938" y="1017873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56868" y="103180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266" dirty="0"/>
          </a:p>
        </p:txBody>
      </p:sp>
      <p:sp>
        <p:nvSpPr>
          <p:cNvPr id="7" name="Text 5"/>
          <p:cNvSpPr/>
          <p:nvPr/>
        </p:nvSpPr>
        <p:spPr>
          <a:xfrm>
            <a:off x="928688" y="1071451"/>
            <a:ext cx="21240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ГАРАНТИЯ 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2938" y="1289335"/>
            <a:ext cx="25195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spc="-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Соглашение о конфиденциальности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2938" y="1462571"/>
            <a:ext cx="2409788" cy="339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Подписываем до приёма любых документов. Все данные — только для расчёта.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67038" y="903573"/>
            <a:ext cx="2666963" cy="1862733"/>
          </a:xfrm>
          <a:prstGeom prst="roundRect">
            <a:avLst>
              <a:gd name="adj" fmla="val 2045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95625" y="1017873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09556" y="103180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1266" dirty="0"/>
          </a:p>
        </p:txBody>
      </p:sp>
      <p:sp>
        <p:nvSpPr>
          <p:cNvPr id="13" name="Text 11"/>
          <p:cNvSpPr/>
          <p:nvPr/>
        </p:nvSpPr>
        <p:spPr>
          <a:xfrm>
            <a:off x="3681375" y="1071451"/>
            <a:ext cx="21240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ГАРАНТИЯ 02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395625" y="1289335"/>
            <a:ext cx="240978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spc="-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Без обязательств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95625" y="1462571"/>
            <a:ext cx="2409788" cy="339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Даже если решите не внедрять — отчёт остаётся у вас. Никаких претензий.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19726" y="903573"/>
            <a:ext cx="2667074" cy="1862733"/>
          </a:xfrm>
          <a:prstGeom prst="roundRect">
            <a:avLst>
              <a:gd name="adj" fmla="val 2045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48313" y="1017873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162243" y="103180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9" name="Text 17"/>
          <p:cNvSpPr/>
          <p:nvPr/>
        </p:nvSpPr>
        <p:spPr>
          <a:xfrm>
            <a:off x="6434063" y="1071451"/>
            <a:ext cx="212414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ГАРАНТИЯ 03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148313" y="1289335"/>
            <a:ext cx="240989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spc="-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Точность на ваших данных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148313" y="1462571"/>
            <a:ext cx="2409899" cy="339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Расхождение с фактом ±3-5%. Если хуже — разбираемся отдельно.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14350" y="2852031"/>
            <a:ext cx="2666963" cy="1862844"/>
          </a:xfrm>
          <a:prstGeom prst="roundRect">
            <a:avLst>
              <a:gd name="adj" fmla="val 2045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42938" y="2966331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56868" y="2980261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25" name="Text 23"/>
          <p:cNvSpPr/>
          <p:nvPr/>
        </p:nvSpPr>
        <p:spPr>
          <a:xfrm>
            <a:off x="928688" y="3019909"/>
            <a:ext cx="21240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ГАРАНТИЯ 04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42938" y="3237793"/>
            <a:ext cx="240978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spc="-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Срок 5 рабочих дней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2938" y="3411029"/>
            <a:ext cx="2409788" cy="339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 подписания соглашения до презентации результатов.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67038" y="2852031"/>
            <a:ext cx="2666963" cy="1862844"/>
          </a:xfrm>
          <a:prstGeom prst="roundRect">
            <a:avLst>
              <a:gd name="adj" fmla="val 2045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395625" y="2966331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409556" y="2980261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3681375" y="3019909"/>
            <a:ext cx="21240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ГАРАНТИЯ 05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395625" y="3237793"/>
            <a:ext cx="240978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spc="-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Данные не выходят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395625" y="3411029"/>
            <a:ext cx="2409788" cy="339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Расчёт на нашей инфраструктуре, но данные — обезличены. Возврат в течение 30 дней.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019726" y="2852031"/>
            <a:ext cx="2667074" cy="1862844"/>
          </a:xfrm>
          <a:prstGeom prst="roundRect">
            <a:avLst>
              <a:gd name="adj" fmla="val 2045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148313" y="2966331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162243" y="2980261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$</a:t>
            </a:r>
            <a:endParaRPr lang="en-US" sz="1266" dirty="0"/>
          </a:p>
        </p:txBody>
      </p:sp>
      <p:sp>
        <p:nvSpPr>
          <p:cNvPr id="37" name="Text 35"/>
          <p:cNvSpPr/>
          <p:nvPr/>
        </p:nvSpPr>
        <p:spPr>
          <a:xfrm>
            <a:off x="6434063" y="3019909"/>
            <a:ext cx="212414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ГАРАНТИЯ 06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148313" y="3237793"/>
            <a:ext cx="240989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spc="-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 ₽ за пилот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148313" y="3411029"/>
            <a:ext cx="2409899" cy="339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Бесплатно. Без скрытых условий. Без автоматического перехода на платную версию.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14350" y="4954191"/>
            <a:ext cx="383128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359920" y="4954191"/>
            <a:ext cx="401043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ЛИД-МАГНИТ · ГАРАНТИИ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25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581073" cy="2382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Отзывы заказчиков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Три коротких отзыва от лиц, принимающих решения. [ЗАПОЛНИТЬ: реальные отзывы]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903573"/>
            <a:ext cx="2657475" cy="3811302"/>
          </a:xfrm>
          <a:prstGeom prst="roundRect">
            <a:avLst>
              <a:gd name="adj" fmla="val 1434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8656" y="1053592"/>
            <a:ext cx="200025" cy="200025"/>
          </a:xfrm>
          <a:prstGeom prst="roundRect">
            <a:avLst>
              <a:gd name="adj" fmla="val 14286"/>
            </a:avLst>
          </a:prstGeom>
          <a:noFill/>
          <a:ln w="14288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443" y="106037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“</a:t>
            </a:r>
            <a:endParaRPr lang="en-US" sz="1266" dirty="0"/>
          </a:p>
        </p:txBody>
      </p:sp>
      <p:sp>
        <p:nvSpPr>
          <p:cNvPr id="7" name="Text 5"/>
          <p:cNvSpPr/>
          <p:nvPr/>
        </p:nvSpPr>
        <p:spPr>
          <a:xfrm>
            <a:off x="957263" y="1100026"/>
            <a:ext cx="20574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ОТЗЫВ 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1513" y="1346485"/>
            <a:ext cx="2343150" cy="285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00" b="1" spc="-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Финансовый директор, крупный девелопер [ЗАПОЛНИТЬ]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71513" y="1673535"/>
            <a:ext cx="2343150" cy="2476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i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«СтройИнтеллект показал нам кассовые разрывы за 2 месяца до их наступления. Раньше мы их видели постфактум — когда уже поздно. Это изменило подход к управлению финансами проекта.»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71513" y="4177308"/>
            <a:ext cx="234315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71513" y="4255889"/>
            <a:ext cx="2343150" cy="186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spc="-1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 разрыва</a:t>
            </a:r>
            <a:endParaRPr lang="en-US" sz="1463" dirty="0"/>
          </a:p>
        </p:txBody>
      </p:sp>
      <p:sp>
        <p:nvSpPr>
          <p:cNvPr id="12" name="Text 10"/>
          <p:cNvSpPr/>
          <p:nvPr/>
        </p:nvSpPr>
        <p:spPr>
          <a:xfrm>
            <a:off x="671513" y="4470202"/>
            <a:ext cx="2343150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53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ПРОГНОЗИРОВАНО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71838" y="903573"/>
            <a:ext cx="2657475" cy="3811302"/>
          </a:xfrm>
          <a:prstGeom prst="roundRect">
            <a:avLst>
              <a:gd name="adj" fmla="val 1434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36144" y="1053592"/>
            <a:ext cx="200025" cy="200025"/>
          </a:xfrm>
          <a:prstGeom prst="roundRect">
            <a:avLst>
              <a:gd name="adj" fmla="val 14286"/>
            </a:avLst>
          </a:prstGeom>
          <a:noFill/>
          <a:ln w="14288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442930" y="106037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“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3714750" y="1100026"/>
            <a:ext cx="20574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ОТЗЫВ 02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29000" y="1346485"/>
            <a:ext cx="2343150" cy="285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00" b="1" spc="-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Руководитель службы техзаказчика, корпоративный заказчик [ЗАПОЛНИТЬ]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429000" y="1673535"/>
            <a:ext cx="2343150" cy="2476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i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«Смета на 2 000 позиций проверяется за час вместо пяти дней. Целевая цена для переговоров с генподрядчиком снизилась на 7%. Окупилось на первом же объекте.»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429000" y="4177308"/>
            <a:ext cx="234315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429000" y="4255889"/>
            <a:ext cx="2343150" cy="186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spc="-15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7%</a:t>
            </a:r>
            <a:endParaRPr lang="en-US" sz="1463" dirty="0"/>
          </a:p>
        </p:txBody>
      </p:sp>
      <p:sp>
        <p:nvSpPr>
          <p:cNvPr id="21" name="Text 19"/>
          <p:cNvSpPr/>
          <p:nvPr/>
        </p:nvSpPr>
        <p:spPr>
          <a:xfrm>
            <a:off x="3429000" y="4470202"/>
            <a:ext cx="2343150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53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СНИЖЕНИЕ ЦЕНЫ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029325" y="903573"/>
            <a:ext cx="2657475" cy="3811302"/>
          </a:xfrm>
          <a:prstGeom prst="roundRect">
            <a:avLst>
              <a:gd name="adj" fmla="val 1434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193631" y="1053592"/>
            <a:ext cx="200025" cy="200025"/>
          </a:xfrm>
          <a:prstGeom prst="roundRect">
            <a:avLst>
              <a:gd name="adj" fmla="val 14286"/>
            </a:avLst>
          </a:prstGeom>
          <a:noFill/>
          <a:ln w="14288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200418" y="106037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“</a:t>
            </a:r>
            <a:endParaRPr lang="en-US" sz="1266" dirty="0"/>
          </a:p>
        </p:txBody>
      </p:sp>
      <p:sp>
        <p:nvSpPr>
          <p:cNvPr id="25" name="Text 23"/>
          <p:cNvSpPr/>
          <p:nvPr/>
        </p:nvSpPr>
        <p:spPr>
          <a:xfrm>
            <a:off x="6472238" y="1100026"/>
            <a:ext cx="20574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ОТЗЫВ 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186488" y="1346485"/>
            <a:ext cx="2452878" cy="142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00" b="1" spc="-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Главный инженер, застройщик [ЗАПОЛНИТЬ]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186488" y="1552873"/>
            <a:ext cx="2343150" cy="2597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i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«Три коммерческих предложения от подрядчиков — теперь сравниваются автоматически, а не «на глаз». Аномалии видны сразу, с суммой в рублях. Перешли от угадывания к аналитике.»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186488" y="4177308"/>
            <a:ext cx="2343150" cy="7144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186488" y="4255889"/>
            <a:ext cx="2343150" cy="186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spc="-15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20%</a:t>
            </a:r>
            <a:endParaRPr lang="en-US" sz="1463" dirty="0"/>
          </a:p>
        </p:txBody>
      </p:sp>
      <p:sp>
        <p:nvSpPr>
          <p:cNvPr id="30" name="Text 28"/>
          <p:cNvSpPr/>
          <p:nvPr/>
        </p:nvSpPr>
        <p:spPr>
          <a:xfrm>
            <a:off x="6186488" y="4470202"/>
            <a:ext cx="2343150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53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РАЗБРОС ВЫЯВЛЕН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14350" y="4954191"/>
            <a:ext cx="418891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17554" y="4954191"/>
            <a:ext cx="36528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ОТЗЫВЫ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23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25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1469"/>
            <a:ext cx="8629650" cy="23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Сводный эффект трёх кейсов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514350" y="587127"/>
            <a:ext cx="714375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Сложенные вместе — 53 миллиона предотвращённых потерь и 5 миллионов избежанных штрафов. На трёх объектах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903573"/>
            <a:ext cx="1978819" cy="1862733"/>
          </a:xfrm>
          <a:prstGeom prst="roundRect">
            <a:avLst>
              <a:gd name="adj" fmla="val 2045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2938" y="1017873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56868" y="103180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◫</a:t>
            </a:r>
            <a:endParaRPr lang="en-US" sz="1266" dirty="0"/>
          </a:p>
        </p:txBody>
      </p:sp>
      <p:sp>
        <p:nvSpPr>
          <p:cNvPr id="7" name="Text 5"/>
          <p:cNvSpPr/>
          <p:nvPr/>
        </p:nvSpPr>
        <p:spPr>
          <a:xfrm>
            <a:off x="928688" y="1071451"/>
            <a:ext cx="14358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КЕЙС 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2938" y="1729680"/>
            <a:ext cx="1721644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42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48 млн ₽</a:t>
            </a:r>
            <a:endParaRPr lang="en-US" sz="1688" dirty="0"/>
          </a:p>
        </p:txBody>
      </p:sp>
      <p:sp>
        <p:nvSpPr>
          <p:cNvPr id="9" name="Text 7"/>
          <p:cNvSpPr/>
          <p:nvPr/>
        </p:nvSpPr>
        <p:spPr>
          <a:xfrm>
            <a:off x="642938" y="2441377"/>
            <a:ext cx="1721644" cy="131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41"/>
              </a:lnSpc>
              <a:buNone/>
            </a:pPr>
            <a:r>
              <a:rPr lang="en-US" sz="800" b="1" spc="53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ПРЕДОТВРАЩЕНО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42938" y="2537036"/>
            <a:ext cx="1721644" cy="114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i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Смета 1,2 млрд ₽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578894" y="903573"/>
            <a:ext cx="1978819" cy="1862733"/>
          </a:xfrm>
          <a:prstGeom prst="roundRect">
            <a:avLst>
              <a:gd name="adj" fmla="val 2045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707481" y="1017873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721412" y="103180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✻</a:t>
            </a:r>
            <a:endParaRPr lang="en-US" sz="1266" dirty="0"/>
          </a:p>
        </p:txBody>
      </p:sp>
      <p:sp>
        <p:nvSpPr>
          <p:cNvPr id="14" name="Text 12"/>
          <p:cNvSpPr/>
          <p:nvPr/>
        </p:nvSpPr>
        <p:spPr>
          <a:xfrm>
            <a:off x="2993231" y="1071451"/>
            <a:ext cx="14358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КЕЙС 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707481" y="1729680"/>
            <a:ext cx="1721644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42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8%</a:t>
            </a:r>
            <a:endParaRPr lang="en-US" sz="1688" dirty="0"/>
          </a:p>
        </p:txBody>
      </p:sp>
      <p:sp>
        <p:nvSpPr>
          <p:cNvPr id="16" name="Text 14"/>
          <p:cNvSpPr/>
          <p:nvPr/>
        </p:nvSpPr>
        <p:spPr>
          <a:xfrm>
            <a:off x="2707481" y="2441377"/>
            <a:ext cx="1721644" cy="131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41"/>
              </a:lnSpc>
              <a:buNone/>
            </a:pPr>
            <a:r>
              <a:rPr lang="en-US" sz="800" b="1" spc="53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СКИДКА СОГЛАСОВАНА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07481" y="2537036"/>
            <a:ext cx="1721644" cy="114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i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 подрядчика Б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43438" y="903573"/>
            <a:ext cx="1978819" cy="1862733"/>
          </a:xfrm>
          <a:prstGeom prst="roundRect">
            <a:avLst>
              <a:gd name="adj" fmla="val 2045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72025" y="1017873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85955" y="103180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5057775" y="1071451"/>
            <a:ext cx="14358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КЕЙС 03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72025" y="1729680"/>
            <a:ext cx="1721644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42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1688" dirty="0"/>
          </a:p>
        </p:txBody>
      </p:sp>
      <p:sp>
        <p:nvSpPr>
          <p:cNvPr id="23" name="Text 21"/>
          <p:cNvSpPr/>
          <p:nvPr/>
        </p:nvSpPr>
        <p:spPr>
          <a:xfrm>
            <a:off x="4772025" y="2441377"/>
            <a:ext cx="1721644" cy="131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41"/>
              </a:lnSpc>
              <a:buNone/>
            </a:pPr>
            <a:r>
              <a:rPr lang="en-US" sz="800" b="1" spc="53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РАЗРЫВА ПРОГНОЗИРОВАНО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72025" y="2537036"/>
            <a:ext cx="1721644" cy="114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i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 2 месяца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707981" y="903573"/>
            <a:ext cx="1978819" cy="1862733"/>
          </a:xfrm>
          <a:prstGeom prst="roundRect">
            <a:avLst>
              <a:gd name="adj" fmla="val 2045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836569" y="1017873"/>
            <a:ext cx="214313" cy="214313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850499" y="103180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1266" dirty="0"/>
          </a:p>
        </p:txBody>
      </p:sp>
      <p:sp>
        <p:nvSpPr>
          <p:cNvPr id="28" name="Text 26"/>
          <p:cNvSpPr/>
          <p:nvPr/>
        </p:nvSpPr>
        <p:spPr>
          <a:xfrm>
            <a:off x="7122319" y="1071451"/>
            <a:ext cx="14358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КЕЙС 03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836569" y="1729680"/>
            <a:ext cx="1721644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42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 млн ₽</a:t>
            </a:r>
            <a:endParaRPr lang="en-US" sz="1688" dirty="0"/>
          </a:p>
        </p:txBody>
      </p:sp>
      <p:sp>
        <p:nvSpPr>
          <p:cNvPr id="30" name="Text 28"/>
          <p:cNvSpPr/>
          <p:nvPr/>
        </p:nvSpPr>
        <p:spPr>
          <a:xfrm>
            <a:off x="6836569" y="2441377"/>
            <a:ext cx="1721644" cy="131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41"/>
              </a:lnSpc>
              <a:buNone/>
            </a:pPr>
            <a:r>
              <a:rPr lang="en-US" sz="800" b="1" spc="53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ШТРАФОВ ИЗБЕЖАНО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836569" y="2537036"/>
            <a:ext cx="1721644" cy="114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i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 просрочку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14350" y="2852031"/>
            <a:ext cx="4043363" cy="1862844"/>
          </a:xfrm>
          <a:prstGeom prst="roundRect">
            <a:avLst>
              <a:gd name="adj" fmla="val 2045"/>
            </a:avLst>
          </a:prstGeom>
          <a:solidFill>
            <a:srgbClr val="F5F5F5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14350" y="2852031"/>
            <a:ext cx="4043363" cy="328613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51867" y="2946685"/>
            <a:ext cx="13930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29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85825" y="2946685"/>
            <a:ext cx="3557588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29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ИТОГО ПРЕДОТВРАЩЕНО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1513" y="3790541"/>
            <a:ext cx="1835449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475" b="1" spc="-62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53 млн ₽</a:t>
            </a:r>
            <a:endParaRPr lang="en-US" sz="2475" dirty="0"/>
          </a:p>
        </p:txBody>
      </p:sp>
      <p:sp>
        <p:nvSpPr>
          <p:cNvPr id="37" name="Text 35"/>
          <p:cNvSpPr/>
          <p:nvPr/>
        </p:nvSpPr>
        <p:spPr>
          <a:xfrm>
            <a:off x="2083631" y="3754822"/>
            <a:ext cx="231691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Суммарный предотвращённый ущерб на </a:t>
            </a:r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трёх объектах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При цене внедрения 22,5 млн ₽ — ROI более 200% на первом году эксплуатации.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650581" y="2859174"/>
            <a:ext cx="4029075" cy="1848557"/>
          </a:xfrm>
          <a:prstGeom prst="roundRect">
            <a:avLst>
              <a:gd name="adj" fmla="val 2061"/>
            </a:avLst>
          </a:prstGeom>
          <a:solidFill>
            <a:srgbClr val="FFFFFF"/>
          </a:solidFill>
          <a:ln w="14288">
            <a:solidFill>
              <a:srgbClr val="00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814888" y="2994906"/>
            <a:ext cx="37004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ЭФФЕКТ НА ГОД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814888" y="3729819"/>
            <a:ext cx="2032760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475" b="1" spc="-62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150+ млн ₽</a:t>
            </a:r>
            <a:endParaRPr lang="en-US" sz="2475" dirty="0"/>
          </a:p>
        </p:txBody>
      </p:sp>
      <p:sp>
        <p:nvSpPr>
          <p:cNvPr id="41" name="Text 39"/>
          <p:cNvSpPr/>
          <p:nvPr/>
        </p:nvSpPr>
        <p:spPr>
          <a:xfrm>
            <a:off x="6569683" y="3694100"/>
            <a:ext cx="19456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Прогноз предотвращённых потерь на </a:t>
            </a:r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 объектах в год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при средней смете 1 млрд ₽ и потерях 3–5%.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7150" y="4872038"/>
            <a:ext cx="9086850" cy="27146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14350" y="4954191"/>
            <a:ext cx="396835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496991" y="4954191"/>
            <a:ext cx="387336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СВОДНЫЙ ЭФФЕКТ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365482" y="4954191"/>
            <a:ext cx="340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24 </a:t>
            </a:r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9999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25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57775" y="0"/>
            <a:ext cx="0" cy="514350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1500" y="1553766"/>
            <a:ext cx="4082653" cy="300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4"/>
              </a:lnSpc>
              <a:buNone/>
            </a:pPr>
            <a:r>
              <a:rPr lang="en-US" sz="1463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Контакты</a:t>
            </a:r>
            <a:endParaRPr lang="en-US" sz="1463" dirty="0"/>
          </a:p>
        </p:txBody>
      </p:sp>
      <p:sp>
        <p:nvSpPr>
          <p:cNvPr id="4" name="Text 2"/>
          <p:cNvSpPr/>
          <p:nvPr/>
        </p:nvSpPr>
        <p:spPr>
          <a:xfrm>
            <a:off x="571500" y="1918097"/>
            <a:ext cx="3286125" cy="324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44" b="1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Поможем подобрать решения под ваши бизнес-задачи</a:t>
            </a:r>
            <a:endParaRPr lang="en-US" sz="844" dirty="0"/>
          </a:p>
        </p:txBody>
      </p:sp>
      <p:sp>
        <p:nvSpPr>
          <p:cNvPr id="5" name="Text 3"/>
          <p:cNvSpPr/>
          <p:nvPr/>
        </p:nvSpPr>
        <p:spPr>
          <a:xfrm>
            <a:off x="571500" y="2446734"/>
            <a:ext cx="185738" cy="185738"/>
          </a:xfrm>
          <a:prstGeom prst="roundRect">
            <a:avLst>
              <a:gd name="adj" fmla="val 15385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81501" y="2456736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☎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842963" y="2486025"/>
            <a:ext cx="6707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ТЕЛЕФОН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432880" y="2469952"/>
            <a:ext cx="322127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u="sng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+7 (495) 198-14-77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71500" y="2732484"/>
            <a:ext cx="185738" cy="185738"/>
          </a:xfrm>
          <a:prstGeom prst="roundRect">
            <a:avLst>
              <a:gd name="adj" fmla="val 15385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81501" y="2742486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✉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842963" y="2771775"/>
            <a:ext cx="50881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ПОЧТА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303846" y="2755702"/>
            <a:ext cx="335030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u="sng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info@7rlines.com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71500" y="3018234"/>
            <a:ext cx="185738" cy="185738"/>
          </a:xfrm>
          <a:prstGeom prst="roundRect">
            <a:avLst>
              <a:gd name="adj" fmla="val 15385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81501" y="3028236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842963" y="3057525"/>
            <a:ext cx="39183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САЙТ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230734" y="3041452"/>
            <a:ext cx="34234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u="sng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7rlines.ru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71500" y="3303984"/>
            <a:ext cx="185738" cy="185738"/>
          </a:xfrm>
          <a:prstGeom prst="roundRect">
            <a:avLst>
              <a:gd name="adj" fmla="val 15385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81501" y="3313986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◎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842963" y="3343275"/>
            <a:ext cx="49327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АДРЕС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294135" y="3327202"/>
            <a:ext cx="336001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119049, Москва, ул. Шаболовка, 23к3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830416" y="2289572"/>
            <a:ext cx="3282424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1688"/>
              </a:lnSpc>
              <a:buNone/>
            </a:pPr>
            <a:r>
              <a:rPr lang="en-US" sz="1688" b="1" spc="68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1688"/>
              </a:lnSpc>
              <a:buNone/>
            </a:pPr>
            <a:r>
              <a:rPr lang="en-US" sz="1688" b="1" spc="68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1688" dirty="0"/>
          </a:p>
        </p:txBody>
      </p:sp>
      <p:sp>
        <p:nvSpPr>
          <p:cNvPr id="22" name="Text 20"/>
          <p:cNvSpPr/>
          <p:nvPr/>
        </p:nvSpPr>
        <p:spPr>
          <a:xfrm>
            <a:off x="6931223" y="2603897"/>
            <a:ext cx="342900" cy="14288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506774" y="2746772"/>
            <a:ext cx="119179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124" kern="0" dirty="0">
                <a:solidFill>
                  <a:srgbClr val="9999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СТРОЙИНТЕЛЛЕКТ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2026-08-11T21:42:03Z</dcterms:created>
  <dcterms:modified xsi:type="dcterms:W3CDTF">2026-08-11T21:42:03Z</dcterms:modified>
</cp:coreProperties>
</file>