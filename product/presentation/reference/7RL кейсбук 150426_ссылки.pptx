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0"/>
  </p:notesMasterIdLst>
  <p:sldIdLst>
    <p:sldId id="256" r:id="rId2"/>
    <p:sldId id="257" r:id="rId3"/>
    <p:sldId id="258" r:id="rId4"/>
    <p:sldId id="259" r:id="rId5"/>
    <p:sldId id="260" r:id="rId6"/>
    <p:sldId id="337" r:id="rId7"/>
    <p:sldId id="261" r:id="rId8"/>
    <p:sldId id="262" r:id="rId9"/>
    <p:sldId id="338" r:id="rId10"/>
    <p:sldId id="263" r:id="rId11"/>
    <p:sldId id="264" r:id="rId12"/>
    <p:sldId id="355" r:id="rId13"/>
    <p:sldId id="265" r:id="rId14"/>
    <p:sldId id="266" r:id="rId15"/>
    <p:sldId id="356" r:id="rId16"/>
    <p:sldId id="267" r:id="rId17"/>
    <p:sldId id="268" r:id="rId18"/>
    <p:sldId id="269" r:id="rId19"/>
    <p:sldId id="339" r:id="rId20"/>
    <p:sldId id="270" r:id="rId21"/>
    <p:sldId id="271" r:id="rId22"/>
    <p:sldId id="357" r:id="rId23"/>
    <p:sldId id="272" r:id="rId24"/>
    <p:sldId id="273" r:id="rId25"/>
    <p:sldId id="340" r:id="rId26"/>
    <p:sldId id="274" r:id="rId27"/>
    <p:sldId id="275" r:id="rId28"/>
    <p:sldId id="341" r:id="rId29"/>
    <p:sldId id="276" r:id="rId30"/>
    <p:sldId id="277" r:id="rId31"/>
    <p:sldId id="278" r:id="rId32"/>
    <p:sldId id="358" r:id="rId33"/>
    <p:sldId id="279" r:id="rId34"/>
    <p:sldId id="280" r:id="rId35"/>
    <p:sldId id="359" r:id="rId36"/>
    <p:sldId id="281" r:id="rId37"/>
    <p:sldId id="282" r:id="rId38"/>
    <p:sldId id="354" r:id="rId39"/>
    <p:sldId id="371" r:id="rId40"/>
    <p:sldId id="372" r:id="rId41"/>
    <p:sldId id="363" r:id="rId42"/>
    <p:sldId id="283" r:id="rId43"/>
    <p:sldId id="284" r:id="rId44"/>
    <p:sldId id="285" r:id="rId45"/>
    <p:sldId id="342" r:id="rId46"/>
    <p:sldId id="286" r:id="rId47"/>
    <p:sldId id="287" r:id="rId48"/>
    <p:sldId id="360" r:id="rId49"/>
    <p:sldId id="288" r:id="rId50"/>
    <p:sldId id="289" r:id="rId51"/>
    <p:sldId id="343" r:id="rId52"/>
    <p:sldId id="290" r:id="rId53"/>
    <p:sldId id="291" r:id="rId54"/>
    <p:sldId id="344" r:id="rId55"/>
    <p:sldId id="292" r:id="rId56"/>
    <p:sldId id="295" r:id="rId57"/>
    <p:sldId id="296" r:id="rId58"/>
    <p:sldId id="347" r:id="rId59"/>
    <p:sldId id="297" r:id="rId60"/>
    <p:sldId id="298" r:id="rId61"/>
    <p:sldId id="346" r:id="rId62"/>
    <p:sldId id="299" r:id="rId63"/>
    <p:sldId id="300" r:id="rId64"/>
    <p:sldId id="364" r:id="rId65"/>
    <p:sldId id="293" r:id="rId66"/>
    <p:sldId id="294" r:id="rId67"/>
    <p:sldId id="345" r:id="rId68"/>
    <p:sldId id="301" r:id="rId69"/>
    <p:sldId id="302" r:id="rId70"/>
    <p:sldId id="303" r:id="rId71"/>
    <p:sldId id="365" r:id="rId72"/>
    <p:sldId id="304" r:id="rId73"/>
    <p:sldId id="305" r:id="rId74"/>
    <p:sldId id="348" r:id="rId75"/>
    <p:sldId id="306" r:id="rId76"/>
    <p:sldId id="307" r:id="rId77"/>
    <p:sldId id="349" r:id="rId78"/>
    <p:sldId id="308" r:id="rId79"/>
    <p:sldId id="309" r:id="rId80"/>
    <p:sldId id="310" r:id="rId81"/>
    <p:sldId id="366" r:id="rId82"/>
    <p:sldId id="311" r:id="rId83"/>
    <p:sldId id="312" r:id="rId84"/>
    <p:sldId id="367" r:id="rId85"/>
    <p:sldId id="313" r:id="rId86"/>
    <p:sldId id="314" r:id="rId87"/>
    <p:sldId id="368" r:id="rId88"/>
    <p:sldId id="315" r:id="rId89"/>
    <p:sldId id="316" r:id="rId90"/>
    <p:sldId id="317" r:id="rId91"/>
    <p:sldId id="352" r:id="rId92"/>
    <p:sldId id="318" r:id="rId93"/>
    <p:sldId id="319" r:id="rId94"/>
    <p:sldId id="369" r:id="rId95"/>
    <p:sldId id="320" r:id="rId96"/>
    <p:sldId id="321" r:id="rId97"/>
    <p:sldId id="370" r:id="rId98"/>
    <p:sldId id="322" r:id="rId99"/>
    <p:sldId id="323" r:id="rId100"/>
    <p:sldId id="324" r:id="rId101"/>
    <p:sldId id="353" r:id="rId102"/>
    <p:sldId id="325" r:id="rId103"/>
    <p:sldId id="326" r:id="rId104"/>
    <p:sldId id="373" r:id="rId105"/>
    <p:sldId id="327" r:id="rId106"/>
    <p:sldId id="328" r:id="rId107"/>
    <p:sldId id="374" r:id="rId108"/>
    <p:sldId id="329" r:id="rId109"/>
    <p:sldId id="330" r:id="rId110"/>
    <p:sldId id="331" r:id="rId111"/>
    <p:sldId id="375" r:id="rId112"/>
    <p:sldId id="332" r:id="rId113"/>
    <p:sldId id="333" r:id="rId114"/>
    <p:sldId id="376" r:id="rId115"/>
    <p:sldId id="334" r:id="rId116"/>
    <p:sldId id="335" r:id="rId117"/>
    <p:sldId id="377" r:id="rId118"/>
    <p:sldId id="336" r:id="rId1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A0F"/>
    <a:srgbClr val="FF7641"/>
    <a:srgbClr val="004B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57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5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65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805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957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lead.ai.7rlines.com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bm.7rlines.com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7rlines.ru/msb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7rlines.ru/credit_analytics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7rlines.ru/hotel_ai_concierge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mo-profit.ai.7rlines.com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advisor.ai.7rlines.com/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7rlines.ru/ai_construction_support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7rlines.ru/ai_npa_assistant" TargetMode="Externa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7rlines.ru/commercial_real_estate_analysis" TargetMode="Externa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7rlines.ru/rsvet" TargetMode="Externa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7rlines.ru/churn_forecast" TargetMode="Externa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market-review.ai.7rlines.com/" TargetMode="Externa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7rlines.ru/oil_traiding" TargetMode="Externa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emission.ai.7rlines.com/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7rlines.ru/parcel_size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7rlines.ru/ai_drive" TargetMode="Externa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7rlines.ru/counterparty_check" TargetMode="Externa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7rlines.ru/retention" TargetMode="Externa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7rlines.ru/marketplace_sales_monitoring" TargetMode="Externa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7rlines.ru/procurement" TargetMode="Externa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7rlines.ru/tender_assembly" TargetMode="Externa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7rlines.ru/winrate_scoring" TargetMode="Externa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7rlines.ru/doc_generator" TargetMode="Externa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7rlines.ru/dpo_scoring" TargetMode="Externa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7rlines.ru/student_churn" TargetMode="Externa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3167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1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017520" y="457200"/>
            <a:ext cx="0" cy="42291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383280" y="10972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Кейсбук AI-решений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383280" y="1920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Портфель </a:t>
            </a: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прикладных решений</a:t>
            </a: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базе искусственного интеллекта для партнёров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2628900"/>
            <a:ext cx="167640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383280" y="2720340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30403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196840" y="2628900"/>
            <a:ext cx="167640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196840" y="2720340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96840" y="30403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Отраслей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010400" y="2628900"/>
            <a:ext cx="167640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010400" y="2720340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2–6 нед.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0400" y="30403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Срок пилота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Содержание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940556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940556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57200" y="974844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60825" y="1005840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Финансы и банки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60825" y="1152693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лидов, оценка рисков, онбординг МСБ, кредитная аналитика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57200" y="1317289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57200" y="1317289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457200" y="1351577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60825" y="1382573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HoReCa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160825" y="1529425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Репутация 360°, ИИ-консьерж, анализ промо-акций, советник по коммуникациям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57200" y="1694022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457200" y="1694022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/>
          <p:nvPr/>
        </p:nvSpPr>
        <p:spPr>
          <a:xfrm>
            <a:off x="457200" y="1728310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60825" y="1759306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Строительство и девелопмент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160825" y="1906158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стройкой, нормативная документация, платформа для УК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457200" y="2070754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0"/>
          <p:cNvSpPr/>
          <p:nvPr/>
        </p:nvSpPr>
        <p:spPr>
          <a:xfrm>
            <a:off x="457200" y="2070754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/>
          <p:nvPr/>
        </p:nvSpPr>
        <p:spPr>
          <a:xfrm>
            <a:off x="457200" y="2105042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160825" y="2136038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Ритейл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160825" y="2282891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филиалов, управление оттоком, упущенный спрос, мониторинг отзывов</a:t>
            </a:r>
            <a:endParaRPr lang="en-US" sz="700" dirty="0"/>
          </a:p>
        </p:txBody>
      </p:sp>
      <p:sp>
        <p:nvSpPr>
          <p:cNvPr id="30" name="Shape 24"/>
          <p:cNvSpPr/>
          <p:nvPr/>
        </p:nvSpPr>
        <p:spPr>
          <a:xfrm>
            <a:off x="457200" y="2447487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5"/>
          <p:cNvSpPr/>
          <p:nvPr/>
        </p:nvSpPr>
        <p:spPr>
          <a:xfrm>
            <a:off x="457200" y="2447487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6"/>
          <p:cNvSpPr/>
          <p:nvPr/>
        </p:nvSpPr>
        <p:spPr>
          <a:xfrm>
            <a:off x="457200" y="2481775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160825" y="2512771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Нефтегаз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160825" y="2659624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Отчётность по выбросам, антикризисная платформа, мониторинг цен, аналитика торгов</a:t>
            </a:r>
            <a:endParaRPr lang="en-US" sz="700" dirty="0"/>
          </a:p>
        </p:txBody>
      </p:sp>
      <p:sp>
        <p:nvSpPr>
          <p:cNvPr id="36" name="Shape 29"/>
          <p:cNvSpPr/>
          <p:nvPr/>
        </p:nvSpPr>
        <p:spPr>
          <a:xfrm>
            <a:off x="457200" y="2824220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Shape 30"/>
          <p:cNvSpPr/>
          <p:nvPr/>
        </p:nvSpPr>
        <p:spPr>
          <a:xfrm>
            <a:off x="457200" y="2824220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1"/>
          <p:cNvSpPr/>
          <p:nvPr/>
        </p:nvSpPr>
        <p:spPr>
          <a:xfrm>
            <a:off x="457200" y="2858508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1160825" y="2889504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Транспорт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1160825" y="3036357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ресурсами, автоизмерение грузов, поддержка водителей</a:t>
            </a:r>
            <a:endParaRPr lang="en-US" sz="700" dirty="0"/>
          </a:p>
        </p:txBody>
      </p:sp>
      <p:sp>
        <p:nvSpPr>
          <p:cNvPr id="42" name="Shape 34"/>
          <p:cNvSpPr/>
          <p:nvPr/>
        </p:nvSpPr>
        <p:spPr>
          <a:xfrm>
            <a:off x="457200" y="3200953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3" name="Shape 35"/>
          <p:cNvSpPr/>
          <p:nvPr/>
        </p:nvSpPr>
        <p:spPr>
          <a:xfrm>
            <a:off x="457200" y="3200953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36"/>
          <p:cNvSpPr/>
          <p:nvPr/>
        </p:nvSpPr>
        <p:spPr>
          <a:xfrm>
            <a:off x="457200" y="3235241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400" dirty="0"/>
          </a:p>
        </p:txBody>
      </p:sp>
      <p:sp>
        <p:nvSpPr>
          <p:cNvPr id="46" name="Text 37"/>
          <p:cNvSpPr/>
          <p:nvPr/>
        </p:nvSpPr>
        <p:spPr>
          <a:xfrm>
            <a:off x="1160825" y="3266237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Металлургия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1160825" y="3413089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контрагентов, удержание клиентов, советник по коммуникациям</a:t>
            </a:r>
            <a:endParaRPr lang="en-US" sz="700" dirty="0"/>
          </a:p>
        </p:txBody>
      </p:sp>
      <p:sp>
        <p:nvSpPr>
          <p:cNvPr id="48" name="Shape 39"/>
          <p:cNvSpPr/>
          <p:nvPr/>
        </p:nvSpPr>
        <p:spPr>
          <a:xfrm>
            <a:off x="457200" y="3577686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9" name="Shape 40"/>
          <p:cNvSpPr/>
          <p:nvPr/>
        </p:nvSpPr>
        <p:spPr>
          <a:xfrm>
            <a:off x="457200" y="3577686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0" name="Text 41"/>
          <p:cNvSpPr/>
          <p:nvPr/>
        </p:nvSpPr>
        <p:spPr>
          <a:xfrm>
            <a:off x="457200" y="3611974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Text 42"/>
          <p:cNvSpPr/>
          <p:nvPr/>
        </p:nvSpPr>
        <p:spPr>
          <a:xfrm>
            <a:off x="1160825" y="3642970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Продажи на маркетплейсах</a:t>
            </a:r>
            <a:endParaRPr lang="en-US" sz="1050" dirty="0"/>
          </a:p>
        </p:txBody>
      </p:sp>
      <p:sp>
        <p:nvSpPr>
          <p:cNvPr id="53" name="Text 43"/>
          <p:cNvSpPr/>
          <p:nvPr/>
        </p:nvSpPr>
        <p:spPr>
          <a:xfrm>
            <a:off x="1160825" y="3789822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наценки, адаптация к акциям, ассистент закупщика</a:t>
            </a:r>
            <a:endParaRPr lang="en-US" sz="700" dirty="0"/>
          </a:p>
        </p:txBody>
      </p:sp>
      <p:sp>
        <p:nvSpPr>
          <p:cNvPr id="54" name="Shape 44"/>
          <p:cNvSpPr/>
          <p:nvPr/>
        </p:nvSpPr>
        <p:spPr>
          <a:xfrm>
            <a:off x="457200" y="3954418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5" name="Shape 45"/>
          <p:cNvSpPr/>
          <p:nvPr/>
        </p:nvSpPr>
        <p:spPr>
          <a:xfrm>
            <a:off x="457200" y="3954418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Text 46"/>
          <p:cNvSpPr/>
          <p:nvPr/>
        </p:nvSpPr>
        <p:spPr>
          <a:xfrm>
            <a:off x="457200" y="3988706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400" dirty="0"/>
          </a:p>
        </p:txBody>
      </p:sp>
      <p:sp>
        <p:nvSpPr>
          <p:cNvPr id="58" name="Text 47"/>
          <p:cNvSpPr/>
          <p:nvPr/>
        </p:nvSpPr>
        <p:spPr>
          <a:xfrm>
            <a:off x="1160825" y="4019702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Закупки</a:t>
            </a:r>
            <a:endParaRPr lang="en-US" sz="1050" dirty="0"/>
          </a:p>
        </p:txBody>
      </p:sp>
      <p:sp>
        <p:nvSpPr>
          <p:cNvPr id="59" name="Text 48"/>
          <p:cNvSpPr/>
          <p:nvPr/>
        </p:nvSpPr>
        <p:spPr>
          <a:xfrm>
            <a:off x="1160825" y="4166555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тендеров, автосборка заявок, скоринг контрагентов</a:t>
            </a:r>
            <a:endParaRPr lang="en-US" sz="700" dirty="0"/>
          </a:p>
        </p:txBody>
      </p:sp>
      <p:sp>
        <p:nvSpPr>
          <p:cNvPr id="60" name="Shape 49"/>
          <p:cNvSpPr/>
          <p:nvPr/>
        </p:nvSpPr>
        <p:spPr>
          <a:xfrm>
            <a:off x="457200" y="4331151"/>
            <a:ext cx="8229600" cy="3240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1" name="Shape 50"/>
          <p:cNvSpPr/>
          <p:nvPr/>
        </p:nvSpPr>
        <p:spPr>
          <a:xfrm>
            <a:off x="457200" y="4331151"/>
            <a:ext cx="548640" cy="3240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2" name="Text 51"/>
          <p:cNvSpPr/>
          <p:nvPr/>
        </p:nvSpPr>
        <p:spPr>
          <a:xfrm>
            <a:off x="457200" y="4365439"/>
            <a:ext cx="5486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400" dirty="0"/>
          </a:p>
        </p:txBody>
      </p:sp>
      <p:sp>
        <p:nvSpPr>
          <p:cNvPr id="64" name="Text 52"/>
          <p:cNvSpPr/>
          <p:nvPr/>
        </p:nvSpPr>
        <p:spPr>
          <a:xfrm>
            <a:off x="1160825" y="4396435"/>
            <a:ext cx="70408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Образование</a:t>
            </a:r>
            <a:endParaRPr lang="en-US" sz="1050" dirty="0"/>
          </a:p>
        </p:txBody>
      </p:sp>
      <p:sp>
        <p:nvSpPr>
          <p:cNvPr id="65" name="Text 53"/>
          <p:cNvSpPr/>
          <p:nvPr/>
        </p:nvSpPr>
        <p:spPr>
          <a:xfrm>
            <a:off x="1160825" y="4543288"/>
            <a:ext cx="7040880" cy="10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документов, скоринг выпускников, прогноз оттока студентов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Финансы и банки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лидов по ОКВЭД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рисков по проблемным активам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документов на открытие счёта МСБ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783080" y="340156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1938528" y="3291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Кредитная аналитика и risk memo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лидов по ОКВЭД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прямыми продажами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МСБ-сегменте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Отделы продаж с планом роста клиентской базы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региональной экспансией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40–60% времени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менеджеров уходит на ручной поиск компаний и сверку ИНН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 дублей — повторные контакты с текущими клиентами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мониторинга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новых регистраций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целевых ОКВЭД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Высокая стоимость привлечения при росте плана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обход площадок и реестров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Сверка каждого ИНН с базой вручную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Формирование списков в Excel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системного охвата рынка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лидов по ОКВЭД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ЕГРЮЛ / ЕГРИП — поиск по ОКВЭД и регионам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Открытые реестры и справочники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база (ИНН) для дедупликации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новых регистраций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Автоматический сбор компаний по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ОКВЭД и регионам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Извлечение и нормализация ИНН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Мгновенная сверка с клиентской базой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Разделение: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текущие / новые потенциальные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 времени на формирование базы на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50%+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Скорость поиска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2–4 раза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быстрее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Готовая выгрузка для обзвона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недели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1–2 регионах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6ADF7B-BE38-57E6-6573-20A5EE67002F}"/>
              </a:ext>
            </a:extLst>
          </p:cNvPr>
          <p:cNvSpPr txBox="1"/>
          <p:nvPr/>
        </p:nvSpPr>
        <p:spPr>
          <a:xfrm>
            <a:off x="240224" y="139091"/>
            <a:ext cx="4572000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lead.ai.7rlines.com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66AA1E-AC33-A15A-A4E0-A7F5BACAF4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480"/>
          <a:stretch>
            <a:fillRect/>
          </a:stretch>
        </p:blipFill>
        <p:spPr>
          <a:xfrm>
            <a:off x="240224" y="609219"/>
            <a:ext cx="8624376" cy="4106714"/>
          </a:xfrm>
          <a:prstGeom prst="rect">
            <a:avLst/>
          </a:prstGeom>
        </p:spPr>
      </p:pic>
      <p:sp>
        <p:nvSpPr>
          <p:cNvPr id="2" name="Text 23">
            <a:extLst>
              <a:ext uri="{FF2B5EF4-FFF2-40B4-BE49-F238E27FC236}">
                <a16:creationId xmlns:a16="http://schemas.microsoft.com/office/drawing/2014/main" id="{B3F10BC5-BAA9-58CC-9BA4-CF3E67D1CE93}"/>
              </a:ext>
            </a:extLst>
          </p:cNvPr>
          <p:cNvSpPr/>
          <p:nvPr/>
        </p:nvSpPr>
        <p:spPr>
          <a:xfrm>
            <a:off x="240223" y="4810697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0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рисков по проблемным активам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Банки с портфелем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проблемных активов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от присоединённых организаций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Департаменты взыскания и юридические службы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Управления мониторинга кредитных рисков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Тысячи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неструктурированных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досье от присоединённых банков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 времени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аналитиков уходит на поиск, а не на взыскание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Возможности взыскания пропускаются из-за рутины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стоимости владения проблемным активом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разбор: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3–5 кейсов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день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30–60 минут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один кейс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 зависит от опыта сотрудника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единого стандарта решений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рисков по проблемным активам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Исторические досье из архива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Судебные решения и арбитражная практика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ЕГРЮЛ, Федресурс, пресса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внешнего контура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вероятности взыскания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по каждому кейсу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текстового обоснования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Выявление признаков улучшения платежеспособности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Приоритизация: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суд / реструктуризация / мониторинг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12–20 сигналов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день вместо 3–5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Время реакции: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2–5 минут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вместо 30–60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пропущенных сигналов на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30–40%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конвейер принятия решений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BD697-7FD8-71AB-D288-62AF22A0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091526-C2BD-6CCB-2F56-65A5CBD7397B}"/>
              </a:ext>
            </a:extLst>
          </p:cNvPr>
          <p:cNvSpPr txBox="1"/>
          <p:nvPr/>
        </p:nvSpPr>
        <p:spPr>
          <a:xfrm>
            <a:off x="240224" y="139091"/>
            <a:ext cx="4572000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https://bm.7rlines.com/</a:t>
            </a:r>
            <a:r>
              <a:rPr lang="ru-RU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5B0488-33E6-1AA0-1954-699272B0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27096"/>
          <a:stretch>
            <a:fillRect/>
          </a:stretch>
        </p:blipFill>
        <p:spPr>
          <a:xfrm>
            <a:off x="240223" y="613377"/>
            <a:ext cx="8624377" cy="4085622"/>
          </a:xfrm>
          <a:prstGeom prst="rect">
            <a:avLst/>
          </a:prstGeom>
        </p:spPr>
      </p:pic>
      <p:sp>
        <p:nvSpPr>
          <p:cNvPr id="5" name="Text 23">
            <a:extLst>
              <a:ext uri="{FF2B5EF4-FFF2-40B4-BE49-F238E27FC236}">
                <a16:creationId xmlns:a16="http://schemas.microsoft.com/office/drawing/2014/main" id="{4F886823-835F-A2F1-197B-38B1309ABEE0}"/>
              </a:ext>
            </a:extLst>
          </p:cNvPr>
          <p:cNvSpPr/>
          <p:nvPr/>
        </p:nvSpPr>
        <p:spPr>
          <a:xfrm>
            <a:off x="240224" y="4813888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552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документов на открытие счёта МСБ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Банки с активным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привлечением МСБ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Отделы онбординга и комплаенса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Менеджеры по работе с юрлицами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сверка учредительных документов с ЕГРЮЛ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Ошибки приводят к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доработкам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процесс затягивается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потерянный клиент — упущенные комиссии на годы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Высокая нагрузка при росте потока заявок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Менеджер вручную проверяет пакет документов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Валидация форм и чек-листов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Сверка анкеты с учредительными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Онбординг занимает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целый день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документов на открытие счёта МСБ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Пакет документов от клиента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ЕГРЮЛ — актуальные данные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Чек-листы и внутренние регламенты банка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Анкетные данные клиента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проверяет пакет по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чек-листу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Сверка с ЕГРЮЛ в реальном времени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Сопоставление анкеты с учредительными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Выявление расхождений и ошибок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Готовое досье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2–3 минуты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Онбординг: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r>
              <a:rPr lang="ru-RU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-3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b="1" dirty="0" err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</a:t>
            </a:r>
            <a:r>
              <a:rPr lang="ru-RU" sz="1000" b="1" dirty="0" err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ня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2–4 часа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Ошибки: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–80%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Новых клиентов: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DEE98-C1D5-9C2F-0B6A-F4CA27AC8207}"/>
              </a:ext>
            </a:extLst>
          </p:cNvPr>
          <p:cNvSpPr txBox="1"/>
          <p:nvPr/>
        </p:nvSpPr>
        <p:spPr>
          <a:xfrm>
            <a:off x="201168" y="172117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ru-RU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https://7rlines.ru/msb</a:t>
            </a:r>
            <a:r>
              <a:rPr lang="ru-RU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452D30-DDE8-9BAD-2655-B44D1C8FEB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92"/>
          <a:stretch>
            <a:fillRect/>
          </a:stretch>
        </p:blipFill>
        <p:spPr>
          <a:xfrm>
            <a:off x="201168" y="663858"/>
            <a:ext cx="8651284" cy="407747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45C2420-0C25-DB7E-59F2-7473072C4C60}"/>
              </a:ext>
            </a:extLst>
          </p:cNvPr>
          <p:cNvSpPr/>
          <p:nvPr/>
        </p:nvSpPr>
        <p:spPr>
          <a:xfrm>
            <a:off x="291548" y="1267423"/>
            <a:ext cx="1497496" cy="59635"/>
          </a:xfrm>
          <a:prstGeom prst="rect">
            <a:avLst/>
          </a:prstGeom>
          <a:solidFill>
            <a:srgbClr val="004B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D2E8977D-4CD1-FA98-E334-BDBBD274D54E}"/>
              </a:ext>
            </a:extLst>
          </p:cNvPr>
          <p:cNvSpPr/>
          <p:nvPr/>
        </p:nvSpPr>
        <p:spPr>
          <a:xfrm>
            <a:off x="240223" y="4819162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233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Кредитная аналитика и risk memo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Кредитные департаменты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средних и крупных банков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Кредитные аналитики и риск-менеджеры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Кредитные комитеты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баланса, PnL, ДДС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2–4 часа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заявку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 коэффициентов ликвидности и долговой нагрузки вручную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росте потока заявок — узкое место по скорости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Зависимость качества от опыта конкретного аналитика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анализ финансовой отчётности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 коэффициентов в Excel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risk memo для комитета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и согласование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Кредитная аналитика и risk memo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Финансовая отчётность заёмщика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из АБС и кредитного досье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Отраслевые бенчмарки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Исторические данные по портфелю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обрабатывает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финансовую отчётность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Автоматический расчёт коэффициентов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risk memo для кредитного комитета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с отраслевыми нормами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2–4 часа → 15–20 минут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Пропускная способность: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×3–5 заявок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неделю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Просрочка: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–3–5 п.п.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Стандартизация качества анализа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7E3FF-2DAE-4EEA-2E11-16901069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31730-34CF-EED4-3C4B-9E52622CD604}"/>
              </a:ext>
            </a:extLst>
          </p:cNvPr>
          <p:cNvSpPr txBox="1"/>
          <p:nvPr/>
        </p:nvSpPr>
        <p:spPr>
          <a:xfrm>
            <a:off x="201167" y="185958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https://7rlines.ru/credit_analytics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108443EF-90B3-BE34-485E-718FB2A55BB9}"/>
              </a:ext>
            </a:extLst>
          </p:cNvPr>
          <p:cNvSpPr/>
          <p:nvPr/>
        </p:nvSpPr>
        <p:spPr>
          <a:xfrm>
            <a:off x="201168" y="4755989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EAB0E8-F298-111B-C8D7-BF0D5B2958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77"/>
          <a:stretch>
            <a:fillRect/>
          </a:stretch>
        </p:blipFill>
        <p:spPr>
          <a:xfrm>
            <a:off x="201167" y="600718"/>
            <a:ext cx="8624377" cy="406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48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Отели и рестораны (</a:t>
            </a:r>
            <a:r>
              <a:rPr lang="en-US" sz="2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HoReCa</a:t>
            </a:r>
            <a:r>
              <a:rPr lang="ru-RU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Обзор репутации 360°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ИИ-консьерж для гостей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эффективности промо-акций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783080" y="340156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1938528" y="3291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Советник по коммуникациям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Обзор репутации 360°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Отели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от 50 номеров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Ресторанные сети и HoReCa-холдинги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Управляющие компании в гостиничном бизнесе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Отзывы разбросаны по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4+ площадкам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ответ на один отзыв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10–15 минут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Регулярный мониторинг физически невозможен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Негативные тренды замечаются, когда рейтинг уже просел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обход площадок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Ответы пишутся вручную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системного анализа тем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связи между отзывами и действиями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Обзор репутации 360°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Яндекс.Карты, 2ГИС, Островок, Google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Отзывы с OTA-площадок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Внутренние данные о качестве сервиса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Исторические данные для трендов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Автоматический сбор и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тональности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Выявление паттернов: еда, чистота, персонал, шум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персонализированных ответов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Дашборд с трендами и алертами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Экономия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~30 ч/мес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обработке отзывов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Время ответа: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2 минут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вместо 10–15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рейтинга на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0.1–0.3 балла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за 3 месяца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неделю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без интеграций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49AAD3-FB58-6705-6AC3-A8FB7BCD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39"/>
          <a:stretch>
            <a:fillRect/>
          </a:stretch>
        </p:blipFill>
        <p:spPr>
          <a:xfrm>
            <a:off x="156160" y="626119"/>
            <a:ext cx="8831679" cy="4123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D8DBCE-26AC-3945-78C4-AAAB455DA627}"/>
              </a:ext>
            </a:extLst>
          </p:cNvPr>
          <p:cNvSpPr txBox="1"/>
          <p:nvPr/>
        </p:nvSpPr>
        <p:spPr>
          <a:xfrm>
            <a:off x="174395" y="154698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ru-RU" dirty="0" err="1">
                <a:solidFill>
                  <a:srgbClr val="FF0000"/>
                </a:solidFill>
              </a:rPr>
              <a:t>https</a:t>
            </a:r>
            <a:r>
              <a:rPr lang="ru-RU" dirty="0">
                <a:solidFill>
                  <a:srgbClr val="FF0000"/>
                </a:solidFill>
              </a:rPr>
              <a:t>://7rlines.ru/reputation360</a:t>
            </a: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4EC875D2-8769-A118-F3AA-DE1CEE30E7F4}"/>
              </a:ext>
            </a:extLst>
          </p:cNvPr>
          <p:cNvSpPr/>
          <p:nvPr/>
        </p:nvSpPr>
        <p:spPr>
          <a:xfrm>
            <a:off x="156160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20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ИИ-консьерж для гостей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Отели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от 80 номеров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Гостиничные сети и курортные комплексы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Отели с MICE-сегментом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Гости ищут рестораны, такси, развлечения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участия отеля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Упущенная выручка от допуслуг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 на корпоратив обрабатывается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часами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Дефицит кадров: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90%+ отельеров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нехваткой персонала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Гость ищет информацию самостоятельно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Менеджер готовит КП вручную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персональных рекомендаций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сбора данных о потребностях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ИИ-консьерж для гостей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PMS: история бронирований и профили гостей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Справочники: рестораны, экскурсии, трансферы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о мероприятиях и доступности залов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запросов гостей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Ответы на вопросы гостей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24/7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мессенджерах и на сайте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Персональные рекомендации по допуслугам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 генерация КП для мероприятий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Сбор предпочтений для персонализации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КП для мероприятий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минут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вместо часов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допродаж без нового персонала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Работает поверх существующей PMS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месяц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119B-86A4-E2EE-FBE4-3E83F2D9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7F3FEA-9B5A-5907-F34A-3418D9036279}"/>
              </a:ext>
            </a:extLst>
          </p:cNvPr>
          <p:cNvSpPr txBox="1"/>
          <p:nvPr/>
        </p:nvSpPr>
        <p:spPr>
          <a:xfrm>
            <a:off x="201167" y="231386"/>
            <a:ext cx="514129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https://7rlines.ru/hotel_ai_concierge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66089AC7-0F3D-465C-F81C-DD7D00B40F85}"/>
              </a:ext>
            </a:extLst>
          </p:cNvPr>
          <p:cNvSpPr/>
          <p:nvPr/>
        </p:nvSpPr>
        <p:spPr>
          <a:xfrm>
            <a:off x="201168" y="4755989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8E2410-9FB2-32F6-BF6E-8E8F69516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591"/>
          <a:stretch>
            <a:fillRect/>
          </a:stretch>
        </p:blipFill>
        <p:spPr>
          <a:xfrm>
            <a:off x="201167" y="674700"/>
            <a:ext cx="8624377" cy="401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52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эффективности промо-акций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Производители FMCG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промо-бюджетом от 1 млрд руб.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Коммерческий блок и маркетинг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Категорийное управление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Промо-бюджет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оценки ROI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5% акций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убыточны, ещё 10–15% с нулевой маржой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Каннибализация: промо одного бренда «съедает» продажи другого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 о скидках — по прецедентам, не по данным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Скидки определяются по прецедентам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предиктивной аналитики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Глубина скидки не оптимизирована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Планирование без оценки последствий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эффективности промо-акций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продаж по сетям (12 месяцев)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промо-акций по брендам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Коммерческие условия с сетями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в Excel/CSV — без интеграций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блоков: подготовка данных,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ретроспектива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оптимизация скидок, каннибализация, ML-модель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Определение оптимальной глубины скидки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перетока между брендами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Предиктивная модель ROI (MAPE &lt;20%)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Выявление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&gt;5%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убыточных акций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Экономия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30–60 млн руб.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пилоте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Потенциал: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150–250 млн руб./год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недели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3–5 брендов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057087-80E3-3B47-51B2-F6C8C6165D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25"/>
          <a:stretch>
            <a:fillRect/>
          </a:stretch>
        </p:blipFill>
        <p:spPr>
          <a:xfrm>
            <a:off x="190695" y="545807"/>
            <a:ext cx="8624377" cy="4195526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37F7FAA6-20E0-5585-CF2E-BE26B3E3AB26}"/>
              </a:ext>
            </a:extLst>
          </p:cNvPr>
          <p:cNvSpPr/>
          <p:nvPr/>
        </p:nvSpPr>
        <p:spPr>
          <a:xfrm>
            <a:off x="190696" y="88607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https://promo-profit.ai.7rlines.com/</a:t>
            </a:r>
            <a:r>
              <a:rPr lang="en-US" sz="2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5641BBF1-2C12-DA7C-E04C-27ACFEA22445}"/>
              </a:ext>
            </a:extLst>
          </p:cNvPr>
          <p:cNvSpPr/>
          <p:nvPr/>
        </p:nvSpPr>
        <p:spPr>
          <a:xfrm>
            <a:off x="190696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067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Советник по коммуникациям с ключевыми клиентами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Менеджеры по продажам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B2B-компаний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Маркетологи, ответственные за удержание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портфелем от 20 ключевых клиентов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Менеджер не замечает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сигналы готовности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клиента к росту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смене менеджера теряется контекст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~30 минут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ручного анализа перед контактом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Выбор действий на интуиции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Одинаковые коммуникации для всех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Знания в головах сотрудников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анализа поведения клиентов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Упускаются признаки оттока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Советник по коммуникациям с ключевыми клиентами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CRM: история заказов, контактов, реакций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Транзакционная активность клиентов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о промо-акциях и отклике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коммуникаций менеджеров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поведения и генерация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персональных рекомендаций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Определение следующего лучшего действия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Выявление ранних признаков оттока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потенциала каждого клиента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Персонализация для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20–30 клиентов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пилоте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 на основе данных вместо интуиции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Сохранение контекста при смене менеджера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недели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7B5DBB40-9FAD-8272-3C1B-069DBB658268}"/>
              </a:ext>
            </a:extLst>
          </p:cNvPr>
          <p:cNvSpPr/>
          <p:nvPr/>
        </p:nvSpPr>
        <p:spPr>
          <a:xfrm>
            <a:off x="154669" y="14438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https://advisor.ai.7rlines.com/</a:t>
            </a:r>
            <a:r>
              <a:rPr lang="en-US" sz="2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3E65D5-8C67-CFC3-9C06-E7619CD0D2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027"/>
          <a:stretch>
            <a:fillRect/>
          </a:stretch>
        </p:blipFill>
        <p:spPr>
          <a:xfrm>
            <a:off x="154669" y="601583"/>
            <a:ext cx="8624377" cy="4182084"/>
          </a:xfrm>
          <a:prstGeom prst="rect">
            <a:avLst/>
          </a:prstGeom>
        </p:spPr>
      </p:pic>
      <p:sp>
        <p:nvSpPr>
          <p:cNvPr id="8" name="Text 23">
            <a:extLst>
              <a:ext uri="{FF2B5EF4-FFF2-40B4-BE49-F238E27FC236}">
                <a16:creationId xmlns:a16="http://schemas.microsoft.com/office/drawing/2014/main" id="{B406732A-85CB-768B-E6C1-F836865D6E3E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551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Строительство и девелопмент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Интеллектуальный помощник для управления стройкой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 по нормативной документации и проверке проектов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 для управляющих компаний жилой недвижимости</a:t>
            </a:r>
            <a:endParaRPr lang="en-US" sz="12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93150CAF-B2EF-B71E-B6F9-A1C0D51A49E5}"/>
              </a:ext>
            </a:extLst>
          </p:cNvPr>
          <p:cNvSpPr/>
          <p:nvPr/>
        </p:nvSpPr>
        <p:spPr>
          <a:xfrm>
            <a:off x="1783080" y="340156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52EAB51-DB70-93C8-C8D1-13E70BEAFFD7}"/>
              </a:ext>
            </a:extLst>
          </p:cNvPr>
          <p:cNvSpPr/>
          <p:nvPr/>
        </p:nvSpPr>
        <p:spPr>
          <a:xfrm>
            <a:off x="1938528" y="3291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</a:t>
            </a: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инвестиционного анализа недвижимости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Интеллектуальный помощник для управления стройкой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Строительные компании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генподрядчики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Девелоперы с портфелем от 3 объектов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Руководители строительных проектов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&gt;50% проектов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не сдаются в срок,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превышают бюджет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разбросаны по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BIM, 1С, Excel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подрядчики в разных системах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Руководитель получает информацию с задержкой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Цикл «проблема → причина → действие» не автоматизирован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сбор данных из 3–5 источников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Совещания для выяснения причин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Отчёты формируются постфактум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подрядчиков — вручную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Интеллектуальный помощник для управления стройкой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ERP, 1С, BIM-модели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Журналы работ и исполнительная документация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логистики, складов, поставщиков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Погодные данные и графики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 на обычном языке: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«Почему отстаёт фасад?»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сроков, этапов и подрядчиков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Сопоставление изменений со сметами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Выявление закономерностей и рисков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Сводки в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Telegram/почту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риски, отклонения, прогнозы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Ответы с данными и рекомендациями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секунды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разрешительной документации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журналов работ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AED6-B4D4-E501-B4ED-E2F7B95C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0F2D633B-0DB3-FCDB-9F1B-96D5E9BAC289}"/>
              </a:ext>
            </a:extLst>
          </p:cNvPr>
          <p:cNvSpPr/>
          <p:nvPr/>
        </p:nvSpPr>
        <p:spPr>
          <a:xfrm>
            <a:off x="154669" y="14438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https://7rlines.ru/ai_construction_support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5F3249DE-327D-3232-6D53-6C9D26F91EF2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D956CC-C8CC-7A8E-1269-ABCAF586B7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431"/>
          <a:stretch>
            <a:fillRect/>
          </a:stretch>
        </p:blipFill>
        <p:spPr>
          <a:xfrm>
            <a:off x="154669" y="601582"/>
            <a:ext cx="8624376" cy="410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385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 по нормативной документации и проверке проектов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Проектировщики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ПТО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Инженеры и юристы строительных компаний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Компании, проходящие экспертизу проектов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Строительные нормы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тысячи документов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СП, ГОСТ, СНиП, ФЗ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нужного пункта — десятки минут в PDF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Трактовка зависит от опыта специалиста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Ошибки обнаруживаются на экспертизе — возвраты стоят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недели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поиск по нормативным документам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соответствия — вручную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Согласование трактовок с коллегами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Возвраты из экспертизы на доработку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 по нормативной документации и проверке проектов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СП, СанПиН, ГОСТ, СНиП, федеральные законы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Проектная документация: ПЗ, чертежи, спецификации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Ведомости объёмов работ и сметы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Требования экспертизы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 по нормам: вопросы на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обычном языке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цитаты, пояснения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проектных файлов на соответствие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Формирование отчёта с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нарушениями и ссылками на СП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Автоматизированная мини-экспертиза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норм в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10–20 раз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быстрее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возвратов из экспертизы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Меньше ошибок из-за неверной трактовки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согласований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E8B4-7121-66AF-DE49-D72FE7EE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9EAE3D87-470A-7663-17C1-B5728401EBB0}"/>
              </a:ext>
            </a:extLst>
          </p:cNvPr>
          <p:cNvSpPr/>
          <p:nvPr/>
        </p:nvSpPr>
        <p:spPr>
          <a:xfrm>
            <a:off x="154669" y="14438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https://7rlines.ru/ai_npa_assistant</a:t>
            </a:r>
            <a:endParaRPr lang="en" b="1" dirty="0">
              <a:solidFill>
                <a:srgbClr val="FF0000"/>
              </a:solidFill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BE015717-8B13-26F7-6779-1BB9D556C7BB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AF5F1A-F897-0478-0A33-D1BC1756E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884"/>
          <a:stretch>
            <a:fillRect/>
          </a:stretch>
        </p:blipFill>
        <p:spPr>
          <a:xfrm>
            <a:off x="154668" y="601582"/>
            <a:ext cx="8624377" cy="405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40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 для управляющих компаний жилой недвижимости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Управляющие компании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жилой недвижимости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Девелоперы с собственными УК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ТСЖ и эксплуатирующие организации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Обращения поступают хаотично: звонки, мессенджеры, записки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единого учёта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Диспетчер вручную классифицирует каждое обращение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Дубликаты не распознаются: один лифт =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десятки заявок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прозрачности для жителей и аналитики для руководства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обращений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Назначение исполнителя по звонку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сроков в журнале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Руководство не видит проблемные дома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 для управляющих компаний жилой недвижимости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каналы: мессенджеры, звонки, сайт, виджет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 объектов: ЖК, дома, квартиры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Список исполнителей и специализаций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ГИС ЖКХ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 создаёт заявки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классифицирует, приоритизирует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Детекция дубликатов: 5 жалоб на лифт = 1 заявка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Голосовой ИИ-агент для звонков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с выводами на естественном языке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 одно обращение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теряется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быстрее в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2+ раза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Личный кабинет жителя: статус, оплата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Полная цифровизация УК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5–6 месяцев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5E43B4-8A67-63D6-587C-29778FACE686}"/>
              </a:ext>
            </a:extLst>
          </p:cNvPr>
          <p:cNvSpPr txBox="1"/>
          <p:nvPr/>
        </p:nvSpPr>
        <p:spPr>
          <a:xfrm>
            <a:off x="219456" y="149090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ru-RU" dirty="0" err="1">
                <a:solidFill>
                  <a:srgbClr val="FF0000"/>
                </a:solidFill>
              </a:rPr>
              <a:t>https</a:t>
            </a:r>
            <a:r>
              <a:rPr lang="ru-RU" dirty="0">
                <a:solidFill>
                  <a:srgbClr val="FF0000"/>
                </a:solidFill>
              </a:rPr>
              <a:t>://domovoy.ai.7rlines.com/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C0378A-C11C-4121-508F-C28EC9AAE4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593"/>
          <a:stretch>
            <a:fillRect/>
          </a:stretch>
        </p:blipFill>
        <p:spPr>
          <a:xfrm>
            <a:off x="219456" y="552290"/>
            <a:ext cx="8645144" cy="428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115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AI-платформа для инвестиций в недвижимость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Инвесторы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коммерческую недвижимость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Девелоперские и управляющие компании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Игроки с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поточной моделью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покупка → деление → продажа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Зависимость от риелторов: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фикс комиссия ~10%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сделку — миллионы $ потерь на объёме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 ручного труда в поиске и оценке объектов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Первичная оценка одного объекта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часы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производственного конвейера для масштабирования стратегии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поиск объектов через риелторов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локации и арендных ставок вручную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Финмодели в Excel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 на интуиции и опыте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AI-платформа для инвестиций в недвижимость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Montserrat" pitchFamily="34" charset="0"/>
              </a:rPr>
              <a:t>База </a:t>
            </a:r>
            <a:r>
              <a:rPr lang="en-US" sz="1000" dirty="0" err="1">
                <a:solidFill>
                  <a:srgbClr val="FF0000"/>
                </a:solidFill>
                <a:latin typeface="Montserrat" pitchFamily="34" charset="0"/>
              </a:rPr>
              <a:t>объектов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</a:rPr>
              <a:t> </a:t>
            </a:r>
            <a:r>
              <a:rPr lang="en-US" sz="1000" dirty="0" err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2–4 регионам/городам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Парсинг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5–10 ключевых источников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объявлений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по аренде и сделкам в районе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Геоданные: окружение, инфраструктура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Карта + список + карточка объекта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локации и аренды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Финмодель в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2–3 сценариях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«Кнопка решения» с объяснением рекомендации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Первичная оценка: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часы → минуты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доли «мусора» в выдаче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конверсии «в работу»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Экономия комиссии риелторов на объёме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2FE2-61E8-5F2E-82A7-62531AC0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1B5F06-F5D0-4D56-4877-7682798AF1FA}"/>
              </a:ext>
            </a:extLst>
          </p:cNvPr>
          <p:cNvSpPr txBox="1"/>
          <p:nvPr/>
        </p:nvSpPr>
        <p:spPr>
          <a:xfrm>
            <a:off x="219455" y="149090"/>
            <a:ext cx="701107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https://7rlines.ru/commercial_real_estate_analysis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1E14B780-E8A6-EC63-4864-3C3A48B6107F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11175A-7C9F-F137-4C02-AEE29FB3AB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338"/>
          <a:stretch>
            <a:fillRect/>
          </a:stretch>
        </p:blipFill>
        <p:spPr>
          <a:xfrm>
            <a:off x="219454" y="633842"/>
            <a:ext cx="8559591" cy="409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37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Ритейл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филиалов по KPI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 покупки и управление оттоком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Радар упущенного спроса в аптечной сети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783080" y="340156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1938528" y="3291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отзывов по товарам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филиалов по KPI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Торговые сети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филиальной структурой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Руководство и аналитики сети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Дистрибьюторы с региональной сетью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Руководство разбирает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отчёты по каждому филиалу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вручную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Аномалии по KPI ищут в Excel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Сложно сопоставлять динамику филиалов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автоматической приоритизации сигналов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аналитика отчётов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отклонений в таблицах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Запоздалая реакция на проблемы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Дисбаланс структуры продаж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филиалов по KPI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1С / ERP: выручка, маржа, оборачиваемость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Складские остатки и движения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Плановые KPI по филиалам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за 12+ месяцев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Автоматическое выявление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аномалий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по KPI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филиалов со средними по сети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Приоритизация управленческих сигналов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рекомендаций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замороженного оборотного капитала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 неликвида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Повышение маржи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Оперативное обнаружение проблемных точек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0AE7C0-6E02-12C3-79EC-700621039B1F}"/>
              </a:ext>
            </a:extLst>
          </p:cNvPr>
          <p:cNvSpPr txBox="1"/>
          <p:nvPr/>
        </p:nvSpPr>
        <p:spPr>
          <a:xfrm>
            <a:off x="248689" y="111730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ru-RU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https://7rlines.ru/rsvet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D84F70-9BFE-9437-CA6D-AC60924EB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07"/>
          <a:stretch>
            <a:fillRect/>
          </a:stretch>
        </p:blipFill>
        <p:spPr>
          <a:xfrm>
            <a:off x="248689" y="481062"/>
            <a:ext cx="8624377" cy="4286250"/>
          </a:xfrm>
          <a:prstGeom prst="rect">
            <a:avLst/>
          </a:prstGeom>
        </p:spPr>
      </p:pic>
      <p:sp>
        <p:nvSpPr>
          <p:cNvPr id="6" name="Text 23">
            <a:extLst>
              <a:ext uri="{FF2B5EF4-FFF2-40B4-BE49-F238E27FC236}">
                <a16:creationId xmlns:a16="http://schemas.microsoft.com/office/drawing/2014/main" id="{E4EA0D6C-0D1B-D0B2-A588-6644B6DE8EA4}"/>
              </a:ext>
            </a:extLst>
          </p:cNvPr>
          <p:cNvSpPr/>
          <p:nvPr/>
        </p:nvSpPr>
        <p:spPr>
          <a:xfrm>
            <a:off x="248689" y="4833890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315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 покупки и управление оттоком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Зоомагазины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сети товаров для животных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Маркетинг и программы лояльности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Категорийные менеджеры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Повторная покупка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управляется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Скидки выдаются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всем одинаково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единой логики по риску оттока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Промо работают усреднённо по сети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Одинаковые акции для всех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персонального прогноза покупки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без оценки окупаемости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Потеря клиентов замечается постфактум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 покупки и управление оттоком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Чеки и история покупок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Категории: корм, наполнитель, препараты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Частота и объём по клиенту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об акциях и бонусах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 следующей покупки: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категория, дата, объём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риска оттока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ИИ-управление глубиной скидки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окупаемости каждого промо-рубля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Повторные покупки: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+15%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Лишние скидки: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–30%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Окупаемость бонусов: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+20%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8–10 недель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33A17-F9B0-3981-A3FF-1C535ABC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31C25DC8-F87A-17DE-B833-A29B672B7334}"/>
              </a:ext>
            </a:extLst>
          </p:cNvPr>
          <p:cNvSpPr/>
          <p:nvPr/>
        </p:nvSpPr>
        <p:spPr>
          <a:xfrm>
            <a:off x="154669" y="13479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https://7rlines.ru/churn_forecast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79FF149C-FDFA-734F-34E8-F5E9FFC16BA9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E8D4D1-216E-1187-1708-7877475F76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455"/>
          <a:stretch>
            <a:fillRect/>
          </a:stretch>
        </p:blipFill>
        <p:spPr>
          <a:xfrm>
            <a:off x="154668" y="591998"/>
            <a:ext cx="8624377" cy="411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19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Радар упущенного спроса в аптечной сети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Аптечные сети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от 100 точек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Категорийные менеджеры и закупки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Операционные директора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 выручки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теряется «тихо»: не нашли, не предложили замену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Дефицит фармацевтов: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–12% за 3 года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E-com растёт на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+35%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ежегодно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Ручное управление матрицей по сотням точек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Матрица управляется «по инерции»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обнаружения упущенного спроса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Ассортимент не персонализирован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Новички без экспертной поддержки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Радар упущенного спроса в аптечной сети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Отказы на кассе, нулевые поиски, отмены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Складские остатки по точкам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Обращения покупателей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Кросс-анализ: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SKU × аптека × период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Ранжирование «где теряем деньги»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Готовые действия: дозаказ, перемещение, замена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Персонализация матрицы по точке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выручки: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+15%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отказов: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–40%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доступности: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+25%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Окупаемость: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3–6 месяцев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3D1300-7325-AD0C-3F9C-E0532DA6278B}"/>
              </a:ext>
            </a:extLst>
          </p:cNvPr>
          <p:cNvSpPr txBox="1"/>
          <p:nvPr/>
        </p:nvSpPr>
        <p:spPr>
          <a:xfrm>
            <a:off x="154669" y="188375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ru-RU" dirty="0" err="1">
                <a:solidFill>
                  <a:srgbClr val="FF0000"/>
                </a:solidFill>
              </a:rPr>
              <a:t>https</a:t>
            </a:r>
            <a:r>
              <a:rPr lang="ru-RU" dirty="0">
                <a:solidFill>
                  <a:srgbClr val="FF0000"/>
                </a:solidFill>
              </a:rPr>
              <a:t>://7rlines.ru/</a:t>
            </a:r>
            <a:r>
              <a:rPr lang="ru-RU" dirty="0" err="1">
                <a:solidFill>
                  <a:srgbClr val="FF0000"/>
                </a:solidFill>
              </a:rPr>
              <a:t>farma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6571E467-9D9D-12B2-95EC-E297EC4E230F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4DD5FE-4F97-E790-B1B9-C58B89EE1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27"/>
          <a:stretch>
            <a:fillRect/>
          </a:stretch>
        </p:blipFill>
        <p:spPr>
          <a:xfrm>
            <a:off x="154669" y="643467"/>
            <a:ext cx="8624376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846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отзывов по товарам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Бренды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продажами на маркетплейсах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Продуктовые и маркетинговые команды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ассортиментом от 50 SKU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Отзывы копятся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тысячами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ручной разбор невозможен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Негативные тренды замечаются, когда рейтинг просел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связи между отзывами и действиями по продукту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Ответы на отзывы — вручную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мониторинг площадок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Разбор отзывов в Excel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категоризации по темам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Реакция на проблемы с опозданием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отзывов по товарам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Отзывы с маркетплейсов и собственных каналов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о продажах и рейтингах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по продуктам и SKU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конкурентов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Автоматический сбор и анализ: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 × площадка × период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Выявление трендов и аномалий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ответов на отзывы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Приоритизация: какой продукт требует внимания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Раннее обнаружение проблем с продуктом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Экономия времени на ответах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Связь отзывов с действиями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Дашборд с приоритизацией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1FA86A-9AC6-1962-2484-B6A68F79F2DA}"/>
              </a:ext>
            </a:extLst>
          </p:cNvPr>
          <p:cNvSpPr txBox="1"/>
          <p:nvPr/>
        </p:nvSpPr>
        <p:spPr>
          <a:xfrm>
            <a:off x="201167" y="106254"/>
            <a:ext cx="572066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https://market-review.ai.7rlines.com/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1A74ED1C-4F50-95EF-BFEC-003FEF70A538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54532C-9E06-7531-B11F-4DEF901DE6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965"/>
          <a:stretch>
            <a:fillRect/>
          </a:stretch>
        </p:blipFill>
        <p:spPr>
          <a:xfrm>
            <a:off x="201168" y="566928"/>
            <a:ext cx="8577878" cy="414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278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Нефтегаз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32735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отчётности по выбросам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Антикризисная платформа для независимых АЗС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цен конкурентов на АЗС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783080" y="340156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1938528" y="218541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для биржевой торговли нефтепродуктами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Антикризисная платформа для независимых АЗС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Независимые сети АЗС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топливные трейдеры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Финансовые и операционные директора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маржой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менее 5%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Отрицательная маржа на отдельных видах топлива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Рентабельность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0,5%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против 5+ ₽/л у ВИНК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Лимиты продаж и регуляторные ограничения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Убытки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недели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при запоздалой реакции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Реактивное управление кризисом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мониторинг цен и маржи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Запоздалые решения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сценарного планирования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Антикризисная платформа для независимых АЗС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Оптовые и розничные цены на топливо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о продажах и маржинальности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Регуляторные ограничения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индикаторы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Раннее выявление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кризисных сценариев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Моделирование влияния на маржинальность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Рекомендации по ценообразованию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Сценарный анализ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Предупреждение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дни, не недели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 убытков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Сценарное планирование для руководства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Обоснованные решения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10DB4A-FA72-EC85-1F11-2027B1D985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604"/>
          <a:stretch>
            <a:fillRect/>
          </a:stretch>
        </p:blipFill>
        <p:spPr>
          <a:xfrm>
            <a:off x="154669" y="616003"/>
            <a:ext cx="8594642" cy="4181875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32E57E2C-2B73-2FA2-C842-D01C8989BF83}"/>
              </a:ext>
            </a:extLst>
          </p:cNvPr>
          <p:cNvSpPr/>
          <p:nvPr/>
        </p:nvSpPr>
        <p:spPr>
          <a:xfrm>
            <a:off x="184404" y="15880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https://7rlines.ru/</a:t>
            </a:r>
            <a:r>
              <a:rPr lang="en-US" sz="2000" b="1" dirty="0" err="1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ast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2947A68C-5A0B-C180-70FD-BD3573B111EC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756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цен конкурентов на АЗС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Независимые сети АЗС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Ценовые аналитики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Топливные компании с маржой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5–10%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— главный фактор выбора АЗС для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большинства клиентов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1 ₽ ошибки = прямая потеря при марже 5–10%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Независимые сети уязвимы к колебаниям ВИНК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Информация с ручного объезда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устаревает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объезд конкурентных АЗС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без привязки к геолокации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автоматического алертинга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 на устаревших данных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цен конкурентов на АЗС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Открытые данные о ценах на АЗС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Геоданные: расположение, зоны покрытия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Собственные цены и маржа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Исторические данные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Автоматический сбор цен по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зонам покрытия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Алертинг при изменениях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ценовых стратегий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Рекомендации по оптимальной цене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в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реальном времени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Оптимизация маржи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Быстрая реакция на ценовые войны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потерь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C281E-3391-09C0-5B4D-C5B3159A7BAA}"/>
              </a:ext>
            </a:extLst>
          </p:cNvPr>
          <p:cNvSpPr txBox="1"/>
          <p:nvPr/>
        </p:nvSpPr>
        <p:spPr>
          <a:xfrm>
            <a:off x="154669" y="203953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ru-RU" dirty="0" err="1">
                <a:solidFill>
                  <a:srgbClr val="FF0000"/>
                </a:solidFill>
              </a:rPr>
              <a:t>https</a:t>
            </a:r>
            <a:r>
              <a:rPr lang="ru-RU" dirty="0">
                <a:solidFill>
                  <a:srgbClr val="FF0000"/>
                </a:solidFill>
              </a:rPr>
              <a:t>://7rlines.ru/</a:t>
            </a:r>
            <a:r>
              <a:rPr lang="ru-RU" dirty="0" err="1">
                <a:solidFill>
                  <a:srgbClr val="FF0000"/>
                </a:solidFill>
              </a:rPr>
              <a:t>pmt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BCEB0A-B5A1-97BF-1CD6-F32DBB95D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69" y="573285"/>
            <a:ext cx="8624376" cy="4241031"/>
          </a:xfrm>
          <a:prstGeom prst="rect">
            <a:avLst/>
          </a:prstGeom>
        </p:spPr>
      </p:pic>
      <p:sp>
        <p:nvSpPr>
          <p:cNvPr id="2" name="Text 23">
            <a:extLst>
              <a:ext uri="{FF2B5EF4-FFF2-40B4-BE49-F238E27FC236}">
                <a16:creationId xmlns:a16="http://schemas.microsoft.com/office/drawing/2014/main" id="{831D6EC7-071A-C917-9C97-2E52F8D2FF4C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6E70D-D9C1-0966-A252-D2A8C3E63EE5}"/>
              </a:ext>
            </a:extLst>
          </p:cNvPr>
          <p:cNvSpPr txBox="1"/>
          <p:nvPr/>
        </p:nvSpPr>
        <p:spPr>
          <a:xfrm>
            <a:off x="212556" y="627854"/>
            <a:ext cx="270044" cy="200055"/>
          </a:xfrm>
          <a:prstGeom prst="rect">
            <a:avLst/>
          </a:prstGeom>
          <a:solidFill>
            <a:srgbClr val="FF7641"/>
          </a:solidFill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AI</a:t>
            </a:r>
            <a:endParaRPr lang="ru-RU" sz="7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1CA9E-5FE3-6F54-74C0-F80B695DA6F9}"/>
              </a:ext>
            </a:extLst>
          </p:cNvPr>
          <p:cNvSpPr txBox="1"/>
          <p:nvPr/>
        </p:nvSpPr>
        <p:spPr>
          <a:xfrm>
            <a:off x="482600" y="637849"/>
            <a:ext cx="1473200" cy="200055"/>
          </a:xfrm>
          <a:prstGeom prst="rect">
            <a:avLst/>
          </a:prstGeom>
          <a:solidFill>
            <a:srgbClr val="0B0A0F"/>
          </a:solidFill>
        </p:spPr>
        <p:txBody>
          <a:bodyPr wrap="square" rtlCol="0">
            <a:spAutoFit/>
          </a:bodyPr>
          <a:lstStyle/>
          <a:p>
            <a:r>
              <a:rPr lang="ru-RU" sz="700" dirty="0">
                <a:solidFill>
                  <a:schemeClr val="bg1"/>
                </a:solidFill>
              </a:rPr>
              <a:t>Мониторинг цен конкурентов</a:t>
            </a:r>
          </a:p>
        </p:txBody>
      </p:sp>
    </p:spTree>
    <p:extLst>
      <p:ext uri="{BB962C8B-B14F-4D97-AF65-F5344CB8AC3E}">
        <p14:creationId xmlns:p14="http://schemas.microsoft.com/office/powerpoint/2010/main" val="16996860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для биржевой торговли нефтепродуктами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Нефтетрейдеры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топливные компании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Трейдеры на товарно-сырьевых биржах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объёмом закупок от 50 тыс. тонн/год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Трейдер следит за стаканом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вручную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при десятках поставщиков отследить все лоты невозможно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Выгодная котировка живёт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1–2 секунды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трейдеру нужно 5–7 на заявку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аналитической надстройки: решения на интуиции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анализа арбитражных возможностей биржа/внебиржа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мониторинг биржевого стакана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 на основе опыта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прогнозирования цен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сравнения биржа vs контракты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для биржевой торговли нефтепродуктами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Биржевые данные (API платформ)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Внебиржевые котировки и прямые контракты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Курс рубля, цена Urals, загрузка НПЗ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Логистические данные: тарифы ЖД/авто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ML-прогноз цен на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1–4 недели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Рекомендации «купить / подождать / продать» с обоснованием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Арбитражные алерты: биржа vs контракты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Логистический калькулятор: цена + доставка = себестоимость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Режим «советник»: система рекомендует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трейдер решает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упущенных сделок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Оптимизация средней цены закупки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 аналитического модуля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3–4 месяца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E55F3-C495-E1B0-582B-5DDDB0713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6DB59E-8F15-4AE1-7F76-54EE275751F7}"/>
              </a:ext>
            </a:extLst>
          </p:cNvPr>
          <p:cNvSpPr txBox="1"/>
          <p:nvPr/>
        </p:nvSpPr>
        <p:spPr>
          <a:xfrm>
            <a:off x="154669" y="203953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https://7rlines.ru/oil_traiding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34D0221F-DC6D-0AFD-E171-CA056670F9C7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69C390-EF54-0257-C5EF-D1CBFF4EB0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961"/>
          <a:stretch>
            <a:fillRect/>
          </a:stretch>
        </p:blipFill>
        <p:spPr>
          <a:xfrm>
            <a:off x="154669" y="654628"/>
            <a:ext cx="8624376" cy="41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508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отчётности по выбросам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Нефтегазовые компании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экспортом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Экологические и ESG-подразделения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под регуляторным давлением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Ужесточение требований к отчётности по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выбросам метана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подготовка отчётов в Excel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Разрозненные источники, нет прослеживаемости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Задержки грозят потерей доступа к рынкам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сбор данных с объектов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Расчёты без версионного контроля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Длительный цикл согласования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аудиторского следа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371624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отчётности по выбросам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SCADA, IoT — данные с объектов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Исторические отчёты и расчёты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Нормативная база (ЕС и РФ)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Метеорологические данные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Автоматический сбор и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валидация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данных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 по стандартизированным методикам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отчётов с аудиторским следом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с нормативами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подготовки отчётов в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разы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аудиторский след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регуляторных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рисков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Сохранение экспортного доступа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18194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A7C06A-12FC-4353-9C8F-BC2B711986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798"/>
          <a:stretch>
            <a:fillRect/>
          </a:stretch>
        </p:blipFill>
        <p:spPr>
          <a:xfrm>
            <a:off x="154668" y="592997"/>
            <a:ext cx="8624377" cy="41314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7E684-3EBC-B8C1-0868-E87766B6AFE9}"/>
              </a:ext>
            </a:extLst>
          </p:cNvPr>
          <p:cNvSpPr txBox="1"/>
          <p:nvPr/>
        </p:nvSpPr>
        <p:spPr>
          <a:xfrm>
            <a:off x="154669" y="0"/>
            <a:ext cx="6830822" cy="707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https://emission.ai.7rlines.com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A8F645B1-0E83-3BB4-A33F-ADB9EEA3024D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1926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Транспорт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мобильными ресурсами с ИИ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Автоизмерение габаритов и компоновка грузов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Оперативная поддержка водителей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мобильными ресурсами с ИИ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Энергетические и коммунальные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компании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Логистические компании с полевыми бригадами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Флот от 50 единиц техники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Сложно понять, кто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ближе и свободен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единой картины по исполнению работ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Простои, холостые пробеги, лишние выезды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Разрыв между диспетчеризацией и отчётностью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Звонки, мессенджеры, Excel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Смешанный контур: свои + подрядчики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доказательного контроля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не превращаются в действие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мобильными ресурсами с ИИ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GPS/ГЛОНАСС трекинг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Заявки и наряды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об объектах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 и графики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модулей: мониторинг, диспетчеризация, контроль,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ИИ-аналитика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Оптимизация маршрутов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SLA и фиксация факта работ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Предиктивная аналитика загрузки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24/7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едином интерфейсе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холостых пробегов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Доказательный контроль подрядчиков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 времени реакции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21331-0AED-1B2B-BCFE-0B6BF93E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3">
            <a:extLst>
              <a:ext uri="{FF2B5EF4-FFF2-40B4-BE49-F238E27FC236}">
                <a16:creationId xmlns:a16="http://schemas.microsoft.com/office/drawing/2014/main" id="{15872F12-53D7-0A43-569A-A20B1486F1A2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4D825C-0ED0-BB93-683B-4A99FCFE5A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4" b="7091"/>
          <a:stretch>
            <a:fillRect/>
          </a:stretch>
        </p:blipFill>
        <p:spPr>
          <a:xfrm>
            <a:off x="154669" y="308603"/>
            <a:ext cx="8624377" cy="444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362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Автоизмерение габаритов и компоновка грузов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Логистические компании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складские операторы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Службы доставки и курьерские сети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Объём от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 посылок/день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Ручное измерение: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20–40 секунд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посылку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5–8% ошибок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при ручном вводе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 потерь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объёма при компоновке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Масштабирование = рост штата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 измеряет вручную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ввод в WMS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Компоновка на глаз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Споры из-за расхождений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Автоизмерение габаритов и компоновка грузов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Камеры и 3D-сенсоры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WMS: заказы и отправки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Параметры контейнеров и ТС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Тарифы по весу/объёму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CV-модуль: точность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±1–2 см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≥95%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2–3 секунды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3D-Tetris: оптимизация компоновки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Рекомендации оператору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в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раз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затрат на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 рейсов на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15–25%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Автозапись в WMS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368C14-CAEC-EE57-8B97-7593FFB3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100"/>
          <a:stretch>
            <a:fillRect/>
          </a:stretch>
        </p:blipFill>
        <p:spPr>
          <a:xfrm>
            <a:off x="154669" y="577850"/>
            <a:ext cx="8624376" cy="4138084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85F0862C-6A9B-01E9-E76A-A0AFBF072C71}"/>
              </a:ext>
            </a:extLst>
          </p:cNvPr>
          <p:cNvSpPr/>
          <p:nvPr/>
        </p:nvSpPr>
        <p:spPr>
          <a:xfrm>
            <a:off x="154669" y="12065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https://7rlines.ru/parcel_size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8B2BBA5C-F0C9-6DB8-1B72-B0307533D338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4695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Оперативная поддержка водителей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арендным автопарком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Логистические операторы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высокой текучкой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водителей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Водители задают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одни и те же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вопросы: аренда, штрафы, поломки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Диспетчеры перегружены рутиной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Время ответа критично в дорожных ситуациях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Новые водители не знают правил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Мессенджеры и звонки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Диспетчер отвечает вручную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базы знаний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с нуля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Оперативная поддержка водителей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Регламенты: аренда, штрафы, порядок действий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 знаний: графики, документы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запросов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о сервисных точках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ИИ-агент для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мгновенных ответов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24/7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Классификация и маршрутизация запросов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инструкций по ситуации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Накопление базы знаний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Разгрузка диспетчеров от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рутины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Мгновенные ответы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24/7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Единая база знаний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Ускорение адаптации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2B558E-7852-181A-10B1-53071DB4EE21}"/>
              </a:ext>
            </a:extLst>
          </p:cNvPr>
          <p:cNvSpPr txBox="1"/>
          <p:nvPr/>
        </p:nvSpPr>
        <p:spPr>
          <a:xfrm>
            <a:off x="146304" y="103370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https://7rlines.ru/ai_drive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257A3F-EC4A-EC76-3864-B620DF02F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534096"/>
            <a:ext cx="8632742" cy="4218825"/>
          </a:xfrm>
          <a:prstGeom prst="rect">
            <a:avLst/>
          </a:prstGeom>
        </p:spPr>
      </p:pic>
      <p:sp>
        <p:nvSpPr>
          <p:cNvPr id="2" name="Text 23">
            <a:extLst>
              <a:ext uri="{FF2B5EF4-FFF2-40B4-BE49-F238E27FC236}">
                <a16:creationId xmlns:a16="http://schemas.microsoft.com/office/drawing/2014/main" id="{B2751D72-7FE4-522E-8D12-946F15E86AF8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3846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Металлургия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надёжности контрагентов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Удержание ключевых клиентов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Советник по коммуникациям с клиентами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надёжности контрагентов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Металлоторговые компании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Отделы закупок и безопасности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риском </a:t>
            </a:r>
            <a:r>
              <a:rPr lang="en-US" sz="9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фирм-однодневок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Фирмы-однодневки: неоплата, брак, блокировки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30–120 минут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контрагента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Десятки источников: ЕГРЮЛ, ФНС, арбитражи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Прямые убытки и кассовые разрывы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по каждому реестру отдельно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единого скоринга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мониторинга изменений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Неполные данные для решений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надёжности контрагентов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ЕГРЮЛ, ФНС, арбитражи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Реестры массовых адресов и директоров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Исполнительные производства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Пресса и отраслевые базы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агрегация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из всех источников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Скоринг: однодневки, связанные лица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Выявление массовых адресов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Непрерывный мониторинг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минуты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вместо часов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скоринг с расшифровкой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рисков мошенничества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Алертинг при изменениях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EC8CE-8D41-E665-07C7-E6E025CE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C2621D-81E2-B584-6E8E-A17FF3AD6DA7}"/>
              </a:ext>
            </a:extLst>
          </p:cNvPr>
          <p:cNvSpPr txBox="1"/>
          <p:nvPr/>
        </p:nvSpPr>
        <p:spPr>
          <a:xfrm>
            <a:off x="146303" y="103370"/>
            <a:ext cx="540976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https://7rlines.ru/counterparty_check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D2E4FEA1-59BE-5916-8967-6F4637CE85BA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98AB4D-61C7-0A3D-40FF-3FF61FC146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624"/>
          <a:stretch>
            <a:fillRect/>
          </a:stretch>
        </p:blipFill>
        <p:spPr>
          <a:xfrm>
            <a:off x="154669" y="563951"/>
            <a:ext cx="8624376" cy="418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3436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Удержание ключевых клиентов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Крупные производители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комбинаты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Коммерческие директора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B2B с высоким </a:t>
            </a:r>
            <a:r>
              <a:rPr lang="en-US" sz="9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LTV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клиента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Отток ключевого клиента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потеря миллионов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Сигналы оттока не систематизированы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Реактивное управление: узнаём после факта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скоринга риска по базе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Реакция на жалобы, а не предупреждение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в Excel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шаблонов удержания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Зависимость от менеджера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Удержание ключевых клиентов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CRM/ERP: объёмы, частота, номенклатура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Рекламации и качество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коммуникаций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риска оттока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по клиенту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Ранние сигналы: объёмы, номенклатура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рекомендаций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Стандартизированные шаблоны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Предупреждение за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недели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оттока ключевых клиентов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конвейер удержания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недели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5C19-8B5B-BF6D-6038-D33E13B3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D0449D-87DE-9352-5575-3C1C66668E63}"/>
              </a:ext>
            </a:extLst>
          </p:cNvPr>
          <p:cNvSpPr txBox="1"/>
          <p:nvPr/>
        </p:nvSpPr>
        <p:spPr>
          <a:xfrm>
            <a:off x="146304" y="103370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https://7rlines.ru/retention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10761EBF-2B9C-99BB-D99E-246937F95F91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CE6845-21E9-67AF-45F8-5AEEC74DD4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879"/>
          <a:stretch>
            <a:fillRect/>
          </a:stretch>
        </p:blipFill>
        <p:spPr>
          <a:xfrm>
            <a:off x="154670" y="493031"/>
            <a:ext cx="8624376" cy="430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193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Советник по коммуникациям с клиентами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Отделы продаж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B2B-компаний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Менеджеры по работе с ключевыми клиентами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портфелем от 20 клиентов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~30 минут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анализ перед контактом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смене менеджера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теряется контекст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Коммуникации одинаковы для всех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анализа истории взаимодействий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к встрече вручную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Знания в головах сотрудников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рекомендательной системы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 на интуиции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Советник по коммуникациям с клиентами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CRM: заказы, рекламации, контакты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коммуникаций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Активность конкурентов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истории и генерация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рекомендации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Следующее лучшее действие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Персонализация по клиенту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Сохранение контекста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Персонализация для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20–30 клиентов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Сохранение контекста при смене менеджера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 на данных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недели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5F0B-764B-3FB8-3C57-EB260AB5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62115A-BBD8-847C-BAE3-7060CC010A8A}"/>
              </a:ext>
            </a:extLst>
          </p:cNvPr>
          <p:cNvSpPr txBox="1"/>
          <p:nvPr/>
        </p:nvSpPr>
        <p:spPr>
          <a:xfrm>
            <a:off x="146304" y="103370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</a:rPr>
              <a:t>https://advisor.ai.7rlines.com/</a:t>
            </a: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E7476649-8288-B864-610D-37E0E9F7EB0F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56B279-466F-7A7A-D224-3CEEDC1A65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79"/>
          <a:stretch>
            <a:fillRect/>
          </a:stretch>
        </p:blipFill>
        <p:spPr>
          <a:xfrm>
            <a:off x="154670" y="513188"/>
            <a:ext cx="8624376" cy="42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809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Продажи на маркетплейсах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наценки и управление ценами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и адаптация к акциям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 закупочных решений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наценки и управление ценами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Продавцы на маркетплейсах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(WB, Ozon)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ассортиментом от 50 SKU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Селлеры с </a:t>
            </a:r>
            <a:r>
              <a:rPr lang="en-US" sz="9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несколькими моделями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продаж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закупочной стоимости в интерфейсах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изменение комиссии ломает экономику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Маркетплейсы повышают комиссии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несколько раз в год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Принудительные акции снижают маржу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Продавцы работают в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Ручное управление ценами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 маржи вручную по SKU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Запоздалая реакция на комиссии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алертинга при убытках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наценки и управление ценами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маркетплейсов: комиссии, тарифы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Закупочная стоимость из учётной системы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модели продаж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изменений тарифов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 маржи по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каждому SKU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тарифов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Алертинг при снижении маржи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Рекомендации по цене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&gt;95%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недели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50–100 товаров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Реакция на смену комиссий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15 минут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Прозрачная юнит-экономика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9B11BE-26D8-0C3B-E77F-182E85C0C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79"/>
          <a:stretch>
            <a:fillRect/>
          </a:stretch>
        </p:blipFill>
        <p:spPr>
          <a:xfrm>
            <a:off x="154669" y="563952"/>
            <a:ext cx="8624377" cy="4160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42E326-22F4-B207-E4F1-8B2F99A2C28D}"/>
              </a:ext>
            </a:extLst>
          </p:cNvPr>
          <p:cNvSpPr txBox="1"/>
          <p:nvPr/>
        </p:nvSpPr>
        <p:spPr>
          <a:xfrm>
            <a:off x="154669" y="76199"/>
            <a:ext cx="4572000" cy="487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ru-RU" dirty="0" err="1">
                <a:solidFill>
                  <a:srgbClr val="FF0000"/>
                </a:solidFill>
              </a:rPr>
              <a:t>https</a:t>
            </a:r>
            <a:r>
              <a:rPr lang="ru-RU" dirty="0">
                <a:solidFill>
                  <a:srgbClr val="FF0000"/>
                </a:solidFill>
              </a:rPr>
              <a:t>://7rlines.ru/</a:t>
            </a:r>
            <a:r>
              <a:rPr lang="ru-RU" dirty="0" err="1">
                <a:solidFill>
                  <a:srgbClr val="FF0000"/>
                </a:solidFill>
              </a:rPr>
              <a:t>tsenovoy_strazh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6D4372D5-DEE2-5207-BBFB-1D0FC016958C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3685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и адаптация к акциям маркетплейсов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Средние и крупные селлеры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Менеджеры по работе с площадками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ассортиментом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1000+ SKU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Принудительное включение в акции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системная проблема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Автоскидки на залежавшиеся товары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Отказ от акции → понижение в поиске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Продавец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теряет контроль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над ценой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Узнают об акции постфактум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моделирования влияния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 участвовать — вслепую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защиты от ухода в минус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и адаптация к акциям маркетплейсов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Календарь акций площадок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Текущие условия и изменения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Себестоимость и маржа по SKU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Исторические данные по акциям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Отслеживание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грядущих акций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Моделирование влияния на маржу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Рекомендации: участвовать / пропустить / скорректировать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от убыточных участий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Проактивное управление акциями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маржи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Осознанные решения по каждому SKU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потерь от принудительных скидок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CBB4-1A4F-1011-219E-3CAABA3CF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1738BE-2E31-29FF-4AB7-EC799ACE9E4E}"/>
              </a:ext>
            </a:extLst>
          </p:cNvPr>
          <p:cNvSpPr txBox="1"/>
          <p:nvPr/>
        </p:nvSpPr>
        <p:spPr>
          <a:xfrm>
            <a:off x="154668" y="76199"/>
            <a:ext cx="6516097" cy="487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https://7rlines.ru/marketplace_sales_monitoring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E1246028-3AF5-4E31-BF8B-FA04747F3A2B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D7D23C-C249-4760-29DE-EF142E3CDA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209"/>
          <a:stretch>
            <a:fillRect/>
          </a:stretch>
        </p:blipFill>
        <p:spPr>
          <a:xfrm>
            <a:off x="154668" y="563952"/>
            <a:ext cx="8624377" cy="41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109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 закупочных решений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Закупщики ликвидационных товаров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маркетплейсов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Селлеры с моделью перепродажи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потоком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20–80 предложений/день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оценку одного товара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более 60 минут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Максимум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позиций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день, остальные 70 без оценки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Прибыльные позиции уходят конкурентам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формализованных критериев закупки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поиск аналогов на площадках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продаж и конкуренции вручную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 на интуиции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системного скоринга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 закупочных решений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Фото и описание товара от закупщика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маркетплейсов: продажи, конкуренция, тренд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Ценовой коридор по категории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Исторические данные по решениям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определяет тип и категорию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фото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Сбор аналитики по маркетплейсам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«берём / думаем / пропускаем»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Расшифровка по ключевым метрикам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минут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вместо 60 на товар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Охват: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 товаров/день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вместо 10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через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Телеграм-бот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Формализованные критерии закупки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915EC-8BC9-DEB3-F205-CC395967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72FA02-B4AC-FA63-BDCD-EA87621EDA66}"/>
              </a:ext>
            </a:extLst>
          </p:cNvPr>
          <p:cNvSpPr txBox="1"/>
          <p:nvPr/>
        </p:nvSpPr>
        <p:spPr>
          <a:xfrm>
            <a:off x="154669" y="76199"/>
            <a:ext cx="4572000" cy="487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https://7rlines.ru/procurement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5B599D44-F6F3-9C3D-D854-8F5B8805B0A9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B8B50F-2440-D99E-0F95-C5757D0180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8" b="12772"/>
          <a:stretch>
            <a:fillRect/>
          </a:stretch>
        </p:blipFill>
        <p:spPr>
          <a:xfrm>
            <a:off x="154669" y="563952"/>
            <a:ext cx="8624376" cy="419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015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Закупки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и мониторинг тендеров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Автосборка заявки на тендер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контрагентов и аналитика win rate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и мониторинг тендеров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—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активные участники тендеров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Тендерные отделы от 2 специалистов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по 44-ФЗ, 223-ФЗ, коммерческие закупки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мониторинг площадок: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1–2 часа/день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без гарантии полноты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Документация одного тендера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2–4 часа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анализ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системной оценки соответствия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Упущенные тендеры из-за нехватки ресурсов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Ежедневный обход площадок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Ручное изучение ТЗ и требований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сопоставления с номенклатурой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уведомлений об изменениях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и мониторинг тендеров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Площадки: Контур.Закупки, Seldon и др.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Документация закупок: ТЗ, требования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Каталог номенклатуры компании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Параметры: ОКВЭД, регионы, бюджет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Автосбор по параметрам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ИИ-мэтчинг с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номенклатурой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соответствия каждого тендера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Уведомления при изменениях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Покрытие в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3–5 раз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выше ручного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24/7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 сопоставления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&gt;70%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4–6 недель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EF7AE5-E332-AC73-C00F-7EA1993E11D2}"/>
              </a:ext>
            </a:extLst>
          </p:cNvPr>
          <p:cNvSpPr txBox="1"/>
          <p:nvPr/>
        </p:nvSpPr>
        <p:spPr>
          <a:xfrm>
            <a:off x="173736" y="231386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ru-RU" dirty="0" err="1">
                <a:solidFill>
                  <a:srgbClr val="FF0000"/>
                </a:solidFill>
              </a:rPr>
              <a:t>https</a:t>
            </a:r>
            <a:r>
              <a:rPr lang="ru-RU" dirty="0">
                <a:solidFill>
                  <a:srgbClr val="FF0000"/>
                </a:solidFill>
              </a:rPr>
              <a:t>://tender.ai.7rlines.com/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3D8B4F-E461-E5FF-9EBE-121CCCBD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875"/>
          <a:stretch>
            <a:fillRect/>
          </a:stretch>
        </p:blipFill>
        <p:spPr>
          <a:xfrm>
            <a:off x="164202" y="660916"/>
            <a:ext cx="8605310" cy="4093202"/>
          </a:xfrm>
          <a:prstGeom prst="rect">
            <a:avLst/>
          </a:prstGeom>
        </p:spPr>
      </p:pic>
      <p:sp>
        <p:nvSpPr>
          <p:cNvPr id="2" name="Text 23">
            <a:extLst>
              <a:ext uri="{FF2B5EF4-FFF2-40B4-BE49-F238E27FC236}">
                <a16:creationId xmlns:a16="http://schemas.microsoft.com/office/drawing/2014/main" id="{E5104F1B-4438-DF57-5DA6-FE2E6A894EEA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60517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Автосборка заявки на тендер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Тендерные специалисты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с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5+ заявками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месяц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Организации с типовым пакетом документов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Комплектование пакета: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3–5 часов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заявку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 ошибок и пропущенных требований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Устаревшие документы в пакете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контроля комплектности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сбор документов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актуальности вручную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Заполнение форм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Согласование и подача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Автосборка заявки на тендер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Документация тендера: ТЗ, требования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Хранилище документов компании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Реестр контрактов для референсов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Шаблоны и формы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Парсинг документации, выявление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рисков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Автоподбор документов из хранилища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ИИ-генерация нестандартных форм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комплектности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Минуты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вместо часов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ошибок в пакете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актуальности документов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Автоподбор референсов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A471-08D9-69B5-0B6F-6F530744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F3969F-F8CB-7998-388E-6E1C88BA0253}"/>
              </a:ext>
            </a:extLst>
          </p:cNvPr>
          <p:cNvSpPr txBox="1"/>
          <p:nvPr/>
        </p:nvSpPr>
        <p:spPr>
          <a:xfrm>
            <a:off x="173736" y="231386"/>
            <a:ext cx="512064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https://7rlines.ru/tender_assembly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9853B412-6EA6-13DC-370C-5DE275689D9B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9B014D-29ED-9A01-A66A-309D4E0BCF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51"/>
          <a:stretch>
            <a:fillRect/>
          </a:stretch>
        </p:blipFill>
        <p:spPr>
          <a:xfrm>
            <a:off x="173736" y="764041"/>
            <a:ext cx="8605310" cy="392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3700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контрагентов и аналитика win rate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Руководители тендерных направлений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Владельцы бизнеса с </a:t>
            </a: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тендерными продажами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Аналитики закупок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контрагентов — вручную,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скоринга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аналитики: win rate, причины проигрышей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контроля загрузки специалистов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 без данных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по открытым реестрам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в Excel или отсутствует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воронки с контролем сроков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Причины проигрышей не фиксируются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контрагентов и аналитика win rate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ФНС, ФССП, арбитраж, РНП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Финотчётность контрагентов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Внутренние данные по тендерам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контрактов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контрагента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0–100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воронки: win rate, причины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Канбан с контролем сроков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Эффективность по ролям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по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открытым и внутренним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данным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Прозрачная аналитика win rate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сроков и загрузки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 из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модулей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FB87-96E4-76EE-6BE2-81BA6277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9A89C-A2DD-ED7F-262C-1A27C5961BBA}"/>
              </a:ext>
            </a:extLst>
          </p:cNvPr>
          <p:cNvSpPr txBox="1"/>
          <p:nvPr/>
        </p:nvSpPr>
        <p:spPr>
          <a:xfrm>
            <a:off x="173736" y="231386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https://7rlines.ru/winrate_scoring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C694C5E8-4CD4-8DB7-1B02-F334BD27E4B4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8E7DDD-F496-86CA-D3F8-7CDDAE8CAC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259"/>
          <a:stretch>
            <a:fillRect/>
          </a:stretch>
        </p:blipFill>
        <p:spPr>
          <a:xfrm>
            <a:off x="173735" y="706991"/>
            <a:ext cx="8624377" cy="397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8538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0" cy="48691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202311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16941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Образование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37360" y="1600200"/>
            <a:ext cx="1097280" cy="36576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7373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решения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23042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38528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типовых документов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83080" y="26700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938528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выпускников для допродажи ДПО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83080" y="303580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938528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Прогнозирование оттока платных студентов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типовых документов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Крупные университеты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Административный персонал и секретариаты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Управления делами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50–70%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рабочего времени — рутинная подготовка документов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20–60 минут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один типовой документ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15–20%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возвращаются на повторное согласование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Бюрократия блокирует развитие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поиск шаблонов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справок, приказов вручную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Многократные согласования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Знания не формализованы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типовых документов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Внутренние регламенты и нормативы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Шаблоны: справки, приказы, письма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Кадровые и учебные данные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согласований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ИИ-агент генерирует документы по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шаблонам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Контекстный поиск по нормативной базе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Автомаршрутизация на согласование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Накопление базы знаний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минуты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вместо часов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Повторные согласования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–50%+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Стандартизация документооборота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Высвобождение времени для развития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39FFF-026D-9C30-7C4C-530942057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39DA1C-E273-D16D-A4E5-461F30E608DE}"/>
              </a:ext>
            </a:extLst>
          </p:cNvPr>
          <p:cNvSpPr txBox="1"/>
          <p:nvPr/>
        </p:nvSpPr>
        <p:spPr>
          <a:xfrm>
            <a:off x="173736" y="231386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https://7rlines.ru/doc_generator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21EDEADB-BAAA-3EA6-4310-0AC14D4D3EAF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65C063-41B1-F9A1-83B3-DA89A72158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634"/>
          <a:stretch>
            <a:fillRect/>
          </a:stretch>
        </p:blipFill>
        <p:spPr>
          <a:xfrm>
            <a:off x="173736" y="733062"/>
            <a:ext cx="8605310" cy="387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7933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выпускников для допродажи ДПО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Вузы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базой выпускников от 100 тыс.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Подразделения ДПО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Маркетинг образовательных услуг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 выпускников с историей обучения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никак не используется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Рассылки массовые, конверсия низкая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сегментации по вероятности покупки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Потенциал допродаж не реализован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Массовые рассылки без таргетинга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анализа профилей выпускников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предиктивной модели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Низкий отклик на предложения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выпускников для допродажи ДПО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 выпускников: специальность, год, регион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обучения за 7+ лет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о карьерных траекториях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Тренды рынка труда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«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 покупающего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» по 15+ признакам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Предсказание вероятности повторного обучения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Персональные предложения через email и мессенджеры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Сегментация по потенциалу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Конверсия в ДПО: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+0,5–1%</a:t>
            </a: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от базы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1,5 млн выпускников —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7,5–15 тыс. доп. слушателей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Потенциал: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+225–750 млн руб./год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Персонализация вместо массовых рассылок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20CF-E987-80AE-FFD8-F3394904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DB773-BACD-7987-3243-AC33338DD1CB}"/>
              </a:ext>
            </a:extLst>
          </p:cNvPr>
          <p:cNvSpPr txBox="1"/>
          <p:nvPr/>
        </p:nvSpPr>
        <p:spPr>
          <a:xfrm>
            <a:off x="173736" y="231386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https://7rlines.ru/dpo_scoring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D458167D-7D02-6649-AF36-25350B2844CB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422C64-60B2-837B-4FC7-2CBB22E67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823"/>
          <a:stretch>
            <a:fillRect/>
          </a:stretch>
        </p:blipFill>
        <p:spPr>
          <a:xfrm>
            <a:off x="154669" y="658369"/>
            <a:ext cx="8624376" cy="40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0529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Прогнозирование оттока платных студентов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333333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2286000" cy="274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0080" y="20665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04672" y="16002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Вузы</a:t>
            </a: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платным обучением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Деканаты и учебные управления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07822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04672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Финансовые службы вузов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5486400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201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16367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3474720" y="150876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Каждое отчисление —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прямая потеря выручки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1965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474720" y="183794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Сигналы оттока не анализируются системно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474720" y="216712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посещаемости, задержки оплаты — замечаются поздно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37560" y="262432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474720" y="2496312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проактивных интервенций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00400" y="3099816"/>
            <a:ext cx="5486400" cy="1563624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3200400" y="3099816"/>
            <a:ext cx="548640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21411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66160" y="30998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процесс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337560" y="3687318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3474720" y="3602736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Отчисление — постфактум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37560" y="3929634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3474720" y="384505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мониторинга активности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337560" y="417195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3474720" y="4087368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скоринга риска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37560" y="4414266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3474720" y="4329684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Реакция после потери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Прогнозирование оттока платных студентов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Посещаемость (вкл. QR-коды)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3152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Оценки и активность в LMS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Задержки оплаты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3152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отчислений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712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8520" y="1868805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3535680" y="1527048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Предсказание оттока по </a:t>
            </a:r>
            <a:r>
              <a:rPr lang="en-US" sz="10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поведенческим сигналам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98520" y="2625471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3535680" y="2283714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Скоринг риска для каждого студента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98520" y="3382137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3535680" y="3040380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Проактивные уведомления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98520" y="4138803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3535680" y="3797046"/>
            <a:ext cx="223723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Интервенции для студентов в зоне риска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31280" y="100584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175248" y="1813941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1813941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1280" y="1527048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Снижение отчислений на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15–25%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75248" y="2570607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2570607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31280" y="2283714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50 тыс. платных — сохранение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375–625 студентов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75248" y="3327273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3327273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31280" y="3040380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Потенциал: </a:t>
            </a: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75–125 млн руб./год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75248" y="4083939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248" y="4083939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31280" y="3797046"/>
            <a:ext cx="2145792" cy="75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Проактивный подход вместо реактивного</a:t>
            </a:r>
            <a:endParaRPr lang="en-US" sz="10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A0A7-6A5C-2AEF-A5D9-5BEEDA95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8F9A00-0537-1077-463D-9BA38EA3D586}"/>
              </a:ext>
            </a:extLst>
          </p:cNvPr>
          <p:cNvSpPr txBox="1"/>
          <p:nvPr/>
        </p:nvSpPr>
        <p:spPr>
          <a:xfrm>
            <a:off x="173736" y="231386"/>
            <a:ext cx="45720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000" b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https://7rlines.ru/student_churn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B97D62DF-5589-3072-C8D1-959C305C8D85}"/>
              </a:ext>
            </a:extLst>
          </p:cNvPr>
          <p:cNvSpPr/>
          <p:nvPr/>
        </p:nvSpPr>
        <p:spPr>
          <a:xfrm>
            <a:off x="154669" y="4814316"/>
            <a:ext cx="8624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700" dirty="0">
                <a:latin typeface="Montserrat" pitchFamily="2" charset="0"/>
              </a:rPr>
              <a:t>Представленный слайд демонстрирует прототип решения, отражающий ключевую идею, логику работы и возможный пользовательский сценарий. Финальный продукт формируется с учетом целей и приоритетов бизнеса.</a:t>
            </a:r>
            <a:endParaRPr lang="en-US" sz="700" dirty="0"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28FB62-66DD-15FE-2DDA-AA3DB68640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857"/>
          <a:stretch>
            <a:fillRect/>
          </a:stretch>
        </p:blipFill>
        <p:spPr>
          <a:xfrm>
            <a:off x="173736" y="719123"/>
            <a:ext cx="8605310" cy="39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4139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572000" y="457200"/>
            <a:ext cx="0" cy="42291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Контакты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Готовы обсудить пилотный проект за 2–6 недель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 (495) 198-14-77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info@7rlines.com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7rlines.ru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119049, Москва, ул. Шаболовка, 23к3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0"/>
            <a:ext cx="420624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2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2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6603</Words>
  <Application>Microsoft Office PowerPoint</Application>
  <PresentationFormat>Экран (16:9)</PresentationFormat>
  <Paragraphs>1421</Paragraphs>
  <Slides>118</Slides>
  <Notes>83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118</vt:i4>
      </vt:variant>
    </vt:vector>
  </HeadingPairs>
  <TitlesOfParts>
    <vt:vector size="121" baseType="lpstr">
      <vt:lpstr>Arial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Кейсбук AI-решений</dc:title>
  <dc:subject>PptxGenJS Presentation</dc:subject>
  <dc:creator>7 Красных Линий</dc:creator>
  <cp:lastModifiedBy>a1227</cp:lastModifiedBy>
  <cp:revision>16</cp:revision>
  <dcterms:created xsi:type="dcterms:W3CDTF">2026-04-15T10:28:53Z</dcterms:created>
  <dcterms:modified xsi:type="dcterms:W3CDTF">2026-04-16T14:08:08Z</dcterms:modified>
</cp:coreProperties>
</file>