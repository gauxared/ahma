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  <p:sldMasterId id="2147483671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embeddedFontLst>
    <p:embeddedFont>
      <p:font typeface="Montserrat" panose="00000500000000000000" pitchFamily="2" charset="-52"/>
      <p:regular r:id="rId25"/>
      <p:bold r:id="rId26"/>
      <p:italic r:id="rId27"/>
      <p:boldItalic r:id="rId28"/>
    </p:embeddedFont>
    <p:embeddedFont>
      <p:font typeface="Poppins" panose="00000500000000000000" pitchFamily="2" charset="0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/Zflrpa2ln6RCjIRt4A3QSEZz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841E57-50D8-4EF4-80AA-25907EA59A97}">
  <a:tblStyle styleId="{48841E57-50D8-4EF4-80AA-25907EA59A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FADC92E-6070-4438-9C71-76DD1D6A98B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3fe6efce6_0_88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c3fe6efce6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3fe6efce6_0_1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c3fe6efce6_0_110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b51f55c2a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cb51f55c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bab004d0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cbab004d01_0_32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bab004d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cbab004d01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bab004d0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cbab004d01_0_6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bab004d0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303" y="428572"/>
            <a:ext cx="2057100" cy="115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cbab004d01_0_124:notes"/>
          <p:cNvSpPr txBox="1">
            <a:spLocks noGrp="1"/>
          </p:cNvSpPr>
          <p:nvPr>
            <p:ph type="body" idx="1"/>
          </p:nvPr>
        </p:nvSpPr>
        <p:spPr>
          <a:xfrm>
            <a:off x="257175" y="1650002"/>
            <a:ext cx="20574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357" name="Google Shape;357;g3cbab004d01_0_124:notes"/>
          <p:cNvSpPr txBox="1">
            <a:spLocks noGrp="1"/>
          </p:cNvSpPr>
          <p:nvPr>
            <p:ph type="sldNum" idx="12"/>
          </p:nvPr>
        </p:nvSpPr>
        <p:spPr>
          <a:xfrm>
            <a:off x="1456730" y="3256551"/>
            <a:ext cx="11145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1d6183c82_0_58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f1d6183c82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1d6183c82_0_60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f1d6183c82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1d6183c82_0_61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f1d6183c82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1d6183c82_0_63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3f1d6183c82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1d6183c82_0_64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3f1d6183c82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bab004d01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g3cbab004d01_0_24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3fe6efce6_0_1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g3c3fe6efce6_0_119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ver">
  <p:cSld name="1-Cov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c3fe6efce6_0_117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g3c3fe6efce6_0_117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g3c3fe6efce6_0_11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b51f55c2a_0_91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c3fe6efce6_0_12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c3fe6efce6_0_12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g3c3fe6efce6_0_12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1d6183c82_0_87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" name="Google Shape;20;g3f1d6183c82_0_87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1" name="Google Shape;21;g3f1d6183c82_0_87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bab004d01_0_2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" name="Google Shape;28;g3cbab004d01_0_2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g3cbab004d01_0_2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bab004d01_0_2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g3cbab004d01_0_2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bab004d01_0_2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cbab004d01_0_2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g3cbab004d01_0_2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bab004d01_0_2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cbab004d01_0_2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g3cbab004d01_0_27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g3cbab004d01_0_2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bab004d01_0_2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cbab004d01_0_2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bab004d01_0_28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g3cbab004d01_0_28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g3cbab004d01_0_2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bab004d01_0_28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1" name="Google Shape;51;g3cbab004d01_0_2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bab004d01_0_2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cbab004d01_0_28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g3cbab004d01_0_28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g3cbab004d01_0_28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cbab004d01_0_2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bab004d01_0_29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g3cbab004d01_0_2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bab004d01_0_29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g3cbab004d01_0_29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3cbab004d01_0_2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bab004d01_0_3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bab004d01_0_30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ver">
  <p:cSld name="1-Cov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1d6183c82_0_6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f1d6183c82_0_6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3f1d6183c82_0_6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d6183c82_0_67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f1d6183c82_0_67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g3f1d6183c82_0_6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f1d6183c82_0_6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3f1d6183c82_0_6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d6183c82_0_68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f1d6183c82_0_6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3f1d6183c82_0_6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f1d6183c82_0_6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3f1d6183c82_0_6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1d6183c82_0_68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3f1d6183c82_0_68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g3f1d6183c82_0_68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f1d6183c82_0_68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3f1d6183c82_0_68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1d6183c82_0_69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f1d6183c82_0_6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g3f1d6183c82_0_69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" name="Google Shape;104;g3f1d6183c82_0_69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f1d6183c82_0_69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f1d6183c82_0_69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1d6183c82_0_69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3f1d6183c82_0_69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g3f1d6183c82_0_69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1" name="Google Shape;111;g3f1d6183c82_0_69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2" name="Google Shape;112;g3f1d6183c82_0_69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3" name="Google Shape;113;g3f1d6183c82_0_6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f1d6183c82_0_6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f1d6183c82_0_6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d6183c82_0_70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f1d6183c82_0_7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f1d6183c82_0_7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f1d6183c82_0_7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1d6183c82_0_71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f1d6183c82_0_71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4" name="Google Shape;124;g3f1d6183c82_0_71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g3f1d6183c82_0_7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f1d6183c82_0_7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f1d6183c82_0_7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1d6183c82_0_7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f1d6183c82_0_7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g3f1d6183c82_0_7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2" name="Google Shape;132;g3f1d6183c82_0_7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f1d6183c82_0_7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f1d6183c82_0_7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1d6183c82_0_7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f1d6183c82_0_727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g3f1d6183c82_0_7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f1d6183c82_0_7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3f1d6183c82_0_7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1d6183c82_0_733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3f1d6183c82_0_733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g3f1d6183c82_0_7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f1d6183c82_0_7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3f1d6183c82_0_7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cbab004d01_0_2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g3cbab004d01_0_2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3cbab004d01_0_2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1d6183c82_0_6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g3f1d6183c82_0_6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g3f1d6183c82_0_6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g3f1d6183c82_0_6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g3f1d6183c82_0_6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jpg"/><Relationship Id="rId26" Type="http://schemas.openxmlformats.org/officeDocument/2006/relationships/image" Target="../media/image28.png"/><Relationship Id="rId3" Type="http://schemas.openxmlformats.org/officeDocument/2006/relationships/image" Target="../media/image5.jpg"/><Relationship Id="rId21" Type="http://schemas.openxmlformats.org/officeDocument/2006/relationships/image" Target="../media/image23.png"/><Relationship Id="rId7" Type="http://schemas.openxmlformats.org/officeDocument/2006/relationships/image" Target="../media/image9.jp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jp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7.jpg"/><Relationship Id="rId15" Type="http://schemas.openxmlformats.org/officeDocument/2006/relationships/image" Target="../media/image17.jp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jp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jpg"/><Relationship Id="rId9" Type="http://schemas.openxmlformats.org/officeDocument/2006/relationships/image" Target="../media/image11.png"/><Relationship Id="rId14" Type="http://schemas.openxmlformats.org/officeDocument/2006/relationships/image" Target="../media/image16.jpg"/><Relationship Id="rId22" Type="http://schemas.openxmlformats.org/officeDocument/2006/relationships/image" Target="../media/image24.jpg"/><Relationship Id="rId27" Type="http://schemas.openxmlformats.org/officeDocument/2006/relationships/image" Target="../media/image29.png"/><Relationship Id="rId30" Type="http://schemas.openxmlformats.org/officeDocument/2006/relationships/image" Target="../media/image3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pa-robin.ru/" TargetMode="External"/><Relationship Id="rId13" Type="http://schemas.openxmlformats.org/officeDocument/2006/relationships/hyperlink" Target="https://www.sferaplatform.ru/" TargetMode="External"/><Relationship Id="rId3" Type="http://schemas.openxmlformats.org/officeDocument/2006/relationships/hyperlink" Target="https://arenadata.tech/" TargetMode="External"/><Relationship Id="rId7" Type="http://schemas.openxmlformats.org/officeDocument/2006/relationships/hyperlink" Target="https://modusbi.ru/" TargetMode="External"/><Relationship Id="rId12" Type="http://schemas.openxmlformats.org/officeDocument/2006/relationships/hyperlink" Target="https://testit.softwar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ostgrespro.ru/" TargetMode="External"/><Relationship Id="rId11" Type="http://schemas.openxmlformats.org/officeDocument/2006/relationships/hyperlink" Target="https://teamstorm.io/" TargetMode="External"/><Relationship Id="rId5" Type="http://schemas.openxmlformats.org/officeDocument/2006/relationships/hyperlink" Target="https://pix.ru/" TargetMode="External"/><Relationship Id="rId10" Type="http://schemas.openxmlformats.org/officeDocument/2006/relationships/hyperlink" Target="https://elma365.com/ru/" TargetMode="External"/><Relationship Id="rId4" Type="http://schemas.openxmlformats.org/officeDocument/2006/relationships/hyperlink" Target="https://ru.visiology.su/" TargetMode="External"/><Relationship Id="rId9" Type="http://schemas.openxmlformats.org/officeDocument/2006/relationships/hyperlink" Target="https://1c.ru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7rlines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3fe6efce6_0_885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50268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автоматизацию с ИИ</a:t>
            </a:r>
            <a:endParaRPr sz="20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любой сложности</a:t>
            </a:r>
            <a:endParaRPr sz="2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Помогаем компаниям пройти практическую ИИ-трансформацию - от первых пилотов до масштабирования на ключевые процессы. Создаём реально работающие инструменты, встроенные в бизнес-процесс.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c3fe6efce6_0_885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g3c3fe6efce6_0_885"/>
          <p:cNvSpPr txBox="1"/>
          <p:nvPr/>
        </p:nvSpPr>
        <p:spPr>
          <a:xfrm>
            <a:off x="828675" y="4264975"/>
            <a:ext cx="3000000" cy="7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 14 77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info@7rlines.com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3c3fe6efce6_0_885"/>
          <p:cNvCxnSpPr/>
          <p:nvPr/>
        </p:nvCxnSpPr>
        <p:spPr>
          <a:xfrm>
            <a:off x="4150" y="35950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g3c3fe6efce6_0_885"/>
          <p:cNvCxnSpPr/>
          <p:nvPr/>
        </p:nvCxnSpPr>
        <p:spPr>
          <a:xfrm rot="10800000">
            <a:off x="6512475" y="-5450"/>
            <a:ext cx="0" cy="35916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g3c3fe6efce6_0_885"/>
          <p:cNvCxnSpPr/>
          <p:nvPr/>
        </p:nvCxnSpPr>
        <p:spPr>
          <a:xfrm rot="10800000">
            <a:off x="3968184" y="3598200"/>
            <a:ext cx="0" cy="15453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g3c3fe6efce6_0_885"/>
          <p:cNvSpPr/>
          <p:nvPr/>
        </p:nvSpPr>
        <p:spPr>
          <a:xfrm>
            <a:off x="3970406" y="3594997"/>
            <a:ext cx="5173500" cy="8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c3fe6efce6_0_885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c3fe6efce6_0_885"/>
          <p:cNvSpPr txBox="1"/>
          <p:nvPr/>
        </p:nvSpPr>
        <p:spPr>
          <a:xfrm>
            <a:off x="5057150" y="4176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3fe6efce6_0_1108"/>
          <p:cNvSpPr txBox="1"/>
          <p:nvPr/>
        </p:nvSpPr>
        <p:spPr>
          <a:xfrm>
            <a:off x="828675" y="1339150"/>
            <a:ext cx="3584700" cy="3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и управление данными 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хранилища данных, витрины, создаем BI-отчеты. Обеспечиваем визуализацию и управление данными.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языковыми моделями и агентами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ИИ платформы, создаем умные базы знаний, запускаем ИИ ассистентов и умные боты для поддержки или продаж.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 обучение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Создаем модели для предсказания поломок оборудования, классификации клиентских обращений или действий пользователей.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бизнес-процессов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Интегрируем роботизированные решения с вашими корпоративными информационными системами.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Техническая поддержка и сопровождение</a:t>
            </a:r>
            <a:b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Поддержка ИС, администрирование, мониторинг, устранение инцидентов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c3fe6efce6_0_110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500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c3fe6efce6_0_110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компетенции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g3c3fe6efce6_0_1108" title="mintsifry.png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7672336" y="1787990"/>
            <a:ext cx="836229" cy="18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c3fe6efce6_0_1108" title="image-1.png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>
            <a:off x="6797519" y="1779075"/>
            <a:ext cx="728924" cy="1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c3fe6efce6_0_1108" title="MOSCOW_EXPO.png"/>
          <p:cNvPicPr preferRelativeResize="0"/>
          <p:nvPr/>
        </p:nvPicPr>
        <p:blipFill rotWithShape="1">
          <a:blip r:embed="rId5">
            <a:alphaModFix amt="60000"/>
          </a:blip>
          <a:srcRect/>
          <a:stretch/>
        </p:blipFill>
        <p:spPr>
          <a:xfrm>
            <a:off x="5666001" y="1802593"/>
            <a:ext cx="927116" cy="16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c3fe6efce6_0_1108" title="6b7abc69e0.png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>
            <a:off x="4795175" y="1807063"/>
            <a:ext cx="666418" cy="1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c3fe6efce6_0_1108"/>
          <p:cNvSpPr txBox="1"/>
          <p:nvPr/>
        </p:nvSpPr>
        <p:spPr>
          <a:xfrm>
            <a:off x="4122012" y="1476088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Аккредитация и сертификация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2" name="Google Shape;172;g3c3fe6efce6_0_1108"/>
          <p:cNvCxnSpPr/>
          <p:nvPr/>
        </p:nvCxnSpPr>
        <p:spPr>
          <a:xfrm>
            <a:off x="828675" y="4308847"/>
            <a:ext cx="36606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g3c3fe6efce6_0_1108"/>
          <p:cNvSpPr txBox="1"/>
          <p:nvPr/>
        </p:nvSpPr>
        <p:spPr>
          <a:xfrm>
            <a:off x="4795175" y="2482150"/>
            <a:ext cx="3713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Более 10 лет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опыта в комплексной цифровизации бизнеса и госструктур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150+ экспертов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аналитике, разработке и сопровождении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500+ проектов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промышленности, госсекторе, страховании, ритейле, банках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100+ решений на базе ИИ и ML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включая чат-боты, анализ данных и голосовые интерфейсы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100+ внедренных аналитических платформ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g3c3fe6efce6_0_1108"/>
          <p:cNvCxnSpPr/>
          <p:nvPr/>
        </p:nvCxnSpPr>
        <p:spPr>
          <a:xfrm>
            <a:off x="4481125" y="21983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g3c3fe6efce6_0_1108"/>
          <p:cNvCxnSpPr/>
          <p:nvPr/>
        </p:nvCxnSpPr>
        <p:spPr>
          <a:xfrm rot="10800000">
            <a:off x="4481125" y="597275"/>
            <a:ext cx="0" cy="4088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g3c3fe6efce6_0_110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c3fe6efce6_0_1108"/>
          <p:cNvSpPr txBox="1"/>
          <p:nvPr/>
        </p:nvSpPr>
        <p:spPr>
          <a:xfrm>
            <a:off x="5208175" y="738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g3cb51f55c2a_0_0"/>
          <p:cNvGraphicFramePr/>
          <p:nvPr/>
        </p:nvGraphicFramePr>
        <p:xfrm>
          <a:off x="834772" y="14762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{48841E57-50D8-4EF4-80AA-25907EA59A97}</a:tableStyleId>
              </a:tblPr>
              <a:tblGrid>
                <a:gridCol w="128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Финтех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Государственный сектор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Промышленность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Ритейл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ИТ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Крупные компании</a:t>
                      </a:r>
                      <a:endParaRPr sz="7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3" name="Google Shape;183;g3cb51f55c2a_0_0" title="8c16b35fd872774a200380a28bdff400.jpg"/>
          <p:cNvPicPr preferRelativeResize="0"/>
          <p:nvPr/>
        </p:nvPicPr>
        <p:blipFill rotWithShape="1">
          <a:blip r:embed="rId3">
            <a:alphaModFix/>
          </a:blip>
          <a:srcRect l="34902" t="39661" r="34790" b="37636"/>
          <a:stretch/>
        </p:blipFill>
        <p:spPr>
          <a:xfrm>
            <a:off x="7117113" y="2658050"/>
            <a:ext cx="686547" cy="3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cb51f55c2a_0_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Нам доверяют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g3cb51f55c2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2750" y="3314252"/>
            <a:ext cx="817456" cy="13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cb51f55c2a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65986" y="3290819"/>
            <a:ext cx="596990" cy="16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cb51f55c2a_0_0"/>
          <p:cNvPicPr preferRelativeResize="0"/>
          <p:nvPr/>
        </p:nvPicPr>
        <p:blipFill rotWithShape="1">
          <a:blip r:embed="rId6">
            <a:alphaModFix/>
          </a:blip>
          <a:srcRect b="4589"/>
          <a:stretch/>
        </p:blipFill>
        <p:spPr>
          <a:xfrm>
            <a:off x="2574171" y="1644129"/>
            <a:ext cx="849398" cy="18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cb51f55c2a_0_0"/>
          <p:cNvPicPr preferRelativeResize="0"/>
          <p:nvPr/>
        </p:nvPicPr>
        <p:blipFill rotWithShape="1">
          <a:blip r:embed="rId7">
            <a:alphaModFix/>
          </a:blip>
          <a:srcRect l="13459" t="21331" r="13114" b="22267"/>
          <a:stretch/>
        </p:blipFill>
        <p:spPr>
          <a:xfrm>
            <a:off x="4989865" y="1602313"/>
            <a:ext cx="560951" cy="2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cb51f55c2a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89887" y="2694116"/>
            <a:ext cx="720504" cy="25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cb51f55c2a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97627" y="2208149"/>
            <a:ext cx="647700" cy="18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cb51f55c2a_0_0"/>
          <p:cNvPicPr preferRelativeResize="0"/>
          <p:nvPr/>
        </p:nvPicPr>
        <p:blipFill rotWithShape="1">
          <a:blip r:embed="rId10">
            <a:alphaModFix/>
          </a:blip>
          <a:srcRect t="27044" b="22520"/>
          <a:stretch/>
        </p:blipFill>
        <p:spPr>
          <a:xfrm>
            <a:off x="6046999" y="2181298"/>
            <a:ext cx="1017145" cy="20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cb51f55c2a_0_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17114" y="1667911"/>
            <a:ext cx="769084" cy="14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cb51f55c2a_0_0" title="raiffeisenbank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46991" y="1538490"/>
            <a:ext cx="769080" cy="3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cb51f55c2a_0_0" title="alfa-bank-e1566973775405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73746" y="1582258"/>
            <a:ext cx="917371" cy="3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cb51f55c2a_0_0" title="cik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20438" y="2156545"/>
            <a:ext cx="1017151" cy="24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cb51f55c2a_0_0" title="min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77870" y="2208149"/>
            <a:ext cx="868818" cy="1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cb51f55c2a_0_0" title="f8271aca70114f9936bdba13dabd7e72.jpg"/>
          <p:cNvPicPr preferRelativeResize="0"/>
          <p:nvPr/>
        </p:nvPicPr>
        <p:blipFill rotWithShape="1">
          <a:blip r:embed="rId16">
            <a:alphaModFix/>
          </a:blip>
          <a:srcRect t="23874" b="24170"/>
          <a:stretch/>
        </p:blipFill>
        <p:spPr>
          <a:xfrm>
            <a:off x="4961561" y="2148739"/>
            <a:ext cx="810821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cb51f55c2a_0_0" title="okhl4gqfinvxn2kpm9rxfrxx132257u2.png"/>
          <p:cNvPicPr preferRelativeResize="0"/>
          <p:nvPr/>
        </p:nvPicPr>
        <p:blipFill rotWithShape="1">
          <a:blip r:embed="rId17">
            <a:alphaModFix/>
          </a:blip>
          <a:srcRect t="28149" b="28770"/>
          <a:stretch/>
        </p:blipFill>
        <p:spPr>
          <a:xfrm>
            <a:off x="2680000" y="2690025"/>
            <a:ext cx="637747" cy="27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cb51f55c2a_0_0" title="Логотип__Уралкалия_.jpg"/>
          <p:cNvPicPr preferRelativeResize="0"/>
          <p:nvPr/>
        </p:nvPicPr>
        <p:blipFill rotWithShape="1">
          <a:blip r:embed="rId18">
            <a:alphaModFix/>
          </a:blip>
          <a:srcRect l="9572" t="39640" r="7913" b="40173"/>
          <a:stretch/>
        </p:blipFill>
        <p:spPr>
          <a:xfrm>
            <a:off x="3677875" y="2737487"/>
            <a:ext cx="1038915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cb51f55c2a_0_0" title="3b700d37ad825ed5818f7eb257bf4cf2.png"/>
          <p:cNvPicPr preferRelativeResize="0"/>
          <p:nvPr/>
        </p:nvPicPr>
        <p:blipFill rotWithShape="1">
          <a:blip r:embed="rId19">
            <a:alphaModFix/>
          </a:blip>
          <a:srcRect l="17518" t="24750" r="17719" b="23730"/>
          <a:stretch/>
        </p:blipFill>
        <p:spPr>
          <a:xfrm>
            <a:off x="6047000" y="2706934"/>
            <a:ext cx="686551" cy="26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cb51f55c2a_0_0" title="1uqwj892u58ofsuc60a4tnk03su0ty2s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673751" y="3300595"/>
            <a:ext cx="836111" cy="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cb51f55c2a_0_0" title="ozon png.png"/>
          <p:cNvPicPr preferRelativeResize="0"/>
          <p:nvPr/>
        </p:nvPicPr>
        <p:blipFill rotWithShape="1">
          <a:blip r:embed="rId21">
            <a:alphaModFix/>
          </a:blip>
          <a:srcRect t="25740" b="26654"/>
          <a:stretch/>
        </p:blipFill>
        <p:spPr>
          <a:xfrm>
            <a:off x="4848572" y="3283980"/>
            <a:ext cx="955648" cy="19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cb51f55c2a_0_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164201" y="3247464"/>
            <a:ext cx="540785" cy="2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b51f55c2a_0_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200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cb51f55c2a_0_0"/>
          <p:cNvSpPr/>
          <p:nvPr/>
        </p:nvSpPr>
        <p:spPr>
          <a:xfrm>
            <a:off x="8168656" y="1584200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cb51f55c2a_0_0"/>
          <p:cNvSpPr/>
          <p:nvPr/>
        </p:nvSpPr>
        <p:spPr>
          <a:xfrm>
            <a:off x="8168656" y="213527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cb51f55c2a_0_0"/>
          <p:cNvSpPr/>
          <p:nvPr/>
        </p:nvSpPr>
        <p:spPr>
          <a:xfrm>
            <a:off x="8168656" y="26863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g3cb51f55c2a_0_0"/>
          <p:cNvSpPr/>
          <p:nvPr/>
        </p:nvSpPr>
        <p:spPr>
          <a:xfrm>
            <a:off x="8168656" y="32089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9" name="Google Shape;209;g3cb51f55c2a_0_0" title="КРОК Green Logo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847487" y="3801877"/>
            <a:ext cx="917375" cy="47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cb51f55c2a_0_0" title="logortk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2612751" y="3856635"/>
            <a:ext cx="810824" cy="29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cb51f55c2a_0_0" title="usetech_logo_bl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190475" y="3936886"/>
            <a:ext cx="735901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cb51f55c2a_0_0" title="Mask_group_63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673750" y="3967774"/>
            <a:ext cx="917376" cy="2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cb51f55c2a_0_0"/>
          <p:cNvSpPr/>
          <p:nvPr/>
        </p:nvSpPr>
        <p:spPr>
          <a:xfrm>
            <a:off x="8168656" y="388342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+60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g3cb51f55c2a_0_0" title="Merlion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6063588" y="3931890"/>
            <a:ext cx="735899" cy="16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cb51f55c2a_0_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580822" y="4531234"/>
            <a:ext cx="836127" cy="26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cb51f55c2a_0_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5006875" y="4481048"/>
            <a:ext cx="686526" cy="36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cb51f55c2a_0_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164205" y="4440419"/>
            <a:ext cx="592360" cy="4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cb51f55c2a_0_0"/>
          <p:cNvPicPr preferRelativeResize="0"/>
          <p:nvPr/>
        </p:nvPicPr>
        <p:blipFill rotWithShape="1">
          <a:blip r:embed="rId31">
            <a:alphaModFix/>
          </a:blip>
          <a:srcRect t="30366" b="28946"/>
          <a:stretch/>
        </p:blipFill>
        <p:spPr>
          <a:xfrm>
            <a:off x="3545425" y="4505424"/>
            <a:ext cx="1149210" cy="31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cb51f55c2a_0_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044274" y="4440435"/>
            <a:ext cx="769074" cy="3939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cb51f55c2a_0_0"/>
          <p:cNvSpPr/>
          <p:nvPr/>
        </p:nvSpPr>
        <p:spPr>
          <a:xfrm>
            <a:off x="8163006" y="4507363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3cb51f55c2a_0_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/>
          <p:nvPr/>
        </p:nvSpPr>
        <p:spPr>
          <a:xfrm>
            <a:off x="834775" y="1321975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834775" y="1321975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1008957" y="1459135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Языковые модели и агенты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1008957" y="1824896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ИИ-платформы, создаем умные базы знаний, запускаем ИИ-ассистентов и умных ботов для поддержки и продаж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4840957" y="1321975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4840957" y="1321975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5015139" y="1459135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данных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5015139" y="1824896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хранилища данных, витрины, создаём BI-отчёты. Обеспечиваем визуализацию и Data Governance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834775" y="3242220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834775" y="3242220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1008957" y="3379381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и роботизация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1008957" y="3745142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Интегрируем роботизированные решения с корпоративными системами. Роботизация рутинных операций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4840957" y="3242220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4840957" y="3242220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5015139" y="3379381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 обучение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5015139" y="3745142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Модели для предсказания поломок, классификации обращений, предиктивной аналитики и скоринга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3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Полный спектр работы с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endParaRPr sz="20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bab004d01_0_32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70 проектов по импортозамещению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g3cbab004d01_0_328"/>
          <p:cNvSpPr txBox="1"/>
          <p:nvPr/>
        </p:nvSpPr>
        <p:spPr>
          <a:xfrm>
            <a:off x="774852" y="1173519"/>
            <a:ext cx="45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Аналитические платформы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3cbab004d01_0_32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bab004d01_0_328"/>
          <p:cNvSpPr/>
          <p:nvPr/>
        </p:nvSpPr>
        <p:spPr>
          <a:xfrm>
            <a:off x="5459475" y="1540175"/>
            <a:ext cx="1627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ArenaData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хранения и обработки данных</a:t>
            </a: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https://arenadata.tech/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3cbab004d01_0_328"/>
          <p:cNvSpPr txBox="1"/>
          <p:nvPr/>
        </p:nvSpPr>
        <p:spPr>
          <a:xfrm>
            <a:off x="5405976" y="1173525"/>
            <a:ext cx="46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 данных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cbab004d01_0_328"/>
          <p:cNvSpPr/>
          <p:nvPr/>
        </p:nvSpPr>
        <p:spPr>
          <a:xfrm>
            <a:off x="834775" y="1547400"/>
            <a:ext cx="12855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https://ru.visiology.su/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3cbab004d01_0_328"/>
          <p:cNvSpPr/>
          <p:nvPr/>
        </p:nvSpPr>
        <p:spPr>
          <a:xfrm>
            <a:off x="2200878" y="1542575"/>
            <a:ext cx="15270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PIX BI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3cbab004d01_0_328"/>
          <p:cNvSpPr/>
          <p:nvPr/>
        </p:nvSpPr>
        <p:spPr>
          <a:xfrm>
            <a:off x="7190550" y="1540175"/>
            <a:ext cx="1627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PostgresPRO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хранения и обработки данных</a:t>
            </a: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3cbab004d01_0_328"/>
          <p:cNvSpPr/>
          <p:nvPr/>
        </p:nvSpPr>
        <p:spPr>
          <a:xfrm>
            <a:off x="3823250" y="1547300"/>
            <a:ext cx="15270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ModusBI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https://modusbi.ru/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cbab004d01_0_328"/>
          <p:cNvSpPr txBox="1"/>
          <p:nvPr/>
        </p:nvSpPr>
        <p:spPr>
          <a:xfrm>
            <a:off x="834777" y="2449131"/>
            <a:ext cx="45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и роботизация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3cbab004d01_0_328"/>
          <p:cNvSpPr/>
          <p:nvPr/>
        </p:nvSpPr>
        <p:spPr>
          <a:xfrm>
            <a:off x="2837803" y="2787841"/>
            <a:ext cx="1929300" cy="1014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Pix Robotics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роботизации БП.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cbab004d01_0_328"/>
          <p:cNvSpPr/>
          <p:nvPr/>
        </p:nvSpPr>
        <p:spPr>
          <a:xfrm>
            <a:off x="834775" y="2787843"/>
            <a:ext cx="1884300" cy="1014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Robin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роботизации БП.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https://rpa-robin.ru/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cbab004d01_0_328"/>
          <p:cNvSpPr/>
          <p:nvPr/>
        </p:nvSpPr>
        <p:spPr>
          <a:xfrm>
            <a:off x="4886100" y="2787850"/>
            <a:ext cx="1884300" cy="1045500"/>
          </a:xfrm>
          <a:prstGeom prst="roundRect">
            <a:avLst>
              <a:gd name="adj" fmla="val 9281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1C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Программы делового назначения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https://1c.ru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g3cbab004d01_0_328"/>
          <p:cNvSpPr/>
          <p:nvPr/>
        </p:nvSpPr>
        <p:spPr>
          <a:xfrm>
            <a:off x="6889125" y="2787975"/>
            <a:ext cx="1929300" cy="1045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ELMA 365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бизнеса и процессов </a:t>
            </a: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https://elma365.com/ru/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g3cbab004d01_0_328"/>
          <p:cNvSpPr txBox="1"/>
          <p:nvPr/>
        </p:nvSpPr>
        <p:spPr>
          <a:xfrm>
            <a:off x="774775" y="3801182"/>
            <a:ext cx="46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Корпоративные системы совместной работы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cbab004d01_0_328"/>
          <p:cNvSpPr/>
          <p:nvPr/>
        </p:nvSpPr>
        <p:spPr>
          <a:xfrm>
            <a:off x="3321000" y="4139875"/>
            <a:ext cx="2368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TeamStorm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гибкого управления командами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https://teamstorm.io/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cbab004d01_0_328"/>
          <p:cNvSpPr/>
          <p:nvPr/>
        </p:nvSpPr>
        <p:spPr>
          <a:xfrm>
            <a:off x="858075" y="4139875"/>
            <a:ext cx="2368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TestIT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https://testit.software/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cbab004d01_0_328"/>
          <p:cNvSpPr/>
          <p:nvPr/>
        </p:nvSpPr>
        <p:spPr>
          <a:xfrm>
            <a:off x="5783925" y="4139875"/>
            <a:ext cx="30345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Сфера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Российская альтернатива трекинговых систем </a:t>
            </a: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https://www.sferaplatform.ru/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g3cbab004d01_0_32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Официальный поставщик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отечественных решений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g3cbab004d01_0_0"/>
          <p:cNvGraphicFramePr/>
          <p:nvPr/>
        </p:nvGraphicFramePr>
        <p:xfrm>
          <a:off x="828675" y="13112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{48841E57-50D8-4EF4-80AA-25907EA59A97}</a:tableStyleId>
              </a:tblPr>
              <a:tblGrid>
                <a:gridCol w="308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Примеры отраслей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применяем ИИ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Госсектор и аналитика управления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ИИ-ассистенты и умные платформы для документов и обращений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Интеллектуальные панели для руководителей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Речевая аналитика и автоматизация обратной связи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Промышленность и ТЭК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Предиктивное обслуживание оборудования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Роботизированные процессы и контроль качества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-аналитика производственных данных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ЖКХ и городская инфраструктура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-боты и голосовые ассистенты для жителей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Аналитика обращений и мониторинг аварий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Автоматизация диспетчерских процессов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Финансы и корпоративный сектор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-скоринг и риск-аналитика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документов и комплаенс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Автоматизация отчётности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Найм и образование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-рекрутер и автоматизация подбора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-система для найма и персонализированное обучение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компетенций и карьерного потенциала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4" name="Google Shape;274;g3cbab004d01_0_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cbab004d01_0_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cbab004d01_0_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Отраслевые внедрения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g3cbab004d01_0_62"/>
          <p:cNvGraphicFramePr/>
          <p:nvPr/>
        </p:nvGraphicFramePr>
        <p:xfrm>
          <a:off x="384975" y="136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{3FADC92E-6070-4438-9C71-76DD1D6A98BB}</a:tableStyleId>
              </a:tblPr>
              <a:tblGrid>
                <a:gridCol w="418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8225"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Показываем, как это работает на практике.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 нас сотни реальных кейсов - на них можно проверять будущие нормы и стандарты.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Помогаем прописать правила безопасности.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Все наши системы работают в закрытом контуре - можем поделиться готовыми шаблонами защиты данных.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400"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Помогаем разобраться, кто отвечает, если ИИ ошибся.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Предлагаем понятную схему: где зона ответственности человека, а где алгоритма.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Создаём “песочницы” для тестирования законов.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Готовы запускать пилоты, чтобы проверить новые правила на реальных проектах до принятия закона.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375"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Делаем ИИ понятным и проверяемым.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Внедряем решения, где видно, </a:t>
                      </a:r>
                      <a:r>
                        <a:rPr lang="en-US" sz="1000" i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почему</a:t>
                      </a: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модель выдала именно такой ответ.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Даем советы по этике ИИ.</a:t>
                      </a:r>
                      <a:b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не допустить дискриминации и ошибок - в найме, медицине, госуслугах и бизнесе.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2" name="Google Shape;282;g3cbab004d01_0_62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cbab004d01_0_62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Помогаем в разработке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нормативной базы</a:t>
            </a:r>
            <a:endParaRPr sz="20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g3cbab004d01_0_62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"/>
          <p:cNvSpPr/>
          <p:nvPr/>
        </p:nvSpPr>
        <p:spPr>
          <a:xfrm>
            <a:off x="828675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957504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Закупки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2116962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957504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тендеров, анализ документации, формирование заявок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2846991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2975820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Найм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4135279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2975820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найма, онбординг, умная платформа, ИИ-боты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4865308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4994137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Госсектор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6153595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4994137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Цифровизация госуслуг, аналитика, системы поддержки решений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6883624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7012453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Промышленность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8171912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7012453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Предиктивное обслуживание, контроль качества, оптимизация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828675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957504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Финтех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4"/>
          <p:cNvSpPr/>
          <p:nvPr/>
        </p:nvSpPr>
        <p:spPr>
          <a:xfrm>
            <a:off x="2116962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957504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Антифрод, скоринг, автоматизация отчётности, миграция данных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2846991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2975820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Ритейл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4135279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2975820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продаж, персонализация, оптимизация логистики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4865308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4994137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Страхование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6153595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4994137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Роботизация реестров, обработка полисов, отчётность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6883624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7012453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Спорт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8171912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"/>
          <p:cNvSpPr/>
          <p:nvPr/>
        </p:nvSpPr>
        <p:spPr>
          <a:xfrm>
            <a:off x="7012453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данных, управление событиями, цифровизация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Направления работы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100 пилотных проектов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за последние месяцы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"/>
          <p:cNvSpPr/>
          <p:nvPr/>
        </p:nvSpPr>
        <p:spPr>
          <a:xfrm>
            <a:off x="4937760" y="1097280"/>
            <a:ext cx="393192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5257800" y="173736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5257800" y="251460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5257800" y="329184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257800" y="406908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5257800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5257800" y="32918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5257800" y="40690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257800" y="1737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828675" y="1188725"/>
            <a:ext cx="37434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Делаем обучение как часть ИИ-трансформации: под вашу отрасль и реальные процессы компании.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Цель — чтобы сотрудники использовали ИИ как рабочий инструмент «наравне с почтой».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828675" y="2727904"/>
            <a:ext cx="374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 программах: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828675" y="3097302"/>
            <a:ext cx="3743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Быстрый старт работы с ИИ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Продвинутые техники промпт инга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Практические воркшопы по сборке ИИ-агентов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Кастомизация под задачи подразделений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Формат трансформации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5715000" y="171907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процессов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5715000" y="199339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Анализируем процессы и определяем точки применения 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5715000" y="24963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Пилотные внедрения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5715000" y="277063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Запускаем первые проекты с измеримым результатом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5715000" y="327355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команды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5715000" y="35478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Передаем компетенции для самостоятельного развития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5715000" y="40507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5715000" y="432511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Расширяем на ключевые процессы компании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ИИ-трансформация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6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Корпоративное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bab004d01_0_124"/>
          <p:cNvSpPr/>
          <p:nvPr/>
        </p:nvSpPr>
        <p:spPr>
          <a:xfrm>
            <a:off x="828675" y="1340975"/>
            <a:ext cx="3934200" cy="166740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1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(1–2 недели)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и формирование запроса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текущего состояния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Болевые точки и возможности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Чёткие цели трансформации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Карта взаимодействия со стейкхолдерами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g3cbab004d01_0_124"/>
          <p:cNvSpPr/>
          <p:nvPr/>
        </p:nvSpPr>
        <p:spPr>
          <a:xfrm>
            <a:off x="4918576" y="1340975"/>
            <a:ext cx="3934200" cy="166740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2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(2–3 недели)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Стратегия и целевая архитектура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“Цифрового Бизнеса Будущего”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Дорожная карта трансформации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Приоритеты и критерии успеха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Ответственность и ресурсы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cbab004d01_0_124"/>
          <p:cNvSpPr/>
          <p:nvPr/>
        </p:nvSpPr>
        <p:spPr>
          <a:xfrm>
            <a:off x="828683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3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(1–2 месяца)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Быстрые победы и команда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Пилоты с высоким эффектом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цифровой трансформации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ключевых сотрудников ИИ-инструментам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мотивации для поддержки изменений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cbab004d01_0_124"/>
          <p:cNvSpPr/>
          <p:nvPr/>
        </p:nvSpPr>
        <p:spPr>
          <a:xfrm>
            <a:off x="3537786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4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(3–6 месяцев)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Масштабирование и интеграция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Внедрение решений по направлениям бизнеса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систем в единую экосистему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Культура цифрового мышления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Постоянное обучение и адаптация процессов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3cbab004d01_0_124"/>
          <p:cNvSpPr/>
          <p:nvPr/>
        </p:nvSpPr>
        <p:spPr>
          <a:xfrm>
            <a:off x="6246888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5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(6+ месяцев) 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Синергия и непрерывное развитие</a:t>
            </a: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Самообучающаяся организация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Непрерывная оптимизация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Новые бизнес-модели на базе цифровых возможностей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Лидерство в отрасли по трансформации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cbab004d01_0_124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cbab004d01_0_124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ИИ-трансформация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cbab004d01_0_12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Трансформация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компании под ключ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"/>
          <p:cNvSpPr/>
          <p:nvPr/>
        </p:nvSpPr>
        <p:spPr>
          <a:xfrm>
            <a:off x="828675" y="1199975"/>
            <a:ext cx="46578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ИИ-платформа, которая превращает рутину поиска тендеров в стратегически управляемый, масштабируемый и высокодоходный канал продаж за счет автоматизации процессов поиска, отбора и первичной валидации закупок на базе ИИ-технологий.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828675" y="2032549"/>
            <a:ext cx="46578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Общий срок пилотного проекта: 2 недели с одобрения старта</a:t>
            </a: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828675" y="2356328"/>
            <a:ext cx="4657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828675" y="2633853"/>
            <a:ext cx="4657800" cy="12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Подключается к Контур.Закупки → получает поток тендеров в реальном времени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Извлекает ключевые сущности из текста закупок → классифицирует по релевантности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Выделяет причины отсева (стоп-фактор, бюджет вне диапазона и т.д.)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Формирует реестр релевантных закупок → передает специалистам для подачи заявок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28675" y="4021477"/>
            <a:ext cx="4657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828675" y="4299001"/>
            <a:ext cx="4657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превращает участие в тендерах в управляемый производственный процесс: в 3 раза быстрее поиск, &gt;70% релевантность подборки, рост побед в 2-3 раза — без раздувания штата.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5760720" y="1097280"/>
            <a:ext cx="31089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3x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5943600" y="2194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быстрее поиск релевантных тендеров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&gt;70%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релевантность подборки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943600" y="3749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2-3x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рост количества побед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система для участия в тендерах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"/>
          <p:cNvSpPr/>
          <p:nvPr/>
        </p:nvSpPr>
        <p:spPr>
          <a:xfrm>
            <a:off x="828675" y="1199975"/>
            <a:ext cx="46578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ИИ-платформа, которая превращает обращения жителей (чат/телефония/приложение) в структурированные задачи для УК: карточка, приоритет, исполнитель, таймер, статус и результат.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828675" y="1831164"/>
            <a:ext cx="4657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828675" y="2083639"/>
            <a:ext cx="46578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Принимает входящий поток → собирает контекст (адрес/подъезд/тема/история)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Формирует «карточку инцидента» → ставит в очередь и маршрутизирует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Контролирует → напоминает, эскалирует, фиксирует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Дает руководителю прозрачный «операционный экран»: очередь, просрочки, причины, нагрузка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828675" y="3279372"/>
            <a:ext cx="4657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Инновационный подход ИИ: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828675" y="3531847"/>
            <a:ext cx="46578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Умная оркестрация вместо правил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 качества в реальном времени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эксплуатационных данных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28675" y="4188951"/>
            <a:ext cx="465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28599" y="4457601"/>
            <a:ext cx="46578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превращает обращения в управляемый производственный процесс: меньше ручной диспетчеризации, меньше просрочек, выше качество сервиса — без раздувания штата.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5760720" y="914400"/>
            <a:ext cx="31089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-50%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ручной диспетчеризации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-30%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просроченных заявок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+25%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943600" y="4023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 сервиса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9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для управляющих компаний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9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/>
        </p:nvSpPr>
        <p:spPr>
          <a:xfrm>
            <a:off x="828675" y="1199975"/>
            <a:ext cx="46578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решаем: подбор рецептуры и стабильность качества в условиях, когда свойства сырья, сезонность и производственные условия постоянно меняются.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828675" y="1743061"/>
            <a:ext cx="46578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Боль производства сегодня: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828675" y="1993717"/>
            <a:ext cx="4657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Ручной подбор рецептур и зависимость от опыта технолога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Риск брака и несоответствия стандартам при отклонениях состава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Перерасход компонентов и рост себестоимости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Непредсказуемость результата при изменении сырья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828675" y="2954564"/>
            <a:ext cx="46578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Как работает система: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828675" y="3205220"/>
            <a:ext cx="46578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Получает входные требования: класс прочности, водонепроницаемость, морозостойкость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Подтягивает лабораторные данные: активность цемента, гранулометрия, параметры добавок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Учитывает условия производства: температура, влажность, оборудование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На выходе даёт оптимальный состав, ориентированный на качество и себестоимость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828675" y="4374946"/>
            <a:ext cx="46578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 точная рецептура → стабильное качество → меньше брака и лишних затрат</a:t>
            </a: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5760720" y="914400"/>
            <a:ext cx="31089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-15%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себестоимость смеси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-80%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времени на подбор рецептуры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943600" y="4023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брака по отклонениям состава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оптимизация рецептуры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1d6183c82_0_589"/>
          <p:cNvSpPr/>
          <p:nvPr/>
        </p:nvSpPr>
        <p:spPr>
          <a:xfrm>
            <a:off x="5760725" y="914400"/>
            <a:ext cx="3102600" cy="38292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1d6183c82_0_589"/>
          <p:cNvSpPr/>
          <p:nvPr/>
        </p:nvSpPr>
        <p:spPr>
          <a:xfrm>
            <a:off x="5760720" y="914400"/>
            <a:ext cx="3108900" cy="384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1d6183c82_0_589"/>
          <p:cNvSpPr/>
          <p:nvPr/>
        </p:nvSpPr>
        <p:spPr>
          <a:xfrm>
            <a:off x="5943600" y="10972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g3f1d6183c82_0_58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≥70%</a:t>
            </a:r>
            <a:endParaRPr sz="28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g3f1d6183c82_0_589"/>
          <p:cNvSpPr/>
          <p:nvPr/>
        </p:nvSpPr>
        <p:spPr>
          <a:xfrm>
            <a:off x="5943600" y="201168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прогноза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g3f1d6183c82_0_589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50+ млн</a:t>
            </a:r>
            <a:endParaRPr sz="28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g3f1d6183c82_0_589"/>
          <p:cNvSpPr/>
          <p:nvPr/>
        </p:nvSpPr>
        <p:spPr>
          <a:xfrm>
            <a:off x="59436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судебных решений в базе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g3f1d6183c82_0_589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6–10 млн</a:t>
            </a:r>
            <a:endParaRPr sz="28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g3f1d6183c82_0_589"/>
          <p:cNvSpPr/>
          <p:nvPr/>
        </p:nvSpPr>
        <p:spPr>
          <a:xfrm>
            <a:off x="5943600" y="40233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₽/год на клиента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g3f1d6183c82_0_589"/>
          <p:cNvSpPr/>
          <p:nvPr/>
        </p:nvSpPr>
        <p:spPr>
          <a:xfrm>
            <a:off x="0" y="0"/>
            <a:ext cx="1017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1d6183c82_0_589"/>
          <p:cNvSpPr txBox="1"/>
          <p:nvPr/>
        </p:nvSpPr>
        <p:spPr>
          <a:xfrm>
            <a:off x="828675" y="1417375"/>
            <a:ext cx="4657800" cy="3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ML-модель анализирует судебную практику и прогнозирует вероятность исхода дела. Рекомендует оптимальную стратегию защиты или нападения. Обучена на 50+ млн судебных решений.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800"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Прогноз вероятности победы по категории дела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Анализ судьи: статистика решений, паттерны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Рекомендация стратегии и аргументов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Оценка суммы взыскания / компенсации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Подбор релевантной практики и прецедентов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новых дел и изменений в законодательстве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прогноза ≥70% по ключевым категориям дел и экономия юридического бюджета 6–10 млн ₽/год для среднего клиента.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g3f1d6183c82_0_589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-скоринг судебных дел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g3f1d6183c82_0_589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1d6183c82_0_604"/>
          <p:cNvSpPr/>
          <p:nvPr/>
        </p:nvSpPr>
        <p:spPr>
          <a:xfrm>
            <a:off x="5760725" y="914400"/>
            <a:ext cx="3102600" cy="38292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1d6183c82_0_604"/>
          <p:cNvSpPr/>
          <p:nvPr/>
        </p:nvSpPr>
        <p:spPr>
          <a:xfrm>
            <a:off x="5760720" y="914400"/>
            <a:ext cx="3108900" cy="384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f1d6183c82_0_604"/>
          <p:cNvSpPr/>
          <p:nvPr/>
        </p:nvSpPr>
        <p:spPr>
          <a:xfrm>
            <a:off x="5943600" y="10972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g3f1d6183c82_0_604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±5%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g3f1d6183c82_0_604"/>
          <p:cNvSpPr/>
          <p:nvPr/>
        </p:nvSpPr>
        <p:spPr>
          <a:xfrm>
            <a:off x="5943600" y="201168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оценки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g3f1d6183c82_0_604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5–10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g3f1d6183c82_0_604"/>
          <p:cNvSpPr/>
          <p:nvPr/>
        </p:nvSpPr>
        <p:spPr>
          <a:xfrm>
            <a:off x="59436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источников данных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g3f1d6183c82_0_604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×10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g3f1d6183c82_0_604"/>
          <p:cNvSpPr/>
          <p:nvPr/>
        </p:nvSpPr>
        <p:spPr>
          <a:xfrm>
            <a:off x="5943600" y="40233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быстрее ручной оценки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g3f1d6183c82_0_604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-управление недвижимостью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g3f1d6183c82_0_604"/>
          <p:cNvSpPr/>
          <p:nvPr/>
        </p:nvSpPr>
        <p:spPr>
          <a:xfrm>
            <a:off x="0" y="0"/>
            <a:ext cx="1017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1d6183c82_0_604"/>
          <p:cNvSpPr txBox="1"/>
          <p:nvPr/>
        </p:nvSpPr>
        <p:spPr>
          <a:xfrm>
            <a:off x="828675" y="1376675"/>
            <a:ext cx="4759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Конвейер автоматической оценки объектов недвижимости: парсинг 5–10 источников данных, ML-модель оценки, замена ручного труда риелторов. Данные из открытых источников, Росреестра и объявлений.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Автоматический парсинг 5–10 источников данных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ML-оценка стоимости объектов (±5% от рыночной)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по районам и сегментам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Прогноз динамики цен на 6–12 месяцев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Отчёты для банков и инвесторов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API-интеграция с CRM и учётными системами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Оценка с точностью ±5% от рыночной — в 10 раз быстрее ручной работы риелтора, с прогнозом динамики цен по районам.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67" name="Google Shape;467;g3f1d6183c82_0_604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1d6183c82_0_619"/>
          <p:cNvSpPr/>
          <p:nvPr/>
        </p:nvSpPr>
        <p:spPr>
          <a:xfrm>
            <a:off x="5760725" y="914400"/>
            <a:ext cx="3102600" cy="38292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1d6183c82_0_619"/>
          <p:cNvSpPr/>
          <p:nvPr/>
        </p:nvSpPr>
        <p:spPr>
          <a:xfrm>
            <a:off x="5760720" y="914400"/>
            <a:ext cx="3108900" cy="384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1d6183c82_0_619"/>
          <p:cNvSpPr/>
          <p:nvPr/>
        </p:nvSpPr>
        <p:spPr>
          <a:xfrm>
            <a:off x="5943600" y="10972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g3f1d6183c82_0_61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15–25%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g3f1d6183c82_0_619"/>
          <p:cNvSpPr/>
          <p:nvPr/>
        </p:nvSpPr>
        <p:spPr>
          <a:xfrm>
            <a:off x="5943600" y="201168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на топливе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g3f1d6183c82_0_619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20–30%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g3f1d6183c82_0_619"/>
          <p:cNvSpPr/>
          <p:nvPr/>
        </p:nvSpPr>
        <p:spPr>
          <a:xfrm>
            <a:off x="59436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простоев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g3f1d6183c82_0_619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×2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g3f1d6183c82_0_619"/>
          <p:cNvSpPr/>
          <p:nvPr/>
        </p:nvSpPr>
        <p:spPr>
          <a:xfrm>
            <a:off x="5943600" y="40233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рост утилизации парка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g3f1d6183c82_0_619"/>
          <p:cNvSpPr/>
          <p:nvPr/>
        </p:nvSpPr>
        <p:spPr>
          <a:xfrm>
            <a:off x="0" y="0"/>
            <a:ext cx="1017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1d6183c82_0_619"/>
          <p:cNvSpPr txBox="1"/>
          <p:nvPr/>
        </p:nvSpPr>
        <p:spPr>
          <a:xfrm>
            <a:off x="828675" y="1376675"/>
            <a:ext cx="4759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ИИ-надстройка над системами управления автопарком: GPS-мониторинг, контроль топлива, видеоаналитика, управление водителями, оптимизация маршрутов. Интеграция с телематикой без замены оборудования.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GPS-мониторинг и геозоны в реальном времени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ИИ-контроль расхода топлива и выявление сливов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Видеоаналитика: контроль водителей и дороги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маршрутов с учётом пробок и ограничений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Предиктивное обслуживание техники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водителями: рейтинг, смены, KPI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1С, ERP и телематикой</a:t>
            </a:r>
            <a:endParaRPr sz="800" b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на топливе 15–25%, сокращение простоев 20–30% и рост утилизации парка в 2 раза — без замены оборудования.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83" name="Google Shape;483;g3f1d6183c82_0_619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-управление транспортом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g3f1d6183c82_0_619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1d6183c82_0_634"/>
          <p:cNvSpPr/>
          <p:nvPr/>
        </p:nvSpPr>
        <p:spPr>
          <a:xfrm>
            <a:off x="5760725" y="914400"/>
            <a:ext cx="3102600" cy="38292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1d6183c82_0_634"/>
          <p:cNvSpPr/>
          <p:nvPr/>
        </p:nvSpPr>
        <p:spPr>
          <a:xfrm>
            <a:off x="5760720" y="914400"/>
            <a:ext cx="3108900" cy="384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1d6183c82_0_634"/>
          <p:cNvSpPr/>
          <p:nvPr/>
        </p:nvSpPr>
        <p:spPr>
          <a:xfrm>
            <a:off x="5943600" y="10972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g3f1d6183c82_0_634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g3f1d6183c82_0_634"/>
          <p:cNvSpPr/>
          <p:nvPr/>
        </p:nvSpPr>
        <p:spPr>
          <a:xfrm>
            <a:off x="5943600" y="201168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контуров автоматизации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g3f1d6183c82_0_634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3–5 ч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g3f1d6183c82_0_634"/>
          <p:cNvSpPr/>
          <p:nvPr/>
        </p:nvSpPr>
        <p:spPr>
          <a:xfrm>
            <a:off x="59436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в день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g3f1d6183c82_0_634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×2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g3f1d6183c82_0_634"/>
          <p:cNvSpPr/>
          <p:nvPr/>
        </p:nvSpPr>
        <p:spPr>
          <a:xfrm>
            <a:off x="5943600" y="40233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скорость принятия решений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g3f1d6183c82_0_634"/>
          <p:cNvSpPr/>
          <p:nvPr/>
        </p:nvSpPr>
        <p:spPr>
          <a:xfrm>
            <a:off x="0" y="0"/>
            <a:ext cx="1017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1d6183c82_0_634"/>
          <p:cNvSpPr txBox="1"/>
          <p:nvPr/>
        </p:nvSpPr>
        <p:spPr>
          <a:xfrm>
            <a:off x="834775" y="1376675"/>
            <a:ext cx="4753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Персональная ИИ-система для руководителя. 7 контуров автоматизации: почта, календарь, задачи, документы, аналитика, коммуникации, принятие решений.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Почта: приоритизация, черновики ответов, саммари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Календарь: оптимизация расписания, подготовка к встречам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Задачи: контроль исполнения, напоминания, делегирование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Документы: генерация, согласование, подпись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Аналитика: дашборды, отчёты, аномалии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Коммуникации: саммари звонков и совещаний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Решения: сценарный анализ, рекомендации</a:t>
            </a:r>
            <a:endParaRPr sz="800" b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3–5 часов рабочего времени в день и удвоение скорости принятия решений по всем 7 контурам.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00" name="Google Shape;500;g3f1d6183c82_0_634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-помощник руководителя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g3f1d6183c82_0_634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1d6183c82_0_649"/>
          <p:cNvSpPr/>
          <p:nvPr/>
        </p:nvSpPr>
        <p:spPr>
          <a:xfrm>
            <a:off x="5760725" y="914400"/>
            <a:ext cx="3102600" cy="38292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1d6183c82_0_649"/>
          <p:cNvSpPr/>
          <p:nvPr/>
        </p:nvSpPr>
        <p:spPr>
          <a:xfrm>
            <a:off x="5760720" y="914400"/>
            <a:ext cx="3108900" cy="384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f1d6183c82_0_649"/>
          <p:cNvSpPr/>
          <p:nvPr/>
        </p:nvSpPr>
        <p:spPr>
          <a:xfrm>
            <a:off x="5943600" y="10972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g3f1d6183c82_0_64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×10–50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g3f1d6183c82_0_649"/>
          <p:cNvSpPr/>
          <p:nvPr/>
        </p:nvSpPr>
        <p:spPr>
          <a:xfrm>
            <a:off x="5943600" y="201168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дешевле продакшна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g3f1d6183c82_0_649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×5–20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g3f1d6183c82_0_649"/>
          <p:cNvSpPr/>
          <p:nvPr/>
        </p:nvSpPr>
        <p:spPr>
          <a:xfrm>
            <a:off x="59436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быстрее по срокам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g3f1d6183c82_0_649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~12 тыс.</a:t>
            </a:r>
            <a:endParaRPr sz="26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g3f1d6183c82_0_649"/>
          <p:cNvSpPr/>
          <p:nvPr/>
        </p:nvSpPr>
        <p:spPr>
          <a:xfrm>
            <a:off x="5943600" y="40233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себестоимость минуты контента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g3f1d6183c82_0_649"/>
          <p:cNvSpPr/>
          <p:nvPr/>
        </p:nvSpPr>
        <p:spPr>
          <a:xfrm>
            <a:off x="0" y="0"/>
            <a:ext cx="1017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1d6183c82_0_649"/>
          <p:cNvSpPr txBox="1"/>
          <p:nvPr/>
        </p:nvSpPr>
        <p:spPr>
          <a:xfrm>
            <a:off x="834775" y="1376675"/>
            <a:ext cx="4753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Визуальный препродакшн: от идеи к раскадровке, аниматику и готовому визуалу. Генерация изображений, видео, 3D и анимации в едином стиле бренда. Замена дорогого продакшна на ИИ-конвейер.</a:t>
            </a:r>
            <a:endParaRPr sz="800" b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Генерация раскадровок из текстового описания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Стилизация под бренд-гайдлайны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ИИ-видеопродакшн: ролики за часы вместо недель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3D-визуализация продуктов и пространств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Мультиязычная адаптация контента</a:t>
            </a:r>
            <a:endParaRPr sz="800">
              <a:solidFill>
                <a:schemeClr val="dk1"/>
              </a:solidFill>
            </a:endParaRPr>
          </a:p>
          <a:p>
            <a:pPr marL="457200" marR="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Библиотека шаблонов и стилей</a:t>
            </a:r>
            <a:endParaRPr sz="800" b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стоимости продакшна в 10–50 раз и сроков — в 5–20 раз при сохранении единого стиля бренда.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17" name="Google Shape;517;g3f1d6183c82_0_649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-мультимедиа платформа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g3f1d6183c82_0_649"/>
          <p:cNvSpPr txBox="1"/>
          <p:nvPr/>
        </p:nvSpPr>
        <p:spPr>
          <a:xfrm>
            <a:off x="834787" y="538163"/>
            <a:ext cx="4373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Продукт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bab004d01_0_248"/>
          <p:cNvSpPr txBox="1"/>
          <p:nvPr/>
        </p:nvSpPr>
        <p:spPr>
          <a:xfrm>
            <a:off x="828675" y="1501469"/>
            <a:ext cx="41163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Мы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уже работаем с вузами и научными центрами</a:t>
            </a: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проводим совместные исследования - превращаем идеи в прототипы и решения, которые можно внедрять.</a:t>
            </a:r>
            <a:b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Запускаем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корпоративные курсы</a:t>
            </a: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по практическому ИИ - не теорию, а то, как реально внедрять алгоритмы в бизнес и госуправление.</a:t>
            </a:r>
            <a:b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Готовы создавать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пилотные лаборатории и тестовые зоны</a:t>
            </a: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где можно вместе проверять гипотезы, модели и регламенты до масштабирования.</a:t>
            </a:r>
            <a:b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 нас есть </a:t>
            </a:r>
            <a:r>
              <a:rPr lang="en-U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программы подготовки специалистов</a:t>
            </a: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которые учат работать с ИИ под конкретные отраслевые задачи.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4" name="Google Shape;524;g3cbab004d01_0_248" title="photo_2025-10-08_21-50-39.jpg"/>
          <p:cNvPicPr preferRelativeResize="0"/>
          <p:nvPr/>
        </p:nvPicPr>
        <p:blipFill rotWithShape="1">
          <a:blip r:embed="rId3">
            <a:alphaModFix/>
          </a:blip>
          <a:srcRect l="8915" r="17712"/>
          <a:stretch/>
        </p:blipFill>
        <p:spPr>
          <a:xfrm>
            <a:off x="5170650" y="1088600"/>
            <a:ext cx="3967200" cy="40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cbab004d01_0_24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cbab004d01_0_248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Связываем 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бизнес и науку</a:t>
            </a:r>
            <a:endParaRPr sz="2000" b="1" i="0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g3cbab004d01_0_24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Мы сегодня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3fe6efce6_0_1198"/>
          <p:cNvSpPr txBox="1">
            <a:spLocks noGrp="1"/>
          </p:cNvSpPr>
          <p:nvPr>
            <p:ph type="title"/>
          </p:nvPr>
        </p:nvSpPr>
        <p:spPr>
          <a:xfrm>
            <a:off x="828675" y="1162450"/>
            <a:ext cx="7665600" cy="28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Контакты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g3c3fe6efce6_0_1198"/>
          <p:cNvSpPr txBox="1"/>
          <p:nvPr/>
        </p:nvSpPr>
        <p:spPr>
          <a:xfrm>
            <a:off x="758575" y="1839400"/>
            <a:ext cx="3194100" cy="1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198-14-77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info@7rlines.com</a:t>
            </a:r>
            <a:endParaRPr sz="10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119049, Москва, ул. Шаболовка, 23к3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g3c3fe6efce6_0_1198"/>
          <p:cNvSpPr txBox="1"/>
          <p:nvPr/>
        </p:nvSpPr>
        <p:spPr>
          <a:xfrm>
            <a:off x="828687" y="3995438"/>
            <a:ext cx="4373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Поможем подобрать решения под ваши бизнес-задачи</a:t>
            </a:r>
            <a:endParaRPr sz="8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5" name="Google Shape;535;g3c3fe6efce6_0_1198"/>
          <p:cNvCxnSpPr/>
          <p:nvPr/>
        </p:nvCxnSpPr>
        <p:spPr>
          <a:xfrm>
            <a:off x="4150" y="46618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g3c3fe6efce6_0_1198"/>
          <p:cNvSpPr txBox="1"/>
          <p:nvPr/>
        </p:nvSpPr>
        <p:spPr>
          <a:xfrm>
            <a:off x="6117975" y="4712788"/>
            <a:ext cx="23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198-14-77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info@7rlines.com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7" name="Google Shape;537;g3c3fe6efce6_0_1198"/>
          <p:cNvCxnSpPr/>
          <p:nvPr/>
        </p:nvCxnSpPr>
        <p:spPr>
          <a:xfrm rot="10800000">
            <a:off x="4683675" y="-5300"/>
            <a:ext cx="0" cy="4667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8" name="Google Shape;538;g3c3fe6efce6_0_1198"/>
          <p:cNvCxnSpPr/>
          <p:nvPr/>
        </p:nvCxnSpPr>
        <p:spPr>
          <a:xfrm rot="10800000">
            <a:off x="2157075" y="4670325"/>
            <a:ext cx="0" cy="4797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Google Shape;539;g3c3fe6efce6_0_119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c3fe6efce6_0_1198"/>
          <p:cNvSpPr txBox="1"/>
          <p:nvPr/>
        </p:nvSpPr>
        <p:spPr>
          <a:xfrm>
            <a:off x="5414675" y="20974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2161</Words>
  <Application>Microsoft Office PowerPoint</Application>
  <PresentationFormat>Экран (16:9)</PresentationFormat>
  <Paragraphs>442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Poppins</vt:lpstr>
      <vt:lpstr>Montserrat</vt:lpstr>
      <vt:lpstr>Office Theme</vt:lpstr>
      <vt:lpstr>Simple Light</vt:lpstr>
      <vt:lpstr>Office Theme</vt:lpstr>
      <vt:lpstr>Внедряем автоматизацию с ИИ любой сложности   Помогаем компаниям пройти практическую ИИ-трансформацию - от первых пилотов до масштабирования на ключевые процессы. Создаём реально работающие инструменты, встроенные в бизнес-процесс.  </vt:lpstr>
      <vt:lpstr>Основные компетенции</vt:lpstr>
      <vt:lpstr>Нам доверяют</vt:lpstr>
      <vt:lpstr>Полный спектр работы с ИИ</vt:lpstr>
      <vt:lpstr>Официальный поставщик отечественных решений</vt:lpstr>
      <vt:lpstr>Отраслевые внедрения</vt:lpstr>
      <vt:lpstr>Помогаем в разработке нормативной базы</vt:lpstr>
      <vt:lpstr>Более 100 пилотных проектов за последние месяцы</vt:lpstr>
      <vt:lpstr>Корпоративное обучение</vt:lpstr>
      <vt:lpstr>Трансформация компании под ключ</vt:lpstr>
      <vt:lpstr>ИИ система для участия в тендерах</vt:lpstr>
      <vt:lpstr>ИИ для управляющих компаний</vt:lpstr>
      <vt:lpstr>ИИ оптимизация рецептуры</vt:lpstr>
      <vt:lpstr>ИИ-скоринг судебных дел</vt:lpstr>
      <vt:lpstr>ИИ-управление недвижимостью</vt:lpstr>
      <vt:lpstr>ИИ-управление транспортом</vt:lpstr>
      <vt:lpstr>ИИ-помощник руководителя</vt:lpstr>
      <vt:lpstr>ИИ-мультимедиа платформа</vt:lpstr>
      <vt:lpstr>Связываем бизнес и науку</vt:lpstr>
      <vt:lpstr>Контакты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7REDLINES</dc:creator>
  <cp:lastModifiedBy>v320</cp:lastModifiedBy>
  <cp:revision>1</cp:revision>
  <dcterms:created xsi:type="dcterms:W3CDTF">2026-02-04T16:05:40Z</dcterms:created>
  <dcterms:modified xsi:type="dcterms:W3CDTF">2026-07-05T15:27:02Z</dcterms:modified>
</cp:coreProperties>
</file>