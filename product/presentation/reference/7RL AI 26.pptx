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  <p:sldMasterId id="2147483654" r:id="rId2"/>
  </p:sldMasterIdLst>
  <p:notesMasterIdLst>
    <p:notesMasterId r:id="rId18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9144000" cy="5143500" type="screen16x9"/>
  <p:notesSz cx="5143500" cy="9144000"/>
  <p:embeddedFontLst>
    <p:embeddedFont>
      <p:font typeface="Montserrat" panose="00000500000000000000" pitchFamily="2" charset="-52"/>
      <p:regular r:id="rId19"/>
      <p:bold r:id="rId20"/>
      <p:italic r:id="rId21"/>
      <p:boldItalic r:id="rId22"/>
    </p:embeddedFont>
    <p:embeddedFont>
      <p:font typeface="Poppins" panose="00000500000000000000" pitchFamily="2" charset="0"/>
      <p:regular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j9wywNCG87DsbeDoHDocyj0CzWR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16D27EC5-8840-424C-AB61-12F452383694}">
  <a:tblStyle styleId="{16D27EC5-8840-424C-AB61-12F452383694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4BA78E94-E1A8-4C5B-BB03-8F45029D6EFB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649A5B2F-7EF0-4B20-B507-148DBCCF0821}" styleName="Table_2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55" d="100"/>
          <a:sy n="155" d="100"/>
        </p:scale>
        <p:origin x="3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26" Type="http://customschemas.google.com/relationships/presentationmetadata" Target="metadata"/><Relationship Id="rId3" Type="http://schemas.openxmlformats.org/officeDocument/2006/relationships/slide" Target="slides/slide1.xml"/><Relationship Id="rId21" Type="http://schemas.openxmlformats.org/officeDocument/2006/relationships/font" Target="fonts/font3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font" Target="fonts/font1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c3fe6efce6_0_885:notes"/>
          <p:cNvSpPr txBox="1">
            <a:spLocks noGrp="1"/>
          </p:cNvSpPr>
          <p:nvPr>
            <p:ph type="body" idx="1"/>
          </p:nvPr>
        </p:nvSpPr>
        <p:spPr>
          <a:xfrm>
            <a:off x="514350" y="4400550"/>
            <a:ext cx="41148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70" name="Google Shape;70;g3c3fe6efce6_0_8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514350" y="1143000"/>
            <a:ext cx="41148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3c3fe6efce6_0_1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3" name="Google Shape;83;g3c3fe6efce6_0_110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cb51f55c2a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1" name="Google Shape;101;g3cb51f55c2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857419" y="685800"/>
            <a:ext cx="3429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5" name="Google Shape;145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cbab004d01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cbab004d01_0_32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cbab004d01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" name="Google Shape;192;g3cbab004d01_0_0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bab004d01_0_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47625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cbab004d01_0_62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8" name="Google Shape;208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9" name="Google Shape;249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cbab004d01_0_1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257303" y="428572"/>
            <a:ext cx="2057100" cy="1157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58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77" name="Google Shape;277;g3cbab004d01_0_124:notes"/>
          <p:cNvSpPr txBox="1">
            <a:spLocks noGrp="1"/>
          </p:cNvSpPr>
          <p:nvPr>
            <p:ph type="body" idx="1"/>
          </p:nvPr>
        </p:nvSpPr>
        <p:spPr>
          <a:xfrm>
            <a:off x="257175" y="1650002"/>
            <a:ext cx="2057400" cy="135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endParaRPr/>
          </a:p>
        </p:txBody>
      </p:sp>
      <p:sp>
        <p:nvSpPr>
          <p:cNvPr id="278" name="Google Shape;278;g3cbab004d01_0_124:notes"/>
          <p:cNvSpPr txBox="1">
            <a:spLocks noGrp="1"/>
          </p:cNvSpPr>
          <p:nvPr>
            <p:ph type="sldNum" idx="12"/>
          </p:nvPr>
        </p:nvSpPr>
        <p:spPr>
          <a:xfrm>
            <a:off x="1456730" y="3256551"/>
            <a:ext cx="1114500" cy="17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900" tIns="20950" rIns="41900" bIns="2095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"/>
              <a:buNone/>
            </a:pPr>
            <a:fld id="{00000000-1234-1234-1234-123412341234}" type="slidenum">
              <a:rPr lang="en-US" sz="600"/>
              <a:t>10</a:t>
            </a:fld>
            <a:endParaRPr sz="60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2" name="Google Shape;312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5" name="Google Shape;335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cbab004d01_0_2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cbab004d01_0_24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g3c3fe6efce6_0_11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5975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66" name="Google Shape;366;g3c3fe6efce6_0_1198:notes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ver">
  <p:cSld name="1-Cover"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g3c3fe6efce6_0_117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●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○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Font typeface="Arial"/>
              <a:buChar char="■"/>
              <a:defRPr sz="52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Google Shape;9;g3c3fe6efce6_0_117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Google Shape;10;g3c3fe6efce6_0_11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g3c3fe6efce6_0_126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None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g3c3fe6efce6_0_126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g3c3fe6efce6_0_126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g3cb51f55c2a_0_91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g3cbab004d01_0_26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24" name="Google Shape;24;g3cbab004d01_0_26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25" name="Google Shape;25;g3cbab004d01_0_26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g3cbab004d01_0_266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8" name="Google Shape;28;g3cbab004d01_0_26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g3cbab004d01_0_26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g3cbab004d01_0_26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g3cbab004d01_0_26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bab004d01_0_27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g3cbab004d01_0_27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g3cbab004d01_0_273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g3cbab004d01_0_27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g3cbab004d01_0_27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g3cbab004d01_0_27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3cbab004d01_0_281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3" name="Google Shape;43;g3cbab004d01_0_281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4" name="Google Shape;44;g3cbab004d01_0_28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bab004d01_0_285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7" name="Google Shape;47;g3cbab004d01_0_28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cbab004d01_0_28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" name="Google Shape;50;g3cbab004d01_0_28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1" name="Google Shape;51;g3cbab004d01_0_28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2" name="Google Shape;52;g3cbab004d01_0_28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3" name="Google Shape;53;g3cbab004d01_0_28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cbab004d01_0_294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6" name="Google Shape;56;g3cbab004d01_0_29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cbab004d01_0_297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9" name="Google Shape;59;g3cbab004d01_0_297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g3cbab004d01_0_29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cbab004d01_0_30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bab004d01_0_304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-Cover">
  <p:cSld name="1-Cover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13" Type="http://schemas.openxmlformats.org/officeDocument/2006/relationships/slideLayout" Target="../slideLayouts/slideLayout18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7.xml"/><Relationship Id="rId2" Type="http://schemas.openxmlformats.org/officeDocument/2006/relationships/slideLayout" Target="../slideLayouts/slideLayout7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5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Relationship Id="rId1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g3cbab004d01_0_25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20" name="Google Shape;20;g3cbab004d01_0_258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" name="Google Shape;21;g3cbab004d01_0_25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  <p:sldLayoutId id="2147483665" r:id="rId11"/>
    <p:sldLayoutId id="2147483666" r:id="rId12"/>
    <p:sldLayoutId id="2147483667" r:id="rId13"/>
    <p:sldLayoutId id="2147483668" r:id="rId14"/>
    <p:sldLayoutId id="2147483669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18" Type="http://schemas.openxmlformats.org/officeDocument/2006/relationships/image" Target="../media/image20.jpg"/><Relationship Id="rId26" Type="http://schemas.openxmlformats.org/officeDocument/2006/relationships/image" Target="../media/image28.png"/><Relationship Id="rId3" Type="http://schemas.openxmlformats.org/officeDocument/2006/relationships/image" Target="../media/image5.jpg"/><Relationship Id="rId21" Type="http://schemas.openxmlformats.org/officeDocument/2006/relationships/image" Target="../media/image23.png"/><Relationship Id="rId7" Type="http://schemas.openxmlformats.org/officeDocument/2006/relationships/image" Target="../media/image9.jpg"/><Relationship Id="rId12" Type="http://schemas.openxmlformats.org/officeDocument/2006/relationships/image" Target="../media/image14.png"/><Relationship Id="rId17" Type="http://schemas.openxmlformats.org/officeDocument/2006/relationships/image" Target="../media/image19.png"/><Relationship Id="rId25" Type="http://schemas.openxmlformats.org/officeDocument/2006/relationships/image" Target="../media/image27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8.jpg"/><Relationship Id="rId20" Type="http://schemas.openxmlformats.org/officeDocument/2006/relationships/image" Target="../media/image22.png"/><Relationship Id="rId29" Type="http://schemas.openxmlformats.org/officeDocument/2006/relationships/image" Target="../media/image3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8.jpg"/><Relationship Id="rId11" Type="http://schemas.openxmlformats.org/officeDocument/2006/relationships/image" Target="../media/image13.jp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5" Type="http://schemas.openxmlformats.org/officeDocument/2006/relationships/image" Target="../media/image7.jpg"/><Relationship Id="rId15" Type="http://schemas.openxmlformats.org/officeDocument/2006/relationships/image" Target="../media/image17.jpg"/><Relationship Id="rId23" Type="http://schemas.openxmlformats.org/officeDocument/2006/relationships/image" Target="../media/image25.png"/><Relationship Id="rId28" Type="http://schemas.openxmlformats.org/officeDocument/2006/relationships/image" Target="../media/image30.png"/><Relationship Id="rId10" Type="http://schemas.openxmlformats.org/officeDocument/2006/relationships/image" Target="../media/image12.jpg"/><Relationship Id="rId19" Type="http://schemas.openxmlformats.org/officeDocument/2006/relationships/image" Target="../media/image21.png"/><Relationship Id="rId31" Type="http://schemas.openxmlformats.org/officeDocument/2006/relationships/image" Target="../media/image33.png"/><Relationship Id="rId4" Type="http://schemas.openxmlformats.org/officeDocument/2006/relationships/image" Target="../media/image6.jpg"/><Relationship Id="rId9" Type="http://schemas.openxmlformats.org/officeDocument/2006/relationships/image" Target="../media/image11.png"/><Relationship Id="rId14" Type="http://schemas.openxmlformats.org/officeDocument/2006/relationships/image" Target="../media/image16.jpg"/><Relationship Id="rId22" Type="http://schemas.openxmlformats.org/officeDocument/2006/relationships/image" Target="../media/image24.jpg"/><Relationship Id="rId27" Type="http://schemas.openxmlformats.org/officeDocument/2006/relationships/image" Target="../media/image29.png"/><Relationship Id="rId30" Type="http://schemas.openxmlformats.org/officeDocument/2006/relationships/image" Target="../media/image32.jp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rpa-robin.ru/" TargetMode="External"/><Relationship Id="rId13" Type="http://schemas.openxmlformats.org/officeDocument/2006/relationships/hyperlink" Target="https://www.sferaplatform.ru/" TargetMode="External"/><Relationship Id="rId3" Type="http://schemas.openxmlformats.org/officeDocument/2006/relationships/hyperlink" Target="https://arenadata.tech/" TargetMode="External"/><Relationship Id="rId7" Type="http://schemas.openxmlformats.org/officeDocument/2006/relationships/hyperlink" Target="https://modusbi.ru/" TargetMode="External"/><Relationship Id="rId12" Type="http://schemas.openxmlformats.org/officeDocument/2006/relationships/hyperlink" Target="https://testit.software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6" Type="http://schemas.openxmlformats.org/officeDocument/2006/relationships/hyperlink" Target="https://postgrespro.ru/" TargetMode="External"/><Relationship Id="rId11" Type="http://schemas.openxmlformats.org/officeDocument/2006/relationships/hyperlink" Target="https://teamstorm.io/" TargetMode="External"/><Relationship Id="rId5" Type="http://schemas.openxmlformats.org/officeDocument/2006/relationships/hyperlink" Target="https://pix.ru/" TargetMode="External"/><Relationship Id="rId10" Type="http://schemas.openxmlformats.org/officeDocument/2006/relationships/hyperlink" Target="https://elma365.com/ru/" TargetMode="External"/><Relationship Id="rId4" Type="http://schemas.openxmlformats.org/officeDocument/2006/relationships/hyperlink" Target="https://ru.visiology.su/" TargetMode="External"/><Relationship Id="rId9" Type="http://schemas.openxmlformats.org/officeDocument/2006/relationships/hyperlink" Target="https://1c.ru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7rlines.com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c3fe6efce6_0_885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5026800" cy="199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lang="en-US" sz="2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автоматизацию с ИИ</a:t>
            </a:r>
            <a:endParaRPr sz="20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2800"/>
              <a:buFont typeface="Arial"/>
              <a:buNone/>
            </a:pPr>
            <a:r>
              <a:rPr lang="en-US" sz="2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любой сложности</a:t>
            </a:r>
            <a:endParaRPr sz="2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0A0A0A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50"/>
              <a:buFont typeface="Arial"/>
              <a:buNone/>
            </a:pPr>
            <a:r>
              <a:rPr lang="en-US" sz="1000" b="0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Помогаем компаниям пройти практическую ИИ-трансформацию - от первых пилотов до масштабирования на ключевые процессы. Создаём реально работающие инструменты, встроенные в бизнес-процесс.</a:t>
            </a:r>
            <a:endParaRPr sz="10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rgbClr val="525252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Font typeface="Arial"/>
              <a:buNone/>
            </a:pP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3" name="Google Shape;73;g3c3fe6efce6_0_885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Презентация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4" name="Google Shape;74;g3c3fe6efce6_0_885"/>
          <p:cNvSpPr txBox="1"/>
          <p:nvPr/>
        </p:nvSpPr>
        <p:spPr>
          <a:xfrm>
            <a:off x="828675" y="4264975"/>
            <a:ext cx="3000000" cy="7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(495) 198 14 77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info@7rlines.com</a:t>
            </a:r>
            <a:endParaRPr sz="1400" b="1" i="0" u="none" strike="noStrike" cap="none">
              <a:solidFill>
                <a:srgbClr val="FF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75" name="Google Shape;75;g3c3fe6efce6_0_885"/>
          <p:cNvCxnSpPr/>
          <p:nvPr/>
        </p:nvCxnSpPr>
        <p:spPr>
          <a:xfrm>
            <a:off x="4150" y="3595000"/>
            <a:ext cx="91317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6" name="Google Shape;76;g3c3fe6efce6_0_885"/>
          <p:cNvCxnSpPr/>
          <p:nvPr/>
        </p:nvCxnSpPr>
        <p:spPr>
          <a:xfrm rot="10800000">
            <a:off x="6512475" y="-5450"/>
            <a:ext cx="0" cy="35916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77" name="Google Shape;77;g3c3fe6efce6_0_885"/>
          <p:cNvCxnSpPr/>
          <p:nvPr/>
        </p:nvCxnSpPr>
        <p:spPr>
          <a:xfrm rot="10800000">
            <a:off x="3968184" y="3598200"/>
            <a:ext cx="0" cy="15453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78" name="Google Shape;78;g3c3fe6efce6_0_885"/>
          <p:cNvSpPr/>
          <p:nvPr/>
        </p:nvSpPr>
        <p:spPr>
          <a:xfrm>
            <a:off x="3970406" y="3594997"/>
            <a:ext cx="5173500" cy="816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g3c3fe6efce6_0_885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g3c3fe6efce6_0_885"/>
          <p:cNvSpPr txBox="1"/>
          <p:nvPr/>
        </p:nvSpPr>
        <p:spPr>
          <a:xfrm>
            <a:off x="5057150" y="41760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КРАСНЫХ</a:t>
            </a: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ЛИНИЙ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c3fe6efce6_0_1108"/>
          <p:cNvSpPr txBox="1"/>
          <p:nvPr/>
        </p:nvSpPr>
        <p:spPr>
          <a:xfrm>
            <a:off x="828675" y="1339150"/>
            <a:ext cx="3584700" cy="390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и управление данными 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хранилища данных, витрины, создаем BI-отчеты. Обеспечиваем визуализацию и 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управление данными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Работа </a:t>
            </a:r>
            <a:r>
              <a:rPr lang="en-US" sz="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 языковыми моделями и</a:t>
            </a: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агентами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платформы, создаем умные базы знаний, запускаем ИИ ассистентов и умные боты для поддержки или продаж.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Машинное обучение</a:t>
            </a:r>
            <a:endParaRPr sz="8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Создаем модели для предсказания поломок оборудования, классификации клиентских обращений или действий пользователей.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бизнес-процессов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Интегрируем 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роботизированные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решения с вашими корпоративными информационными системами.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Техническая поддержка и сопровождение</a:t>
            </a:r>
            <a:b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Поддержка И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администрирование, мониторинг, устранение инцидентов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8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g3c3fe6efce6_0_110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500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7" name="Google Shape;87;g3c3fe6efce6_0_1108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Основные компетенции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88" name="Google Shape;88;g3c3fe6efce6_0_1108" title="mintsifry.png"/>
          <p:cNvPicPr preferRelativeResize="0"/>
          <p:nvPr/>
        </p:nvPicPr>
        <p:blipFill rotWithShape="1">
          <a:blip r:embed="rId3">
            <a:alphaModFix amt="60000"/>
          </a:blip>
          <a:srcRect/>
          <a:stretch/>
        </p:blipFill>
        <p:spPr>
          <a:xfrm>
            <a:off x="7672336" y="1787990"/>
            <a:ext cx="836229" cy="182096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g3c3fe6efce6_0_1108" title="image-1.png"/>
          <p:cNvPicPr preferRelativeResize="0"/>
          <p:nvPr/>
        </p:nvPicPr>
        <p:blipFill rotWithShape="1">
          <a:blip r:embed="rId4">
            <a:alphaModFix amt="60000"/>
          </a:blip>
          <a:srcRect/>
          <a:stretch/>
        </p:blipFill>
        <p:spPr>
          <a:xfrm>
            <a:off x="6797519" y="1779075"/>
            <a:ext cx="728924" cy="199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g3c3fe6efce6_0_1108" title="MOSCOW_EXPO.png"/>
          <p:cNvPicPr preferRelativeResize="0"/>
          <p:nvPr/>
        </p:nvPicPr>
        <p:blipFill rotWithShape="1">
          <a:blip r:embed="rId5">
            <a:alphaModFix amt="60000"/>
          </a:blip>
          <a:srcRect/>
          <a:stretch/>
        </p:blipFill>
        <p:spPr>
          <a:xfrm>
            <a:off x="5666001" y="1802593"/>
            <a:ext cx="927116" cy="167496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g3c3fe6efce6_0_1108" title="6b7abc69e0.png"/>
          <p:cNvPicPr preferRelativeResize="0"/>
          <p:nvPr/>
        </p:nvPicPr>
        <p:blipFill rotWithShape="1">
          <a:blip r:embed="rId6">
            <a:alphaModFix amt="60000"/>
          </a:blip>
          <a:srcRect/>
          <a:stretch/>
        </p:blipFill>
        <p:spPr>
          <a:xfrm>
            <a:off x="4795175" y="1807063"/>
            <a:ext cx="666418" cy="19992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g3c3fe6efce6_0_1108"/>
          <p:cNvSpPr txBox="1"/>
          <p:nvPr/>
        </p:nvSpPr>
        <p:spPr>
          <a:xfrm>
            <a:off x="4122012" y="1476088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Аккредитация и сертификация</a:t>
            </a:r>
            <a:endParaRPr sz="700" b="1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3" name="Google Shape;93;g3c3fe6efce6_0_1108"/>
          <p:cNvCxnSpPr/>
          <p:nvPr/>
        </p:nvCxnSpPr>
        <p:spPr>
          <a:xfrm>
            <a:off x="828675" y="4308847"/>
            <a:ext cx="36606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4" name="Google Shape;94;g3c3fe6efce6_0_1108"/>
          <p:cNvSpPr txBox="1"/>
          <p:nvPr/>
        </p:nvSpPr>
        <p:spPr>
          <a:xfrm>
            <a:off x="4795175" y="2482150"/>
            <a:ext cx="3713400" cy="166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Более 10 лет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опыта в комплексной цифровизации бизнеса и госструктур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150+ экспертов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аналитике, разработке и сопровождении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500+ проектов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в промышленности, госсекторе, страховании, ритейле, банках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100+ решений на базе ИИ и ML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включая чат-боты, анализ данных и голосовые интерфейсы</a:t>
            </a:r>
            <a:b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n-US" sz="800" b="1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100+ внедренных аналитических платформ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95" name="Google Shape;95;g3c3fe6efce6_0_1108"/>
          <p:cNvCxnSpPr/>
          <p:nvPr/>
        </p:nvCxnSpPr>
        <p:spPr>
          <a:xfrm>
            <a:off x="4481125" y="2198375"/>
            <a:ext cx="40461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96" name="Google Shape;96;g3c3fe6efce6_0_1108"/>
          <p:cNvCxnSpPr/>
          <p:nvPr/>
        </p:nvCxnSpPr>
        <p:spPr>
          <a:xfrm rot="10800000">
            <a:off x="4481125" y="597275"/>
            <a:ext cx="0" cy="40881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7" name="Google Shape;97;g3c3fe6efce6_0_110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g3c3fe6efce6_0_1108"/>
          <p:cNvSpPr txBox="1"/>
          <p:nvPr/>
        </p:nvSpPr>
        <p:spPr>
          <a:xfrm>
            <a:off x="5208175" y="738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КРАСНЫХ</a:t>
            </a: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ЛИНИЙ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3" name="Google Shape;103;g3cb51f55c2a_0_0"/>
          <p:cNvGraphicFramePr/>
          <p:nvPr/>
        </p:nvGraphicFramePr>
        <p:xfrm>
          <a:off x="834772" y="1476259"/>
          <a:ext cx="3000000" cy="3000000"/>
        </p:xfrm>
        <a:graphic>
          <a:graphicData uri="http://schemas.openxmlformats.org/drawingml/2006/table">
            <a:tbl>
              <a:tblPr firstRow="1" bandRow="1">
                <a:noFill/>
                <a:tableStyleId>{16D27EC5-8840-424C-AB61-12F452383694}</a:tableStyleId>
              </a:tblPr>
              <a:tblGrid>
                <a:gridCol w="12819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13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924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Финтех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rgbClr val="FF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Государственный сектор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242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Промышленность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Ритейл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Poppins"/>
                        <a:buNone/>
                      </a:pP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ИТ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7575">
                <a:tc>
                  <a:txBody>
                    <a:bodyPr/>
                    <a:lstStyle/>
                    <a:p>
                      <a:pPr marL="0" marR="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7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Крупные компании</a:t>
                      </a:r>
                      <a:endParaRPr sz="7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b="1">
                        <a:solidFill>
                          <a:schemeClr val="dk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68600" marR="68600" marT="34300" marB="343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E5E5E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104" name="Google Shape;104;g3cb51f55c2a_0_0" title="8c16b35fd872774a200380a28bdff400.jpg"/>
          <p:cNvPicPr preferRelativeResize="0"/>
          <p:nvPr/>
        </p:nvPicPr>
        <p:blipFill rotWithShape="1">
          <a:blip r:embed="rId3">
            <a:alphaModFix/>
          </a:blip>
          <a:srcRect l="34902" t="39661" r="34790" b="37636"/>
          <a:stretch/>
        </p:blipFill>
        <p:spPr>
          <a:xfrm>
            <a:off x="7117113" y="2658050"/>
            <a:ext cx="686547" cy="3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g3cb51f55c2a_0_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Нам доверяют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6" name="Google Shape;106;g3cb51f55c2a_0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12750" y="3314252"/>
            <a:ext cx="817456" cy="1302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g3cb51f55c2a_0_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5986" y="3290819"/>
            <a:ext cx="596990" cy="16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g3cb51f55c2a_0_0"/>
          <p:cNvPicPr preferRelativeResize="0"/>
          <p:nvPr/>
        </p:nvPicPr>
        <p:blipFill rotWithShape="1">
          <a:blip r:embed="rId6">
            <a:alphaModFix/>
          </a:blip>
          <a:srcRect b="4589"/>
          <a:stretch/>
        </p:blipFill>
        <p:spPr>
          <a:xfrm>
            <a:off x="2574171" y="1644129"/>
            <a:ext cx="849398" cy="1879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g3cb51f55c2a_0_0"/>
          <p:cNvPicPr preferRelativeResize="0"/>
          <p:nvPr/>
        </p:nvPicPr>
        <p:blipFill rotWithShape="1">
          <a:blip r:embed="rId7">
            <a:alphaModFix/>
          </a:blip>
          <a:srcRect l="13459" t="21331" r="13114" b="22267"/>
          <a:stretch/>
        </p:blipFill>
        <p:spPr>
          <a:xfrm>
            <a:off x="4989865" y="1602313"/>
            <a:ext cx="560951" cy="240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g3cb51f55c2a_0_0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989887" y="2694116"/>
            <a:ext cx="720504" cy="2564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cb51f55c2a_0_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697627" y="2208149"/>
            <a:ext cx="647700" cy="18880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cb51f55c2a_0_0"/>
          <p:cNvPicPr preferRelativeResize="0"/>
          <p:nvPr/>
        </p:nvPicPr>
        <p:blipFill rotWithShape="1">
          <a:blip r:embed="rId10">
            <a:alphaModFix/>
          </a:blip>
          <a:srcRect t="27044" b="22520"/>
          <a:stretch/>
        </p:blipFill>
        <p:spPr>
          <a:xfrm>
            <a:off x="6046999" y="2181298"/>
            <a:ext cx="1017145" cy="2004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cb51f55c2a_0_0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7117114" y="1667911"/>
            <a:ext cx="769084" cy="14036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cb51f55c2a_0_0" title="raiffeisenbank.png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046991" y="1538490"/>
            <a:ext cx="769080" cy="399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cb51f55c2a_0_0" title="alfa-bank-e1566973775405.png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673746" y="1582258"/>
            <a:ext cx="917371" cy="311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cb51f55c2a_0_0" title="cik.jpg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7120438" y="2156545"/>
            <a:ext cx="1017151" cy="2499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g3cb51f55c2a_0_0" title="min.jpg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677870" y="2208149"/>
            <a:ext cx="868818" cy="146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g3cb51f55c2a_0_0" title="f8271aca70114f9936bdba13dabd7e72.jpg"/>
          <p:cNvPicPr preferRelativeResize="0"/>
          <p:nvPr/>
        </p:nvPicPr>
        <p:blipFill rotWithShape="1">
          <a:blip r:embed="rId16">
            <a:alphaModFix/>
          </a:blip>
          <a:srcRect t="23874" b="24170"/>
          <a:stretch/>
        </p:blipFill>
        <p:spPr>
          <a:xfrm>
            <a:off x="4961561" y="2148739"/>
            <a:ext cx="810821" cy="28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g3cb51f55c2a_0_0" title="okhl4gqfinvxn2kpm9rxfrxx132257u2.png"/>
          <p:cNvPicPr preferRelativeResize="0"/>
          <p:nvPr/>
        </p:nvPicPr>
        <p:blipFill rotWithShape="1">
          <a:blip r:embed="rId17">
            <a:alphaModFix/>
          </a:blip>
          <a:srcRect t="28149" b="28770"/>
          <a:stretch/>
        </p:blipFill>
        <p:spPr>
          <a:xfrm>
            <a:off x="2680000" y="2690025"/>
            <a:ext cx="637747" cy="274752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g3cb51f55c2a_0_0" title="Логотип__Уралкалия_.jpg"/>
          <p:cNvPicPr preferRelativeResize="0"/>
          <p:nvPr/>
        </p:nvPicPr>
        <p:blipFill rotWithShape="1">
          <a:blip r:embed="rId18">
            <a:alphaModFix/>
          </a:blip>
          <a:srcRect l="9572" t="39640" r="7913" b="40173"/>
          <a:stretch/>
        </p:blipFill>
        <p:spPr>
          <a:xfrm>
            <a:off x="3677875" y="2737487"/>
            <a:ext cx="1038915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" name="Google Shape;121;g3cb51f55c2a_0_0" title="3b700d37ad825ed5818f7eb257bf4cf2.png"/>
          <p:cNvPicPr preferRelativeResize="0"/>
          <p:nvPr/>
        </p:nvPicPr>
        <p:blipFill rotWithShape="1">
          <a:blip r:embed="rId19">
            <a:alphaModFix/>
          </a:blip>
          <a:srcRect l="17518" t="24750" r="17719" b="23730"/>
          <a:stretch/>
        </p:blipFill>
        <p:spPr>
          <a:xfrm>
            <a:off x="6047000" y="2706934"/>
            <a:ext cx="686551" cy="26667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g3cb51f55c2a_0_0" title="1uqwj892u58ofsuc60a4tnk03su0ty2s.png"/>
          <p:cNvPicPr preferRelativeResize="0"/>
          <p:nvPr/>
        </p:nvPicPr>
        <p:blipFill>
          <a:blip r:embed="rId20">
            <a:alphaModFix/>
          </a:blip>
          <a:stretch>
            <a:fillRect/>
          </a:stretch>
        </p:blipFill>
        <p:spPr>
          <a:xfrm>
            <a:off x="3673751" y="3300595"/>
            <a:ext cx="836111" cy="1575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g3cb51f55c2a_0_0" title="ozon png.png"/>
          <p:cNvPicPr preferRelativeResize="0"/>
          <p:nvPr/>
        </p:nvPicPr>
        <p:blipFill rotWithShape="1">
          <a:blip r:embed="rId21">
            <a:alphaModFix/>
          </a:blip>
          <a:srcRect t="25740" b="26654"/>
          <a:stretch/>
        </p:blipFill>
        <p:spPr>
          <a:xfrm>
            <a:off x="4848572" y="3283980"/>
            <a:ext cx="955648" cy="19991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g3cb51f55c2a_0_0"/>
          <p:cNvPicPr preferRelativeResize="0"/>
          <p:nvPr/>
        </p:nvPicPr>
        <p:blipFill>
          <a:blip r:embed="rId22">
            <a:alphaModFix/>
          </a:blip>
          <a:stretch>
            <a:fillRect/>
          </a:stretch>
        </p:blipFill>
        <p:spPr>
          <a:xfrm>
            <a:off x="7164201" y="3247464"/>
            <a:ext cx="540785" cy="256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g3cb51f55c2a_0_0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200 компаний знают нас как надежного интегратора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6" name="Google Shape;126;g3cb51f55c2a_0_0"/>
          <p:cNvSpPr/>
          <p:nvPr/>
        </p:nvSpPr>
        <p:spPr>
          <a:xfrm>
            <a:off x="8168656" y="1584200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+20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7" name="Google Shape;127;g3cb51f55c2a_0_0"/>
          <p:cNvSpPr/>
          <p:nvPr/>
        </p:nvSpPr>
        <p:spPr>
          <a:xfrm>
            <a:off x="8168656" y="213527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+35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8" name="Google Shape;128;g3cb51f55c2a_0_0"/>
          <p:cNvSpPr/>
          <p:nvPr/>
        </p:nvSpPr>
        <p:spPr>
          <a:xfrm>
            <a:off x="8168656" y="26863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+50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9" name="Google Shape;129;g3cb51f55c2a_0_0"/>
          <p:cNvSpPr/>
          <p:nvPr/>
        </p:nvSpPr>
        <p:spPr>
          <a:xfrm>
            <a:off x="8168656" y="3208938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+15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0" name="Google Shape;130;g3cb51f55c2a_0_0" title="КРОК Green Logo.png"/>
          <p:cNvPicPr preferRelativeResize="0"/>
          <p:nvPr/>
        </p:nvPicPr>
        <p:blipFill>
          <a:blip r:embed="rId23">
            <a:alphaModFix/>
          </a:blip>
          <a:stretch>
            <a:fillRect/>
          </a:stretch>
        </p:blipFill>
        <p:spPr>
          <a:xfrm>
            <a:off x="4847487" y="3801877"/>
            <a:ext cx="917375" cy="4709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g3cb51f55c2a_0_0" title="logortk.png"/>
          <p:cNvPicPr preferRelativeResize="0"/>
          <p:nvPr/>
        </p:nvPicPr>
        <p:blipFill>
          <a:blip r:embed="rId24">
            <a:alphaModFix/>
          </a:blip>
          <a:stretch>
            <a:fillRect/>
          </a:stretch>
        </p:blipFill>
        <p:spPr>
          <a:xfrm>
            <a:off x="2612751" y="3856635"/>
            <a:ext cx="810824" cy="2989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g3cb51f55c2a_0_0" title="usetech_logo_bl.png"/>
          <p:cNvPicPr preferRelativeResize="0"/>
          <p:nvPr/>
        </p:nvPicPr>
        <p:blipFill>
          <a:blip r:embed="rId25">
            <a:alphaModFix/>
          </a:blip>
          <a:stretch>
            <a:fillRect/>
          </a:stretch>
        </p:blipFill>
        <p:spPr>
          <a:xfrm>
            <a:off x="7190475" y="3936886"/>
            <a:ext cx="735901" cy="179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g3cb51f55c2a_0_0" title="Mask_group_63.png"/>
          <p:cNvPicPr preferRelativeResize="0"/>
          <p:nvPr/>
        </p:nvPicPr>
        <p:blipFill>
          <a:blip r:embed="rId26">
            <a:alphaModFix/>
          </a:blip>
          <a:stretch>
            <a:fillRect/>
          </a:stretch>
        </p:blipFill>
        <p:spPr>
          <a:xfrm>
            <a:off x="3673750" y="3967774"/>
            <a:ext cx="917376" cy="2113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cb51f55c2a_0_0"/>
          <p:cNvSpPr/>
          <p:nvPr/>
        </p:nvSpPr>
        <p:spPr>
          <a:xfrm>
            <a:off x="8168656" y="3883425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+60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35" name="Google Shape;135;g3cb51f55c2a_0_0" title="Merlion.png"/>
          <p:cNvPicPr preferRelativeResize="0"/>
          <p:nvPr/>
        </p:nvPicPr>
        <p:blipFill>
          <a:blip r:embed="rId27">
            <a:alphaModFix/>
          </a:blip>
          <a:stretch>
            <a:fillRect/>
          </a:stretch>
        </p:blipFill>
        <p:spPr>
          <a:xfrm>
            <a:off x="6063588" y="3931890"/>
            <a:ext cx="735899" cy="1649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g3cb51f55c2a_0_0"/>
          <p:cNvPicPr preferRelativeResize="0"/>
          <p:nvPr/>
        </p:nvPicPr>
        <p:blipFill>
          <a:blip r:embed="rId28">
            <a:alphaModFix/>
          </a:blip>
          <a:stretch>
            <a:fillRect/>
          </a:stretch>
        </p:blipFill>
        <p:spPr>
          <a:xfrm>
            <a:off x="2580822" y="4531234"/>
            <a:ext cx="836127" cy="26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g3cb51f55c2a_0_0"/>
          <p:cNvPicPr preferRelativeResize="0"/>
          <p:nvPr/>
        </p:nvPicPr>
        <p:blipFill>
          <a:blip r:embed="rId29">
            <a:alphaModFix/>
          </a:blip>
          <a:stretch>
            <a:fillRect/>
          </a:stretch>
        </p:blipFill>
        <p:spPr>
          <a:xfrm>
            <a:off x="5006875" y="4481048"/>
            <a:ext cx="686526" cy="3604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g3cb51f55c2a_0_0"/>
          <p:cNvPicPr preferRelativeResize="0"/>
          <p:nvPr/>
        </p:nvPicPr>
        <p:blipFill>
          <a:blip r:embed="rId30">
            <a:alphaModFix/>
          </a:blip>
          <a:stretch>
            <a:fillRect/>
          </a:stretch>
        </p:blipFill>
        <p:spPr>
          <a:xfrm>
            <a:off x="7164205" y="4440419"/>
            <a:ext cx="592360" cy="441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g3cb51f55c2a_0_0"/>
          <p:cNvPicPr preferRelativeResize="0"/>
          <p:nvPr/>
        </p:nvPicPr>
        <p:blipFill rotWithShape="1">
          <a:blip r:embed="rId31">
            <a:alphaModFix/>
          </a:blip>
          <a:srcRect t="30366" b="28946"/>
          <a:stretch/>
        </p:blipFill>
        <p:spPr>
          <a:xfrm>
            <a:off x="3545425" y="4505424"/>
            <a:ext cx="1149210" cy="3116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g3cb51f55c2a_0_0"/>
          <p:cNvPicPr preferRelativeResize="0"/>
          <p:nvPr/>
        </p:nvPicPr>
        <p:blipFill>
          <a:blip r:embed="rId32">
            <a:alphaModFix/>
          </a:blip>
          <a:stretch>
            <a:fillRect/>
          </a:stretch>
        </p:blipFill>
        <p:spPr>
          <a:xfrm>
            <a:off x="6044274" y="4440435"/>
            <a:ext cx="769074" cy="393914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cb51f55c2a_0_0"/>
          <p:cNvSpPr/>
          <p:nvPr/>
        </p:nvSpPr>
        <p:spPr>
          <a:xfrm>
            <a:off x="8163006" y="4507363"/>
            <a:ext cx="561000" cy="307800"/>
          </a:xfrm>
          <a:prstGeom prst="roundRect">
            <a:avLst>
              <a:gd name="adj" fmla="val 50000"/>
            </a:avLst>
          </a:prstGeom>
          <a:solidFill>
            <a:srgbClr val="FF0000"/>
          </a:solidFill>
          <a:ln>
            <a:noFill/>
          </a:ln>
          <a:effectLst>
            <a:outerShdw blurRad="254000" dist="127000" dir="5400000" algn="t" rotWithShape="0">
              <a:srgbClr val="000000">
                <a:alpha val="2000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9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+80</a:t>
            </a:r>
            <a:endParaRPr sz="1100" b="0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2" name="Google Shape;142;g3cb51f55c2a_0_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"/>
          <p:cNvSpPr/>
          <p:nvPr/>
        </p:nvSpPr>
        <p:spPr>
          <a:xfrm>
            <a:off x="834775" y="1321975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3"/>
          <p:cNvSpPr/>
          <p:nvPr/>
        </p:nvSpPr>
        <p:spPr>
          <a:xfrm>
            <a:off x="834775" y="1321975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"/>
          <p:cNvSpPr/>
          <p:nvPr/>
        </p:nvSpPr>
        <p:spPr>
          <a:xfrm>
            <a:off x="1008957" y="1459135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Языковые модели</a:t>
            </a: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1000" b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и </a:t>
            </a: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агенты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1" name="Google Shape;151;p3"/>
          <p:cNvSpPr/>
          <p:nvPr/>
        </p:nvSpPr>
        <p:spPr>
          <a:xfrm>
            <a:off x="1008957" y="1824896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-платформы, создаем умные базы знаний, запускаем ИИ-ассистентов и умных ботов для поддержки и продаж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2" name="Google Shape;152;p3"/>
          <p:cNvSpPr/>
          <p:nvPr/>
        </p:nvSpPr>
        <p:spPr>
          <a:xfrm>
            <a:off x="4840957" y="1321975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3" name="Google Shape;153;p3"/>
          <p:cNvSpPr/>
          <p:nvPr/>
        </p:nvSpPr>
        <p:spPr>
          <a:xfrm>
            <a:off x="4840957" y="1321975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3"/>
          <p:cNvSpPr/>
          <p:nvPr/>
        </p:nvSpPr>
        <p:spPr>
          <a:xfrm>
            <a:off x="5015139" y="1459135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данных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5" name="Google Shape;155;p3"/>
          <p:cNvSpPr/>
          <p:nvPr/>
        </p:nvSpPr>
        <p:spPr>
          <a:xfrm>
            <a:off x="5015139" y="1824896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Внедряем хранилища данных, витрины, создаём BI-отчёты. Обеспечиваем визуализацию и Data Governance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6" name="Google Shape;156;p3"/>
          <p:cNvSpPr/>
          <p:nvPr/>
        </p:nvSpPr>
        <p:spPr>
          <a:xfrm>
            <a:off x="834775" y="3242220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"/>
          <p:cNvSpPr/>
          <p:nvPr/>
        </p:nvSpPr>
        <p:spPr>
          <a:xfrm>
            <a:off x="834775" y="3242220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8" name="Google Shape;158;p3"/>
          <p:cNvSpPr/>
          <p:nvPr/>
        </p:nvSpPr>
        <p:spPr>
          <a:xfrm>
            <a:off x="1008957" y="3379381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</a:t>
            </a:r>
            <a:r>
              <a:rPr lang="en-US" sz="1000" b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и роботизация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9" name="Google Shape;159;p3"/>
          <p:cNvSpPr/>
          <p:nvPr/>
        </p:nvSpPr>
        <p:spPr>
          <a:xfrm>
            <a:off x="1008957" y="3745142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Интегрируем роботизированные 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решения с корпоративными системами. Роботизация рутинных операций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0" name="Google Shape;160;p3"/>
          <p:cNvSpPr/>
          <p:nvPr/>
        </p:nvSpPr>
        <p:spPr>
          <a:xfrm>
            <a:off x="4840957" y="3242220"/>
            <a:ext cx="3831900" cy="17373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1" name="Google Shape;161;p3"/>
          <p:cNvSpPr/>
          <p:nvPr/>
        </p:nvSpPr>
        <p:spPr>
          <a:xfrm>
            <a:off x="4840957" y="3242220"/>
            <a:ext cx="3831900" cy="549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2" name="Google Shape;162;p3"/>
          <p:cNvSpPr/>
          <p:nvPr/>
        </p:nvSpPr>
        <p:spPr>
          <a:xfrm>
            <a:off x="5015139" y="3379381"/>
            <a:ext cx="34836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5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Машинное обучение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3" name="Google Shape;163;p3"/>
          <p:cNvSpPr/>
          <p:nvPr/>
        </p:nvSpPr>
        <p:spPr>
          <a:xfrm>
            <a:off x="5015139" y="3745142"/>
            <a:ext cx="3483600" cy="77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Модели для предсказания поломок, классификации обращений, предиктивной аналитики и скоринга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4" name="Google Shape;164;p3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компетенции по </a:t>
            </a: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5" name="Google Shape;165;p3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Полный спектр работы с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endParaRPr sz="20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6" name="Google Shape;166;p3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cbab004d01_0_32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70 проектов по импортозамещению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2" name="Google Shape;172;g3cbab004d01_0_328"/>
          <p:cNvSpPr txBox="1"/>
          <p:nvPr/>
        </p:nvSpPr>
        <p:spPr>
          <a:xfrm>
            <a:off x="774852" y="1173519"/>
            <a:ext cx="45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Montserrat"/>
                <a:ea typeface="Montserrat"/>
                <a:cs typeface="Montserrat"/>
                <a:sym typeface="Montserrat"/>
              </a:rPr>
              <a:t>Аналитические платформы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3" name="Google Shape;173;g3cbab004d01_0_32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g3cbab004d01_0_328"/>
          <p:cNvSpPr/>
          <p:nvPr/>
        </p:nvSpPr>
        <p:spPr>
          <a:xfrm>
            <a:off x="5459475" y="1540175"/>
            <a:ext cx="1627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Montserrat"/>
                <a:ea typeface="Montserrat"/>
                <a:cs typeface="Montserrat"/>
                <a:sym typeface="Montserrat"/>
              </a:rPr>
              <a:t>ArenaData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Montserrat"/>
                <a:ea typeface="Montserrat"/>
                <a:cs typeface="Montserrat"/>
                <a:sym typeface="Montserrat"/>
              </a:rPr>
              <a:t>Платформа хранения и обработки данных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https://arenadata.tech/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g3cbab004d01_0_328"/>
          <p:cNvSpPr txBox="1"/>
          <p:nvPr/>
        </p:nvSpPr>
        <p:spPr>
          <a:xfrm>
            <a:off x="5405976" y="1173525"/>
            <a:ext cx="462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Montserrat"/>
                <a:ea typeface="Montserrat"/>
                <a:cs typeface="Montserrat"/>
                <a:sym typeface="Montserrat"/>
              </a:rPr>
              <a:t>Инфраструктура данных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6" name="Google Shape;176;g3cbab004d01_0_328"/>
          <p:cNvSpPr/>
          <p:nvPr/>
        </p:nvSpPr>
        <p:spPr>
          <a:xfrm>
            <a:off x="834775" y="1547400"/>
            <a:ext cx="1285500" cy="8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Visiology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https://ru.visiology.su/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7" name="Google Shape;177;g3cbab004d01_0_328"/>
          <p:cNvSpPr/>
          <p:nvPr/>
        </p:nvSpPr>
        <p:spPr>
          <a:xfrm>
            <a:off x="2200878" y="1542575"/>
            <a:ext cx="1527000" cy="8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PIX BI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8" name="Google Shape;178;g3cbab004d01_0_328"/>
          <p:cNvSpPr/>
          <p:nvPr/>
        </p:nvSpPr>
        <p:spPr>
          <a:xfrm>
            <a:off x="7190550" y="1540175"/>
            <a:ext cx="1627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Montserrat"/>
                <a:ea typeface="Montserrat"/>
                <a:cs typeface="Montserrat"/>
                <a:sym typeface="Montserrat"/>
              </a:rPr>
              <a:t>PostgresPRO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Montserrat"/>
                <a:ea typeface="Montserrat"/>
                <a:cs typeface="Montserrat"/>
                <a:sym typeface="Montserrat"/>
              </a:rPr>
              <a:t>Платформа хранения и обработки данных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https://postgrespro.ru/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9" name="Google Shape;179;g3cbab004d01_0_328"/>
          <p:cNvSpPr/>
          <p:nvPr/>
        </p:nvSpPr>
        <p:spPr>
          <a:xfrm>
            <a:off x="3823250" y="1547300"/>
            <a:ext cx="1527000" cy="8790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ModusBI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https://modusbi.ru/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80" name="Google Shape;180;g3cbab004d01_0_328"/>
          <p:cNvSpPr txBox="1"/>
          <p:nvPr/>
        </p:nvSpPr>
        <p:spPr>
          <a:xfrm>
            <a:off x="834777" y="2449131"/>
            <a:ext cx="456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Montserrat"/>
                <a:ea typeface="Montserrat"/>
                <a:cs typeface="Montserrat"/>
                <a:sym typeface="Montserrat"/>
              </a:rPr>
              <a:t>Автоматизация и роботизация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1" name="Google Shape;181;g3cbab004d01_0_328"/>
          <p:cNvSpPr/>
          <p:nvPr/>
        </p:nvSpPr>
        <p:spPr>
          <a:xfrm>
            <a:off x="2837803" y="2787841"/>
            <a:ext cx="1929300" cy="1014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Pix Robotics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роботизации БП.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https://pix.ru/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2" name="Google Shape;182;g3cbab004d01_0_328"/>
          <p:cNvSpPr/>
          <p:nvPr/>
        </p:nvSpPr>
        <p:spPr>
          <a:xfrm>
            <a:off x="834775" y="2787843"/>
            <a:ext cx="1884300" cy="10149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Robin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роботизации БП.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https://rpa-robin.ru/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83" name="Google Shape;183;g3cbab004d01_0_328"/>
          <p:cNvSpPr/>
          <p:nvPr/>
        </p:nvSpPr>
        <p:spPr>
          <a:xfrm>
            <a:off x="4886100" y="2787850"/>
            <a:ext cx="1884300" cy="1045500"/>
          </a:xfrm>
          <a:prstGeom prst="roundRect">
            <a:avLst>
              <a:gd name="adj" fmla="val 9281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1C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Программы делового назначения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https://1c.ru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4" name="Google Shape;184;g3cbab004d01_0_328"/>
          <p:cNvSpPr/>
          <p:nvPr/>
        </p:nvSpPr>
        <p:spPr>
          <a:xfrm>
            <a:off x="6889125" y="2787975"/>
            <a:ext cx="1929300" cy="10455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Montserrat"/>
                <a:ea typeface="Montserrat"/>
                <a:cs typeface="Montserrat"/>
                <a:sym typeface="Montserrat"/>
              </a:rPr>
              <a:t>ELMA 365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Montserrat"/>
                <a:ea typeface="Montserrat"/>
                <a:cs typeface="Montserrat"/>
                <a:sym typeface="Montserrat"/>
              </a:rPr>
              <a:t>Автоматизация бизнеса и процессов 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https://elma365.com/ru/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5" name="Google Shape;185;g3cbab004d01_0_328"/>
          <p:cNvSpPr txBox="1"/>
          <p:nvPr/>
        </p:nvSpPr>
        <p:spPr>
          <a:xfrm>
            <a:off x="774775" y="3801182"/>
            <a:ext cx="4627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1">
                <a:latin typeface="Montserrat"/>
                <a:ea typeface="Montserrat"/>
                <a:cs typeface="Montserrat"/>
                <a:sym typeface="Montserrat"/>
              </a:rPr>
              <a:t>Корпоративные системы совместной работы</a:t>
            </a: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6" name="Google Shape;186;g3cbab004d01_0_328"/>
          <p:cNvSpPr/>
          <p:nvPr/>
        </p:nvSpPr>
        <p:spPr>
          <a:xfrm>
            <a:off x="3321000" y="4139875"/>
            <a:ext cx="2368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TeamStorm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гибкого управления командами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https://teamstorm.io/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87" name="Google Shape;187;g3cbab004d01_0_328"/>
          <p:cNvSpPr/>
          <p:nvPr/>
        </p:nvSpPr>
        <p:spPr>
          <a:xfrm>
            <a:off x="858075" y="4139875"/>
            <a:ext cx="23688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TestIT</a:t>
            </a:r>
            <a:endParaRPr sz="7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 для бизнес-аналитики</a:t>
            </a:r>
            <a:endParaRPr sz="7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https://testit.software/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</a:endParaRPr>
          </a:p>
        </p:txBody>
      </p:sp>
      <p:sp>
        <p:nvSpPr>
          <p:cNvPr id="188" name="Google Shape;188;g3cbab004d01_0_328"/>
          <p:cNvSpPr/>
          <p:nvPr/>
        </p:nvSpPr>
        <p:spPr>
          <a:xfrm>
            <a:off x="5783925" y="4139875"/>
            <a:ext cx="3034500" cy="8838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rgbClr val="F3F3F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b="1">
                <a:latin typeface="Montserrat"/>
                <a:ea typeface="Montserrat"/>
                <a:cs typeface="Montserrat"/>
                <a:sym typeface="Montserrat"/>
              </a:rPr>
              <a:t>Сфера</a:t>
            </a:r>
            <a:endParaRPr sz="7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>
                <a:latin typeface="Montserrat"/>
                <a:ea typeface="Montserrat"/>
                <a:cs typeface="Montserrat"/>
                <a:sym typeface="Montserrat"/>
              </a:rPr>
              <a:t>Российская альтернатива трекинговых систем </a:t>
            </a:r>
            <a:endParaRPr sz="700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00" u="sng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https://www.sferaplatform.ru/</a:t>
            </a: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9" name="Google Shape;189;g3cbab004d01_0_328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Официальный поставщик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отечественных решений</a:t>
            </a:r>
            <a:endParaRPr sz="2000" b="1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" name="Google Shape;194;g3cbab004d01_0_0"/>
          <p:cNvGraphicFramePr/>
          <p:nvPr/>
        </p:nvGraphicFramePr>
        <p:xfrm>
          <a:off x="828675" y="1311259"/>
          <a:ext cx="7928100" cy="3715175"/>
        </p:xfrm>
        <a:graphic>
          <a:graphicData uri="http://schemas.openxmlformats.org/drawingml/2006/table">
            <a:tbl>
              <a:tblPr>
                <a:noFill/>
                <a:tableStyleId>{4BA78E94-E1A8-4C5B-BB03-8F45029D6EFB}</a:tableStyleId>
              </a:tblPr>
              <a:tblGrid>
                <a:gridCol w="3083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844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72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Примеры отраслей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Как применяем ИИ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3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Госсектор и аналитика управления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ИИ-ассистенты и умные платформы для документов и обращений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Интеллектуальные панели для руководителей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Речевая аналитика и автоматизация обратной связи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Промышленность и ТЭК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Предиктивное обслуживание оборудования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Роботизированные процессы и контроль качества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-аналитика производственных данных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ЖКХ и городская инфраструктура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-боты и голосовые ассистенты для жителей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Аналитика обращений и мониторинг аварий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Автоматизация диспетчерских процессов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Финансы и корпоративный сектор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-скоринг и риск-аналитика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документов и комплаенс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Автоматизация отчётности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53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1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Найм и образование</a:t>
                      </a:r>
                      <a:endParaRPr sz="1000" b="1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-рекрутер и автоматизация подбора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ИИ</a:t>
                      </a: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-система для найма и персонализированное обучение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Анализ компетенций и карьерного потенциала</a:t>
                      </a:r>
                      <a:endParaRPr sz="1000"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lt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lt2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5" name="Google Shape;195;g3cbab004d01_0_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g3cbab004d01_0_0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компетенции по </a:t>
            </a: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g3cbab004d01_0_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Отраслевые внедрения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2" name="Google Shape;202;g3cbab004d01_0_62"/>
          <p:cNvGraphicFramePr/>
          <p:nvPr/>
        </p:nvGraphicFramePr>
        <p:xfrm>
          <a:off x="384975" y="1369325"/>
          <a:ext cx="8374050" cy="3530000"/>
        </p:xfrm>
        <a:graphic>
          <a:graphicData uri="http://schemas.openxmlformats.org/drawingml/2006/table">
            <a:tbl>
              <a:tblPr>
                <a:noFill/>
                <a:tableStyleId>{649A5B2F-7EF0-4B20-B507-148DBCCF0821}</a:tableStyleId>
              </a:tblPr>
              <a:tblGrid>
                <a:gridCol w="4187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8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208225"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Показываем, как это работает на практике.</a:t>
                      </a:r>
                      <a:b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У нас сотни реальных кейсов - на них можно проверять будущие нормы и стандарты.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Помогаем прописать правила безопасности.</a:t>
                      </a:r>
                      <a:b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Все наши системы работают в закрытом контуре - можем поделиться готовыми шаблонами защиты данных.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84400"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Помогаем разобраться, кто отвечает, если ИИ ошибся.</a:t>
                      </a:r>
                      <a:b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Предлагаем понятную схему: где зона ответственности человека, а где алгоритма.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Создаём “песочницы” для тестирования законов.</a:t>
                      </a:r>
                      <a:b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Готовы запускать пилоты, чтобы проверить новые правила на реальных проектах до принятия закона.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37375"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Делаем ИИ понятным и проверяемым.</a:t>
                      </a:r>
                      <a:b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Внедряем решения, где видно, </a:t>
                      </a:r>
                      <a:r>
                        <a:rPr lang="en-US" sz="1000" i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почему</a:t>
                      </a: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модель выдала именно такой ответ.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0" lvl="0" indent="-29210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0000"/>
                        </a:buClr>
                        <a:buSzPts val="1000"/>
                        <a:buFont typeface="Montserrat"/>
                        <a:buChar char="●"/>
                      </a:pPr>
                      <a: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Даем советы по этике ИИ.</a:t>
                      </a:r>
                      <a:br>
                        <a:rPr lang="en-US" sz="1000" b="1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</a:br>
                      <a:r>
                        <a:rPr lang="en-US" sz="1000">
                          <a:solidFill>
                            <a:schemeClr val="dk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Как не допустить дискриминации и ошибок - в найме, медицине, госуслугах и бизнесе.</a:t>
                      </a:r>
                      <a:endParaRPr/>
                    </a:p>
                  </a:txBody>
                  <a:tcPr marL="91425" marR="91425" marT="91425" marB="91425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03" name="Google Shape;203;g3cbab004d01_0_62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Наши компетенции по </a:t>
            </a: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4" name="Google Shape;204;g3cbab004d01_0_62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Помогаем в разработке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нормативной базы</a:t>
            </a:r>
            <a:endParaRPr sz="20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05" name="Google Shape;205;g3cbab004d01_0_62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4"/>
          <p:cNvSpPr/>
          <p:nvPr/>
        </p:nvSpPr>
        <p:spPr>
          <a:xfrm>
            <a:off x="828675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4"/>
          <p:cNvSpPr/>
          <p:nvPr/>
        </p:nvSpPr>
        <p:spPr>
          <a:xfrm>
            <a:off x="957504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Закупки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3" name="Google Shape;213;p4"/>
          <p:cNvSpPr/>
          <p:nvPr/>
        </p:nvSpPr>
        <p:spPr>
          <a:xfrm>
            <a:off x="2116962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01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4" name="Google Shape;214;p4"/>
          <p:cNvSpPr/>
          <p:nvPr/>
        </p:nvSpPr>
        <p:spPr>
          <a:xfrm>
            <a:off x="957504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Мониторинг тендеров, анализ документации, формирование заявок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5" name="Google Shape;215;p4"/>
          <p:cNvSpPr/>
          <p:nvPr/>
        </p:nvSpPr>
        <p:spPr>
          <a:xfrm>
            <a:off x="2846991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4"/>
          <p:cNvSpPr/>
          <p:nvPr/>
        </p:nvSpPr>
        <p:spPr>
          <a:xfrm>
            <a:off x="2975820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Найм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7" name="Google Shape;217;p4"/>
          <p:cNvSpPr/>
          <p:nvPr/>
        </p:nvSpPr>
        <p:spPr>
          <a:xfrm>
            <a:off x="4135279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02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8" name="Google Shape;218;p4"/>
          <p:cNvSpPr/>
          <p:nvPr/>
        </p:nvSpPr>
        <p:spPr>
          <a:xfrm>
            <a:off x="2975820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Автоматизация найма, онбординг, умная 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платформа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-боты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19" name="Google Shape;219;p4"/>
          <p:cNvSpPr/>
          <p:nvPr/>
        </p:nvSpPr>
        <p:spPr>
          <a:xfrm>
            <a:off x="4865308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0" name="Google Shape;220;p4"/>
          <p:cNvSpPr/>
          <p:nvPr/>
        </p:nvSpPr>
        <p:spPr>
          <a:xfrm>
            <a:off x="4994137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Госсектор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1" name="Google Shape;221;p4"/>
          <p:cNvSpPr/>
          <p:nvPr/>
        </p:nvSpPr>
        <p:spPr>
          <a:xfrm>
            <a:off x="6153595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03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2" name="Google Shape;222;p4"/>
          <p:cNvSpPr/>
          <p:nvPr/>
        </p:nvSpPr>
        <p:spPr>
          <a:xfrm>
            <a:off x="4994137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Цифровизация госуслуг, аналитика, системы поддержки решений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3" name="Google Shape;223;p4"/>
          <p:cNvSpPr/>
          <p:nvPr/>
        </p:nvSpPr>
        <p:spPr>
          <a:xfrm>
            <a:off x="6883624" y="13599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4"/>
          <p:cNvSpPr/>
          <p:nvPr/>
        </p:nvSpPr>
        <p:spPr>
          <a:xfrm>
            <a:off x="7012453" y="14970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Промышленность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5" name="Google Shape;225;p4"/>
          <p:cNvSpPr/>
          <p:nvPr/>
        </p:nvSpPr>
        <p:spPr>
          <a:xfrm>
            <a:off x="8171912" y="14513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04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6" name="Google Shape;226;p4"/>
          <p:cNvSpPr/>
          <p:nvPr/>
        </p:nvSpPr>
        <p:spPr>
          <a:xfrm>
            <a:off x="7012453" y="18628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Предиктивное обслуживание, контроль качества, оптимизация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7" name="Google Shape;227;p4"/>
          <p:cNvSpPr/>
          <p:nvPr/>
        </p:nvSpPr>
        <p:spPr>
          <a:xfrm>
            <a:off x="828675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8" name="Google Shape;228;p4"/>
          <p:cNvSpPr/>
          <p:nvPr/>
        </p:nvSpPr>
        <p:spPr>
          <a:xfrm>
            <a:off x="957504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Финтех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29" name="Google Shape;229;p4"/>
          <p:cNvSpPr/>
          <p:nvPr/>
        </p:nvSpPr>
        <p:spPr>
          <a:xfrm>
            <a:off x="2116962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05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0" name="Google Shape;230;p4"/>
          <p:cNvSpPr/>
          <p:nvPr/>
        </p:nvSpPr>
        <p:spPr>
          <a:xfrm>
            <a:off x="957504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Антифрод, скоринг, автоматизация отчётности, миграция данных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1" name="Google Shape;231;p4"/>
          <p:cNvSpPr/>
          <p:nvPr/>
        </p:nvSpPr>
        <p:spPr>
          <a:xfrm>
            <a:off x="2846991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2" name="Google Shape;232;p4"/>
          <p:cNvSpPr/>
          <p:nvPr/>
        </p:nvSpPr>
        <p:spPr>
          <a:xfrm>
            <a:off x="2975820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Ритейл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3" name="Google Shape;233;p4"/>
          <p:cNvSpPr/>
          <p:nvPr/>
        </p:nvSpPr>
        <p:spPr>
          <a:xfrm>
            <a:off x="4135279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06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4" name="Google Shape;234;p4"/>
          <p:cNvSpPr/>
          <p:nvPr/>
        </p:nvSpPr>
        <p:spPr>
          <a:xfrm>
            <a:off x="2975820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продаж, персонализация, оптимизация логистики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5" name="Google Shape;235;p4"/>
          <p:cNvSpPr/>
          <p:nvPr/>
        </p:nvSpPr>
        <p:spPr>
          <a:xfrm>
            <a:off x="4865308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4"/>
          <p:cNvSpPr/>
          <p:nvPr/>
        </p:nvSpPr>
        <p:spPr>
          <a:xfrm>
            <a:off x="4994137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Страхование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7" name="Google Shape;237;p4"/>
          <p:cNvSpPr/>
          <p:nvPr/>
        </p:nvSpPr>
        <p:spPr>
          <a:xfrm>
            <a:off x="6153595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07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8" name="Google Shape;238;p4"/>
          <p:cNvSpPr/>
          <p:nvPr/>
        </p:nvSpPr>
        <p:spPr>
          <a:xfrm>
            <a:off x="4994137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Роботизация реестров, обработка полисов,</a:t>
            </a: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отчётность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39" name="Google Shape;239;p4"/>
          <p:cNvSpPr/>
          <p:nvPr/>
        </p:nvSpPr>
        <p:spPr>
          <a:xfrm>
            <a:off x="6883624" y="3188700"/>
            <a:ext cx="1889700" cy="1645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4"/>
          <p:cNvSpPr/>
          <p:nvPr/>
        </p:nvSpPr>
        <p:spPr>
          <a:xfrm>
            <a:off x="7012453" y="3325860"/>
            <a:ext cx="1288200" cy="27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Спорт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1" name="Google Shape;241;p4"/>
          <p:cNvSpPr/>
          <p:nvPr/>
        </p:nvSpPr>
        <p:spPr>
          <a:xfrm>
            <a:off x="8171912" y="3280140"/>
            <a:ext cx="472200" cy="36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Arial"/>
              <a:buNone/>
            </a:pPr>
            <a:r>
              <a:rPr lang="en-US" sz="1600" b="1" i="0" u="none" strike="noStrike" cap="none">
                <a:solidFill>
                  <a:srgbClr val="CCCCCC"/>
                </a:solidFill>
                <a:latin typeface="Montserrat"/>
                <a:ea typeface="Montserrat"/>
                <a:cs typeface="Montserrat"/>
                <a:sym typeface="Montserrat"/>
              </a:rPr>
              <a:t>08</a:t>
            </a:r>
            <a:endParaRPr sz="16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2" name="Google Shape;242;p4"/>
          <p:cNvSpPr/>
          <p:nvPr/>
        </p:nvSpPr>
        <p:spPr>
          <a:xfrm>
            <a:off x="7012453" y="3691620"/>
            <a:ext cx="1632000" cy="10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Аналитика данных, управление событиями, цифровизация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3" name="Google Shape;243;p4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Направления работы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4" name="Google Shape;244;p4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Более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100 пилотных проектов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за последние месяцы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45" name="Google Shape;245;p4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6"/>
          <p:cNvSpPr/>
          <p:nvPr/>
        </p:nvSpPr>
        <p:spPr>
          <a:xfrm>
            <a:off x="4937760" y="1097280"/>
            <a:ext cx="393192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6"/>
          <p:cNvSpPr/>
          <p:nvPr/>
        </p:nvSpPr>
        <p:spPr>
          <a:xfrm>
            <a:off x="5257800" y="173736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3" name="Google Shape;253;p6"/>
          <p:cNvSpPr/>
          <p:nvPr/>
        </p:nvSpPr>
        <p:spPr>
          <a:xfrm>
            <a:off x="5257800" y="251460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4" name="Google Shape;254;p6"/>
          <p:cNvSpPr/>
          <p:nvPr/>
        </p:nvSpPr>
        <p:spPr>
          <a:xfrm>
            <a:off x="5257800" y="329184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6"/>
          <p:cNvSpPr/>
          <p:nvPr/>
        </p:nvSpPr>
        <p:spPr>
          <a:xfrm>
            <a:off x="5257800" y="4069080"/>
            <a:ext cx="320040" cy="320040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6"/>
          <p:cNvSpPr/>
          <p:nvPr/>
        </p:nvSpPr>
        <p:spPr>
          <a:xfrm>
            <a:off x="5257800" y="251460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6"/>
          <p:cNvSpPr/>
          <p:nvPr/>
        </p:nvSpPr>
        <p:spPr>
          <a:xfrm>
            <a:off x="5257800" y="329184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6"/>
          <p:cNvSpPr/>
          <p:nvPr/>
        </p:nvSpPr>
        <p:spPr>
          <a:xfrm>
            <a:off x="5257800" y="406908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6"/>
          <p:cNvSpPr/>
          <p:nvPr/>
        </p:nvSpPr>
        <p:spPr>
          <a:xfrm>
            <a:off x="5257800" y="1737360"/>
            <a:ext cx="32004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Arial"/>
              <a:buNone/>
            </a:pPr>
            <a:r>
              <a:rPr lang="en-US" sz="1200" b="1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6"/>
          <p:cNvSpPr/>
          <p:nvPr/>
        </p:nvSpPr>
        <p:spPr>
          <a:xfrm>
            <a:off x="828675" y="1188725"/>
            <a:ext cx="37434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Делаем обучение как часть ИИ-трансформации: под вашу отрасль и реальные процессы компании.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Цель — чтобы сотрудники использовали ИИ как рабочий инструмент «наравне с почтой».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1" name="Google Shape;261;p6"/>
          <p:cNvSpPr/>
          <p:nvPr/>
        </p:nvSpPr>
        <p:spPr>
          <a:xfrm>
            <a:off x="828675" y="2727904"/>
            <a:ext cx="37434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200"/>
              <a:buFont typeface="Arial"/>
              <a:buNone/>
            </a:pPr>
            <a:r>
              <a:rPr lang="en-US" sz="10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 программах: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2" name="Google Shape;262;p6"/>
          <p:cNvSpPr/>
          <p:nvPr/>
        </p:nvSpPr>
        <p:spPr>
          <a:xfrm>
            <a:off x="828675" y="3097302"/>
            <a:ext cx="3743400" cy="108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Быстрый старт работы с ИИ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Продвинутые техники промпт инга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Практические воркшопы по сборке ИИ-агентов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921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Кастомизация под задачи подразделений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3" name="Google Shape;263;p6"/>
          <p:cNvSpPr/>
          <p:nvPr/>
        </p:nvSpPr>
        <p:spPr>
          <a:xfrm>
            <a:off x="5120640" y="1234440"/>
            <a:ext cx="36576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Формат трансформации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4" name="Google Shape;264;p6"/>
          <p:cNvSpPr/>
          <p:nvPr/>
        </p:nvSpPr>
        <p:spPr>
          <a:xfrm>
            <a:off x="5715000" y="171907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процессов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5" name="Google Shape;265;p6"/>
          <p:cNvSpPr/>
          <p:nvPr/>
        </p:nvSpPr>
        <p:spPr>
          <a:xfrm>
            <a:off x="5715000" y="199339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Анализируем процессы и определяем точки применения 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6" name="Google Shape;266;p6"/>
          <p:cNvSpPr/>
          <p:nvPr/>
        </p:nvSpPr>
        <p:spPr>
          <a:xfrm>
            <a:off x="5715000" y="249631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Пилотные внедрения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7" name="Google Shape;267;p6"/>
          <p:cNvSpPr/>
          <p:nvPr/>
        </p:nvSpPr>
        <p:spPr>
          <a:xfrm>
            <a:off x="5715000" y="277063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Запускаем первые проекты с измеримым результатом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8" name="Google Shape;268;p6"/>
          <p:cNvSpPr/>
          <p:nvPr/>
        </p:nvSpPr>
        <p:spPr>
          <a:xfrm>
            <a:off x="5715000" y="327355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команды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69" name="Google Shape;269;p6"/>
          <p:cNvSpPr/>
          <p:nvPr/>
        </p:nvSpPr>
        <p:spPr>
          <a:xfrm>
            <a:off x="5715000" y="354787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Передаем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компетенции для самостоятельного развития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0" name="Google Shape;270;p6"/>
          <p:cNvSpPr/>
          <p:nvPr/>
        </p:nvSpPr>
        <p:spPr>
          <a:xfrm>
            <a:off x="5715000" y="4050792"/>
            <a:ext cx="2926080" cy="25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Масштабирование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1" name="Google Shape;271;p6"/>
          <p:cNvSpPr/>
          <p:nvPr/>
        </p:nvSpPr>
        <p:spPr>
          <a:xfrm>
            <a:off x="5715000" y="4325112"/>
            <a:ext cx="292608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9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Расширяем на ключевые процессы компании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2" name="Google Shape;272;p6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-трансформация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3" name="Google Shape;273;p6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Корпоративное </a:t>
            </a:r>
            <a:r>
              <a:rPr lang="en-US" sz="20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74" name="Google Shape;274;p6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cbab004d01_0_124"/>
          <p:cNvSpPr/>
          <p:nvPr/>
        </p:nvSpPr>
        <p:spPr>
          <a:xfrm>
            <a:off x="828675" y="1340975"/>
            <a:ext cx="3934200" cy="166740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1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1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(1–2 недели)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и формирование запроса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Диагностика текущего состояния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Болевые точки и возможности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Чёткие цели трансформации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Карта взаимодействия со стейкхолдерами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1" name="Google Shape;281;g3cbab004d01_0_124"/>
          <p:cNvSpPr/>
          <p:nvPr/>
        </p:nvSpPr>
        <p:spPr>
          <a:xfrm>
            <a:off x="4918576" y="1340975"/>
            <a:ext cx="3934200" cy="1667400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1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2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(2–3 недели)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Стратегия и целевая архитектура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Видение “Цифрового Бизнеса Будущего”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Дорожная карта трансформации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Приоритеты и критерии успеха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Ответственность и ресурсы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2" name="Google Shape;282;g3cbab004d01_0_124"/>
          <p:cNvSpPr/>
          <p:nvPr/>
        </p:nvSpPr>
        <p:spPr>
          <a:xfrm>
            <a:off x="828683" y="3096349"/>
            <a:ext cx="2606100" cy="18435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1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3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(1–2 месяца)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Быстрые победы и команда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Пилоты с высоким эффектом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Команда цифровой трансформации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ключевых сотрудников ИИ-инструментам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Система мотивации для поддержки изменений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3" name="Google Shape;283;g3cbab004d01_0_124"/>
          <p:cNvSpPr/>
          <p:nvPr/>
        </p:nvSpPr>
        <p:spPr>
          <a:xfrm>
            <a:off x="3537786" y="3096349"/>
            <a:ext cx="2606100" cy="18435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1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4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(3–6 месяцев)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Масштабирование и интеграция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Внедрение решений по направлениям бизнеса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Интеграция систем в единую экосистему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Культура цифрового мышления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Постоянное обучение и адаптация процессов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4" name="Google Shape;284;g3cbab004d01_0_124"/>
          <p:cNvSpPr/>
          <p:nvPr/>
        </p:nvSpPr>
        <p:spPr>
          <a:xfrm>
            <a:off x="6246888" y="3096349"/>
            <a:ext cx="2606100" cy="1843500"/>
          </a:xfrm>
          <a:prstGeom prst="roundRect">
            <a:avLst>
              <a:gd name="adj" fmla="val 4728"/>
            </a:avLst>
          </a:prstGeom>
          <a:solidFill>
            <a:srgbClr val="FFFFFF"/>
          </a:solidFill>
          <a:ln w="9525" cap="flat" cmpd="sng">
            <a:solidFill>
              <a:srgbClr val="1A1A1A">
                <a:alpha val="510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34275" tIns="34275" rIns="34275" bIns="3427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Этап 5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(6+ месяцев) 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Синергия и непрерывное развитие</a:t>
            </a: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Самообучающаяся организация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Непрерывная оптимизация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Новые бизнес-модели на базе цифровых возможностей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79400" algn="l" rtl="0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Лидерство в отрасли по трансформации</a:t>
            </a:r>
            <a:endParaRPr sz="8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Arial"/>
              <a:buNone/>
            </a:pP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0"/>
              <a:buFont typeface="Arial"/>
              <a:buNone/>
            </a:pPr>
            <a:endParaRPr sz="1000" b="1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5" name="Google Shape;285;g3cbab004d01_0_124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g3cbab004d01_0_124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-трансформация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87" name="Google Shape;287;g3cbab004d01_0_124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Трансформация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 компании под ключ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828675" y="1199975"/>
            <a:ext cx="4657800" cy="83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-платформа, которая превращает рутину поиска тендеров в стратегически управляемый, масштабируемый и высокодоходный канал продаж за счет автоматизации процессов поиска, отбора и первичной валидации закупок на базе ИИ-технологий.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4" name="Google Shape;294;p8"/>
          <p:cNvSpPr/>
          <p:nvPr/>
        </p:nvSpPr>
        <p:spPr>
          <a:xfrm>
            <a:off x="828675" y="2032549"/>
            <a:ext cx="4657800" cy="2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Общий срок пилотного проекта: 2 недели с одобрения старта</a:t>
            </a:r>
            <a:endParaRPr sz="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5" name="Google Shape;295;p8"/>
          <p:cNvSpPr/>
          <p:nvPr/>
        </p:nvSpPr>
        <p:spPr>
          <a:xfrm>
            <a:off x="828675" y="2356328"/>
            <a:ext cx="4657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6" name="Google Shape;296;p8"/>
          <p:cNvSpPr/>
          <p:nvPr/>
        </p:nvSpPr>
        <p:spPr>
          <a:xfrm>
            <a:off x="828675" y="2633853"/>
            <a:ext cx="4657800" cy="12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Подключается к Контур.Закупки → получает поток тендеров в реальном времени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Извлекает ключевые сущности из текста закупок → классифицирует по релевантности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Выделяет причины отсева (стоп-фактор, бюджет вне диапазона и т.д.)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Формирует реестр релевантных закупок → </a:t>
            </a:r>
            <a:r>
              <a:rPr lang="en-US" sz="8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передает</a:t>
            </a: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 специалистам для подачи заявок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828675" y="4021477"/>
            <a:ext cx="4657800" cy="2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828675" y="4299001"/>
            <a:ext cx="4657800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 превращает участие в тендерах в управляемый производственный процесс: в 3 раза быстрее поиск, &gt;70% релевантность подборки, рост побед в 2-3 раза — без раздувания штата.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5760720" y="1097280"/>
            <a:ext cx="3108960" cy="34747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5943600" y="128016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1" name="Google Shape;301;p8"/>
          <p:cNvSpPr/>
          <p:nvPr/>
        </p:nvSpPr>
        <p:spPr>
          <a:xfrm>
            <a:off x="5943600" y="17373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3x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943600" y="21945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быстрее поиск релевантных тендеров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5943600" y="274320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&gt;70%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4" name="Google Shape;304;p8"/>
          <p:cNvSpPr/>
          <p:nvPr/>
        </p:nvSpPr>
        <p:spPr>
          <a:xfrm>
            <a:off x="5943600" y="320040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релевантность подборки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943600" y="374904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2-3x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5943600" y="420624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рост количества побед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7" name="Google Shape;307;p8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система для участия в тендерах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8" name="Google Shape;308;p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Кейс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9"/>
          <p:cNvSpPr/>
          <p:nvPr/>
        </p:nvSpPr>
        <p:spPr>
          <a:xfrm>
            <a:off x="828675" y="1199975"/>
            <a:ext cx="4657800" cy="58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-платформа, которая превращает обращения жителей (чат/телефония/приложение) в структурированные задачи для УК: карточка, приоритет, исполнитель, таймер, статус и результат.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/>
          <p:nvPr/>
        </p:nvSpPr>
        <p:spPr>
          <a:xfrm>
            <a:off x="828675" y="1831164"/>
            <a:ext cx="4657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Что делает (по цепочке):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7" name="Google Shape;317;p9"/>
          <p:cNvSpPr/>
          <p:nvPr/>
        </p:nvSpPr>
        <p:spPr>
          <a:xfrm>
            <a:off x="828675" y="2083639"/>
            <a:ext cx="4657800" cy="12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Принимает входящий поток → собирает контекст (адрес/подъезд/тема/история)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Формирует «карточку инцидента» → ставит в очередь и маршрутизирует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Контролирует → напоминает, эскалирует, фиксирует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Дает руководителю прозрачный «операционный экран»: очередь, просрочки, причины, нагрузка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8" name="Google Shape;318;p9"/>
          <p:cNvSpPr/>
          <p:nvPr/>
        </p:nvSpPr>
        <p:spPr>
          <a:xfrm>
            <a:off x="828675" y="3279372"/>
            <a:ext cx="4657800" cy="21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Инновационный подход ИИ: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9" name="Google Shape;319;p9"/>
          <p:cNvSpPr/>
          <p:nvPr/>
        </p:nvSpPr>
        <p:spPr>
          <a:xfrm>
            <a:off x="828675" y="3531847"/>
            <a:ext cx="4657800" cy="6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Умная </a:t>
            </a: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оркестрация вместо правил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Контроль качества в реальном времени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Обучение на эксплуатационных данных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0" name="Google Shape;320;p9"/>
          <p:cNvSpPr/>
          <p:nvPr/>
        </p:nvSpPr>
        <p:spPr>
          <a:xfrm>
            <a:off x="828675" y="4188951"/>
            <a:ext cx="46578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1" name="Google Shape;321;p9"/>
          <p:cNvSpPr/>
          <p:nvPr/>
        </p:nvSpPr>
        <p:spPr>
          <a:xfrm>
            <a:off x="828599" y="4457601"/>
            <a:ext cx="4657800" cy="46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0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ИИ превращает обращения в управляемый производственный процесс: меньше ручной диспетчеризации, меньше просрочек, выше качество сервиса — без раздувания штата.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2" name="Google Shape;322;p9"/>
          <p:cNvSpPr/>
          <p:nvPr/>
        </p:nvSpPr>
        <p:spPr>
          <a:xfrm>
            <a:off x="5760720" y="914400"/>
            <a:ext cx="31089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3" name="Google Shape;323;p9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4" name="Google Shape;324;p9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-50%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5" name="Google Shape;325;p9"/>
          <p:cNvSpPr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ручной диспетчеризации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6" name="Google Shape;326;p9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-30%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7" name="Google Shape;327;p9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просроченных заявок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8" name="Google Shape;328;p9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+25%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29" name="Google Shape;329;p9"/>
          <p:cNvSpPr/>
          <p:nvPr/>
        </p:nvSpPr>
        <p:spPr>
          <a:xfrm>
            <a:off x="5943600" y="4023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качество сервиса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0" name="Google Shape;330;p9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для управляющих компаний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1" name="Google Shape;331;p9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Кейс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2" name="Google Shape;332;p9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10"/>
          <p:cNvSpPr/>
          <p:nvPr/>
        </p:nvSpPr>
        <p:spPr>
          <a:xfrm>
            <a:off x="828675" y="1199974"/>
            <a:ext cx="4657800" cy="50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100"/>
              <a:buFont typeface="Arial"/>
              <a:buNone/>
            </a:pPr>
            <a:r>
              <a:rPr lang="en-US" sz="8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Что решаем: подбор рецептуры и стабильность качества в условиях, когда свойства сырья, сезонность и производственные условия постоянно меняются.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828675" y="1743061"/>
            <a:ext cx="46578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Боль производства сегодня: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828675" y="1993717"/>
            <a:ext cx="4657800" cy="91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Ручной подбор рецептур и зависимость от опыта технолога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Риск брака и несоответствия стандартам при отклонениях состава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Перерасход компонентов и рост себестоимости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Непредсказуемость результата при изменении сырья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1" name="Google Shape;341;p10"/>
          <p:cNvSpPr/>
          <p:nvPr/>
        </p:nvSpPr>
        <p:spPr>
          <a:xfrm>
            <a:off x="828675" y="2954564"/>
            <a:ext cx="4657800" cy="20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100"/>
              <a:buFont typeface="Arial"/>
              <a:buNone/>
            </a:pPr>
            <a:r>
              <a:rPr lang="en-US" sz="8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Как работает система: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2" name="Google Shape;342;p10"/>
          <p:cNvSpPr/>
          <p:nvPr/>
        </p:nvSpPr>
        <p:spPr>
          <a:xfrm>
            <a:off x="828675" y="3205220"/>
            <a:ext cx="4657800" cy="10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Получает входные требования: класс прочности, водонепроницаемость, морозостойкость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Подтягивает лабораторные данные: активность цемента, гранулометрия, параметры добавок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Учитывает условия производства: температура, влажность, оборудование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marR="0" lvl="0" indent="-2794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800"/>
              <a:buFont typeface="Montserrat"/>
              <a:buChar char="●"/>
            </a:pPr>
            <a:r>
              <a:rPr lang="en-US" sz="8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На выходе даёт оптимальный состав, ориентированный на качество и себестоимость</a:t>
            </a: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3" name="Google Shape;343;p10"/>
          <p:cNvSpPr/>
          <p:nvPr/>
        </p:nvSpPr>
        <p:spPr>
          <a:xfrm>
            <a:off x="828675" y="4374946"/>
            <a:ext cx="4657800" cy="33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10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Ключевой эффект: точная рецептура → стабильное качество → меньше брака и лишних затрат</a:t>
            </a:r>
            <a:endParaRPr sz="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4" name="Google Shape;344;p10"/>
          <p:cNvSpPr/>
          <p:nvPr/>
        </p:nvSpPr>
        <p:spPr>
          <a:xfrm>
            <a:off x="5760720" y="914400"/>
            <a:ext cx="3108960" cy="38404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10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400"/>
              <a:buFont typeface="Arial"/>
              <a:buNone/>
            </a:pPr>
            <a:r>
              <a:rPr lang="en-US" sz="1400" b="1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Результаты</a:t>
            </a:r>
            <a:endParaRPr sz="14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6" name="Google Shape;346;p10"/>
          <p:cNvSpPr/>
          <p:nvPr/>
        </p:nvSpPr>
        <p:spPr>
          <a:xfrm>
            <a:off x="5943600" y="155448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-15%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7" name="Google Shape;347;p10"/>
          <p:cNvSpPr/>
          <p:nvPr/>
        </p:nvSpPr>
        <p:spPr>
          <a:xfrm>
            <a:off x="5943600" y="201168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себестоимость смеси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8" name="Google Shape;348;p10"/>
          <p:cNvSpPr/>
          <p:nvPr/>
        </p:nvSpPr>
        <p:spPr>
          <a:xfrm>
            <a:off x="5943600" y="256032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-80%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49" name="Google Shape;349;p10"/>
          <p:cNvSpPr/>
          <p:nvPr/>
        </p:nvSpPr>
        <p:spPr>
          <a:xfrm>
            <a:off x="5943600" y="301752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времени на подбор рецептуры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10"/>
          <p:cNvSpPr/>
          <p:nvPr/>
        </p:nvSpPr>
        <p:spPr>
          <a:xfrm>
            <a:off x="5943600" y="356616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31E24"/>
              </a:buClr>
              <a:buSzPts val="2800"/>
              <a:buFont typeface="Arial"/>
              <a:buNone/>
            </a:pPr>
            <a:r>
              <a:rPr lang="en-US" sz="2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0%</a:t>
            </a:r>
            <a:endParaRPr sz="28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1" name="Google Shape;351;p10"/>
          <p:cNvSpPr/>
          <p:nvPr/>
        </p:nvSpPr>
        <p:spPr>
          <a:xfrm>
            <a:off x="5943600" y="4023360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000"/>
              <a:buFont typeface="Arial"/>
              <a:buNone/>
            </a:pPr>
            <a:r>
              <a:rPr lang="en-US" sz="1000" b="0" i="0" u="none" strike="noStrike" cap="none">
                <a:solidFill>
                  <a:srgbClr val="1A1A1A"/>
                </a:solidFill>
                <a:latin typeface="Montserrat"/>
                <a:ea typeface="Montserrat"/>
                <a:cs typeface="Montserrat"/>
                <a:sym typeface="Montserrat"/>
              </a:rPr>
              <a:t>брака по отклонениям состава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10"/>
          <p:cNvSpPr txBox="1">
            <a:spLocks noGrp="1"/>
          </p:cNvSpPr>
          <p:nvPr>
            <p:ph type="title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ИИ</a:t>
            </a:r>
            <a:r>
              <a:rPr lang="en-US" sz="2000" b="1" i="0" u="none" strike="noStrike" cap="non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 оптимизация рецептуры</a:t>
            </a:r>
            <a:endParaRPr sz="2000" b="1" i="0" u="none" strike="noStrike" cap="none">
              <a:solidFill>
                <a:srgbClr val="00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3" name="Google Shape;353;p10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Кейс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10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g3cbab004d01_0_248"/>
          <p:cNvSpPr txBox="1"/>
          <p:nvPr/>
        </p:nvSpPr>
        <p:spPr>
          <a:xfrm>
            <a:off x="828675" y="1501469"/>
            <a:ext cx="4116300" cy="317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457200" lvl="0" indent="-2921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Мы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уже работаем с вузами и научными центрами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проводим совместные исследования - превращаем идеи в прототипы и решения, которые можно внедрять.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Запускаем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корпоративные курсы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по практическому ИИ - не теорию, а то, как реально внедрять алгоритмы в бизнес и госуправление.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Готовы создавать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пилотные лаборатории и тестовые зоны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где можно вместе проверять гипотезы, модели и регламенты до масштабирования.</a:t>
            </a:r>
            <a:b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457200" lvl="0" indent="-2921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000"/>
              <a:buFont typeface="Montserrat"/>
              <a:buChar char="●"/>
            </a:pP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У нас есть </a:t>
            </a:r>
            <a:r>
              <a:rPr lang="en-US" sz="1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программы подготовки специалистов</a:t>
            </a:r>
            <a:r>
              <a:rPr lang="en-US" sz="100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, которые учат работать с ИИ под конкретные отраслевые задачи.</a:t>
            </a:r>
            <a:endParaRPr sz="100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60" name="Google Shape;360;g3cbab004d01_0_248" title="photo_2025-10-08_21-50-39.jpg"/>
          <p:cNvPicPr preferRelativeResize="0"/>
          <p:nvPr/>
        </p:nvPicPr>
        <p:blipFill rotWithShape="1">
          <a:blip r:embed="rId3">
            <a:alphaModFix/>
          </a:blip>
          <a:srcRect l="8915" r="17712"/>
          <a:stretch/>
        </p:blipFill>
        <p:spPr>
          <a:xfrm>
            <a:off x="5170650" y="1088600"/>
            <a:ext cx="3967200" cy="4054901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g3cbab004d01_0_24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10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g3cbab004d01_0_248"/>
          <p:cNvSpPr txBox="1">
            <a:spLocks noGrp="1"/>
          </p:cNvSpPr>
          <p:nvPr>
            <p:ph type="title" idx="4294967295"/>
          </p:nvPr>
        </p:nvSpPr>
        <p:spPr>
          <a:xfrm>
            <a:off x="828675" y="688181"/>
            <a:ext cx="7443900" cy="511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ctr" anchorCtr="0">
            <a:norm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Связываем </a:t>
            </a: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бизнес и науку</a:t>
            </a:r>
            <a:endParaRPr sz="2000" b="1" i="0" u="none" strike="noStrike" cap="none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3" name="Google Shape;363;g3cbab004d01_0_248"/>
          <p:cNvSpPr txBox="1"/>
          <p:nvPr/>
        </p:nvSpPr>
        <p:spPr>
          <a:xfrm>
            <a:off x="834787" y="538163"/>
            <a:ext cx="4373400" cy="17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7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Мы сегодня</a:t>
            </a:r>
            <a:endParaRPr sz="7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c3fe6efce6_0_1198"/>
          <p:cNvSpPr txBox="1">
            <a:spLocks noGrp="1"/>
          </p:cNvSpPr>
          <p:nvPr>
            <p:ph type="title"/>
          </p:nvPr>
        </p:nvSpPr>
        <p:spPr>
          <a:xfrm>
            <a:off x="828675" y="1162450"/>
            <a:ext cx="7665600" cy="282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8575" rIns="68575" bIns="34275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</a:pPr>
            <a:r>
              <a:rPr lang="en-US" sz="2000" b="1">
                <a:latin typeface="Montserrat"/>
                <a:ea typeface="Montserrat"/>
                <a:cs typeface="Montserrat"/>
                <a:sym typeface="Montserrat"/>
              </a:rPr>
              <a:t>Контакты</a:t>
            </a:r>
            <a:endParaRPr sz="2000" b="1">
              <a:latin typeface="Montserrat"/>
              <a:ea typeface="Montserrat"/>
              <a:cs typeface="Montserrat"/>
              <a:sym typeface="Montserrat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70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69" name="Google Shape;369;g3c3fe6efce6_0_1198"/>
          <p:cNvSpPr txBox="1"/>
          <p:nvPr/>
        </p:nvSpPr>
        <p:spPr>
          <a:xfrm>
            <a:off x="758575" y="1839400"/>
            <a:ext cx="3194100" cy="101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(495) 198-14-77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en-US" sz="1000" b="0" i="0" u="sng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info@7rlines.com</a:t>
            </a:r>
            <a:endParaRPr sz="10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98863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5625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0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119049, Москва, ул. Шаболовка, 23к3</a:t>
            </a:r>
            <a:endParaRPr sz="10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endParaRPr sz="8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70" name="Google Shape;370;g3c3fe6efce6_0_1198"/>
          <p:cNvSpPr txBox="1"/>
          <p:nvPr/>
        </p:nvSpPr>
        <p:spPr>
          <a:xfrm>
            <a:off x="828687" y="3995438"/>
            <a:ext cx="4373400" cy="19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34275" rIns="68575" bIns="34275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en-US" sz="800" b="1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Поможем подобрать решения под ваши бизнес-задачи</a:t>
            </a:r>
            <a:endParaRPr sz="800" b="1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1" name="Google Shape;371;g3c3fe6efce6_0_1198"/>
          <p:cNvCxnSpPr/>
          <p:nvPr/>
        </p:nvCxnSpPr>
        <p:spPr>
          <a:xfrm>
            <a:off x="4150" y="4661800"/>
            <a:ext cx="9131700" cy="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2" name="Google Shape;372;g3c3fe6efce6_0_1198"/>
          <p:cNvSpPr txBox="1"/>
          <p:nvPr/>
        </p:nvSpPr>
        <p:spPr>
          <a:xfrm>
            <a:off x="6117975" y="4712788"/>
            <a:ext cx="23832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+7 (495) 198-14-77</a:t>
            </a:r>
            <a:endParaRPr sz="700" b="0" i="0" u="none" strike="noStrike" cap="none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n-US" sz="700" b="0" i="0" u="none" strike="noStrike" cap="none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info@7rlines.com</a:t>
            </a:r>
            <a:endParaRPr sz="700" b="0" i="0" u="none" strike="noStrike" cap="none">
              <a:solidFill>
                <a:srgbClr val="FF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cxnSp>
        <p:nvCxnSpPr>
          <p:cNvPr id="373" name="Google Shape;373;g3c3fe6efce6_0_1198"/>
          <p:cNvCxnSpPr/>
          <p:nvPr/>
        </p:nvCxnSpPr>
        <p:spPr>
          <a:xfrm rot="10800000">
            <a:off x="4683675" y="-5300"/>
            <a:ext cx="0" cy="46671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374" name="Google Shape;374;g3c3fe6efce6_0_1198"/>
          <p:cNvCxnSpPr/>
          <p:nvPr/>
        </p:nvCxnSpPr>
        <p:spPr>
          <a:xfrm rot="10800000">
            <a:off x="2157075" y="4670325"/>
            <a:ext cx="0" cy="479700"/>
          </a:xfrm>
          <a:prstGeom prst="straightConnector1">
            <a:avLst/>
          </a:prstGeom>
          <a:noFill/>
          <a:ln w="9525" cap="flat" cmpd="sng">
            <a:solidFill>
              <a:srgbClr val="EFEFEF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75" name="Google Shape;375;g3c3fe6efce6_0_1198"/>
          <p:cNvSpPr/>
          <p:nvPr/>
        </p:nvSpPr>
        <p:spPr>
          <a:xfrm>
            <a:off x="0" y="0"/>
            <a:ext cx="102900" cy="5143500"/>
          </a:xfrm>
          <a:prstGeom prst="rect">
            <a:avLst/>
          </a:prstGeom>
          <a:solidFill>
            <a:srgbClr val="FF0000"/>
          </a:solidFill>
          <a:ln>
            <a:noFill/>
          </a:ln>
          <a:effectLst>
            <a:outerShdw blurRad="30000" dist="17250" dir="5400000" rotWithShape="0">
              <a:srgbClr val="000000">
                <a:alpha val="34509"/>
              </a:srgbClr>
            </a:outerShdw>
          </a:effectLst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g3c3fe6efce6_0_1198"/>
          <p:cNvSpPr txBox="1"/>
          <p:nvPr/>
        </p:nvSpPr>
        <p:spPr>
          <a:xfrm>
            <a:off x="5414675" y="20974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7 </a:t>
            </a:r>
            <a:r>
              <a:rPr lang="en-US" sz="2000" b="1">
                <a:solidFill>
                  <a:srgbClr val="FF0000"/>
                </a:solidFill>
                <a:latin typeface="Montserrat"/>
                <a:ea typeface="Montserrat"/>
                <a:cs typeface="Montserrat"/>
                <a:sym typeface="Montserrat"/>
              </a:rPr>
              <a:t>КРАСНЫХ</a:t>
            </a:r>
            <a:r>
              <a:rPr lang="en-US" sz="20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 ЛИНИЙ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1593</Words>
  <Application>Microsoft Office PowerPoint</Application>
  <PresentationFormat>Экран (16:9)</PresentationFormat>
  <Paragraphs>335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2</vt:i4>
      </vt:variant>
      <vt:variant>
        <vt:lpstr>Заголовки слайдов</vt:lpstr>
      </vt:variant>
      <vt:variant>
        <vt:i4>15</vt:i4>
      </vt:variant>
    </vt:vector>
  </HeadingPairs>
  <TitlesOfParts>
    <vt:vector size="21" baseType="lpstr">
      <vt:lpstr>Montserrat</vt:lpstr>
      <vt:lpstr>Poppins</vt:lpstr>
      <vt:lpstr>Arial</vt:lpstr>
      <vt:lpstr>Calibri</vt:lpstr>
      <vt:lpstr>Office Theme</vt:lpstr>
      <vt:lpstr>Simple Light</vt:lpstr>
      <vt:lpstr>Внедряем автоматизацию с ИИ любой сложности   Помогаем компаниям пройти практическую ИИ-трансформацию - от первых пилотов до масштабирования на ключевые процессы. Создаём реально работающие инструменты, встроенные в бизнес-процесс.  </vt:lpstr>
      <vt:lpstr>Основные компетенции</vt:lpstr>
      <vt:lpstr>Нам доверяют</vt:lpstr>
      <vt:lpstr>Полный спектр работы с ИИ</vt:lpstr>
      <vt:lpstr>Официальный поставщик отечественных решений</vt:lpstr>
      <vt:lpstr>Отраслевые внедрения</vt:lpstr>
      <vt:lpstr>Помогаем в разработке нормативной базы</vt:lpstr>
      <vt:lpstr>Более 100 пилотных проектов за последние месяцы</vt:lpstr>
      <vt:lpstr>Корпоративное обучение</vt:lpstr>
      <vt:lpstr>Трансформация компании под ключ</vt:lpstr>
      <vt:lpstr>ИИ система для участия в тендерах</vt:lpstr>
      <vt:lpstr>ИИ для управляющих компаний</vt:lpstr>
      <vt:lpstr>ИИ оптимизация рецептуры</vt:lpstr>
      <vt:lpstr>Связываем бизнес и науку</vt:lpstr>
      <vt:lpstr>Контакты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7REDLINES</dc:creator>
  <cp:lastModifiedBy>a1227</cp:lastModifiedBy>
  <cp:revision>1</cp:revision>
  <dcterms:created xsi:type="dcterms:W3CDTF">2026-02-04T16:05:40Z</dcterms:created>
  <dcterms:modified xsi:type="dcterms:W3CDTF">2026-04-16T12:01:14Z</dcterms:modified>
</cp:coreProperties>
</file>