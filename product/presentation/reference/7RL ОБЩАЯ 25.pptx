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 type="screen16x9"/>
  <p:notesSz cx="9144000" cy="5143500"/>
  <p:embeddedFontLst>
    <p:embeddedFont>
      <p:font typeface="Corbel" panose="020B0503020204020204" pitchFamily="34" charset="0"/>
      <p:regular r:id="rId38"/>
      <p:bold r:id="rId39"/>
      <p:italic r:id="rId40"/>
      <p:boldItalic r:id="rId41"/>
    </p:embeddedFont>
    <p:embeddedFont>
      <p:font typeface="Montserrat" panose="00000500000000000000" pitchFamily="2" charset="-52"/>
      <p:regular r:id="rId42"/>
      <p:bold r:id="rId43"/>
    </p:embeddedFont>
    <p:embeddedFont>
      <p:font typeface="Poppins" panose="00000500000000000000" pitchFamily="2" charset="0"/>
      <p:boldItalic r:id="rId44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C7FAFB-4046-2F26-784E-7C089A73F6C3}">
  <a:tblStyle styleId="{93C7FAFB-4046-2F26-784E-7C089A73F6C3}" styleName="Table_1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0E9351E-97A1-C2F1-47FB-2178BA5577BC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37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" name="Google Shape;179;g35e98bb149f_1_1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ru"/>
              <a:t>Группы решений группировка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ru"/>
              <a:t>логотипы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80" name="Google Shape;180;g35e98bb149f_1_1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ustom Layout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-Cover" userDrawn="1">
  <p:cSld name="1-Cov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lide 2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2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7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 bwMode="auto">
          <a:xfrm>
            <a:off x="3028954" y="476727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 bwMode="auto">
          <a:xfrm>
            <a:off x="6457959" y="476727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01" name="Google Shape;101;p27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jpg"/><Relationship Id="rId21" Type="http://schemas.openxmlformats.org/officeDocument/2006/relationships/image" Target="../media/image25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jpg"/><Relationship Id="rId25" Type="http://schemas.openxmlformats.org/officeDocument/2006/relationships/image" Target="../media/image29.png"/><Relationship Id="rId2" Type="http://schemas.openxmlformats.org/officeDocument/2006/relationships/image" Target="../media/image6.jp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jp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jpg"/><Relationship Id="rId15" Type="http://schemas.openxmlformats.org/officeDocument/2006/relationships/image" Target="../media/image19.jp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jp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8.jp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lma365.com/ru/" TargetMode="External"/><Relationship Id="rId13" Type="http://schemas.openxmlformats.org/officeDocument/2006/relationships/hyperlink" Target="https://www.sferaplatform.ru/" TargetMode="External"/><Relationship Id="rId3" Type="http://schemas.openxmlformats.org/officeDocument/2006/relationships/hyperlink" Target="https://arenadata.tech/" TargetMode="External"/><Relationship Id="rId7" Type="http://schemas.openxmlformats.org/officeDocument/2006/relationships/hyperlink" Target="https://modusbi.ru/" TargetMode="External"/><Relationship Id="rId12" Type="http://schemas.openxmlformats.org/officeDocument/2006/relationships/hyperlink" Target="https://www.inferit.r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pa-robin.ru/" TargetMode="External"/><Relationship Id="rId11" Type="http://schemas.openxmlformats.org/officeDocument/2006/relationships/hyperlink" Target="https://mts.ai/" TargetMode="External"/><Relationship Id="rId5" Type="http://schemas.openxmlformats.org/officeDocument/2006/relationships/hyperlink" Target="https://pix.ru/" TargetMode="External"/><Relationship Id="rId10" Type="http://schemas.openxmlformats.org/officeDocument/2006/relationships/hyperlink" Target="https://testit.software/" TargetMode="External"/><Relationship Id="rId4" Type="http://schemas.openxmlformats.org/officeDocument/2006/relationships/hyperlink" Target="https://ru.visiology.su/" TargetMode="External"/><Relationship Id="rId9" Type="http://schemas.openxmlformats.org/officeDocument/2006/relationships/hyperlink" Target="https://teamstorm.io/" TargetMode="External"/><Relationship Id="rId14" Type="http://schemas.openxmlformats.org/officeDocument/2006/relationships/hyperlink" Target="https://avsw.ru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jp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nfo@7rlines.com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" name="Google Shape;109;p29" title="7RL_logo@8x.pn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082725" y="1264349"/>
            <a:ext cx="1489151" cy="84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9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75"/>
            <a:ext cx="43734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lvl="0" indent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Внедряем аналитику и повышаем эффективность бизнес-процессов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111" name="Google Shape;111;p29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Презентация компании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2" name="Google Shape;112;p29"/>
          <p:cNvSpPr txBox="1"/>
          <p:nvPr/>
        </p:nvSpPr>
        <p:spPr bwMode="auto">
          <a:xfrm>
            <a:off x="828675" y="4264975"/>
            <a:ext cx="3000000" cy="7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/>
            </a:pPr>
            <a:endParaRPr sz="8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/>
            </a:pP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+7 (495) 198 14 77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8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info@7rlines.com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13" name="Google Shape;113;p29"/>
          <p:cNvCxnSpPr>
            <a:cxnSpLocks/>
          </p:cNvCxnSpPr>
          <p:nvPr/>
        </p:nvCxnSpPr>
        <p:spPr bwMode="auto">
          <a:xfrm>
            <a:off x="4150" y="35950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29"/>
          <p:cNvCxnSpPr>
            <a:cxnSpLocks/>
          </p:cNvCxnSpPr>
          <p:nvPr/>
        </p:nvCxnSpPr>
        <p:spPr bwMode="auto">
          <a:xfrm rot="10800000">
            <a:off x="6512475" y="-5450"/>
            <a:ext cx="0" cy="35916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29"/>
          <p:cNvCxnSpPr>
            <a:cxnSpLocks/>
          </p:cNvCxnSpPr>
          <p:nvPr/>
        </p:nvCxnSpPr>
        <p:spPr bwMode="auto">
          <a:xfrm rot="10800000">
            <a:off x="3968184" y="3598200"/>
            <a:ext cx="0" cy="15453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" name="Google Shape;116;p29"/>
          <p:cNvSpPr/>
          <p:nvPr/>
        </p:nvSpPr>
        <p:spPr bwMode="auto">
          <a:xfrm>
            <a:off x="3970400" y="3595000"/>
            <a:ext cx="5173500" cy="17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" name="Google Shape;117;p29"/>
          <p:cNvSpPr/>
          <p:nvPr/>
        </p:nvSpPr>
        <p:spPr bwMode="auto">
          <a:xfrm rot="-5400000">
            <a:off x="-1713450" y="1707675"/>
            <a:ext cx="3603900" cy="17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/>
        </p:nvSpPr>
        <p:spPr bwMode="auto">
          <a:xfrm>
            <a:off x="828675" y="1339150"/>
            <a:ext cx="3584700" cy="344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Аналитика и управление данными 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Внедряем хранилища данных, витрины, создаем BI-отчеты. Обеспечиваем визуализацию и Data Governance.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Работа LLM решениями и AI агентами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Внедряем AI платформы, создаем умные базы знаний (RAG), запускаем ИИ ассистентов и умные боты для поддержки или продаж.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Машинное обучение (ML)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Создаем модели для предсказания поломок оборудования, классификации клиентских обращений или действий пользователей.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бизнес-процессов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Интегрируем LLM, ML, RPA решения с вашими корпоративными информационными системами.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Техническая поддержка и сопровождение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ИС по SLA, администрирование, мониторинг, устранение инцидентов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123" name="Google Shape;123;p30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500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4" name="Google Shape;124;p30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Основные компетенции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pic>
        <p:nvPicPr>
          <p:cNvPr id="125" name="Google Shape;125;p30" title="mintsifry.png"/>
          <p:cNvPicPr/>
          <p:nvPr/>
        </p:nvPicPr>
        <p:blipFill>
          <a:blip r:embed="rId2">
            <a:alphaModFix amt="60000"/>
          </a:blip>
          <a:stretch/>
        </p:blipFill>
        <p:spPr bwMode="auto">
          <a:xfrm>
            <a:off x="7672336" y="1787990"/>
            <a:ext cx="836229" cy="18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0" title="image-1.png"/>
          <p:cNvPicPr/>
          <p:nvPr/>
        </p:nvPicPr>
        <p:blipFill>
          <a:blip r:embed="rId3">
            <a:alphaModFix amt="60000"/>
          </a:blip>
          <a:stretch/>
        </p:blipFill>
        <p:spPr bwMode="auto">
          <a:xfrm>
            <a:off x="6797519" y="1779075"/>
            <a:ext cx="728924" cy="1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0" title="MOSCOW_EXPO.png"/>
          <p:cNvPicPr/>
          <p:nvPr/>
        </p:nvPicPr>
        <p:blipFill>
          <a:blip r:embed="rId4">
            <a:alphaModFix amt="60000"/>
          </a:blip>
          <a:stretch/>
        </p:blipFill>
        <p:spPr bwMode="auto">
          <a:xfrm>
            <a:off x="5666001" y="1802593"/>
            <a:ext cx="927116" cy="16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0" title="6b7abc69e0.png"/>
          <p:cNvPicPr/>
          <p:nvPr/>
        </p:nvPicPr>
        <p:blipFill>
          <a:blip r:embed="rId5">
            <a:alphaModFix amt="60000"/>
          </a:blip>
          <a:stretch/>
        </p:blipFill>
        <p:spPr bwMode="auto">
          <a:xfrm>
            <a:off x="4795175" y="1807063"/>
            <a:ext cx="666418" cy="1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0"/>
          <p:cNvSpPr txBox="1"/>
          <p:nvPr/>
        </p:nvSpPr>
        <p:spPr bwMode="auto">
          <a:xfrm>
            <a:off x="4122012" y="1476088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Аккредитация и сертификация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130" name="Google Shape;130;p30"/>
          <p:cNvCxnSpPr>
            <a:cxnSpLocks/>
          </p:cNvCxnSpPr>
          <p:nvPr/>
        </p:nvCxnSpPr>
        <p:spPr bwMode="auto">
          <a:xfrm>
            <a:off x="828675" y="3932493"/>
            <a:ext cx="36606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30"/>
          <p:cNvSpPr txBox="1"/>
          <p:nvPr/>
        </p:nvSpPr>
        <p:spPr bwMode="auto">
          <a:xfrm>
            <a:off x="4795175" y="2482150"/>
            <a:ext cx="37134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Более 10 лет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опыта в комплексной цифровизации бизнеса и госструктур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150+ экспертов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 аналитике, разработке, ML, RPA, BI и сопровождении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500+ проектов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 промышленности, госсекторе, страховании, ритейле, банках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30+ решений на базе ИИ и ML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включая чат-боты, анализ данных и голосовые интерфейсы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100+ внедренных аналитических платформ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DWH / BI / ETL стеке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50+ автоматизированных процессов с RPA и BPMN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50+ кейсов по импортозамещению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(переход с SAP, Oracle, Tableau и др.)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25+ регионов присутствия проектов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по всей России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До 24/7 тех поддержка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критичных решений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2" name="Google Shape;132;p30" title="7RL_logo@8x.png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431075" y="597275"/>
            <a:ext cx="1064326" cy="603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30"/>
          <p:cNvCxnSpPr>
            <a:cxnSpLocks/>
          </p:cNvCxnSpPr>
          <p:nvPr/>
        </p:nvCxnSpPr>
        <p:spPr bwMode="auto">
          <a:xfrm>
            <a:off x="4481125" y="21983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30"/>
          <p:cNvCxnSpPr>
            <a:cxnSpLocks/>
          </p:cNvCxnSpPr>
          <p:nvPr/>
        </p:nvCxnSpPr>
        <p:spPr bwMode="auto">
          <a:xfrm rot="10800000">
            <a:off x="4481125" y="597275"/>
            <a:ext cx="0" cy="4088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1"/>
          <p:cNvGraphicFramePr>
            <a:graphicFrameLocks/>
          </p:cNvGraphicFramePr>
          <p:nvPr/>
        </p:nvGraphicFramePr>
        <p:xfrm>
          <a:off x="834772" y="1476259"/>
          <a:ext cx="3000000" cy="3000000"/>
        </p:xfrm>
        <a:graphic>
          <a:graphicData uri="http://schemas.openxmlformats.org/drawingml/2006/table">
            <a:tbl>
              <a:tblPr firstRow="1" bandRow="1">
                <a:tableStyleId>{B0E9351E-97A1-C2F1-47FB-2178BA5577BC}</a:tableStyleId>
              </a:tblPr>
              <a:tblGrid>
                <a:gridCol w="128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425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Финтех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28575" algn="ctr">
                      <a:solidFill>
                        <a:srgbClr val="FF0000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28575" algn="ctr">
                      <a:solidFill>
                        <a:srgbClr val="FF0000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574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Государственный сектор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25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Промышленность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574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Ритейл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  <a:defRPr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574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IT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574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Крупные компании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68600" marR="68600" marT="34300" marB="343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algn="ctr">
                      <a:solidFill>
                        <a:srgbClr val="E5E5E5"/>
                      </a:solidFill>
                    </a:lnT>
                    <a:lnB w="12700" algn="ctr">
                      <a:solidFill>
                        <a:srgbClr val="E5E5E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0" name="Google Shape;140;p31" title="8c16b35fd872774a200380a28bdff400.jpg"/>
          <p:cNvPicPr/>
          <p:nvPr/>
        </p:nvPicPr>
        <p:blipFill>
          <a:blip r:embed="rId2">
            <a:alphaModFix/>
          </a:blip>
          <a:srcRect l="34902" t="39660" r="34789" b="37635"/>
          <a:stretch/>
        </p:blipFill>
        <p:spPr bwMode="auto">
          <a:xfrm>
            <a:off x="7117113" y="2658050"/>
            <a:ext cx="686547" cy="3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Нам доверяют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pic>
        <p:nvPicPr>
          <p:cNvPr id="142" name="Google Shape;142;p3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612750" y="3314252"/>
            <a:ext cx="817456" cy="13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065986" y="3290819"/>
            <a:ext cx="596990" cy="16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1"/>
          <p:cNvPicPr/>
          <p:nvPr/>
        </p:nvPicPr>
        <p:blipFill>
          <a:blip r:embed="rId5">
            <a:alphaModFix/>
          </a:blip>
          <a:srcRect b="4588"/>
          <a:stretch/>
        </p:blipFill>
        <p:spPr bwMode="auto">
          <a:xfrm>
            <a:off x="2574171" y="1644129"/>
            <a:ext cx="849398" cy="18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1"/>
          <p:cNvPicPr/>
          <p:nvPr/>
        </p:nvPicPr>
        <p:blipFill>
          <a:blip r:embed="rId6">
            <a:alphaModFix/>
          </a:blip>
          <a:srcRect l="13459" t="21331" r="13114" b="22266"/>
          <a:stretch/>
        </p:blipFill>
        <p:spPr bwMode="auto">
          <a:xfrm>
            <a:off x="4989865" y="1602313"/>
            <a:ext cx="560951" cy="24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/>
          <p:nvPr/>
        </p:nvPicPr>
        <p:blipFill>
          <a:blip r:embed="rId7">
            <a:alphaModFix/>
          </a:blip>
          <a:stretch/>
        </p:blipFill>
        <p:spPr bwMode="auto">
          <a:xfrm>
            <a:off x="4989887" y="2694115"/>
            <a:ext cx="720504" cy="25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1"/>
          <p:cNvPicPr/>
          <p:nvPr/>
        </p:nvPicPr>
        <p:blipFill>
          <a:blip r:embed="rId8">
            <a:alphaModFix/>
          </a:blip>
          <a:stretch/>
        </p:blipFill>
        <p:spPr bwMode="auto">
          <a:xfrm>
            <a:off x="2697627" y="2208149"/>
            <a:ext cx="647700" cy="18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1"/>
          <p:cNvPicPr/>
          <p:nvPr/>
        </p:nvPicPr>
        <p:blipFill>
          <a:blip r:embed="rId9">
            <a:alphaModFix/>
          </a:blip>
          <a:srcRect t="27043" b="22519"/>
          <a:stretch/>
        </p:blipFill>
        <p:spPr bwMode="auto">
          <a:xfrm>
            <a:off x="6046999" y="2181298"/>
            <a:ext cx="1017145" cy="20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1"/>
          <p:cNvPicPr/>
          <p:nvPr/>
        </p:nvPicPr>
        <p:blipFill>
          <a:blip r:embed="rId10">
            <a:alphaModFix/>
          </a:blip>
          <a:stretch/>
        </p:blipFill>
        <p:spPr bwMode="auto">
          <a:xfrm>
            <a:off x="7117114" y="1667911"/>
            <a:ext cx="769084" cy="14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1" title="raiffeisenbank.png"/>
          <p:cNvPicPr/>
          <p:nvPr/>
        </p:nvPicPr>
        <p:blipFill>
          <a:blip r:embed="rId11">
            <a:alphaModFix/>
          </a:blip>
          <a:stretch/>
        </p:blipFill>
        <p:spPr bwMode="auto">
          <a:xfrm>
            <a:off x="6046991" y="1538490"/>
            <a:ext cx="769080" cy="39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1" title="alfa-bank-e1566973775405.png"/>
          <p:cNvPicPr/>
          <p:nvPr/>
        </p:nvPicPr>
        <p:blipFill>
          <a:blip r:embed="rId12">
            <a:alphaModFix/>
          </a:blip>
          <a:stretch/>
        </p:blipFill>
        <p:spPr bwMode="auto">
          <a:xfrm>
            <a:off x="3673746" y="1582258"/>
            <a:ext cx="917371" cy="3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1" title="cik.jpg"/>
          <p:cNvPicPr/>
          <p:nvPr/>
        </p:nvPicPr>
        <p:blipFill>
          <a:blip r:embed="rId13">
            <a:alphaModFix/>
          </a:blip>
          <a:stretch/>
        </p:blipFill>
        <p:spPr bwMode="auto">
          <a:xfrm>
            <a:off x="7120438" y="2156545"/>
            <a:ext cx="1017151" cy="24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1" title="min.jpg"/>
          <p:cNvPicPr/>
          <p:nvPr/>
        </p:nvPicPr>
        <p:blipFill>
          <a:blip r:embed="rId14">
            <a:alphaModFix/>
          </a:blip>
          <a:stretch/>
        </p:blipFill>
        <p:spPr bwMode="auto">
          <a:xfrm>
            <a:off x="3677870" y="2208149"/>
            <a:ext cx="868817" cy="1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1" title="f8271aca70114f9936bdba13dabd7e72.jpg"/>
          <p:cNvPicPr/>
          <p:nvPr/>
        </p:nvPicPr>
        <p:blipFill>
          <a:blip r:embed="rId15">
            <a:alphaModFix/>
          </a:blip>
          <a:srcRect t="23873" b="24168"/>
          <a:stretch/>
        </p:blipFill>
        <p:spPr bwMode="auto">
          <a:xfrm>
            <a:off x="4961561" y="2148739"/>
            <a:ext cx="810821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1" title="okhl4gqfinvxn2kpm9rxfrxx132257u2.png"/>
          <p:cNvPicPr/>
          <p:nvPr/>
        </p:nvPicPr>
        <p:blipFill>
          <a:blip r:embed="rId16">
            <a:alphaModFix/>
          </a:blip>
          <a:srcRect t="28149" b="28769"/>
          <a:stretch/>
        </p:blipFill>
        <p:spPr bwMode="auto">
          <a:xfrm>
            <a:off x="2680000" y="2690025"/>
            <a:ext cx="637747" cy="27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1" title="Логотип__Уралкалия_.jpg"/>
          <p:cNvPicPr/>
          <p:nvPr/>
        </p:nvPicPr>
        <p:blipFill>
          <a:blip r:embed="rId17">
            <a:alphaModFix/>
          </a:blip>
          <a:srcRect l="9571" t="39640" r="7912" b="40173"/>
          <a:stretch/>
        </p:blipFill>
        <p:spPr bwMode="auto">
          <a:xfrm>
            <a:off x="3677875" y="2737487"/>
            <a:ext cx="1038915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1" title="3b700d37ad825ed5818f7eb257bf4cf2.png"/>
          <p:cNvPicPr/>
          <p:nvPr/>
        </p:nvPicPr>
        <p:blipFill>
          <a:blip r:embed="rId18">
            <a:alphaModFix/>
          </a:blip>
          <a:srcRect l="17518" t="24750" r="17718" b="23730"/>
          <a:stretch/>
        </p:blipFill>
        <p:spPr bwMode="auto">
          <a:xfrm>
            <a:off x="6047000" y="2706934"/>
            <a:ext cx="686551" cy="26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1" title="1uqwj892u58ofsuc60a4tnk03su0ty2s.png"/>
          <p:cNvPicPr/>
          <p:nvPr/>
        </p:nvPicPr>
        <p:blipFill>
          <a:blip r:embed="rId19">
            <a:alphaModFix/>
          </a:blip>
          <a:stretch/>
        </p:blipFill>
        <p:spPr bwMode="auto">
          <a:xfrm>
            <a:off x="3673751" y="3300595"/>
            <a:ext cx="836111" cy="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1" title="ozon png.png"/>
          <p:cNvPicPr/>
          <p:nvPr/>
        </p:nvPicPr>
        <p:blipFill>
          <a:blip r:embed="rId20">
            <a:alphaModFix/>
          </a:blip>
          <a:srcRect t="25740" b="26653"/>
          <a:stretch/>
        </p:blipFill>
        <p:spPr bwMode="auto">
          <a:xfrm>
            <a:off x="4848572" y="3283980"/>
            <a:ext cx="955648" cy="19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1"/>
          <p:cNvPicPr/>
          <p:nvPr/>
        </p:nvPicPr>
        <p:blipFill>
          <a:blip r:embed="rId21">
            <a:alphaModFix/>
          </a:blip>
          <a:stretch/>
        </p:blipFill>
        <p:spPr bwMode="auto">
          <a:xfrm>
            <a:off x="7164201" y="3247464"/>
            <a:ext cx="540785" cy="25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1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200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2" name="Google Shape;162;p31"/>
          <p:cNvSpPr/>
          <p:nvPr/>
        </p:nvSpPr>
        <p:spPr bwMode="auto">
          <a:xfrm>
            <a:off x="8168656" y="1584200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+20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3" name="Google Shape;163;p31"/>
          <p:cNvSpPr/>
          <p:nvPr/>
        </p:nvSpPr>
        <p:spPr bwMode="auto">
          <a:xfrm>
            <a:off x="8168656" y="213527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+35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4" name="Google Shape;164;p31"/>
          <p:cNvSpPr/>
          <p:nvPr/>
        </p:nvSpPr>
        <p:spPr bwMode="auto">
          <a:xfrm>
            <a:off x="8168656" y="26863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+50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5" name="Google Shape;165;p31"/>
          <p:cNvSpPr/>
          <p:nvPr/>
        </p:nvSpPr>
        <p:spPr bwMode="auto">
          <a:xfrm>
            <a:off x="8168656" y="32089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+15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66" name="Google Shape;166;p31" title="КРОК Green Logo.png"/>
          <p:cNvPicPr/>
          <p:nvPr/>
        </p:nvPicPr>
        <p:blipFill>
          <a:blip r:embed="rId22">
            <a:alphaModFix/>
          </a:blip>
          <a:stretch/>
        </p:blipFill>
        <p:spPr bwMode="auto">
          <a:xfrm>
            <a:off x="4847486" y="3801877"/>
            <a:ext cx="917375" cy="47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1" title="logortk.png"/>
          <p:cNvPicPr/>
          <p:nvPr/>
        </p:nvPicPr>
        <p:blipFill>
          <a:blip r:embed="rId23">
            <a:alphaModFix/>
          </a:blip>
          <a:stretch/>
        </p:blipFill>
        <p:spPr bwMode="auto">
          <a:xfrm>
            <a:off x="2612750" y="3856635"/>
            <a:ext cx="810824" cy="29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1" title="usetech_logo_bl.png"/>
          <p:cNvPicPr/>
          <p:nvPr/>
        </p:nvPicPr>
        <p:blipFill>
          <a:blip r:embed="rId24">
            <a:alphaModFix/>
          </a:blip>
          <a:stretch/>
        </p:blipFill>
        <p:spPr bwMode="auto">
          <a:xfrm>
            <a:off x="7190475" y="3936886"/>
            <a:ext cx="735901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1" title="Mask_group_63.png"/>
          <p:cNvPicPr/>
          <p:nvPr/>
        </p:nvPicPr>
        <p:blipFill>
          <a:blip r:embed="rId25">
            <a:alphaModFix/>
          </a:blip>
          <a:stretch/>
        </p:blipFill>
        <p:spPr bwMode="auto">
          <a:xfrm>
            <a:off x="3673750" y="3967774"/>
            <a:ext cx="917376" cy="2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/>
          <p:nvPr/>
        </p:nvSpPr>
        <p:spPr bwMode="auto">
          <a:xfrm>
            <a:off x="8168656" y="388342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+60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71" name="Google Shape;171;p31" title="Merlion.png"/>
          <p:cNvPicPr/>
          <p:nvPr/>
        </p:nvPicPr>
        <p:blipFill>
          <a:blip r:embed="rId26">
            <a:alphaModFix/>
          </a:blip>
          <a:stretch/>
        </p:blipFill>
        <p:spPr bwMode="auto">
          <a:xfrm>
            <a:off x="6063588" y="3931890"/>
            <a:ext cx="735899" cy="16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/>
          <p:nvPr/>
        </p:nvPicPr>
        <p:blipFill>
          <a:blip r:embed="rId27">
            <a:alphaModFix/>
          </a:blip>
          <a:stretch/>
        </p:blipFill>
        <p:spPr bwMode="auto">
          <a:xfrm>
            <a:off x="2580822" y="4531234"/>
            <a:ext cx="836127" cy="26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/>
          <p:cNvPicPr/>
          <p:nvPr/>
        </p:nvPicPr>
        <p:blipFill>
          <a:blip r:embed="rId28">
            <a:alphaModFix/>
          </a:blip>
          <a:stretch/>
        </p:blipFill>
        <p:spPr bwMode="auto">
          <a:xfrm>
            <a:off x="5006875" y="4481048"/>
            <a:ext cx="686526" cy="36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1"/>
          <p:cNvPicPr/>
          <p:nvPr/>
        </p:nvPicPr>
        <p:blipFill>
          <a:blip r:embed="rId29">
            <a:alphaModFix/>
          </a:blip>
          <a:stretch/>
        </p:blipFill>
        <p:spPr bwMode="auto">
          <a:xfrm>
            <a:off x="7164205" y="4440419"/>
            <a:ext cx="592360" cy="4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/>
          <p:cNvPicPr/>
          <p:nvPr/>
        </p:nvPicPr>
        <p:blipFill>
          <a:blip r:embed="rId30">
            <a:alphaModFix/>
          </a:blip>
          <a:srcRect t="30365" b="28944"/>
          <a:stretch/>
        </p:blipFill>
        <p:spPr bwMode="auto">
          <a:xfrm>
            <a:off x="3545425" y="4505424"/>
            <a:ext cx="1149210" cy="31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1"/>
          <p:cNvPicPr/>
          <p:nvPr/>
        </p:nvPicPr>
        <p:blipFill>
          <a:blip r:embed="rId31">
            <a:alphaModFix/>
          </a:blip>
          <a:stretch/>
        </p:blipFill>
        <p:spPr bwMode="auto">
          <a:xfrm>
            <a:off x="6044274" y="4440435"/>
            <a:ext cx="769074" cy="39391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1"/>
          <p:cNvSpPr/>
          <p:nvPr/>
        </p:nvSpPr>
        <p:spPr bwMode="auto">
          <a:xfrm>
            <a:off x="8163006" y="4507363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9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+80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Официальный поставщик решений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183" name="Google Shape;183;p32"/>
          <p:cNvSpPr/>
          <p:nvPr/>
        </p:nvSpPr>
        <p:spPr bwMode="auto">
          <a:xfrm>
            <a:off x="834775" y="1372500"/>
            <a:ext cx="3885000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latin typeface="Montserrat"/>
                <a:ea typeface="Montserrat"/>
                <a:cs typeface="Montserrat"/>
              </a:rPr>
              <a:t>ArenaData</a:t>
            </a: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Корпоративная платформа хранения и обработки данных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3" tooltip="https://arenadata.tech/"/>
              </a:rPr>
              <a:t>https://arenadata.tech/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184" name="Google Shape;184;p32"/>
          <p:cNvSpPr/>
          <p:nvPr/>
        </p:nvSpPr>
        <p:spPr bwMode="auto">
          <a:xfrm>
            <a:off x="4748575" y="1372500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Visiology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Система аналитики данных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4" tooltip="https://ru.visiology.su/"/>
              </a:rPr>
              <a:t>https://ru.visiology.su/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5" name="Google Shape;185;p32"/>
          <p:cNvSpPr/>
          <p:nvPr/>
        </p:nvSpPr>
        <p:spPr bwMode="auto">
          <a:xfrm>
            <a:off x="6705475" y="1372500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Pix Robotics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Система аналитики данных. RPA-платформа. 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5" tooltip="https://pix.ru/"/>
              </a:rPr>
              <a:t>https://pix.ru/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6" name="Google Shape;186;p32"/>
          <p:cNvSpPr/>
          <p:nvPr/>
        </p:nvSpPr>
        <p:spPr bwMode="auto">
          <a:xfrm>
            <a:off x="834775" y="2285821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Robin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RPA-платформа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6" tooltip="https://rpa-robin.ru/"/>
              </a:rPr>
              <a:t>https://rpa-robin.ru/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7" name="Google Shape;187;p32"/>
          <p:cNvSpPr/>
          <p:nvPr/>
        </p:nvSpPr>
        <p:spPr bwMode="auto">
          <a:xfrm>
            <a:off x="2791675" y="2285821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ModusBI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7" tooltip="https://modusbi.ru/"/>
              </a:rPr>
              <a:t>https://modusbi.ru/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8" name="Google Shape;188;p32"/>
          <p:cNvSpPr/>
          <p:nvPr/>
        </p:nvSpPr>
        <p:spPr bwMode="auto">
          <a:xfrm>
            <a:off x="4748575" y="2285821"/>
            <a:ext cx="3885000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latin typeface="Montserrat"/>
                <a:ea typeface="Montserrat"/>
                <a:cs typeface="Montserrat"/>
              </a:rPr>
              <a:t>ELMA 365</a:t>
            </a: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Экосистема low-code продуктов для автоматизации бизнеса и процессов 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8" tooltip="https://elma365.com/ru/"/>
              </a:rPr>
              <a:t>https://elma365.com/ru/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189" name="Google Shape;189;p32"/>
          <p:cNvSpPr/>
          <p:nvPr/>
        </p:nvSpPr>
        <p:spPr bwMode="auto">
          <a:xfrm>
            <a:off x="2791675" y="3199141"/>
            <a:ext cx="3885000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TeamStorm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Платформа для гибкого управления командами по Agile-подходу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9" tooltip="https://teamstorm.io/"/>
              </a:rPr>
              <a:t>https://teamstorm.io/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90" name="Google Shape;190;p32"/>
          <p:cNvSpPr/>
          <p:nvPr/>
        </p:nvSpPr>
        <p:spPr bwMode="auto">
          <a:xfrm>
            <a:off x="834775" y="3199141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TestIT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10" tooltip="https://testit.software/"/>
              </a:rPr>
              <a:t>https://testit.software/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91" name="Google Shape;191;p32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Платиновые и золотые партнеры отечественных вендоров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92" name="Google Shape;192;p32"/>
          <p:cNvSpPr/>
          <p:nvPr/>
        </p:nvSpPr>
        <p:spPr bwMode="auto">
          <a:xfrm>
            <a:off x="6705475" y="3199146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MTS.AI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Технологическая платформа для работы с 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11" tooltip="https://mts.ai/"/>
              </a:rPr>
              <a:t>https://mts.ai/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93" name="Google Shape;193;p32"/>
          <p:cNvSpPr/>
          <p:nvPr/>
        </p:nvSpPr>
        <p:spPr bwMode="auto">
          <a:xfrm>
            <a:off x="834775" y="4112466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Инферит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 для ИТ-инфраструктуры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12" tooltip="https://www.inferit.ru/"/>
              </a:rPr>
              <a:t>https://www.inferit.ru/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94" name="Google Shape;194;p32"/>
          <p:cNvSpPr/>
          <p:nvPr/>
        </p:nvSpPr>
        <p:spPr bwMode="auto">
          <a:xfrm>
            <a:off x="4748575" y="4112471"/>
            <a:ext cx="3885000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latin typeface="Montserrat"/>
                <a:ea typeface="Montserrat"/>
                <a:cs typeface="Montserrat"/>
              </a:rPr>
              <a:t>Сфера</a:t>
            </a: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Российская альтернатива JIRA систем 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13" tooltip="https://www.sferaplatform.ru/"/>
              </a:rPr>
              <a:t>https://www.sferaplatform.ru/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195" name="Google Shape;195;p32"/>
          <p:cNvSpPr/>
          <p:nvPr/>
        </p:nvSpPr>
        <p:spPr bwMode="auto">
          <a:xfrm>
            <a:off x="2791675" y="4112471"/>
            <a:ext cx="1928099" cy="8838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AV Soft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Информационная безопасность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14" tooltip="https://avsw.ru/"/>
              </a:rPr>
              <a:t>https://avsw.ru/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/>
          <p:nvPr/>
        </p:nvSpPr>
        <p:spPr bwMode="auto">
          <a:xfrm>
            <a:off x="5714100" y="0"/>
            <a:ext cx="34299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43794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Внедряем лучшие отечественные практики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02" name="Google Shape;202;p33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70 проектов по импортозамещению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3" name="Google Shape;203;p33"/>
          <p:cNvSpPr txBox="1"/>
          <p:nvPr/>
        </p:nvSpPr>
        <p:spPr bwMode="auto">
          <a:xfrm>
            <a:off x="828675" y="1686400"/>
            <a:ext cx="1766700" cy="27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latin typeface="Montserrat"/>
                <a:ea typeface="Montserrat"/>
                <a:cs typeface="Montserrat"/>
              </a:rPr>
              <a:t>Зарубежное ПО</a:t>
            </a: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Power BI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UiPath / Automation Anywhere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Tableau / Qlik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SAP HANA / Oracle DB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Atlassian Jira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SAP ERP / Microsoft Dynamics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Camuda / Bizagi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Workday / SuccessFactors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Google Dialogflow / Amazon Lex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IBM Watson / Azure AI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Selenium / TestRail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Microsoft SharePoint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IBM BPM / Appain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IBM Cognos / SAP BO</a:t>
            </a: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204" name="Google Shape;204;p33"/>
          <p:cNvSpPr txBox="1"/>
          <p:nvPr/>
        </p:nvSpPr>
        <p:spPr bwMode="auto">
          <a:xfrm>
            <a:off x="3374749" y="1686400"/>
            <a:ext cx="1560000" cy="27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latin typeface="Montserrat"/>
                <a:ea typeface="Montserrat"/>
                <a:cs typeface="Montserrat"/>
              </a:rPr>
              <a:t>Российские аналоги</a:t>
            </a: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Visiology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Pix Robotics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Modus BI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Arendata DB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TeamStorm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1C:ERP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ELMA BPM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Robin HR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MTC AI Voice/Chat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Inferit AI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Test IT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СФЕРА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ELMA / Сфера Low-code</a:t>
            </a:r>
            <a:endParaRPr sz="700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latin typeface="Montserrat"/>
                <a:ea typeface="Montserrat"/>
                <a:cs typeface="Montserrat"/>
              </a:rPr>
              <a:t>Visiology / Modus BI</a:t>
            </a: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205" name="Google Shape;205;p33"/>
          <p:cNvSpPr txBox="1"/>
          <p:nvPr/>
        </p:nvSpPr>
        <p:spPr bwMode="auto">
          <a:xfrm>
            <a:off x="5905700" y="538175"/>
            <a:ext cx="3112500" cy="4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ПАО «Уралкалий»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заменяли: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развитие и настройка 1С:ERP вместо SAP/Oracle ERP.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Результат: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автоматизация ≈100 рабочих мест, интеграция с 1С:Бухгалтерией и 1С:Документооборотом, повышение прозрачности бизнес-процессов.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Альфа-Страхование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заменяли: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внедрение 1С «Страховая компания 8» и «Управление холдингом» вместо зарубежных решений для учета и XBRL-отчётности.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Результат: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обследование, архитектура в ARCHIMATE, ТЗ, выявлены точки интеграции.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Крупнейший банк из топ 5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заменяли: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поддержка и развитие фронта банка с использованием СФЕРА (российский low-code аналог SharePoint и BPM).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Результат: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реализован значительный объем фронтенда, импортозамещены компоненты.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X5 Retail Group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заменяли: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SAP BO и Tableau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Результат: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Снижение стоимости владения аналитической системой. Повышение доступности и прозрачности данных. Устойчивость к санкционным рискам.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/>
        </p:nvSpPr>
        <p:spPr bwMode="auto">
          <a:xfrm>
            <a:off x="828675" y="1339150"/>
            <a:ext cx="3584700" cy="3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Когда формат подходит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Чётко определённая бизнес‑цель и измеримые критерии успеха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Типовая задача в зоне наших компетенций (данные, автоматизация, ИИ, ERP, интеграции)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входит в фикс‑прайс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Предпроект: быстрый скопинг, оценка, план‑график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Полный цикл работ: проектирование - разработка/внедрение - тестирование - запуск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Документация, обучение, передача компетенций и исходных кодов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Гарантийная поддержка после запуска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Как считаем и управляем рисками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Фиксируем объем и требования (бэклог, макеты, архитектура)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Закладываем буфер на технологические риски и интеграции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Изменения управления через Change Request без остановки проекта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Проекты под ключ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12" name="Google Shape;212;p34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Платиновые и золотые партнеры отечественных вендоров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3" name="Google Shape;213;p34"/>
          <p:cNvSpPr txBox="1"/>
          <p:nvPr/>
        </p:nvSpPr>
        <p:spPr bwMode="auto">
          <a:xfrm>
            <a:off x="4683850" y="1315575"/>
            <a:ext cx="4058100" cy="23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Базируемся на наших компетенциях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DWH/BI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: хранилища, витрины, дашборды, Data Governance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LLM/AI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: RAG‑базы знаний, ассистенты, классификация обращений, OCR/CV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RPA/BPM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: роботизация рутин, BPMN‑процессы, авто‑регламенты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ERP/1C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: внедрение и развитие контуров учета, интеграции с внешними системами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Интеграции и микросервисы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: API, очереди, CI/CD, мониторинг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Результат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Прозрачный бюджет и сроки, минимум управленческих рисков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Предсказуемое качество и эксплуатационная готовность решения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Передача всех артефактов и правообладательских прав по договору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/>
          <p:nvPr/>
        </p:nvSpPr>
        <p:spPr bwMode="auto">
          <a:xfrm>
            <a:off x="4481125" y="1339150"/>
            <a:ext cx="4662900" cy="3157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Аутсорсинг и аутстаффинг ИТ-специалистов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20" name="Google Shape;220;p35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300 000 часов в год на сторонних проектах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1" name="Google Shape;221;p35"/>
          <p:cNvSpPr txBox="1"/>
          <p:nvPr/>
        </p:nvSpPr>
        <p:spPr bwMode="auto">
          <a:xfrm>
            <a:off x="828675" y="1339150"/>
            <a:ext cx="3584700" cy="3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Форматы взаимодействия: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Аутстаффинг (T&amp;M):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Специалисты работают в вашей команде, под вашим управлением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Проектная команда под ключ: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Мы берём на себя реализацию задачи end-to-end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Гибридный формат: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Интеграция в существующие команды + выделенные зоны ответственности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Почему выбирают нас: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Собственный кадровый резерв 150+ специалистов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Быстрый старт — подбор за 3–7 рабочих дней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Гибкие форматы — от краткосрочного саппорта до длительных контрактов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Прозрачные отчеты, контроль качества, замена по SLA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2" name="Google Shape;222;p35"/>
          <p:cNvSpPr txBox="1"/>
          <p:nvPr/>
        </p:nvSpPr>
        <p:spPr bwMode="auto">
          <a:xfrm>
            <a:off x="4683850" y="1339150"/>
            <a:ext cx="4058100" cy="352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Сроки выхода на проект: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Подбор кандидата — от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3 до 7 рабочих дней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Готовность к выходу на проект — от 1 дня после согласования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Возможен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экспресс-пул специалистов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из внутреннего резерва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включено в сотрудничество: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Подбор и техническая проверка кандидатов (собеседования, тех.интервью)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Подписание NDA и соглашений о неразглашении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Гибкие условия по продлению / замене специалиста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Отчётность по часам / задачам (в Jira, Excel, BI)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Возможность внедрения специалистов в вашу команду или выделенной командой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Гарантии и сопровождение: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Замена специалиста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 течение 10–15 рабочих дней при форс-мажоре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Быстрая адаптация: включение в процессы, доступы, онбординг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Гарантия соответствия профиля требованиям заказчика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Постоянный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куратор проекта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от нашей стороны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40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Постоянные заказчики: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223" name="Google Shape;223;p35"/>
          <p:cNvCxnSpPr>
            <a:cxnSpLocks/>
          </p:cNvCxnSpPr>
          <p:nvPr/>
        </p:nvCxnSpPr>
        <p:spPr bwMode="auto">
          <a:xfrm rot="10800000">
            <a:off x="4481125" y="1399475"/>
            <a:ext cx="0" cy="37557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5"/>
          <p:cNvCxnSpPr>
            <a:cxnSpLocks/>
          </p:cNvCxnSpPr>
          <p:nvPr/>
        </p:nvCxnSpPr>
        <p:spPr bwMode="auto">
          <a:xfrm>
            <a:off x="4477150" y="4496375"/>
            <a:ext cx="46686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5" name="Google Shape;225;p35" title="КРОК Green Logo.pn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73444" y="4729592"/>
            <a:ext cx="630441" cy="32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 title="usetech_logo_bl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445398" y="4822373"/>
            <a:ext cx="505727" cy="123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 title="Mask_group_63.png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790625" y="4843599"/>
            <a:ext cx="630439" cy="14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 title="Polymedia.jpg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7219825" y="4781892"/>
            <a:ext cx="417250" cy="2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 title="67a06f2c1dc54btkA0m.png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705525" y="4683112"/>
            <a:ext cx="828927" cy="46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5" title="nyqt3yc167510.png"/>
          <p:cNvPicPr/>
          <p:nvPr/>
        </p:nvPicPr>
        <p:blipFill>
          <a:blip r:embed="rId7">
            <a:alphaModFix/>
          </a:blip>
          <a:stretch/>
        </p:blipFill>
        <p:spPr bwMode="auto">
          <a:xfrm>
            <a:off x="8526700" y="4843609"/>
            <a:ext cx="389469" cy="1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4439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Техническое сопровождение внедренных решений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36" name="Google Shape;236;p36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30 компаний пользуются нашей технической поддержкой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37" name="Google Shape;237;p36"/>
          <p:cNvSpPr txBox="1"/>
          <p:nvPr/>
        </p:nvSpPr>
        <p:spPr bwMode="auto">
          <a:xfrm>
            <a:off x="828675" y="1491550"/>
            <a:ext cx="35847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рабочих систем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Обеспечиваем стабильную работу программных решений (ERP, CRM, BI, DWH, ML-систем, RPA, корпоративные порталы), своевременно устраняем сбои, обновляем конфигурации и модули.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Форматы сопровождения по SLA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Работаем в соответствии с уровнями критичности и соглашениями об уровне сервиса (SLA). Поддержка может включать 8/5, 12/7 или 24/7.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инцидентов и обращений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Реагируем на обращения пользователей, устраняем ошибки, восстанавливаем процессы, сопровождаем релизы и доработки.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Администрирование инфраструктуры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Настраиваем и поддерживаем серверы, базы данных, очереди сообщений, шины данных, систему мониторинга и логирования.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Предиктивное и профилактическое обслуживание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Предотвращаем сбои и узкие места, анализируя логи, метрики, поведение пользователей.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Ведение документации и базы знаний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Обновляем инструкции, справочники, документацию и глоссарии. Обучаем сотрудников Заказчика работе с системой.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38" name="Google Shape;238;p36"/>
          <p:cNvSpPr txBox="1"/>
          <p:nvPr/>
        </p:nvSpPr>
        <p:spPr bwMode="auto">
          <a:xfrm>
            <a:off x="4683850" y="1491550"/>
            <a:ext cx="40581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Поддерживаемые технологии и платформы: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ERP и учётные системы: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1С:УХ, ERP, КА, УПП, ЗУП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Аналитика и хранилища: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PostgreSQL, MS SQL Server, Arenadata DB, Hadoop, Power BI, Superset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RPA и BPM: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Pix Robotics, UiPath, ELMA, BPMN, Robin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Интеграции и DevOps: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Kafka, NiFi, GitLab CI/CD, Docker, Ansible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Мониторинг и алерты: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Prometheus, Zabbix, Grafana, ELK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ОС и серверы: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Linux (Ubuntu, CentOS, Astra Linux), Windows Server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Что входит в ежемесячную стоимость: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инцидентов, заявок, запросов (1-я и 2-я линия)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Настройка мониторинга, алертов, логирования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Резервное копирование и контроль доступности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Мелкие доработки и исправления (в рамках лимита часов)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Отчётность по SLA / KPI / заявкам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Консультации и сопровождение пользователей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Модель подписки: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Фиксированная стоимость + лимит включенных часов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Возможность пакетной поддержки нескольких ИС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239" name="Google Shape;239;p36"/>
          <p:cNvCxnSpPr>
            <a:cxnSpLocks/>
          </p:cNvCxnSpPr>
          <p:nvPr/>
        </p:nvCxnSpPr>
        <p:spPr bwMode="auto">
          <a:xfrm rot="10800000">
            <a:off x="4481125" y="1399425"/>
            <a:ext cx="0" cy="34554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36"/>
          <p:cNvCxnSpPr>
            <a:cxnSpLocks/>
          </p:cNvCxnSpPr>
          <p:nvPr/>
        </p:nvCxnSpPr>
        <p:spPr bwMode="auto">
          <a:xfrm>
            <a:off x="4477150" y="2896175"/>
            <a:ext cx="46686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658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ИТ рынок сегодня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46" name="Google Shape;246;p37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2025 год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47" name="Google Shape;247;p37"/>
          <p:cNvSpPr txBox="1"/>
          <p:nvPr/>
        </p:nvSpPr>
        <p:spPr bwMode="auto">
          <a:xfrm>
            <a:off x="826799" y="1282813"/>
            <a:ext cx="4213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Текущие реалии: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Импортозамещение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стало не выбором, а необходимостью: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массовый уход иностранных вендоров (SAP, Oracle, Tableau, Azure, IBM и др.)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Рост спроса на российские ИТ-решения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 данным Мин Цифры, рынок отечественного ПО растёт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 30–50% в год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особенно в сегментах ERP, BI, DWH, RPA и ИИ.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Цифровая трансформация стала операционным приоритетом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70% предприятий промышленности и госсектора запустили или планируют цифровые программы до 2026 г.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Дефицит квалифицированных ИТ-кадров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Бюджеты перераспределяются в пользу быстроокупаемых решений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К чему это ведёт: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Спрос смещается в сторону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интеграторов с полным стеком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(данные, автоматизация, ИИ)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Успешными становятся компании, способные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предложить не продукт, а решение под задачу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Растет роль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партнерств и консалтинга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— заказчики ищут тех, кто может провести их сквозь сложную ИТ-модернизацию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48" name="Google Shape;248;p37"/>
          <p:cNvSpPr/>
          <p:nvPr/>
        </p:nvSpPr>
        <p:spPr bwMode="auto">
          <a:xfrm>
            <a:off x="5714100" y="0"/>
            <a:ext cx="34299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>
            <a:spLocks noGrp="1"/>
          </p:cNvSpPr>
          <p:nvPr>
            <p:ph type="title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Тренды цифровой трансформации в 2025 году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54" name="Google Shape;254;p38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Платиновые и золотые партнеры отечественных вендоров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55" name="Google Shape;255;p38"/>
          <p:cNvSpPr txBox="1"/>
          <p:nvPr/>
        </p:nvSpPr>
        <p:spPr bwMode="auto">
          <a:xfrm>
            <a:off x="828675" y="1415350"/>
            <a:ext cx="74439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Потенциал рынка в РФ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— более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600 млрд ₽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(по оценкам Мин Цифры, ИАЦ Цифры)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Среднегодовой рост (CAGR):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 / аналитика: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25%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(RPA, BPM):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22%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DWH / ETL / витрины данных: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19%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ML / ИИ / предиктивная аналитика: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30%+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Импортозамещение ИТ-систем: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 2,5 раза рост за 3 года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56" name="Google Shape;256;p38"/>
          <p:cNvSpPr/>
          <p:nvPr/>
        </p:nvSpPr>
        <p:spPr bwMode="auto">
          <a:xfrm>
            <a:off x="4797000" y="2191500"/>
            <a:ext cx="4347000" cy="256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7 ТЕХНОЛОГИЧЕСКИХ ТРЕНДОВ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graphicFrame>
        <p:nvGraphicFramePr>
          <p:cNvPr id="257" name="Google Shape;257;p38"/>
          <p:cNvGraphicFramePr>
            <a:graphicFrameLocks/>
          </p:cNvGraphicFramePr>
          <p:nvPr/>
        </p:nvGraphicFramePr>
        <p:xfrm>
          <a:off x="1179400" y="2616125"/>
          <a:ext cx="3000000" cy="3000000"/>
        </p:xfrm>
        <a:graphic>
          <a:graphicData uri="http://schemas.openxmlformats.org/drawingml/2006/table">
            <a:tbl>
              <a:tblPr>
                <a:tableStyleId>{93C7FAFB-4046-2F26-784E-7C089A73F6C3}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02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№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Тренд (блок)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Что внедряется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Выгода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ИИ / ML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LLM‑ассистенты, RAG, чат‑боты, OCR/CV, предиктив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−20–40% затрат, быстрее ответы и решения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BI / DWH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Витрины, дашборды, самообслуживание, DataOps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«Единый источник правды», +30% скорости решений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3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BPM / RPA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Роботы рутины, BPMN‑оркестрация, low‑code формы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До 80% автоматизации, меньше ошибок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4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ERP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Учёт, планирование; миграции на отечественные ERP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Сквозной учет, управляемость затрат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Интеграции и микросервисы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API, очереди/события, CI/CD, мониторинг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Быстрый релиз и масштаб, надежность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Импортозамещение ИТ‑платформ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Замена BI/ETL/ECM/ESB, переносы, обучение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Устойчивость, ниже риски и TCO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 b="1">
                          <a:latin typeface="Montserrat"/>
                          <a:ea typeface="Montserrat"/>
                          <a:cs typeface="Montserrat"/>
                        </a:rPr>
                        <a:t>Data Governance / MDM / DQ</a:t>
                      </a:r>
                      <a:endParaRPr sz="700" b="1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Каталог, владение, MDM, правила качества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700">
                          <a:latin typeface="Montserrat"/>
                          <a:ea typeface="Montserrat"/>
                          <a:cs typeface="Montserrat"/>
                        </a:rPr>
                        <a:t>Достоверные данные, быстрее ИИ‑внедрения</a:t>
                      </a:r>
                      <a:endParaRPr sz="700"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4439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Решения по искусственному интеллекту и машинному обучению 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63" name="Google Shape;263;p39"/>
          <p:cNvSpPr txBox="1"/>
          <p:nvPr/>
        </p:nvSpPr>
        <p:spPr bwMode="auto">
          <a:xfrm>
            <a:off x="828675" y="1695875"/>
            <a:ext cx="3444900" cy="3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NLP: чат-боты, классификация, извлечение сущностей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CV: модели компьютерного зрения, OCR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ML: предиктивная аналитика, анализ временных рядов, скоринг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Генеративные модели (GAN), математическое моделирование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BI, API, внутренними системами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Собственные продукты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AI для HR: найма и обучение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HR-боты для поиска кандидатов и умная LMS для адаптации и апскейла сотрудников.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AI-база знаний для бэк-офиса 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(RAG + текстовые боты)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ускоряет поиск и работу с документами, подходит для юристов, финансистов, производственников.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AI-data Intelligence Connector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универсальный российский AI-слой для BI и DWH: быстрые SQL, дашборды, объяснения аномалий.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AI-коммуникации для фронт-офиса 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pP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264" name="Google Shape;264;p39"/>
          <p:cNvCxnSpPr>
            <a:cxnSpLocks/>
          </p:cNvCxnSpPr>
          <p:nvPr/>
        </p:nvCxnSpPr>
        <p:spPr bwMode="auto">
          <a:xfrm>
            <a:off x="4481125" y="31889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39"/>
          <p:cNvSpPr txBox="1"/>
          <p:nvPr/>
        </p:nvSpPr>
        <p:spPr bwMode="auto">
          <a:xfrm>
            <a:off x="4572000" y="1695875"/>
            <a:ext cx="3955199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Технологии и стек: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Языки и библиотеки: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Python, Pandas, Scikit-learn, CatBoost, H2O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NLP / CV / GAN / OCR: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Rasa, OpenAI (ChatGPT, Whisper), Tesseract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FastAPI, REST, WebSockets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ML Ops: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MLflow, Apache Airflow, Git, Docker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266" name="Google Shape;266;p39"/>
          <p:cNvCxnSpPr>
            <a:cxnSpLocks/>
          </p:cNvCxnSpPr>
          <p:nvPr/>
        </p:nvCxnSpPr>
        <p:spPr bwMode="auto">
          <a:xfrm rot="10800000">
            <a:off x="4481125" y="1692575"/>
            <a:ext cx="0" cy="29928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9"/>
          <p:cNvSpPr txBox="1"/>
          <p:nvPr/>
        </p:nvSpPr>
        <p:spPr bwMode="auto">
          <a:xfrm>
            <a:off x="4572000" y="3312325"/>
            <a:ext cx="3955199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Эффекты: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До 95% точность классификации обращений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Снижение нагрузки на операторов до 60–70%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обработки голосовых и текстовых заявок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Улучшение клиентского опыта за счёт 24/7 интеллекта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8" name="Google Shape;268;p39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50 внедрений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" name="Google Shape;273;p40"/>
          <p:cNvPicPr/>
          <p:nvPr/>
        </p:nvPicPr>
        <p:blipFill>
          <a:blip r:embed="rId2">
            <a:alphaModFix/>
          </a:blip>
          <a:stretch/>
        </p:blipFill>
        <p:spPr bwMode="auto">
          <a:xfrm rot="5400000">
            <a:off x="4851925" y="858250"/>
            <a:ext cx="5150350" cy="34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0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Русский продукт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75" name="Google Shape;275;p40"/>
          <p:cNvSpPr txBox="1"/>
          <p:nvPr/>
        </p:nvSpPr>
        <p:spPr bwMode="auto">
          <a:xfrm>
            <a:off x="826794" y="1262950"/>
            <a:ext cx="4823399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Предотвращать поломки и простои оборудования на производственной линии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Получать заблаговременные предупреждения о возможных отказах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надежность и управляемость производственного процесса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Сбор и агрегация данных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Подключение к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SCADA-серверу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для сбора телеметрии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Формирование потоков событий из производственных узлов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и обучение моделей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Python-сервис обрабатывает данные и передаёт их в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H2O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Используются алгоритмы анализа временных рядов (Tsfresh, Pandas)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Обучение ML-моделей по историческим отказам и причинам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системой уведомлений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Расчёт предиктивов раз в 12 часов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Передача прогнозов в Kafka → SCADA → оператору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76" name="Google Shape;276;p40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Прогноз отказов за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12 часов до события</a:t>
            </a: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Своевременное техническое обслуживание → снижение аварий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&gt;0.9 точность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классификации по матрице ошибок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Снижение затрат на простой и внеплановый ремонт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77" name="Google Shape;277;p40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Предиктивная аналитика для производственной линии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/>
          <p:nvPr/>
        </p:nvSpPr>
        <p:spPr bwMode="auto">
          <a:xfrm>
            <a:off x="5714150" y="0"/>
            <a:ext cx="3429900" cy="5143500"/>
          </a:xfrm>
          <a:prstGeom prst="rect">
            <a:avLst/>
          </a:prstGeom>
          <a:solidFill>
            <a:srgbClr val="0E488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3" name="Google Shape;283;p41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Калугаоблводоканал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84" name="Google Shape;284;p41"/>
          <p:cNvSpPr txBox="1"/>
          <p:nvPr/>
        </p:nvSpPr>
        <p:spPr bwMode="auto">
          <a:xfrm>
            <a:off x="826794" y="1262950"/>
            <a:ext cx="4823399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Снизить себестоимость подачи воды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Оптимизировать работу насосных станций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Предотвращать снижение давления в удаленных зонах сети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Сбор телеметрии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SCADA-сервер собирает данные с насосов и «диктующих точек»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Данные поступают в БД событий и далее в Python-сервис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Гидравлический расчёт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Скрипт запускается каждый час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Проводится симуляция давления по всей сети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 случае недостаточного давления — поиск ближайшей насосной станции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управления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Расчёт необходимого количества и мощности насосов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Передача расчётов обратно в Kafka → SCADA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5" name="Google Shape;285;p41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6" name="Google Shape;286;p41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Снижение затрат на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электроэнергию и эксплуатацию</a:t>
            </a:r>
            <a:b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Обеспечение стабильного давления во всех точках сети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Автоматизация выбора насосных режимов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→ меньше ручного вмешательства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Повышение эффективности всей системы водоснабжения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7" name="Google Shape;287;p41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Гидравлическая оптимизация доставки воды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" name="Google Shape;292;p42" title="RP_DIT.jpg"/>
          <p:cNvPicPr/>
          <p:nvPr/>
        </p:nvPicPr>
        <p:blipFill>
          <a:blip r:embed="rId2">
            <a:alphaModFix/>
          </a:blip>
          <a:srcRect l="22473" t="2677" r="22861" b="36888"/>
          <a:stretch/>
        </p:blipFill>
        <p:spPr bwMode="auto">
          <a:xfrm>
            <a:off x="5714100" y="0"/>
            <a:ext cx="3429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ДИТ города Москвы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294" name="Google Shape;294;p42"/>
          <p:cNvSpPr txBox="1"/>
          <p:nvPr/>
        </p:nvSpPr>
        <p:spPr bwMode="auto">
          <a:xfrm>
            <a:off x="826794" y="1262950"/>
            <a:ext cx="4823399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Прогнозировать фактическую численность жителей в многоквартирных домах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Использовать данные с камер видеонаблюдения, без вмешательства в частную жизнь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Поддержать принятие решений в сфере ЖКХ, планирования и демографи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видеопотоков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Сбор и фильтрация данных с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100 тыс. камер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(подъезды МКД)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Преобразование видео в наборы событий по входам/выходам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Моделирование численности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Обучение ML-моделей (временные ряды, статистика, корреляция)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Расчёт живущих по адресу с учётом периодов активности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и визуализация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 BI-дэшбордов для районного и городского уровня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DWH Москвы и цифровыми службами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95" name="Google Shape;295;p42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96" name="Google Shape;296;p42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Модель позволяет планировать по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фактическому населению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, а не по прописке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Обоснованное распределение ресурсов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ЖКХ, здравоохранения, соцподдержки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Оптимизация бюджетного планирования — на основе объективных данных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97" name="Google Shape;297;p42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Анализ видеопотоков и прогноз численности населения по адресам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" name="Google Shape;302;p43" title="96Ut10iaxOY.jpg"/>
          <p:cNvPicPr/>
          <p:nvPr/>
        </p:nvPicPr>
        <p:blipFill>
          <a:blip r:embed="rId2">
            <a:alphaModFix/>
          </a:blip>
          <a:srcRect r="76400"/>
          <a:stretch/>
        </p:blipFill>
        <p:spPr bwMode="auto">
          <a:xfrm>
            <a:off x="5714100" y="0"/>
            <a:ext cx="34299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74"/>
            <a:ext cx="74439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4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Администрация Волгоградской </a:t>
            </a:r>
            <a:endParaRPr sz="2000" b="1"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4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области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04" name="Google Shape;304;p43"/>
          <p:cNvSpPr txBox="1"/>
          <p:nvPr/>
        </p:nvSpPr>
        <p:spPr bwMode="auto">
          <a:xfrm>
            <a:off x="826794" y="1339150"/>
            <a:ext cx="4823399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Создать систему для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оценки сценариев развития региона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Прогнозировать ключевые показатели (экономика, демография, бюджет)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Поддержать решения на уровне губернатора и министерств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Сбор и структурирование данных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Консолидация статистических и оперативных источников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витрин данных и ключевых показателей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Моделирование сценариев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Реализация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what-if анализа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 сценарного прогнозирования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Использование ML и математического моделирования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BI-интерфейсы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Построение аналитических дашбордов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Удобный интерфейс для руководства и специалистов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05" name="Google Shape;305;p43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Модель позволяет планировать по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фактическому населению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а не по прописке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Обоснованное распределение ресурсов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ЖКХ, здравоохранения, соцподдержки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Оптимизация бюджетного планирования — на основе объективных данных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06" name="Google Shape;306;p43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Система оценки развития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/>
        </p:nvSpPr>
        <p:spPr bwMode="auto">
          <a:xfrm>
            <a:off x="828675" y="1358684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Проектирование и внедрение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DWH и озёр данных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(Data Lake)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Моделирование витрин: OLAP, DM, DataMart (MS SQL, PostgreSQL, Greenplum, Hadoop)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источниками: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1С, SAP, Excel, REST API, CRM, IoT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Построение BI-отчётов и дашбордов (Power BI, Metabase, Superset, Grafana)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Создание витрин KPI и аналитики ключевых бизнес-процессов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ETL/ELT-разработка: SSIS, Airflow, скрипты Python/SQL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моделей для аналитики затрат, эффективности, рисков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 систем управления качеством данных (Data Quality, Master Data)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Документирование моделей и сквозная аналитическая поддержка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312" name="Google Shape;312;p44"/>
          <p:cNvCxnSpPr>
            <a:cxnSpLocks/>
          </p:cNvCxnSpPr>
          <p:nvPr/>
        </p:nvCxnSpPr>
        <p:spPr bwMode="auto">
          <a:xfrm>
            <a:off x="4481125" y="2851784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" name="Google Shape;313;p44"/>
          <p:cNvSpPr txBox="1"/>
          <p:nvPr/>
        </p:nvSpPr>
        <p:spPr bwMode="auto">
          <a:xfrm>
            <a:off x="4572000" y="1358684"/>
            <a:ext cx="3955199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Технологии и стек: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ЯП и SQL: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T-SQL, PL/SQL, Python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БД: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PostgreSQL, MS SQL Server, Arenadata DB, Oracle, MongoDB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ETL / Streaming: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Apache Airflow, Apache Kafka, Arenadata Streaming Kafka/NiFi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BI-платформы: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MS Power BI, Apache Superset, Qlik Sense, Visiology, Modus BI, Pix BI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314" name="Google Shape;314;p44"/>
          <p:cNvCxnSpPr>
            <a:cxnSpLocks/>
          </p:cNvCxnSpPr>
          <p:nvPr/>
        </p:nvCxnSpPr>
        <p:spPr bwMode="auto">
          <a:xfrm rot="10800000">
            <a:off x="4481125" y="1355384"/>
            <a:ext cx="0" cy="29928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44"/>
          <p:cNvSpPr txBox="1"/>
          <p:nvPr/>
        </p:nvSpPr>
        <p:spPr bwMode="auto">
          <a:xfrm>
            <a:off x="4572000" y="2975134"/>
            <a:ext cx="3955199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Эффекты: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Сокращение подготовки отчетности на 70–90%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Повышение качества управленческих решений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потоков в реальном времени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Единая точка правды по бизнес-данным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6" name="Google Shape;316;p44"/>
          <p:cNvSpPr txBox="1">
            <a:spLocks noGrp="1"/>
          </p:cNvSpPr>
          <p:nvPr>
            <p:ph type="title"/>
          </p:nvPr>
        </p:nvSpPr>
        <p:spPr bwMode="auto">
          <a:xfrm>
            <a:off x="828675" y="688174"/>
            <a:ext cx="7443900" cy="59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Решения по аналитике и управлению данными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17" name="Google Shape;317;p44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300 внедрений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2" name="Google Shape;322;p45" title="Device.png.transform.rbiteaserhd.png"/>
          <p:cNvPicPr/>
          <p:nvPr/>
        </p:nvPicPr>
        <p:blipFill>
          <a:blip r:embed="rId2">
            <a:alphaModFix/>
          </a:blip>
          <a:stretch/>
        </p:blipFill>
        <p:spPr bwMode="auto">
          <a:xfrm rot="5400000">
            <a:off x="4856687" y="857459"/>
            <a:ext cx="5144775" cy="34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5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Райффайзен Банк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24" name="Google Shape;324;p45"/>
          <p:cNvSpPr txBox="1"/>
          <p:nvPr/>
        </p:nvSpPr>
        <p:spPr bwMode="auto">
          <a:xfrm>
            <a:off x="826794" y="1262950"/>
            <a:ext cx="4823399" cy="3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Провести миграцию данных между хранилищами Oracle и PostgreSQL.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точное воспроизведение результатов SQL-обработки в новых витринах.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Гарантировать корректность данных по банковским продуктам: кредиты, депозиты, карты, ПИФ.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Анализ и перенос логики обработки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Проведен анализ процедур, скриптов и таблиц в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Oracle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Осуществлена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идентичных SQL-скриптов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PostgreSQL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воспроизводящих бизнес-логику.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Подготовка витрин и миграция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Выполнена адаптация запросов для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DWH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(data warehouse) под PostgreSQL.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Реализована логика агрегаций и вычислений в аналитических витринах.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Сопровождение и контроль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Сравнение результатов миграции, контроль целостности данных.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Финальное сопоставление данных по транзакциям, ПИФ, картам и счетам.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25" name="Google Shape;325;p45"/>
          <p:cNvSpPr txBox="1"/>
          <p:nvPr/>
        </p:nvSpPr>
        <p:spPr bwMode="auto">
          <a:xfrm>
            <a:off x="5949025" y="3947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6" name="Google Shape;326;p45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100% совпадение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итоговых данных по банковским операциям в старом и новом хранилище.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Подготовлена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чистая архитектура аналитических витрин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PostgreSQL.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7" name="Google Shape;327;p45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Миграция банковских данных и аналитических витрин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/>
          <p:nvPr/>
        </p:nvSpPr>
        <p:spPr bwMode="auto">
          <a:xfrm>
            <a:off x="5714100" y="0"/>
            <a:ext cx="34299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0">
                <a:srgbClr val="0088BB"/>
              </a:gs>
              <a:gs pos="100000">
                <a:srgbClr val="00BBEE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Центральный Банк РФ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34" name="Google Shape;334;p46"/>
          <p:cNvSpPr txBox="1"/>
          <p:nvPr/>
        </p:nvSpPr>
        <p:spPr bwMode="auto">
          <a:xfrm>
            <a:off x="826794" y="1262950"/>
            <a:ext cx="4823399" cy="30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Разработать модель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функционального учёта затрат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Визуализировать связи между затратами и операциями банка.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Выявить зоны неэффективности и оптимизации в ИТ и бэк-офисе.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Аналитика и моделирование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Проведен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функционально-стоимостной анализ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(ФСА) по бизнес-направлениям.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Использованы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диаграммы Исикавы (Fishbone Diagram)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для визуализации потерь.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BI-прототип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BI-прототип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демонстрирующий структуру и взаимосвязи затрат.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Разработаны карты процессов, схемы затрат, схемы аллокации ресурсов.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Методология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Внедрены элементы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Process Mapping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диаграмм SIPOC и модели анализа затрат.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5" name="Google Shape;335;p46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6" name="Google Shape;336;p46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Выявлены дублирующие процессы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 неэффективные точки затрат.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Подготовлена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модель функционального бюджета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Централизованный подход к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трассировке затрат и их обоснованию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7" name="Google Shape;337;p46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BI для функционального учета затрат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2" name="Google Shape;342;p47" title="mercedes-122~_v-gseagaleriexl.jpg"/>
          <p:cNvPicPr/>
          <p:nvPr/>
        </p:nvPicPr>
        <p:blipFill>
          <a:blip r:embed="rId2">
            <a:alphaModFix/>
          </a:blip>
          <a:srcRect l="63528" b="24482"/>
          <a:stretch/>
        </p:blipFill>
        <p:spPr bwMode="auto">
          <a:xfrm>
            <a:off x="5709975" y="0"/>
            <a:ext cx="3429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7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Mercedes-Benz Bank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44" name="Google Shape;344;p47"/>
          <p:cNvSpPr txBox="1"/>
          <p:nvPr/>
        </p:nvSpPr>
        <p:spPr bwMode="auto">
          <a:xfrm>
            <a:off x="826794" y="1262950"/>
            <a:ext cx="4823399" cy="3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Централизовать данные о клиентах, продуктах и товарных потоках.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Автоматизировать отчётность по кредитам и лизингу.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выгрузку регламентированных отчётов в Германию.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Построение DWH-архитектуры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Спроектировано и реализовано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корпоративное хранилище данных (DWH OURBI)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базе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MS SQL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Настроены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ETL-процессы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 источниками: Diasoft, 1С и внутренние базы.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и обработка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Реализована бизнес-логика трансформации данных для eRDR (Electronic Regulatory Data Report).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BI-системой MS Power BI Report Server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отчётности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Настроены шаблоны и расписания выгрузки по форматам Mercedes-Benz.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Разработан удобный дашборд для отдела отчетности и финансов.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45" name="Google Shape;345;p47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−80% времени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подготовку квартальной отчетности.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Исключение ошибок и расхождений при ручной обработке данных.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Регулярная и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автоматизированная выгрузка данных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 штаб-квартиру.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Повышена прозрачность бизнес-операций (лизинг, кредиты, товародвижение).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46" name="Google Shape;346;p47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Хранилище данных и BI-аналитика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/>
          <p:nvPr/>
        </p:nvSpPr>
        <p:spPr bwMode="auto">
          <a:xfrm>
            <a:off x="5714049" y="0"/>
            <a:ext cx="3429900" cy="5143500"/>
          </a:xfrm>
          <a:prstGeom prst="rect">
            <a:avLst/>
          </a:prstGeom>
          <a:solidFill>
            <a:srgbClr val="0C0C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2" name="Google Shape;352;p48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Счетная палата РФ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53" name="Google Shape;353;p48"/>
          <p:cNvSpPr txBox="1"/>
          <p:nvPr/>
        </p:nvSpPr>
        <p:spPr bwMode="auto">
          <a:xfrm>
            <a:off x="826794" y="1262950"/>
            <a:ext cx="4823399" cy="3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Создать централизованную аналитическую платформу для внешнего аудита.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Поддерживать риск-ориентированный подход к анализу бюджетов и госпрограмм.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прозрачность и автоматизацию при формировании аналитических отчётов.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Архитектура данных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Построено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озеро данных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базе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Arenadata Hadoop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Внедрено хранилище и витрины 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Arenadata DB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Подключение источников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федеральными и ведомственными ИС.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Обработка и хранение больших объёмов разнородной информации (структурированные и неструктурированные данные).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Инструменты аналитики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Построены дашборды и аналитические отчёты.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Организован многопользовательский доступ и контроль версий аналитических моделей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54" name="Google Shape;354;p48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Сокращение времени подготовки аналитических отчетов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на 70%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Увеличение объема источников данных для комплексного анализа.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Победа в номинации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«Лучшее цифровое решение в госсекторе» (GlobalCIO, 2019)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55" name="Google Shape;355;p48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Аналитическая платформа для внешнего аудита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" name="Google Shape;360;p49" title="original.jpg"/>
          <p:cNvPicPr/>
          <p:nvPr/>
        </p:nvPicPr>
        <p:blipFill>
          <a:blip r:embed="rId2">
            <a:alphaModFix/>
          </a:blip>
          <a:srcRect r="66583"/>
          <a:stretch/>
        </p:blipFill>
        <p:spPr bwMode="auto">
          <a:xfrm>
            <a:off x="5714100" y="0"/>
            <a:ext cx="3429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ФНС РФ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62" name="Google Shape;362;p49"/>
          <p:cNvSpPr txBox="1"/>
          <p:nvPr/>
        </p:nvSpPr>
        <p:spPr bwMode="auto">
          <a:xfrm>
            <a:off x="826794" y="1262950"/>
            <a:ext cx="4823399" cy="3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Перейти от разрозненных и коммерческих решений к единому отечественному стеку.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масштабируемость, отказоустойчивость и снижение стоимости сопровождения.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высокую производительность для аналитики налоговых данных.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Миграция аналитических систем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Перенос подсистем СКУАД, АСК ДФЛ, ИАС КБ и др. на стек Arenadata (DB, Hadoop, Streaming).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Архитектура и оптимизация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Централизованная архитектура аналитических витрин.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Масштабирование на более чем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400 серверов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Обслуживание и развитие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всей ИТ-инфраструктуры, сайзинг, настройка отказоустойчивости.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личными кабинетами граждан (50+ млн пользователей).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3" name="Google Shape;363;p49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4" name="Google Shape;364;p49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Существенное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снижение затрат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 сопровождение.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Ускорение обработки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налоговых данных, в т.ч. для граждан и бизнеса.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Централизация и переиспользование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архитектуры для новых аналитических систем.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5" name="Google Shape;365;p49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Миграция на отечественный стек Arenadata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/>
          <p:nvPr/>
        </p:nvSpPr>
        <p:spPr bwMode="auto">
          <a:xfrm>
            <a:off x="5714150" y="0"/>
            <a:ext cx="3429900" cy="5143500"/>
          </a:xfrm>
          <a:prstGeom prst="rect">
            <a:avLst/>
          </a:prstGeom>
          <a:solidFill>
            <a:srgbClr val="D52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1" name="Google Shape;371;p50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Правительство Москвы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72" name="Google Shape;372;p50"/>
          <p:cNvSpPr txBox="1"/>
          <p:nvPr/>
        </p:nvSpPr>
        <p:spPr bwMode="auto">
          <a:xfrm>
            <a:off x="826794" y="1262950"/>
            <a:ext cx="4823399" cy="3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Создать отказоустойчивую платформу хранения и анализа видеопотоков.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безопасность городской среды и оперативность реакции на события.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Централизовать управление более 200 000 камер.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 хранения видео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Единый центр хранения данных (ЕЦХД)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Реализована автоматическая маршрутизация видеопотоков.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Видеоаналитика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Детектирование лиц, подсчёт людей, поиск по событиям.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Расширенные BI-витрины по запросам МВД, МЧС и городских служб.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Отчётность и резервирование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Автоматическая выдача видеоархивов на запрос (до 25 000 в день).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Контроль хранения, прав доступа, дедупликация.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73" name="Google Shape;373;p50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74" name="Google Shape;374;p50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Централизованно более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200 000 камер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Обработка и анализ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десятков тысяч инцидентов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в день.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Повышена раскрываемость правонарушений —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120 000+ в год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75" name="Google Shape;375;p50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ЕЦХД и аналитика видеопотоков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4439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Решения по автоматизации и роботизации бизнес-процессов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81" name="Google Shape;381;p51"/>
          <p:cNvSpPr txBox="1"/>
          <p:nvPr/>
        </p:nvSpPr>
        <p:spPr bwMode="auto">
          <a:xfrm>
            <a:off x="828675" y="1695875"/>
            <a:ext cx="30000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 и сопровождение RPA-платформ: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Pix Robotics, UiPath, Power Automate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Автоматизация Service Desk, документооборота, кадровых и бухгалтерских задач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1С, SAP, MS Office, CRM, PostgreSQL, REST API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Визуальное моделирование процессов в BPMN / UML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Формирование регламентов и проектной документации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Автотестирование сценариев, логирование и мониторинг процессов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382" name="Google Shape;382;p51"/>
          <p:cNvCxnSpPr>
            <a:cxnSpLocks/>
          </p:cNvCxnSpPr>
          <p:nvPr/>
        </p:nvCxnSpPr>
        <p:spPr bwMode="auto">
          <a:xfrm>
            <a:off x="4481125" y="31889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51"/>
          <p:cNvSpPr txBox="1"/>
          <p:nvPr/>
        </p:nvSpPr>
        <p:spPr bwMode="auto">
          <a:xfrm>
            <a:off x="4572000" y="1695875"/>
            <a:ext cx="3955199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Технологии и стек: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RPA: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Pix Robotics, UiPath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BPM: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BPMN, UML, IDEF, ELMA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ALM / тестирование: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TeamStorm, Test IT, GitFlic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ETL / интеграция: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Apache NiFi, MS SSIS, REST API, XML, JSON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DevOps &amp; Monitoring: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GitLab CI/CD, Kaniko, Docker, Prometheus, Grafana, ELK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384" name="Google Shape;384;p51"/>
          <p:cNvCxnSpPr>
            <a:cxnSpLocks/>
          </p:cNvCxnSpPr>
          <p:nvPr/>
        </p:nvCxnSpPr>
        <p:spPr bwMode="auto">
          <a:xfrm rot="10800000">
            <a:off x="4481125" y="1692575"/>
            <a:ext cx="0" cy="29928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51"/>
          <p:cNvSpPr txBox="1"/>
          <p:nvPr/>
        </p:nvSpPr>
        <p:spPr bwMode="auto">
          <a:xfrm>
            <a:off x="4572000" y="3312325"/>
            <a:ext cx="3955199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Эффекты: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Ускорение процессов в 3–5 раз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Снижение ручного труда до 80%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Уменьшение количества ошибок и возвратов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Централизация и автоматизация рутинных операций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86" name="Google Shape;386;p51"/>
          <p:cNvSpPr/>
          <p:nvPr/>
        </p:nvSpPr>
        <p:spPr bwMode="auto">
          <a:xfrm rot="10800000">
            <a:off x="8734500" y="0"/>
            <a:ext cx="409500" cy="409500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7" name="Google Shape;387;p51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100 внедрений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2" name="Google Shape;392;p52" title="1c3741eztq09ncy86qvp39afjznodx26.jp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714100" y="0"/>
            <a:ext cx="3429898" cy="51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2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ЧТПЗ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394" name="Google Shape;394;p52"/>
          <p:cNvSpPr txBox="1"/>
          <p:nvPr/>
        </p:nvSpPr>
        <p:spPr bwMode="auto">
          <a:xfrm>
            <a:off x="828675" y="1262950"/>
            <a:ext cx="4823399" cy="3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Автоматизировать прием обращений в сервис-деск.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Подключить внешние и внутренние источники данных, которые постоянно обновляются.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Создать корпоративное хранилище данных (КХД) с аналитическим слоем.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Система обработки обращений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роботизированная система учета обращений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 распознаванием и классификацией запросов.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Используется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нейросеть Rasa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для понимания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намерений пользователя (Intent Detection)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Yandex SpeechKit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— для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голосового ввода/вывода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распознавания и синтеза речи.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UIPath RPA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— для автоматического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заведения заявки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в функциональную группу поддержки.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источников данных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Подключены внешние и внутренние источники информации (логи, базы знаний, SLA-данные).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Доработан механизм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хранения, фильтрации и классификации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поступающих данных.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Создание КХД и аналитического слоя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Построено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корпоративное хранилище данных (DWH)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ETL-передача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из источников.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Реализованы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аналитические витрины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для руководства и службы эксплуатации.</a:t>
            </a: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395" name="Google Shape;395;p52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–50% времени обработки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типовых обращений (через автоматическое распознавание и заведение).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+40% точности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классификации обращений по сравнению с ручной обработкой.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Аналитическая отчетность в режиме near-real-time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для ИТ и бизнеса.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96" name="Google Shape;396;p52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Автоматизация службы поддержки и аналитики обращений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" name="Google Shape;401;p53" title="1643785294_11-abrakadabra-fun-p-zelenii-fon-sberbanka-11.jpg"/>
          <p:cNvPicPr/>
          <p:nvPr/>
        </p:nvPicPr>
        <p:blipFill>
          <a:blip r:embed="rId2">
            <a:alphaModFix/>
          </a:blip>
          <a:srcRect r="31739"/>
          <a:stretch/>
        </p:blipFill>
        <p:spPr bwMode="auto">
          <a:xfrm rot="5400000">
            <a:off x="4852351" y="857499"/>
            <a:ext cx="5149098" cy="34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3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Сберстрахование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03" name="Google Shape;403;p53"/>
          <p:cNvSpPr txBox="1"/>
          <p:nvPr/>
        </p:nvSpPr>
        <p:spPr bwMode="auto">
          <a:xfrm>
            <a:off x="826794" y="1262950"/>
            <a:ext cx="4823399" cy="3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Автоматизировать рутинные операции по формированию отчетов и реестров.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Минимизировать человеческий фактор при обработке данных.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Увеличить прозрачность процессов и снизить временные затраты ИТ и бэк-офиса.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Роботизация бизнес-процессов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Реализована выгрузка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реестра платёжных поручений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по страховым договорам.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выгрузка реестра СМС-оповещений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клиентам.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офисной и ИТ-инфраструктурой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Внедрена платформа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Pix RPA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с взаимодействием: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914400" lvl="1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MS Excel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(включая макросы)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914400" lvl="1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MS Word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MS Outlook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914400" lvl="1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файловыми хранилищами и базами данных (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PostgreSQL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914400" lvl="1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коммуникационными протоколами (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SMTP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IMAP/POP3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914400" lvl="1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средствами удалённого доступа (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RDP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)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4" name="Google Shape;404;p53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5" name="Google Shape;405;p53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–60% времени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на формирование и рассылку реестров.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–100% ошибок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, связанных с ручным копированием в Excel.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Полный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контроль и логирование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действий RPA-сценариев в ИТ-инфраструктуре.</a:t>
            </a: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6" name="Google Shape;406;p53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Роботизация ключевых бизнес процессов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" name="Google Shape;411;p54"/>
          <p:cNvSpPr/>
          <p:nvPr/>
        </p:nvSpPr>
        <p:spPr bwMode="auto">
          <a:xfrm>
            <a:off x="5714150" y="0"/>
            <a:ext cx="3429900" cy="5143500"/>
          </a:xfrm>
          <a:prstGeom prst="rect">
            <a:avLst/>
          </a:prstGeom>
          <a:solidFill>
            <a:srgbClr val="0E488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Федеральный орган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13" name="Google Shape;413;p54"/>
          <p:cNvSpPr txBox="1"/>
          <p:nvPr/>
        </p:nvSpPr>
        <p:spPr bwMode="auto">
          <a:xfrm>
            <a:off x="826794" y="1262950"/>
            <a:ext cx="4823399" cy="24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Упростить процесс сбора и публикации сведений о доходах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Исключить ручную обработку Excel-файлов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скорость и точность сверки отчетности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Сбор и обработка данных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Автоматизированный парсинг анкет сотрудников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Выгрузка и проверка данных из Excel-таблиц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Подготовка для публикации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Формирование итоговых документов в требуемом формате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Автоматическая отправка файлов в ведомственную систему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14" name="Google Shape;414;p54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15" name="Google Shape;415;p54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Сокращение времени подготовки сведений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 3 дней до 15 минут</a:t>
            </a:r>
            <a:b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Снижение нагрузки на сотрудников бухгалтерии и кадров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Повышение качества публикаций и отсутствие ошибок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16" name="Google Shape;416;p54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Автоматизация обработки отчетов о доходах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/>
          <p:nvPr/>
        </p:nvSpPr>
        <p:spPr bwMode="auto">
          <a:xfrm>
            <a:off x="5714150" y="0"/>
            <a:ext cx="3429900" cy="514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2" name="Google Shape;422;p55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Торговая сеть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23" name="Google Shape;423;p55"/>
          <p:cNvSpPr txBox="1"/>
          <p:nvPr/>
        </p:nvSpPr>
        <p:spPr bwMode="auto">
          <a:xfrm>
            <a:off x="826794" y="1262950"/>
            <a:ext cx="4823399" cy="23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Стандартизировать процессы управления персоналом (отпуска, приёмы, увольнения)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прозрачность и контроль исполнения заявок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Снизить нагрузку на HR-департамент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процессов в Camunda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Формализация процессов: отпуска, замещения, увольнения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Утверждение маршрутов согласования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HRM-системой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Реализация REST-интеграции для автоматической синхронизации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24" name="Google Shape;424;p55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25" name="Google Shape;425;p55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Централизация и контроль всех HR-заявок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Сокращение сроков согласования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на 40%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Повышение прозрачности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процессов и SLA-исполнения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26" name="Google Shape;426;p55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Автоматизация HR-процессов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" name="Google Shape;431;p56"/>
          <p:cNvSpPr/>
          <p:nvPr/>
        </p:nvSpPr>
        <p:spPr bwMode="auto">
          <a:xfrm>
            <a:off x="5714150" y="0"/>
            <a:ext cx="3429900" cy="5143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2" name="Google Shape;432;p56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Крупный маркетплейс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33" name="Google Shape;433;p56"/>
          <p:cNvSpPr txBox="1"/>
          <p:nvPr/>
        </p:nvSpPr>
        <p:spPr bwMode="auto">
          <a:xfrm>
            <a:off x="826794" y="1262950"/>
            <a:ext cx="4823399" cy="23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Оптимизировать процесс возврата товаров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Сократить количество инцидентов и ускорить реакцию на обращения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Упростить взаимодействие между клиентским и операционным блоками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Анализ цепочки возврата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Обнаружены ошибки в логике бизнес-процессов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Переработаны сценарии генерации инцидентов и оповещений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PostgreSQL, внутренняя CRM-система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34" name="Google Shape;434;p56"/>
          <p:cNvSpPr txBox="1"/>
          <p:nvPr/>
        </p:nvSpPr>
        <p:spPr bwMode="auto">
          <a:xfrm>
            <a:off x="6065500" y="20080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35" name="Google Shape;435;p56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Ускорение обработки возвратов на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25–30%</a:t>
            </a:r>
            <a:b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Уменьшение числа ручных инцидентов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Улучшение клиентского опыта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36" name="Google Shape;436;p56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Оптимизация инцидентов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" name="Google Shape;441;p57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4439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Решения по ERP-системам и цифровизации учетных процессов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42" name="Google Shape;442;p57"/>
          <p:cNvSpPr txBox="1"/>
          <p:nvPr/>
        </p:nvSpPr>
        <p:spPr bwMode="auto">
          <a:xfrm>
            <a:off x="828675" y="1695875"/>
            <a:ext cx="30000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Внедрение, настройка и сопровождение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1С:ERP, 1С:УПП, 1С:КА, 1С:УХ, 1С:ЗУП, 1С:БП, 1С:УТ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расширений, конфигураций, обработок и отчётов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1С с внешними системами: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CRM, BI, DWH, интернет-магазины, банковские сервисы, маркетплейсы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Подключение к внешним API: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FNS, ФСС, ЕГАИС, ОФД, Честный ЗНАК, Контур.Диадок и др.</a:t>
            </a:r>
            <a:b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Построение обмена данными между юридическими лицами и филиалами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Миграция данных и консолидация информации в головной системе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Оптимизация производительности и сопровождение высоконагруженных конфигураций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Сопровождение отраслевых решений (строительство, торговля, производство, услуги)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443" name="Google Shape;443;p57"/>
          <p:cNvCxnSpPr>
            <a:cxnSpLocks/>
          </p:cNvCxnSpPr>
          <p:nvPr/>
        </p:nvCxnSpPr>
        <p:spPr bwMode="auto">
          <a:xfrm>
            <a:off x="4481125" y="31889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4" name="Google Shape;444;p57"/>
          <p:cNvSpPr txBox="1"/>
          <p:nvPr/>
        </p:nvSpPr>
        <p:spPr bwMode="auto">
          <a:xfrm>
            <a:off x="4572000" y="1695875"/>
            <a:ext cx="3955199" cy="13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Технологии и стек: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ERP-платформы: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1С:ERP, 1С:КА, 1С:УХ, 1С:УПП, 1С:БП, 1С:ЗУП, 1С:УТ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Интеграции и обмены: 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1С-Коннект, HTTP-сервисы, WS-сервисы, EDO (Диадок, СБИС), COM/ActiveX, REST, SOAP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Базы данных: 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PostgreSQL, MS SQL Server, Oracle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Инфраструктура: 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1С:Сервер, Кластеры, Режим совместимости, Публикация на web, Режим управления версиями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Инструменты: 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Конфигуратор, EDT, GitFlic, TeamStorm, Test IT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445" name="Google Shape;445;p57"/>
          <p:cNvCxnSpPr>
            <a:cxnSpLocks/>
          </p:cNvCxnSpPr>
          <p:nvPr/>
        </p:nvCxnSpPr>
        <p:spPr bwMode="auto">
          <a:xfrm rot="10800000">
            <a:off x="4481125" y="1692450"/>
            <a:ext cx="0" cy="31905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57"/>
          <p:cNvSpPr txBox="1"/>
          <p:nvPr/>
        </p:nvSpPr>
        <p:spPr bwMode="auto">
          <a:xfrm>
            <a:off x="4572000" y="3312325"/>
            <a:ext cx="3955199" cy="16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Эффекты: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Повышение прозрачности бизнес-процессов и управляемости компании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Сокращение сроков обработки документов, заявок и отчетов на 40–70%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Централизация учета по группе компаний, унификация бизнес-практик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Снижение трудозатрат бухгалтерии, кадров и отдела закупок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Минимизация ошибок, дублирования, потерь данных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Соответствие регламентам, интеграция с контролирующими органами (ФНС, ПФР и др.)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47" name="Google Shape;447;p57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50 внедрений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Google Shape;452;p58"/>
          <p:cNvSpPr/>
          <p:nvPr/>
        </p:nvSpPr>
        <p:spPr bwMode="auto">
          <a:xfrm>
            <a:off x="5714100" y="0"/>
            <a:ext cx="3429900" cy="5149200"/>
          </a:xfrm>
          <a:prstGeom prst="rect">
            <a:avLst/>
          </a:prstGeom>
          <a:solidFill>
            <a:srgbClr val="026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53" name="Google Shape;453;p58"/>
          <p:cNvSpPr txBox="1"/>
          <p:nvPr/>
        </p:nvSpPr>
        <p:spPr bwMode="auto">
          <a:xfrm>
            <a:off x="826794" y="1262950"/>
            <a:ext cx="4823399" cy="3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эффективность обработки электронных документов.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прозрачность бюджетирования и управления предприятием.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Отказаться от ручного ввода и сократить дублирование в учётных системах.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ERP-внедрение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Настроена и адаптирована система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1С:ERP Управление предприятием 2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Выполнены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настройки интерфейсов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, прав доступа, ролей пользователей.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1С:Бухгалтерией предприятия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1С:Документооборотом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бюджетного управления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Настроены процессы согласования бюджетов, контроль исполнения, управление лимитами.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оперативного получения отчетности по расходам и управленческим метрикам.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Обучение и запуск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Проведено обучение сотрудников, настроены демо-стенды и тестовая база.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Введены начальные остатки, адаптированы бизнес-процессы под реальную работу предприятия.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54" name="Google Shape;454;p58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УРАЛКАЛИЙ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55" name="Google Shape;455;p58"/>
          <p:cNvSpPr txBox="1"/>
          <p:nvPr/>
        </p:nvSpPr>
        <p:spPr bwMode="auto">
          <a:xfrm>
            <a:off x="6327850" y="1466250"/>
            <a:ext cx="2475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456" name="Google Shape;456;p58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–40%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времени на обработку электронных документов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→ за счет автоматизации согласований, интеграции с внутренними системами и настройкой бизнес-процессов.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+30%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рост прозрачности и управляемости бюджета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→ система позволила контролировать бюджетирование и повысила дисциплину в расходовании средств.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~100 рабочих мест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автоматизировано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→ критические отделы (финансы, закупки, производственный учет, бухгалтерия) перешли на централизованную ERP-систему.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57" name="Google Shape;457;p58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Развитие функциональности системы 1С:Предприятие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2" name="Google Shape;462;p59" title="cashback-alfastrah.jpg"/>
          <p:cNvPicPr/>
          <p:nvPr/>
        </p:nvPicPr>
        <p:blipFill>
          <a:blip r:embed="rId2">
            <a:alphaModFix/>
          </a:blip>
          <a:srcRect r="56756"/>
          <a:stretch/>
        </p:blipFill>
        <p:spPr bwMode="auto">
          <a:xfrm>
            <a:off x="5711400" y="0"/>
            <a:ext cx="3429902" cy="5143501"/>
          </a:xfrm>
          <a:prstGeom prst="rect">
            <a:avLst/>
          </a:prstGeom>
          <a:solidFill>
            <a:srgbClr val="026B54"/>
          </a:solidFill>
          <a:ln>
            <a:noFill/>
          </a:ln>
        </p:spPr>
      </p:pic>
      <p:sp>
        <p:nvSpPr>
          <p:cNvPr id="463" name="Google Shape;463;p59"/>
          <p:cNvSpPr txBox="1"/>
          <p:nvPr/>
        </p:nvSpPr>
        <p:spPr bwMode="auto">
          <a:xfrm>
            <a:off x="826794" y="1262950"/>
            <a:ext cx="4823399" cy="3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Объединить системы учёта в рамках группы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Заменить устаревшие зарубежные решения для XBRL-отчетности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соответствие требованиям Центробанка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 решений 1С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1С:Страховая компания 8 — ведение страхового и управленческого учета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1С:Управление холдингом — для консолидации отчетности по юрлицам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Предпроектные работы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Обследование бизнес-процессов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Построение архитектуры в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ArchiMate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Подготовка детального технического задания и карты интеграций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64" name="Google Shape;464;p59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Альфа-Страхование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65" name="Google Shape;465;p59"/>
          <p:cNvSpPr txBox="1"/>
          <p:nvPr/>
        </p:nvSpPr>
        <p:spPr bwMode="auto">
          <a:xfrm>
            <a:off x="6327850" y="1466250"/>
            <a:ext cx="2475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466" name="Google Shape;466;p59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Централизованная финансовая отчётность по всей группе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Полное соответствие требованиям Банка России по XBRL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Сокращение сроков формирования отчетности на </a:t>
            </a: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25–30%</a:t>
            </a:r>
            <a:b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Повышена безопасность за счёт локального контроля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67" name="Google Shape;467;p59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Внедрение 1С для замены XBRL-систем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" name="Google Shape;472;p60"/>
          <p:cNvSpPr txBox="1">
            <a:spLocks noGrp="1"/>
          </p:cNvSpPr>
          <p:nvPr>
            <p:ph type="title"/>
          </p:nvPr>
        </p:nvSpPr>
        <p:spPr bwMode="auto">
          <a:xfrm>
            <a:off x="828675" y="688175"/>
            <a:ext cx="74439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Интеграция и микросервисная архитектура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73" name="Google Shape;473;p60"/>
          <p:cNvSpPr txBox="1"/>
          <p:nvPr/>
        </p:nvSpPr>
        <p:spPr bwMode="auto">
          <a:xfrm>
            <a:off x="828675" y="16958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Микросервисная разработка на Java/Python/Node.js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Создание API, интеграция с внешними/внутренними ИС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CI/CD пайплайны, контейнеризация, DevSecOps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Поддержка взаимодействия через очереди, событийную архитектуру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Визуализация, логирование, мониторинг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474" name="Google Shape;474;p60"/>
          <p:cNvCxnSpPr>
            <a:cxnSpLocks/>
          </p:cNvCxnSpPr>
          <p:nvPr/>
        </p:nvCxnSpPr>
        <p:spPr bwMode="auto">
          <a:xfrm>
            <a:off x="4481125" y="31889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60"/>
          <p:cNvSpPr txBox="1"/>
          <p:nvPr/>
        </p:nvSpPr>
        <p:spPr bwMode="auto">
          <a:xfrm>
            <a:off x="4572000" y="1695875"/>
            <a:ext cx="3955199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Технологии и стек: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Backend: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Java (Spring), Python (FastAPI), Node.js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Frontend: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React.js, Vue.js, Angular, JQuery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DevOps: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GitLab CI/CD, Docker, Kubernetes, Helm, Nexus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Мониторинг: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Prometheus, Grafana, ELK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Очереди и интеграция: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Kafka, RabbitMQ, REST, gRPC</a:t>
            </a:r>
            <a:b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</a:b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ОС: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Ubuntu, CentOS, Astra Linux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476" name="Google Shape;476;p60"/>
          <p:cNvCxnSpPr>
            <a:cxnSpLocks/>
          </p:cNvCxnSpPr>
          <p:nvPr/>
        </p:nvCxnSpPr>
        <p:spPr bwMode="auto">
          <a:xfrm rot="10800000">
            <a:off x="4481125" y="1692575"/>
            <a:ext cx="0" cy="29928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7" name="Google Shape;477;p60"/>
          <p:cNvSpPr txBox="1"/>
          <p:nvPr/>
        </p:nvSpPr>
        <p:spPr bwMode="auto">
          <a:xfrm>
            <a:off x="4572000" y="3312325"/>
            <a:ext cx="3955199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Эффекты: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Масштабируемость и отказоустойчивость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Быстрый выпуск новых функций (релизы каждую неделю)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Упрощённая интеграция с внешними системами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Снижение затрат на сопровождение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78" name="Google Shape;478;p60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Более 20 внедрений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/>
          <p:nvPr/>
        </p:nvSpPr>
        <p:spPr bwMode="auto">
          <a:xfrm>
            <a:off x="5714100" y="0"/>
            <a:ext cx="3429900" cy="5149200"/>
          </a:xfrm>
          <a:prstGeom prst="rect">
            <a:avLst/>
          </a:prstGeom>
          <a:solidFill>
            <a:srgbClr val="026B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484" name="Google Shape;484;p61" title="52-523447_m.jpg"/>
          <p:cNvPicPr/>
          <p:nvPr/>
        </p:nvPicPr>
        <p:blipFill>
          <a:blip r:embed="rId2">
            <a:alphaModFix/>
          </a:blip>
          <a:srcRect l="58322"/>
          <a:stretch/>
        </p:blipFill>
        <p:spPr bwMode="auto">
          <a:xfrm>
            <a:off x="5714100" y="0"/>
            <a:ext cx="3429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1"/>
          <p:cNvSpPr txBox="1">
            <a:spLocks noGrp="1"/>
          </p:cNvSpPr>
          <p:nvPr>
            <p:ph type="title" idx="4294967295"/>
          </p:nvPr>
        </p:nvSpPr>
        <p:spPr bwMode="auto">
          <a:xfrm>
            <a:off x="828675" y="688180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sz="2000" b="1">
                <a:latin typeface="Montserrat"/>
                <a:ea typeface="Montserrat"/>
                <a:cs typeface="Montserrat"/>
              </a:rPr>
              <a:t>X5 RETAIL</a:t>
            </a:r>
            <a:endParaRPr sz="2000" b="1">
              <a:latin typeface="Montserrat"/>
              <a:ea typeface="Montserrat"/>
              <a:cs typeface="Montserrat"/>
            </a:endParaRPr>
          </a:p>
        </p:txBody>
      </p:sp>
      <p:sp>
        <p:nvSpPr>
          <p:cNvPr id="486" name="Google Shape;486;p61"/>
          <p:cNvSpPr txBox="1"/>
          <p:nvPr/>
        </p:nvSpPr>
        <p:spPr bwMode="auto">
          <a:xfrm>
            <a:off x="826794" y="1262950"/>
            <a:ext cx="4823399" cy="377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Задача клиента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Создать цифровую основу для логистического сервиса: автоматизировать взаимодействие между заказами, транспортом, складом и API e-commerce партнёров.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Обеспечить масштабируемую и устойчивую backend-архитектуру для работы с маркетплейсами.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Повысить скорость интеграции новых клиентов и партнерских платформ.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Решение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Разработка модульного backend-а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Создание микросервисной архитектуры на </a:t>
            </a: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Java + Spring Boot</a:t>
            </a: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Интеграция с внешними API (маркетплейсы, службы доставки, СМЭВ).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Настроены очереди обработки и событийная модель (Kafka/Redis).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Внедрение аналитики и внутреннего мониторинга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Логирование бизнес-событий и технических ошибок.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Подключение к BI-системе для SLA, времени доставки, возвратов и др.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Использование Elastic Stack для мониторинга.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700" b="1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Инфраструктура и DevOps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Облачная инфраструктура с авторазвёртыванием (CI/CD, GitLab CI).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Контейнеризация с Docker, управление через Kubernetes.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457200" lvl="0" indent="-2730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Скалируемость по нагрузке и отказоустойчивость.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87" name="Google Shape;487;p61"/>
          <p:cNvSpPr txBox="1"/>
          <p:nvPr/>
        </p:nvSpPr>
        <p:spPr bwMode="auto">
          <a:xfrm>
            <a:off x="6065500" y="1899375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88" name="Google Shape;488;p61"/>
          <p:cNvSpPr/>
          <p:nvPr/>
        </p:nvSpPr>
        <p:spPr bwMode="auto">
          <a:xfrm>
            <a:off x="5805000" y="3653350"/>
            <a:ext cx="32439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+3x ускорение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интеграции новых маркетплейсов (через API-интерфейсы).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–50% времени на доставку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за счёт оптимизации маршрутов и трекинга.</a:t>
            </a:r>
            <a:b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</a:b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Масштабирование до 1000+ операций в секунду</a:t>
            </a:r>
            <a:r>
              <a:rPr lang="ru" sz="70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 с ростом сети постаматов.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89" name="Google Shape;489;p61"/>
          <p:cNvSpPr txBox="1"/>
          <p:nvPr/>
        </p:nvSpPr>
        <p:spPr bwMode="auto"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7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Сервис доставки посылок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" name="Google Shape;494;p62"/>
          <p:cNvSpPr txBox="1">
            <a:spLocks noGrp="1"/>
          </p:cNvSpPr>
          <p:nvPr>
            <p:ph type="title"/>
          </p:nvPr>
        </p:nvSpPr>
        <p:spPr bwMode="auto">
          <a:xfrm>
            <a:off x="828675" y="1162449"/>
            <a:ext cx="7665600" cy="28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/>
            </a:pPr>
            <a:r>
              <a:rPr lang="ru" b="1">
                <a:latin typeface="Montserrat"/>
                <a:ea typeface="Montserrat"/>
                <a:cs typeface="Montserrat"/>
              </a:rPr>
              <a:t>Контакты</a:t>
            </a:r>
            <a:endParaRPr b="1"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latin typeface="Montserrat"/>
              <a:ea typeface="Montserrat"/>
              <a:cs typeface="Montserrat"/>
            </a:endParaRPr>
          </a:p>
        </p:txBody>
      </p:sp>
      <p:sp>
        <p:nvSpPr>
          <p:cNvPr id="495" name="Google Shape;495;p62"/>
          <p:cNvSpPr txBox="1"/>
          <p:nvPr/>
        </p:nvSpPr>
        <p:spPr bwMode="auto">
          <a:xfrm>
            <a:off x="758575" y="1839400"/>
            <a:ext cx="31941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+7 (495) 198-14-77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hlinkClick r:id="rId2" tooltip="mailto:info@7rlines.com"/>
              </a:rPr>
              <a:t>info@7rlines.com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119049, Москва, ул. Шаболовка, 23к3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96" name="Google Shape;496;p62"/>
          <p:cNvSpPr txBox="1"/>
          <p:nvPr/>
        </p:nvSpPr>
        <p:spPr bwMode="auto">
          <a:xfrm>
            <a:off x="828687" y="3995438"/>
            <a:ext cx="4373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ru" sz="800" b="1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Поможем подобрать решения под ваши бизнес-задачи</a:t>
            </a:r>
            <a:endParaRPr sz="8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497" name="Google Shape;497;p62"/>
          <p:cNvCxnSpPr>
            <a:cxnSpLocks/>
          </p:cNvCxnSpPr>
          <p:nvPr/>
        </p:nvCxnSpPr>
        <p:spPr bwMode="auto">
          <a:xfrm>
            <a:off x="4150" y="46618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98" name="Google Shape;498;p62" title="7RL_logo@8x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58569" y="4786818"/>
            <a:ext cx="444913" cy="25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2"/>
          <p:cNvSpPr txBox="1"/>
          <p:nvPr/>
        </p:nvSpPr>
        <p:spPr bwMode="auto">
          <a:xfrm>
            <a:off x="6117975" y="4712788"/>
            <a:ext cx="23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+7 (495) 198-14-77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700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info@7rlines.com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500" name="Google Shape;500;p62"/>
          <p:cNvCxnSpPr>
            <a:cxnSpLocks/>
          </p:cNvCxnSpPr>
          <p:nvPr/>
        </p:nvCxnSpPr>
        <p:spPr bwMode="auto">
          <a:xfrm rot="10800000">
            <a:off x="4683675" y="-5300"/>
            <a:ext cx="0" cy="4667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62"/>
          <p:cNvCxnSpPr>
            <a:cxnSpLocks/>
          </p:cNvCxnSpPr>
          <p:nvPr/>
        </p:nvCxnSpPr>
        <p:spPr bwMode="auto">
          <a:xfrm rot="10800000">
            <a:off x="2157075" y="4670325"/>
            <a:ext cx="0" cy="4797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2" name="Google Shape;502;p62" title="db3bb0aafb66422fa74f848693c39ddf.png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784600" y="1448412"/>
            <a:ext cx="2254974" cy="225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5082</Words>
  <Application>Microsoft Office PowerPoint</Application>
  <PresentationFormat>Экран (16:9)</PresentationFormat>
  <Paragraphs>757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Poppins</vt:lpstr>
      <vt:lpstr>Corbel</vt:lpstr>
      <vt:lpstr>Montserrat</vt:lpstr>
      <vt:lpstr>Arial</vt:lpstr>
      <vt:lpstr>Simple Light</vt:lpstr>
      <vt:lpstr>Simple Light</vt:lpstr>
      <vt:lpstr>Внедряем аналитику и повышаем эффективность бизнес-процессов</vt:lpstr>
      <vt:lpstr>Основные компетенции</vt:lpstr>
      <vt:lpstr>Нам доверяют</vt:lpstr>
      <vt:lpstr>Официальный поставщик решений</vt:lpstr>
      <vt:lpstr>Внедряем лучшие отечественные практики</vt:lpstr>
      <vt:lpstr>Проекты под ключ</vt:lpstr>
      <vt:lpstr>Аутсорсинг и аутстаффинг ИТ-специалистов</vt:lpstr>
      <vt:lpstr>Техническое сопровождение внедренных решений</vt:lpstr>
      <vt:lpstr>ИТ рынок сегодня</vt:lpstr>
      <vt:lpstr>Тренды цифровой трансформации в 2025 году</vt:lpstr>
      <vt:lpstr>Решения по искусственному интеллекту и машинному обучению </vt:lpstr>
      <vt:lpstr>Русский продукт</vt:lpstr>
      <vt:lpstr>Калугаоблводоканал</vt:lpstr>
      <vt:lpstr>ДИТ города Москвы</vt:lpstr>
      <vt:lpstr>Администрация Волгоградской  области</vt:lpstr>
      <vt:lpstr>Решения по аналитике и управлению данными</vt:lpstr>
      <vt:lpstr>Райффайзен Банк</vt:lpstr>
      <vt:lpstr>Центральный Банк РФ</vt:lpstr>
      <vt:lpstr>Mercedes-Benz Bank</vt:lpstr>
      <vt:lpstr>Счетная палата РФ</vt:lpstr>
      <vt:lpstr>ФНС РФ</vt:lpstr>
      <vt:lpstr>Правительство Москвы</vt:lpstr>
      <vt:lpstr>Решения по автоматизации и роботизации бизнес-процессов</vt:lpstr>
      <vt:lpstr>ЧТПЗ</vt:lpstr>
      <vt:lpstr>Сберстрахование</vt:lpstr>
      <vt:lpstr>Федеральный орган</vt:lpstr>
      <vt:lpstr>Торговая сеть</vt:lpstr>
      <vt:lpstr>Крупный маркетплейс</vt:lpstr>
      <vt:lpstr>Решения по ERP-системам и цифровизации учетных процессов</vt:lpstr>
      <vt:lpstr>УРАЛКАЛИЙ</vt:lpstr>
      <vt:lpstr>Альфа-Страхование</vt:lpstr>
      <vt:lpstr>Интеграция и микросервисная архитектура</vt:lpstr>
      <vt:lpstr>X5 RETAIL</vt:lpstr>
      <vt:lpstr>Контакты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РС</dc:creator>
  <cp:lastModifiedBy>a1227</cp:lastModifiedBy>
  <cp:revision>1</cp:revision>
  <dcterms:modified xsi:type="dcterms:W3CDTF">2025-11-11T16:07:03Z</dcterms:modified>
</cp:coreProperties>
</file>