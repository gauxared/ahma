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71" r:id="rId4"/>
    <p:sldId id="259" r:id="rId5"/>
    <p:sldId id="272" r:id="rId6"/>
    <p:sldId id="258" r:id="rId7"/>
    <p:sldId id="266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4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2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23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b51f55c2a_0_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g3cb51f55c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cb51f55c2a_0_91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9721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jpg"/><Relationship Id="rId26" Type="http://schemas.openxmlformats.org/officeDocument/2006/relationships/image" Target="../media/image38.png"/><Relationship Id="rId3" Type="http://schemas.openxmlformats.org/officeDocument/2006/relationships/image" Target="../media/image15.jpg"/><Relationship Id="rId21" Type="http://schemas.openxmlformats.org/officeDocument/2006/relationships/image" Target="../media/image33.png"/><Relationship Id="rId7" Type="http://schemas.openxmlformats.org/officeDocument/2006/relationships/image" Target="../media/image19.jp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8.jp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11" Type="http://schemas.openxmlformats.org/officeDocument/2006/relationships/image" Target="../media/image23.jpg"/><Relationship Id="rId24" Type="http://schemas.openxmlformats.org/officeDocument/2006/relationships/image" Target="../media/image36.png"/><Relationship Id="rId32" Type="http://schemas.openxmlformats.org/officeDocument/2006/relationships/image" Target="../media/image44.png"/><Relationship Id="rId5" Type="http://schemas.openxmlformats.org/officeDocument/2006/relationships/image" Target="../media/image17.jpg"/><Relationship Id="rId15" Type="http://schemas.openxmlformats.org/officeDocument/2006/relationships/image" Target="../media/image27.jp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10" Type="http://schemas.openxmlformats.org/officeDocument/2006/relationships/image" Target="../media/image22.jpg"/><Relationship Id="rId19" Type="http://schemas.openxmlformats.org/officeDocument/2006/relationships/image" Target="../media/image31.png"/><Relationship Id="rId31" Type="http://schemas.openxmlformats.org/officeDocument/2006/relationships/image" Target="../media/image43.png"/><Relationship Id="rId4" Type="http://schemas.openxmlformats.org/officeDocument/2006/relationships/image" Target="../media/image16.jpg"/><Relationship Id="rId9" Type="http://schemas.openxmlformats.org/officeDocument/2006/relationships/image" Target="../media/image21.png"/><Relationship Id="rId14" Type="http://schemas.openxmlformats.org/officeDocument/2006/relationships/image" Target="../media/image26.jpg"/><Relationship Id="rId22" Type="http://schemas.openxmlformats.org/officeDocument/2006/relationships/image" Target="../media/image34.jpg"/><Relationship Id="rId27" Type="http://schemas.openxmlformats.org/officeDocument/2006/relationships/image" Target="../media/image39.png"/><Relationship Id="rId30" Type="http://schemas.openxmlformats.org/officeDocument/2006/relationships/image" Target="../media/image4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20906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1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017520" y="457200"/>
            <a:ext cx="0" cy="42291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388010" y="102618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ru-RU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ИИ-интегратор и партнер</a:t>
            </a:r>
          </a:p>
          <a:p>
            <a:pPr marL="0" indent="0">
              <a:buNone/>
            </a:pPr>
            <a:r>
              <a:rPr lang="ru-RU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 среднего и крупного бизнеса</a:t>
            </a:r>
          </a:p>
        </p:txBody>
      </p:sp>
      <p:sp>
        <p:nvSpPr>
          <p:cNvPr id="5" name="Text 3"/>
          <p:cNvSpPr/>
          <p:nvPr/>
        </p:nvSpPr>
        <p:spPr>
          <a:xfrm>
            <a:off x="3383280" y="19202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 первых пилотов </a:t>
            </a:r>
            <a:r>
              <a:rPr lang="en-US" sz="1000" dirty="0" err="1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</a:t>
            </a:r>
            <a:r>
              <a:rPr lang="en-US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масштабирования</a:t>
            </a:r>
            <a:r>
              <a:rPr lang="en-US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 </a:t>
            </a:r>
            <a:r>
              <a:rPr lang="en-US" sz="1000" dirty="0" err="1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ключевые</a:t>
            </a:r>
            <a:r>
              <a:rPr lang="en-US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процесс</a:t>
            </a:r>
            <a:r>
              <a:rPr lang="ru-RU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ы</a:t>
            </a:r>
            <a:r>
              <a:rPr lang="en-US" sz="10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endParaRPr lang="ru-RU" sz="1000" dirty="0">
              <a:solidFill>
                <a:srgbClr val="66666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383280" y="2976837"/>
            <a:ext cx="1676400" cy="77724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383280" y="3068277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3388317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Решения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196840" y="2976837"/>
            <a:ext cx="1676400" cy="77724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196840" y="3068277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96840" y="3388317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Отраслей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010400" y="2976837"/>
            <a:ext cx="1676400" cy="77724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010400" y="3068277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r>
              <a:rPr lang="en-US" sz="1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–6 нед.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10400" y="3388317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Срок пилота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6"/>
          <p:cNvSpPr/>
          <p:nvPr/>
        </p:nvSpPr>
        <p:spPr>
          <a:xfrm>
            <a:off x="457200" y="2937511"/>
            <a:ext cx="26212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Компетенции</a:t>
            </a:r>
            <a:endParaRPr lang="en-US" sz="2000" dirty="0"/>
          </a:p>
        </p:txBody>
      </p: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AAF2F161-C088-ACB1-F197-ED2E2970C06F}"/>
              </a:ext>
            </a:extLst>
          </p:cNvPr>
          <p:cNvGrpSpPr/>
          <p:nvPr/>
        </p:nvGrpSpPr>
        <p:grpSpPr>
          <a:xfrm>
            <a:off x="3240264" y="2926080"/>
            <a:ext cx="2621280" cy="1737360"/>
            <a:chOff x="197884" y="621792"/>
            <a:chExt cx="2621280" cy="1737360"/>
          </a:xfrm>
        </p:grpSpPr>
        <p:sp>
          <p:nvSpPr>
            <p:cNvPr id="6" name="Shape 4"/>
            <p:cNvSpPr/>
            <p:nvPr/>
          </p:nvSpPr>
          <p:spPr>
            <a:xfrm>
              <a:off x="197884" y="621792"/>
              <a:ext cx="2621280" cy="17373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ru-RU"/>
            </a:p>
          </p:txBody>
        </p:sp>
        <p:sp>
          <p:nvSpPr>
            <p:cNvPr id="7" name="Shape 5"/>
            <p:cNvSpPr/>
            <p:nvPr/>
          </p:nvSpPr>
          <p:spPr>
            <a:xfrm>
              <a:off x="197884" y="621792"/>
              <a:ext cx="2621280" cy="411480"/>
            </a:xfrm>
            <a:prstGeom prst="rect">
              <a:avLst/>
            </a:prstGeom>
            <a:solidFill>
              <a:srgbClr val="FF0000"/>
            </a:solidFill>
            <a:ln/>
          </p:spPr>
          <p:txBody>
            <a:bodyPr/>
            <a:lstStyle/>
            <a:p>
              <a:endParaRPr lang="ru-RU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9324" y="736092"/>
              <a:ext cx="182880" cy="182880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545356" y="621792"/>
              <a:ext cx="218236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Аналитика и данные</a:t>
              </a:r>
              <a:endParaRPr lang="en-US" sz="11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289324" y="1106424"/>
              <a:ext cx="2438400" cy="11795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171450" indent="-171450">
                <a:lnSpc>
                  <a:spcPct val="115000"/>
                </a:lnSpc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ru-RU" sz="900" dirty="0">
                  <a:solidFill>
                    <a:srgbClr val="333333"/>
                  </a:solidFill>
                  <a:latin typeface="Montserrat" pitchFamily="34" charset="0"/>
                </a:rPr>
                <a:t>Создаем процесс накопления и очистки данных</a:t>
              </a:r>
            </a:p>
            <a:p>
              <a:pPr marL="171450" indent="-171450">
                <a:lnSpc>
                  <a:spcPct val="115000"/>
                </a:lnSpc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ru-RU" sz="900" dirty="0">
                  <a:solidFill>
                    <a:srgbClr val="333333"/>
                  </a:solidFill>
                  <a:latin typeface="Montserrat" pitchFamily="34" charset="0"/>
                </a:rPr>
                <a:t>Внедряем х</a:t>
              </a:r>
              <a:r>
                <a:rPr lang="en-US" sz="900" dirty="0" err="1">
                  <a:solidFill>
                    <a:srgbClr val="333333"/>
                  </a:solidFill>
                  <a:latin typeface="Montserrat" pitchFamily="34" charset="0"/>
                </a:rPr>
                <a:t>ранилища</a:t>
              </a:r>
              <a:r>
                <a:rPr lang="ru-RU" sz="900" dirty="0">
                  <a:solidFill>
                    <a:srgbClr val="333333"/>
                  </a:solidFill>
                  <a:latin typeface="Montserrat" pitchFamily="34" charset="0"/>
                </a:rPr>
                <a:t> данных</a:t>
              </a:r>
            </a:p>
            <a:p>
              <a:pPr marL="171450" indent="-171450">
                <a:lnSpc>
                  <a:spcPct val="115000"/>
                </a:lnSpc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ru-RU" sz="900" dirty="0">
                  <a:solidFill>
                    <a:srgbClr val="333333"/>
                  </a:solidFill>
                  <a:latin typeface="Montserrat" pitchFamily="34" charset="0"/>
                </a:rPr>
                <a:t>Настраиваем </a:t>
              </a:r>
              <a:r>
                <a:rPr lang="en-US" sz="900" dirty="0">
                  <a:solidFill>
                    <a:srgbClr val="333333"/>
                  </a:solidFill>
                  <a:latin typeface="Montserrat" pitchFamily="34" charset="0"/>
                </a:rPr>
                <a:t>BI-</a:t>
              </a:r>
              <a:r>
                <a:rPr lang="en-US" sz="900" dirty="0" err="1">
                  <a:solidFill>
                    <a:srgbClr val="333333"/>
                  </a:solidFill>
                  <a:latin typeface="Montserrat" pitchFamily="34" charset="0"/>
                </a:rPr>
                <a:t>отчёты</a:t>
              </a:r>
              <a:r>
                <a:rPr lang="ru-RU" sz="900" dirty="0">
                  <a:solidFill>
                    <a:srgbClr val="333333"/>
                  </a:solidFill>
                  <a:latin typeface="Montserrat" pitchFamily="34" charset="0"/>
                </a:rPr>
                <a:t>, в</a:t>
              </a:r>
              <a:r>
                <a:rPr lang="en-US" sz="900" dirty="0" err="1">
                  <a:solidFill>
                    <a:srgbClr val="333333"/>
                  </a:solidFill>
                  <a:latin typeface="Montserrat" pitchFamily="34" charset="0"/>
                </a:rPr>
                <a:t>изуализаци</a:t>
              </a:r>
              <a:r>
                <a:rPr lang="ru-RU" sz="900" dirty="0">
                  <a:solidFill>
                    <a:srgbClr val="333333"/>
                  </a:solidFill>
                  <a:latin typeface="Montserrat" pitchFamily="34" charset="0"/>
                </a:rPr>
                <a:t>ю</a:t>
              </a:r>
              <a:r>
                <a:rPr lang="en-US" sz="900" dirty="0">
                  <a:solidFill>
                    <a:srgbClr val="333333"/>
                  </a:solidFill>
                  <a:latin typeface="Montserrat" pitchFamily="34" charset="0"/>
                </a:rPr>
                <a:t> и </a:t>
              </a:r>
              <a:r>
                <a:rPr lang="en-US" sz="900" dirty="0" err="1">
                  <a:solidFill>
                    <a:srgbClr val="333333"/>
                  </a:solidFill>
                  <a:latin typeface="Montserrat" pitchFamily="34" charset="0"/>
                </a:rPr>
                <a:t>управление</a:t>
              </a:r>
              <a:r>
                <a:rPr lang="en-US" sz="900" dirty="0">
                  <a:solidFill>
                    <a:srgbClr val="333333"/>
                  </a:solidFill>
                  <a:latin typeface="Montserrat" pitchFamily="34" charset="0"/>
                </a:rPr>
                <a:t> </a:t>
              </a:r>
              <a:r>
                <a:rPr lang="en-US" sz="900" dirty="0" err="1">
                  <a:solidFill>
                    <a:srgbClr val="333333"/>
                  </a:solidFill>
                  <a:latin typeface="Montserrat" pitchFamily="34" charset="0"/>
                </a:rPr>
                <a:t>данными</a:t>
              </a:r>
              <a:endParaRPr lang="en-US" sz="900" dirty="0">
                <a:solidFill>
                  <a:srgbClr val="333333"/>
                </a:solidFill>
                <a:latin typeface="Montserrat" pitchFamily="34" charset="0"/>
              </a:endParaRPr>
            </a:p>
          </p:txBody>
        </p:sp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752ED363-251B-9A25-7BAA-517CE9D11049}"/>
              </a:ext>
            </a:extLst>
          </p:cNvPr>
          <p:cNvGrpSpPr/>
          <p:nvPr/>
        </p:nvGrpSpPr>
        <p:grpSpPr>
          <a:xfrm>
            <a:off x="484633" y="982980"/>
            <a:ext cx="2621280" cy="1737360"/>
            <a:chOff x="3261360" y="1005840"/>
            <a:chExt cx="2621280" cy="1737360"/>
          </a:xfrm>
        </p:grpSpPr>
        <p:sp>
          <p:nvSpPr>
            <p:cNvPr id="11" name="Shape 8"/>
            <p:cNvSpPr/>
            <p:nvPr/>
          </p:nvSpPr>
          <p:spPr>
            <a:xfrm>
              <a:off x="3261360" y="1005840"/>
              <a:ext cx="2621280" cy="17373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Shape 9"/>
            <p:cNvSpPr/>
            <p:nvPr/>
          </p:nvSpPr>
          <p:spPr>
            <a:xfrm>
              <a:off x="3261360" y="1005840"/>
              <a:ext cx="2621280" cy="411480"/>
            </a:xfrm>
            <a:prstGeom prst="rect">
              <a:avLst/>
            </a:prstGeom>
            <a:solidFill>
              <a:srgbClr val="FF0000"/>
            </a:solidFill>
            <a:ln/>
          </p:spPr>
          <p:txBody>
            <a:bodyPr/>
            <a:lstStyle/>
            <a:p>
              <a:endParaRPr lang="ru-RU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2800" y="1120140"/>
              <a:ext cx="182880" cy="182880"/>
            </a:xfrm>
            <a:prstGeom prst="rect">
              <a:avLst/>
            </a:prstGeom>
          </p:spPr>
        </p:pic>
        <p:sp>
          <p:nvSpPr>
            <p:cNvPr id="14" name="Text 10"/>
            <p:cNvSpPr/>
            <p:nvPr/>
          </p:nvSpPr>
          <p:spPr>
            <a:xfrm>
              <a:off x="3608832" y="1005840"/>
              <a:ext cx="218236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Языковые модели и агенты</a:t>
              </a:r>
              <a:endParaRPr lang="en-US" sz="1100" dirty="0"/>
            </a:p>
          </p:txBody>
        </p:sp>
        <p:sp>
          <p:nvSpPr>
            <p:cNvPr id="15" name="Text 11"/>
            <p:cNvSpPr/>
            <p:nvPr/>
          </p:nvSpPr>
          <p:spPr>
            <a:xfrm>
              <a:off x="3352800" y="1490472"/>
              <a:ext cx="2438400" cy="11795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171450" indent="-171450">
                <a:lnSpc>
                  <a:spcPct val="115000"/>
                </a:lnSpc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ru-RU" sz="900" dirty="0">
                  <a:solidFill>
                    <a:srgbClr val="333333"/>
                  </a:solidFill>
                  <a:latin typeface="Montserrat" pitchFamily="34" charset="0"/>
                </a:rPr>
                <a:t>Внедряем инструменты для генерации документов, справок, отчетов</a:t>
              </a:r>
            </a:p>
            <a:p>
              <a:pPr marL="171450" indent="-171450">
                <a:lnSpc>
                  <a:spcPct val="115000"/>
                </a:lnSpc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ru-RU" sz="900" dirty="0">
                  <a:solidFill>
                    <a:srgbClr val="333333"/>
                  </a:solidFill>
                  <a:latin typeface="Montserrat" pitchFamily="34" charset="0"/>
                </a:rPr>
                <a:t>Настраиваем у</a:t>
              </a:r>
              <a:r>
                <a:rPr lang="en-US" sz="900" dirty="0" err="1">
                  <a:solidFill>
                    <a:srgbClr val="333333"/>
                  </a:solidFill>
                  <a:latin typeface="Montserrat" pitchFamily="34" charset="0"/>
                </a:rPr>
                <a:t>мные</a:t>
              </a:r>
              <a:r>
                <a:rPr lang="en-US" sz="900" dirty="0">
                  <a:solidFill>
                    <a:srgbClr val="333333"/>
                  </a:solidFill>
                  <a:latin typeface="Montserrat" pitchFamily="34" charset="0"/>
                </a:rPr>
                <a:t> </a:t>
              </a:r>
              <a:r>
                <a:rPr lang="en-US" sz="900" dirty="0" err="1">
                  <a:solidFill>
                    <a:srgbClr val="333333"/>
                  </a:solidFill>
                  <a:latin typeface="Montserrat" pitchFamily="34" charset="0"/>
                </a:rPr>
                <a:t>базы</a:t>
              </a:r>
              <a:r>
                <a:rPr lang="en-US" sz="900" dirty="0">
                  <a:solidFill>
                    <a:srgbClr val="333333"/>
                  </a:solidFill>
                  <a:latin typeface="Montserrat" pitchFamily="34" charset="0"/>
                </a:rPr>
                <a:t> </a:t>
              </a:r>
              <a:r>
                <a:rPr lang="en-US" sz="900" dirty="0" err="1">
                  <a:solidFill>
                    <a:srgbClr val="333333"/>
                  </a:solidFill>
                  <a:latin typeface="Montserrat" pitchFamily="34" charset="0"/>
                </a:rPr>
                <a:t>знаний</a:t>
              </a:r>
              <a:endParaRPr lang="ru-RU" sz="900" dirty="0">
                <a:solidFill>
                  <a:srgbClr val="333333"/>
                </a:solidFill>
                <a:latin typeface="Montserrat" pitchFamily="34" charset="0"/>
              </a:endParaRPr>
            </a:p>
            <a:p>
              <a:pPr marL="171450" indent="-171450">
                <a:lnSpc>
                  <a:spcPct val="115000"/>
                </a:lnSpc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ru-RU" sz="900" dirty="0">
                  <a:solidFill>
                    <a:srgbClr val="333333"/>
                  </a:solidFill>
                  <a:latin typeface="Montserrat" pitchFamily="34" charset="0"/>
                </a:rPr>
                <a:t>Внедряем а</a:t>
              </a:r>
              <a:r>
                <a:rPr lang="en-US" sz="900" dirty="0" err="1">
                  <a:solidFill>
                    <a:srgbClr val="333333"/>
                  </a:solidFill>
                  <a:latin typeface="Montserrat" pitchFamily="34" charset="0"/>
                </a:rPr>
                <a:t>ссистент</a:t>
              </a:r>
              <a:r>
                <a:rPr lang="ru-RU" sz="900" dirty="0" err="1">
                  <a:solidFill>
                    <a:srgbClr val="333333"/>
                  </a:solidFill>
                  <a:latin typeface="Montserrat" pitchFamily="34" charset="0"/>
                </a:rPr>
                <a:t>ов</a:t>
              </a:r>
              <a:r>
                <a:rPr lang="en-US" sz="900" dirty="0">
                  <a:solidFill>
                    <a:srgbClr val="333333"/>
                  </a:solidFill>
                  <a:latin typeface="Montserrat" pitchFamily="34" charset="0"/>
                </a:rPr>
                <a:t> </a:t>
              </a:r>
              <a:r>
                <a:rPr lang="en-US" sz="900" dirty="0" err="1">
                  <a:solidFill>
                    <a:srgbClr val="333333"/>
                  </a:solidFill>
                  <a:latin typeface="Montserrat" pitchFamily="34" charset="0"/>
                </a:rPr>
                <a:t>для</a:t>
              </a:r>
              <a:r>
                <a:rPr lang="en-US" sz="900" dirty="0">
                  <a:solidFill>
                    <a:srgbClr val="333333"/>
                  </a:solidFill>
                  <a:latin typeface="Montserrat" pitchFamily="34" charset="0"/>
                </a:rPr>
                <a:t> </a:t>
              </a:r>
              <a:r>
                <a:rPr lang="ru-RU" sz="900" dirty="0">
                  <a:solidFill>
                    <a:srgbClr val="333333"/>
                  </a:solidFill>
                  <a:latin typeface="Montserrat" pitchFamily="34" charset="0"/>
                </a:rPr>
                <a:t>сотрудников (продаж, поддержки и т.д.)</a:t>
              </a:r>
            </a:p>
            <a:p>
              <a:pPr>
                <a:lnSpc>
                  <a:spcPct val="115000"/>
                </a:lnSpc>
                <a:buClr>
                  <a:srgbClr val="FF0000"/>
                </a:buClr>
              </a:pPr>
              <a:endParaRPr lang="en-US" sz="900" dirty="0">
                <a:solidFill>
                  <a:srgbClr val="333333"/>
                </a:solidFill>
                <a:latin typeface="Montserrat" pitchFamily="34" charset="0"/>
              </a:endParaRPr>
            </a:p>
          </p:txBody>
        </p:sp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DA19BAEA-2840-209C-CD31-167D0FBE52D0}"/>
              </a:ext>
            </a:extLst>
          </p:cNvPr>
          <p:cNvGrpSpPr/>
          <p:nvPr/>
        </p:nvGrpSpPr>
        <p:grpSpPr>
          <a:xfrm>
            <a:off x="3240264" y="982980"/>
            <a:ext cx="2621280" cy="1737360"/>
            <a:chOff x="3261360" y="2926080"/>
            <a:chExt cx="2621280" cy="1737360"/>
          </a:xfrm>
        </p:grpSpPr>
        <p:sp>
          <p:nvSpPr>
            <p:cNvPr id="16" name="Shape 12"/>
            <p:cNvSpPr/>
            <p:nvPr/>
          </p:nvSpPr>
          <p:spPr>
            <a:xfrm>
              <a:off x="3261360" y="2926080"/>
              <a:ext cx="2621280" cy="17373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Shape 13"/>
            <p:cNvSpPr/>
            <p:nvPr/>
          </p:nvSpPr>
          <p:spPr>
            <a:xfrm>
              <a:off x="3261360" y="2926080"/>
              <a:ext cx="2621280" cy="411480"/>
            </a:xfrm>
            <a:prstGeom prst="rect">
              <a:avLst/>
            </a:prstGeom>
            <a:solidFill>
              <a:srgbClr val="FF0000"/>
            </a:solidFill>
            <a:ln/>
          </p:spPr>
          <p:txBody>
            <a:bodyPr/>
            <a:lstStyle/>
            <a:p>
              <a:endParaRPr lang="ru-RU"/>
            </a:p>
          </p:txBody>
        </p:sp>
        <p:pic>
          <p:nvPicPr>
            <p:cNvPr id="18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52800" y="3040380"/>
              <a:ext cx="182880" cy="182880"/>
            </a:xfrm>
            <a:prstGeom prst="rect">
              <a:avLst/>
            </a:prstGeom>
          </p:spPr>
        </p:pic>
        <p:sp>
          <p:nvSpPr>
            <p:cNvPr id="19" name="Text 14"/>
            <p:cNvSpPr/>
            <p:nvPr/>
          </p:nvSpPr>
          <p:spPr>
            <a:xfrm>
              <a:off x="3608832" y="2926080"/>
              <a:ext cx="218236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Машинное обучение</a:t>
              </a:r>
              <a:endParaRPr lang="en-US" sz="1100" dirty="0"/>
            </a:p>
          </p:txBody>
        </p:sp>
        <p:sp>
          <p:nvSpPr>
            <p:cNvPr id="20" name="Text 15"/>
            <p:cNvSpPr/>
            <p:nvPr/>
          </p:nvSpPr>
          <p:spPr>
            <a:xfrm>
              <a:off x="3352800" y="3410712"/>
              <a:ext cx="2438400" cy="11795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171450" indent="-171450">
                <a:lnSpc>
                  <a:spcPct val="115000"/>
                </a:lnSpc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ru-RU" sz="900" dirty="0">
                  <a:solidFill>
                    <a:srgbClr val="33333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Предупреждаем</a:t>
              </a:r>
              <a:r>
                <a:rPr lang="en-US" sz="900" dirty="0">
                  <a:solidFill>
                    <a:srgbClr val="33333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</a:t>
              </a:r>
              <a:r>
                <a:rPr lang="en-US" sz="900" dirty="0" err="1">
                  <a:solidFill>
                    <a:srgbClr val="33333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полом</a:t>
              </a:r>
              <a:r>
                <a:rPr lang="ru-RU" sz="900" dirty="0" err="1">
                  <a:solidFill>
                    <a:srgbClr val="33333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ки</a:t>
              </a:r>
              <a:r>
                <a:rPr lang="ru-RU" sz="900" dirty="0">
                  <a:solidFill>
                    <a:srgbClr val="33333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оборудования</a:t>
              </a:r>
              <a:r>
                <a:rPr lang="en-US" sz="900" dirty="0">
                  <a:solidFill>
                    <a:srgbClr val="33333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</a:t>
              </a:r>
              <a:endParaRPr lang="ru-RU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endParaRPr>
            </a:p>
            <a:p>
              <a:pPr marL="171450" indent="-171450">
                <a:lnSpc>
                  <a:spcPct val="115000"/>
                </a:lnSpc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ru-RU" sz="900" dirty="0">
                  <a:solidFill>
                    <a:srgbClr val="33333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Делаем с</a:t>
              </a:r>
              <a:r>
                <a:rPr lang="en-US" sz="900" dirty="0" err="1">
                  <a:solidFill>
                    <a:srgbClr val="33333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коринг</a:t>
              </a:r>
              <a:r>
                <a:rPr lang="ru-RU" sz="900" dirty="0">
                  <a:solidFill>
                    <a:srgbClr val="33333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покупателей</a:t>
              </a:r>
              <a:r>
                <a:rPr lang="en-US" sz="900" dirty="0">
                  <a:solidFill>
                    <a:srgbClr val="33333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</a:t>
              </a:r>
              <a:endParaRPr lang="ru-RU" sz="9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endParaRPr>
            </a:p>
            <a:p>
              <a:pPr marL="171450" indent="-171450">
                <a:lnSpc>
                  <a:spcPct val="115000"/>
                </a:lnSpc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ru-RU" sz="900" dirty="0">
                  <a:solidFill>
                    <a:srgbClr val="33333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Оцениваем риски заемщиков </a:t>
              </a:r>
              <a:endParaRPr lang="en-US" sz="900" dirty="0"/>
            </a:p>
          </p:txBody>
        </p:sp>
      </p:grpSp>
      <p:sp>
        <p:nvSpPr>
          <p:cNvPr id="22" name="Shape 17"/>
          <p:cNvSpPr/>
          <p:nvPr/>
        </p:nvSpPr>
        <p:spPr>
          <a:xfrm>
            <a:off x="457200" y="292608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040380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" y="3410712"/>
            <a:ext cx="25298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lnSpc>
                <a:spcPct val="115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34" charset="0"/>
              </a:rPr>
              <a:t>Встраиваем ИИ инструменты в текущие бизнес-процессы</a:t>
            </a:r>
          </a:p>
          <a:p>
            <a:pPr marL="171450" indent="-171450">
              <a:lnSpc>
                <a:spcPct val="115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34" charset="0"/>
              </a:rPr>
              <a:t>Обучаем команду</a:t>
            </a:r>
          </a:p>
          <a:p>
            <a:pPr marL="171450" indent="-171450">
              <a:lnSpc>
                <a:spcPct val="115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ru-RU" sz="900" dirty="0">
                <a:solidFill>
                  <a:srgbClr val="333333"/>
                </a:solidFill>
                <a:latin typeface="Montserrat" pitchFamily="34" charset="0"/>
              </a:rPr>
              <a:t>Улучшаем процессы</a:t>
            </a:r>
            <a:endParaRPr lang="en-US" sz="900" dirty="0">
              <a:solidFill>
                <a:srgbClr val="333333"/>
              </a:solidFill>
              <a:latin typeface="Montserrat" pitchFamily="34" charset="0"/>
            </a:endParaRPr>
          </a:p>
        </p:txBody>
      </p:sp>
      <p:pic>
        <p:nvPicPr>
          <p:cNvPr id="32" name="Google Shape;88;g3c3fe6efce6_0_1108" title="mintsifry.png">
            <a:extLst>
              <a:ext uri="{FF2B5EF4-FFF2-40B4-BE49-F238E27FC236}">
                <a16:creationId xmlns:a16="http://schemas.microsoft.com/office/drawing/2014/main" id="{423CA8AE-B1B2-5248-4B2A-D33E6D780BB3}"/>
              </a:ext>
            </a:extLst>
          </p:cNvPr>
          <p:cNvPicPr preferRelativeResize="0"/>
          <p:nvPr/>
        </p:nvPicPr>
        <p:blipFill rotWithShape="1">
          <a:blip r:embed="rId7">
            <a:alphaModFix amt="60000"/>
          </a:blip>
          <a:srcRect/>
          <a:stretch/>
        </p:blipFill>
        <p:spPr>
          <a:xfrm>
            <a:off x="6526665" y="1637813"/>
            <a:ext cx="1081105" cy="235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89;g3c3fe6efce6_0_1108" title="image-1.png">
            <a:extLst>
              <a:ext uri="{FF2B5EF4-FFF2-40B4-BE49-F238E27FC236}">
                <a16:creationId xmlns:a16="http://schemas.microsoft.com/office/drawing/2014/main" id="{163CF23E-D5AF-5E88-5079-3C9EA5811AB3}"/>
              </a:ext>
            </a:extLst>
          </p:cNvPr>
          <p:cNvPicPr preferRelativeResize="0"/>
          <p:nvPr/>
        </p:nvPicPr>
        <p:blipFill rotWithShape="1">
          <a:blip r:embed="rId8">
            <a:alphaModFix amt="60000"/>
          </a:blip>
          <a:srcRect/>
          <a:stretch/>
        </p:blipFill>
        <p:spPr>
          <a:xfrm>
            <a:off x="7804463" y="2055442"/>
            <a:ext cx="1044123" cy="28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90;g3c3fe6efce6_0_1108" title="MOSCOW_EXPO.png">
            <a:extLst>
              <a:ext uri="{FF2B5EF4-FFF2-40B4-BE49-F238E27FC236}">
                <a16:creationId xmlns:a16="http://schemas.microsoft.com/office/drawing/2014/main" id="{C7830DB2-E47E-FF47-9336-1C514D423E75}"/>
              </a:ext>
            </a:extLst>
          </p:cNvPr>
          <p:cNvPicPr preferRelativeResize="0"/>
          <p:nvPr/>
        </p:nvPicPr>
        <p:blipFill rotWithShape="1">
          <a:blip r:embed="rId9">
            <a:alphaModFix amt="60000"/>
          </a:blip>
          <a:srcRect/>
          <a:stretch/>
        </p:blipFill>
        <p:spPr>
          <a:xfrm>
            <a:off x="7806157" y="1651929"/>
            <a:ext cx="927116" cy="167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91;g3c3fe6efce6_0_1108" title="6b7abc69e0.png">
            <a:extLst>
              <a:ext uri="{FF2B5EF4-FFF2-40B4-BE49-F238E27FC236}">
                <a16:creationId xmlns:a16="http://schemas.microsoft.com/office/drawing/2014/main" id="{B09B253B-C7D1-9127-9349-A7AC9EB5D2F6}"/>
              </a:ext>
            </a:extLst>
          </p:cNvPr>
          <p:cNvPicPr preferRelativeResize="0"/>
          <p:nvPr/>
        </p:nvPicPr>
        <p:blipFill rotWithShape="1">
          <a:blip r:embed="rId10">
            <a:alphaModFix amt="60000"/>
          </a:blip>
          <a:srcRect/>
          <a:stretch/>
        </p:blipFill>
        <p:spPr>
          <a:xfrm>
            <a:off x="6704422" y="2120072"/>
            <a:ext cx="666418" cy="199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92;g3c3fe6efce6_0_1108">
            <a:extLst>
              <a:ext uri="{FF2B5EF4-FFF2-40B4-BE49-F238E27FC236}">
                <a16:creationId xmlns:a16="http://schemas.microsoft.com/office/drawing/2014/main" id="{3AA5AB47-0FB9-7F44-743D-AFC841EF609B}"/>
              </a:ext>
            </a:extLst>
          </p:cNvPr>
          <p:cNvSpPr txBox="1"/>
          <p:nvPr/>
        </p:nvSpPr>
        <p:spPr>
          <a:xfrm>
            <a:off x="6599159" y="1079978"/>
            <a:ext cx="2072161" cy="23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Аккредитация</a:t>
            </a:r>
            <a:r>
              <a:rPr lang="en-US" sz="9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9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</a:t>
            </a:r>
            <a:r>
              <a:rPr lang="en-US" sz="9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900" b="1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сертификация</a:t>
            </a:r>
            <a:endParaRPr sz="9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8" name="Picture 4" descr="Яндекс.Облако | CloudClan">
            <a:extLst>
              <a:ext uri="{FF2B5EF4-FFF2-40B4-BE49-F238E27FC236}">
                <a16:creationId xmlns:a16="http://schemas.microsoft.com/office/drawing/2014/main" id="{3B322637-8E8A-481D-7D22-507C207F2C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2" t="64281" r="11099"/>
          <a:stretch>
            <a:fillRect/>
          </a:stretch>
        </p:blipFill>
        <p:spPr bwMode="auto">
          <a:xfrm>
            <a:off x="6452382" y="3540488"/>
            <a:ext cx="1083816" cy="25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Google Shape;92;g3c3fe6efce6_0_1108">
            <a:extLst>
              <a:ext uri="{FF2B5EF4-FFF2-40B4-BE49-F238E27FC236}">
                <a16:creationId xmlns:a16="http://schemas.microsoft.com/office/drawing/2014/main" id="{42334CB2-7FF0-3FF8-1190-A11E256D3202}"/>
              </a:ext>
            </a:extLst>
          </p:cNvPr>
          <p:cNvSpPr txBox="1"/>
          <p:nvPr/>
        </p:nvSpPr>
        <p:spPr>
          <a:xfrm>
            <a:off x="6599159" y="2974920"/>
            <a:ext cx="2072161" cy="23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9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Инфраструктурные партнеры</a:t>
            </a:r>
            <a:endParaRPr sz="9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" name="Google Shape;95;g3c3fe6efce6_0_1108">
            <a:extLst>
              <a:ext uri="{FF2B5EF4-FFF2-40B4-BE49-F238E27FC236}">
                <a16:creationId xmlns:a16="http://schemas.microsoft.com/office/drawing/2014/main" id="{FA4342D7-0D27-1B75-F68E-7C48A1811E63}"/>
              </a:ext>
            </a:extLst>
          </p:cNvPr>
          <p:cNvCxnSpPr>
            <a:cxnSpLocks/>
          </p:cNvCxnSpPr>
          <p:nvPr/>
        </p:nvCxnSpPr>
        <p:spPr>
          <a:xfrm>
            <a:off x="6260976" y="2743200"/>
            <a:ext cx="2608704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" name="Google Shape;96;g3c3fe6efce6_0_1108">
            <a:extLst>
              <a:ext uri="{FF2B5EF4-FFF2-40B4-BE49-F238E27FC236}">
                <a16:creationId xmlns:a16="http://schemas.microsoft.com/office/drawing/2014/main" id="{5956B3D2-936B-691C-D757-D4465D722392}"/>
              </a:ext>
            </a:extLst>
          </p:cNvPr>
          <p:cNvCxnSpPr>
            <a:cxnSpLocks/>
          </p:cNvCxnSpPr>
          <p:nvPr/>
        </p:nvCxnSpPr>
        <p:spPr>
          <a:xfrm flipV="1">
            <a:off x="6156962" y="951342"/>
            <a:ext cx="0" cy="3788824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86;g3c3fe6efce6_0_1108">
            <a:extLst>
              <a:ext uri="{FF2B5EF4-FFF2-40B4-BE49-F238E27FC236}">
                <a16:creationId xmlns:a16="http://schemas.microsoft.com/office/drawing/2014/main" id="{75A6E2E8-9E24-FC09-8C48-5C6C29E72AC6}"/>
              </a:ext>
            </a:extLst>
          </p:cNvPr>
          <p:cNvSpPr txBox="1"/>
          <p:nvPr/>
        </p:nvSpPr>
        <p:spPr>
          <a:xfrm>
            <a:off x="457200" y="204952"/>
            <a:ext cx="4373400" cy="198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700" b="1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Более 10 лет опыта в аналитике данных</a:t>
            </a:r>
            <a:endParaRPr sz="700" b="1" i="0" u="none" strike="noStrike" cap="none" dirty="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5F421473-0A25-B4D7-9E05-1DFB4A11B43C}"/>
              </a:ext>
            </a:extLst>
          </p:cNvPr>
          <p:cNvSpPr/>
          <p:nvPr/>
        </p:nvSpPr>
        <p:spPr>
          <a:xfrm>
            <a:off x="804672" y="2926080"/>
            <a:ext cx="3584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процессов</a:t>
            </a:r>
            <a:endParaRPr lang="en-US" sz="1100" dirty="0"/>
          </a:p>
        </p:txBody>
      </p:sp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78D58689-4AA2-2450-99E8-B8617C1307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54097" y="3988763"/>
            <a:ext cx="1012301" cy="235419"/>
          </a:xfrm>
          <a:prstGeom prst="rect">
            <a:avLst/>
          </a:prstGeom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6B1CB968-E08B-C00D-D697-143BBAE94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265" y="4007626"/>
            <a:ext cx="755575" cy="15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E7761DE1-7558-FC36-C603-A24F468FC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003" y="3452040"/>
            <a:ext cx="1013984" cy="355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000000"/>
                </a:solidFill>
                <a:latin typeface="Montserrat" pitchFamily="34" charset="0"/>
              </a:rPr>
              <a:t>Почему</a:t>
            </a:r>
            <a:r>
              <a:rPr lang="en-US" sz="2000" b="1" dirty="0">
                <a:solidFill>
                  <a:srgbClr val="000000"/>
                </a:solidFill>
                <a:latin typeface="Montserrat" pitchFamily="34" charset="0"/>
              </a:rPr>
              <a:t> </a:t>
            </a:r>
            <a:r>
              <a:rPr lang="ru-RU" sz="2000" b="1" dirty="0">
                <a:solidFill>
                  <a:srgbClr val="000000"/>
                </a:solidFill>
                <a:latin typeface="Montserrat" pitchFamily="34" charset="0"/>
              </a:rPr>
              <a:t>«</a:t>
            </a:r>
            <a:r>
              <a:rPr lang="en-US" sz="2000" b="1" dirty="0">
                <a:solidFill>
                  <a:srgbClr val="000000"/>
                </a:solidFill>
                <a:latin typeface="Montserrat" pitchFamily="34" charset="0"/>
              </a:rPr>
              <a:t>7 КРАСНЫХ ЛИНИЙ</a:t>
            </a:r>
            <a:r>
              <a:rPr lang="ru-RU" sz="2000" b="1" dirty="0">
                <a:solidFill>
                  <a:srgbClr val="000000"/>
                </a:solidFill>
                <a:latin typeface="Montserrat" pitchFamily="34" charset="0"/>
              </a:rPr>
              <a:t>»</a:t>
            </a:r>
            <a:endParaRPr lang="en-US" sz="2000" b="1" dirty="0">
              <a:solidFill>
                <a:srgbClr val="000000"/>
              </a:solidFill>
              <a:latin typeface="Montserrat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201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1005840"/>
            <a:ext cx="2127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Быстрый запуск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6136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326136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088" y="1120140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45408" y="1005840"/>
            <a:ext cx="2127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Локальный контур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65520" y="1005840"/>
            <a:ext cx="2621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3"/>
          <p:cNvSpPr/>
          <p:nvPr/>
        </p:nvSpPr>
        <p:spPr>
          <a:xfrm>
            <a:off x="6065520" y="1005840"/>
            <a:ext cx="2621280" cy="4114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48" y="1120140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9568" y="1005840"/>
            <a:ext cx="2127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native команда</a:t>
            </a:r>
            <a:endParaRPr lang="en-US" sz="12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58346CBA-7BF2-787E-DE5D-3ABF35C10FC3}"/>
              </a:ext>
            </a:extLst>
          </p:cNvPr>
          <p:cNvSpPr/>
          <p:nvPr/>
        </p:nvSpPr>
        <p:spPr>
          <a:xfrm>
            <a:off x="566928" y="1543050"/>
            <a:ext cx="24018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0000"/>
              </a:lnSpc>
              <a:spcAft>
                <a:spcPts val="8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</a:t>
            </a:r>
            <a:r>
              <a:rPr lang="en-US" sz="10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за </a:t>
            </a:r>
            <a:r>
              <a:rPr lang="en-US" sz="1000" b="1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2–6 недель</a:t>
            </a:r>
            <a:r>
              <a:rPr lang="en-US" sz="10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а не квартальный пресейл</a:t>
            </a:r>
            <a:endParaRPr lang="en-US" sz="1000" dirty="0"/>
          </a:p>
          <a:p>
            <a:pPr marL="171450" indent="-171450">
              <a:lnSpc>
                <a:spcPct val="130000"/>
              </a:lnSpc>
              <a:spcAft>
                <a:spcPts val="8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Измеримые</a:t>
            </a:r>
            <a:r>
              <a:rPr lang="en-US" sz="1000" b="1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1000" b="1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метрики</a:t>
            </a:r>
            <a:r>
              <a:rPr lang="en-US" sz="1000" b="1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«до» и «после»</a:t>
            </a:r>
            <a:endParaRPr lang="en-US" sz="1000" dirty="0"/>
          </a:p>
          <a:p>
            <a:pPr marL="171450" indent="-171450">
              <a:lnSpc>
                <a:spcPct val="130000"/>
              </a:lnSpc>
              <a:spcAft>
                <a:spcPts val="8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годовых контрактов </a:t>
            </a:r>
            <a:r>
              <a:rPr lang="en-US" sz="10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входе</a:t>
            </a:r>
            <a:endParaRPr lang="en-US" sz="10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54699566-C637-615A-AFD7-7C6002624741}"/>
              </a:ext>
            </a:extLst>
          </p:cNvPr>
          <p:cNvSpPr/>
          <p:nvPr/>
        </p:nvSpPr>
        <p:spPr>
          <a:xfrm>
            <a:off x="3401568" y="1543050"/>
            <a:ext cx="2481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0000"/>
              </a:lnSpc>
              <a:spcAft>
                <a:spcPts val="8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rgbClr val="4A4A4A"/>
                </a:solidFill>
                <a:latin typeface="Montserrat" pitchFamily="34" charset="0"/>
              </a:rPr>
              <a:t>Возможность </a:t>
            </a:r>
            <a:r>
              <a:rPr lang="ru-RU" sz="1000" b="1" dirty="0">
                <a:solidFill>
                  <a:srgbClr val="4A4A4A"/>
                </a:solidFill>
                <a:latin typeface="Montserrat" pitchFamily="34" charset="0"/>
              </a:rPr>
              <a:t>полностью локальных решений </a:t>
            </a:r>
            <a:r>
              <a:rPr lang="ru-RU" sz="1000" dirty="0">
                <a:solidFill>
                  <a:srgbClr val="4A4A4A"/>
                </a:solidFill>
                <a:latin typeface="Montserrat" pitchFamily="34" charset="0"/>
              </a:rPr>
              <a:t>на базе </a:t>
            </a:r>
            <a:r>
              <a:rPr lang="en-US" sz="1000" dirty="0">
                <a:solidFill>
                  <a:srgbClr val="4A4A4A"/>
                </a:solidFill>
                <a:latin typeface="Montserrat" pitchFamily="34" charset="0"/>
              </a:rPr>
              <a:t>RTX PRO 5000 + </a:t>
            </a:r>
            <a:r>
              <a:rPr lang="ru-RU" sz="1000" dirty="0">
                <a:solidFill>
                  <a:srgbClr val="4A4A4A"/>
                </a:solidFill>
                <a:latin typeface="Montserrat" pitchFamily="34" charset="0"/>
              </a:rPr>
              <a:t>моделей </a:t>
            </a:r>
            <a:r>
              <a:rPr lang="en-US" sz="1000" dirty="0">
                <a:solidFill>
                  <a:srgbClr val="4A4A4A"/>
                </a:solidFill>
                <a:latin typeface="Montserrat" pitchFamily="34" charset="0"/>
              </a:rPr>
              <a:t>Qwen</a:t>
            </a:r>
          </a:p>
          <a:p>
            <a:pPr marL="171450" indent="-171450">
              <a:lnSpc>
                <a:spcPct val="130000"/>
              </a:lnSpc>
              <a:spcAft>
                <a:spcPts val="8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A4A4A"/>
                </a:solidFill>
                <a:latin typeface="Montserrat" pitchFamily="34" charset="0"/>
              </a:rPr>
              <a:t>Данные не </a:t>
            </a:r>
            <a:r>
              <a:rPr lang="en-US" sz="1000" dirty="0" err="1">
                <a:solidFill>
                  <a:srgbClr val="4A4A4A"/>
                </a:solidFill>
                <a:latin typeface="Montserrat" pitchFamily="34" charset="0"/>
              </a:rPr>
              <a:t>покидают</a:t>
            </a:r>
            <a:r>
              <a:rPr lang="en-US" sz="1000" dirty="0">
                <a:solidFill>
                  <a:srgbClr val="4A4A4A"/>
                </a:solidFill>
                <a:latin typeface="Montserrat" pitchFamily="34" charset="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Montserrat" pitchFamily="34" charset="0"/>
              </a:rPr>
              <a:t>периметр</a:t>
            </a:r>
            <a:endParaRPr lang="en-US" sz="1000" dirty="0">
              <a:solidFill>
                <a:srgbClr val="4A4A4A"/>
              </a:solidFill>
              <a:latin typeface="Montserrat" pitchFamily="34" charset="0"/>
            </a:endParaRPr>
          </a:p>
          <a:p>
            <a:pPr marL="171450" indent="-171450">
              <a:lnSpc>
                <a:spcPct val="130000"/>
              </a:lnSpc>
              <a:spcAft>
                <a:spcPts val="8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4A4A4A"/>
                </a:solidFill>
                <a:latin typeface="Montserrat" pitchFamily="34" charset="0"/>
              </a:rPr>
              <a:t>Соответствие</a:t>
            </a:r>
            <a:r>
              <a:rPr lang="en-US" sz="1000" dirty="0">
                <a:solidFill>
                  <a:srgbClr val="4A4A4A"/>
                </a:solidFill>
                <a:latin typeface="Montserrat" pitchFamily="34" charset="0"/>
              </a:rPr>
              <a:t> </a:t>
            </a:r>
            <a:r>
              <a:rPr lang="en-US" sz="1000" b="1" dirty="0">
                <a:solidFill>
                  <a:srgbClr val="4A4A4A"/>
                </a:solidFill>
                <a:latin typeface="Montserrat" pitchFamily="34" charset="0"/>
              </a:rPr>
              <a:t>152-ФЗ</a:t>
            </a:r>
          </a:p>
          <a:p>
            <a:pPr marL="171450" indent="-171450">
              <a:lnSpc>
                <a:spcPct val="130000"/>
              </a:lnSpc>
              <a:spcAft>
                <a:spcPts val="8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A4A4A"/>
                </a:solidFill>
                <a:latin typeface="Montserrat" pitchFamily="34" charset="0"/>
              </a:rPr>
              <a:t>Контроль моделей на </a:t>
            </a:r>
            <a:r>
              <a:rPr lang="en-US" sz="1000" dirty="0" err="1">
                <a:solidFill>
                  <a:srgbClr val="4A4A4A"/>
                </a:solidFill>
                <a:latin typeface="Montserrat" pitchFamily="34" charset="0"/>
              </a:rPr>
              <a:t>стороне</a:t>
            </a:r>
            <a:r>
              <a:rPr lang="en-US" sz="1000" dirty="0">
                <a:solidFill>
                  <a:srgbClr val="4A4A4A"/>
                </a:solidFill>
                <a:latin typeface="Montserrat" pitchFamily="34" charset="0"/>
              </a:rPr>
              <a:t> </a:t>
            </a:r>
            <a:r>
              <a:rPr lang="ru-RU" sz="1000" dirty="0">
                <a:solidFill>
                  <a:srgbClr val="4A4A4A"/>
                </a:solidFill>
                <a:latin typeface="Montserrat" pitchFamily="34" charset="0"/>
              </a:rPr>
              <a:t>заказчика</a:t>
            </a:r>
            <a:endParaRPr lang="en-US" sz="1000" dirty="0">
              <a:solidFill>
                <a:srgbClr val="4A4A4A"/>
              </a:solidFill>
              <a:latin typeface="Montserrat" pitchFamily="34" charset="0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EA686685-8C93-1500-C258-7268E37F8C55}"/>
              </a:ext>
            </a:extLst>
          </p:cNvPr>
          <p:cNvSpPr/>
          <p:nvPr/>
        </p:nvSpPr>
        <p:spPr>
          <a:xfrm>
            <a:off x="6236208" y="1543050"/>
            <a:ext cx="24018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0000"/>
              </a:lnSpc>
              <a:spcAft>
                <a:spcPts val="8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rgbClr val="4A4A4A"/>
                </a:solidFill>
                <a:latin typeface="Montserrat" pitchFamily="34" charset="0"/>
              </a:rPr>
              <a:t>Мы </a:t>
            </a:r>
            <a:r>
              <a:rPr lang="ru-RU" sz="1000" b="1" dirty="0">
                <a:solidFill>
                  <a:srgbClr val="4A4A4A"/>
                </a:solidFill>
                <a:latin typeface="Montserrat" pitchFamily="34" charset="0"/>
              </a:rPr>
              <a:t>сами используем </a:t>
            </a:r>
            <a:r>
              <a:rPr lang="en-US" sz="1000" b="1" dirty="0">
                <a:solidFill>
                  <a:srgbClr val="4A4A4A"/>
                </a:solidFill>
                <a:latin typeface="Montserrat" pitchFamily="34" charset="0"/>
              </a:rPr>
              <a:t>ИИ </a:t>
            </a:r>
            <a:r>
              <a:rPr lang="en-US" sz="1000" b="1" dirty="0" err="1">
                <a:solidFill>
                  <a:srgbClr val="4A4A4A"/>
                </a:solidFill>
                <a:latin typeface="Montserrat" pitchFamily="34" charset="0"/>
              </a:rPr>
              <a:t>в</a:t>
            </a:r>
            <a:r>
              <a:rPr lang="en-US" sz="1000" b="1" dirty="0">
                <a:solidFill>
                  <a:srgbClr val="4A4A4A"/>
                </a:solidFill>
                <a:latin typeface="Montserrat" pitchFamily="34" charset="0"/>
              </a:rPr>
              <a:t> </a:t>
            </a:r>
            <a:r>
              <a:rPr lang="en-US" sz="1000" b="1" dirty="0" err="1">
                <a:solidFill>
                  <a:srgbClr val="4A4A4A"/>
                </a:solidFill>
                <a:latin typeface="Montserrat" pitchFamily="34" charset="0"/>
              </a:rPr>
              <a:t>каждой</a:t>
            </a:r>
            <a:r>
              <a:rPr lang="en-US" sz="1000" b="1" dirty="0">
                <a:solidFill>
                  <a:srgbClr val="4A4A4A"/>
                </a:solidFill>
                <a:latin typeface="Montserrat" pitchFamily="34" charset="0"/>
              </a:rPr>
              <a:t> </a:t>
            </a:r>
            <a:r>
              <a:rPr lang="en-US" sz="1000" b="1" dirty="0" err="1">
                <a:solidFill>
                  <a:srgbClr val="4A4A4A"/>
                </a:solidFill>
                <a:latin typeface="Montserrat" pitchFamily="34" charset="0"/>
              </a:rPr>
              <a:t>функции</a:t>
            </a:r>
            <a:r>
              <a:rPr lang="en-US" sz="1000" dirty="0">
                <a:solidFill>
                  <a:srgbClr val="4A4A4A"/>
                </a:solidFill>
                <a:latin typeface="Montserrat" pitchFamily="34" charset="0"/>
              </a:rPr>
              <a:t>: </a:t>
            </a:r>
            <a:r>
              <a:rPr lang="en-US" sz="1000" dirty="0" err="1">
                <a:solidFill>
                  <a:srgbClr val="4A4A4A"/>
                </a:solidFill>
                <a:latin typeface="Montserrat" pitchFamily="34" charset="0"/>
              </a:rPr>
              <a:t>от</a:t>
            </a:r>
            <a:r>
              <a:rPr lang="en-US" sz="1000" dirty="0">
                <a:solidFill>
                  <a:srgbClr val="4A4A4A"/>
                </a:solidFill>
                <a:latin typeface="Montserrat" pitchFamily="34" charset="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Montserrat" pitchFamily="34" charset="0"/>
              </a:rPr>
              <a:t>исследования</a:t>
            </a:r>
            <a:r>
              <a:rPr lang="en-US" sz="1000" dirty="0">
                <a:solidFill>
                  <a:srgbClr val="4A4A4A"/>
                </a:solidFill>
                <a:latin typeface="Montserrat" pitchFamily="34" charset="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Montserrat" pitchFamily="34" charset="0"/>
              </a:rPr>
              <a:t>до</a:t>
            </a:r>
            <a:r>
              <a:rPr lang="en-US" sz="1000" dirty="0">
                <a:solidFill>
                  <a:srgbClr val="4A4A4A"/>
                </a:solidFill>
                <a:latin typeface="Montserrat" pitchFamily="34" charset="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Montserrat" pitchFamily="34" charset="0"/>
              </a:rPr>
              <a:t>найма</a:t>
            </a:r>
            <a:endParaRPr lang="en-US" sz="1000" dirty="0">
              <a:solidFill>
                <a:srgbClr val="4A4A4A"/>
              </a:solidFill>
              <a:latin typeface="Montserrat" pitchFamily="34" charset="0"/>
            </a:endParaRPr>
          </a:p>
          <a:p>
            <a:pPr marL="171450" indent="-171450">
              <a:lnSpc>
                <a:spcPct val="130000"/>
              </a:lnSpc>
              <a:spcAft>
                <a:spcPts val="8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rgbClr val="4A4A4A"/>
                </a:solidFill>
                <a:latin typeface="Montserrat" pitchFamily="34" charset="0"/>
              </a:rPr>
              <a:t>Наши внутренние инструменты: </a:t>
            </a:r>
            <a:r>
              <a:rPr lang="en-US" sz="1000" dirty="0">
                <a:solidFill>
                  <a:srgbClr val="4A4A4A"/>
                </a:solidFill>
                <a:latin typeface="Montserrat" pitchFamily="34" charset="0"/>
              </a:rPr>
              <a:t>Claude, Codex, Cursor, OpenAI, n8n</a:t>
            </a:r>
            <a:r>
              <a:rPr lang="ru-RU" sz="1000" dirty="0">
                <a:solidFill>
                  <a:srgbClr val="4A4A4A"/>
                </a:solidFill>
                <a:latin typeface="Montserrat" pitchFamily="34" charset="0"/>
              </a:rPr>
              <a:t> и др.</a:t>
            </a:r>
            <a:endParaRPr lang="en-US" sz="1000" dirty="0">
              <a:solidFill>
                <a:srgbClr val="4A4A4A"/>
              </a:solidFill>
              <a:latin typeface="Montserrat" pitchFamily="34" charset="0"/>
            </a:endParaRPr>
          </a:p>
          <a:p>
            <a:pPr marL="171450" indent="-171450">
              <a:lnSpc>
                <a:spcPct val="130000"/>
              </a:lnSpc>
              <a:spcAft>
                <a:spcPts val="8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4A4A4A"/>
                </a:solidFill>
                <a:latin typeface="Montserrat" pitchFamily="34" charset="0"/>
              </a:rPr>
              <a:t>Передаём</a:t>
            </a:r>
            <a:r>
              <a:rPr lang="en-US" sz="1000" dirty="0">
                <a:solidFill>
                  <a:srgbClr val="4A4A4A"/>
                </a:solidFill>
                <a:latin typeface="Montserrat" pitchFamily="34" charset="0"/>
              </a:rPr>
              <a:t> собственный </a:t>
            </a:r>
            <a:r>
              <a:rPr lang="en-US" sz="1000" dirty="0" err="1">
                <a:solidFill>
                  <a:srgbClr val="4A4A4A"/>
                </a:solidFill>
                <a:latin typeface="Montserrat" pitchFamily="34" charset="0"/>
              </a:rPr>
              <a:t>опыт</a:t>
            </a:r>
            <a:r>
              <a:rPr lang="en-US" sz="1000" dirty="0">
                <a:solidFill>
                  <a:srgbClr val="4A4A4A"/>
                </a:solidFill>
                <a:latin typeface="Montserrat" pitchFamily="34" charset="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Montserrat" pitchFamily="34" charset="0"/>
              </a:rPr>
              <a:t>трансформации</a:t>
            </a:r>
            <a:endParaRPr lang="en-US" sz="1000" dirty="0">
              <a:solidFill>
                <a:srgbClr val="4A4A4A"/>
              </a:solidFill>
              <a:latin typeface="Montserrat" pitchFamily="34" charset="0"/>
            </a:endParaRPr>
          </a:p>
        </p:txBody>
      </p:sp>
      <p:sp>
        <p:nvSpPr>
          <p:cNvPr id="25" name="Google Shape;86;g3c3fe6efce6_0_1108">
            <a:extLst>
              <a:ext uri="{FF2B5EF4-FFF2-40B4-BE49-F238E27FC236}">
                <a16:creationId xmlns:a16="http://schemas.microsoft.com/office/drawing/2014/main" id="{762095F9-EECA-42F0-8642-A4FBF2DB2718}"/>
              </a:ext>
            </a:extLst>
          </p:cNvPr>
          <p:cNvSpPr txBox="1"/>
          <p:nvPr/>
        </p:nvSpPr>
        <p:spPr>
          <a:xfrm>
            <a:off x="457200" y="204952"/>
            <a:ext cx="4373400" cy="198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700" b="1" i="0" u="none" strike="noStrike" cap="none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Наши преимущества</a:t>
            </a:r>
            <a:endParaRPr sz="700" b="1" i="0" u="none" strike="noStrike" cap="none" dirty="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133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0000"/>
                </a:solidFill>
                <a:latin typeface="Montserrat" pitchFamily="34" charset="0"/>
              </a:rPr>
              <a:t>Портфель решений: 10 </a:t>
            </a:r>
            <a:r>
              <a:rPr lang="en-US" sz="2000" b="1" dirty="0" err="1">
                <a:solidFill>
                  <a:srgbClr val="000000"/>
                </a:solidFill>
                <a:latin typeface="Montserrat" pitchFamily="34" charset="0"/>
              </a:rPr>
              <a:t>отраслей</a:t>
            </a:r>
            <a:endParaRPr lang="en-US" sz="2000" b="1" dirty="0">
              <a:solidFill>
                <a:srgbClr val="000000"/>
              </a:solidFill>
              <a:latin typeface="Montserrat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07668"/>
            <a:ext cx="411480" cy="36576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548640" y="100766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88720" y="10041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Финансы и банки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12454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лидов, оценка рисков, онбординг МСБ, кредитная аналитика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1675180"/>
            <a:ext cx="3931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548640" y="1812340"/>
            <a:ext cx="411480" cy="365760"/>
          </a:xfrm>
          <a:prstGeom prst="rect">
            <a:avLst/>
          </a:prstGeom>
          <a:solidFill>
            <a:srgbClr val="E306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548640" y="1812340"/>
            <a:ext cx="411480" cy="36576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188720" y="18088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Отели и рестораны (</a:t>
            </a:r>
            <a:r>
              <a:rPr lang="en-US" sz="1200" b="1" dirty="0" err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HoReCa</a:t>
            </a:r>
            <a:r>
              <a:rPr lang="ru-RU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88720" y="2050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Репутация 360°, ИИ-консьерж, анализ промо-акций, советник по коммуникациям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48640" y="2479852"/>
            <a:ext cx="3931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4"/>
          <p:cNvSpPr/>
          <p:nvPr/>
        </p:nvSpPr>
        <p:spPr>
          <a:xfrm>
            <a:off x="548640" y="2617012"/>
            <a:ext cx="411480" cy="36576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5"/>
          <p:cNvSpPr/>
          <p:nvPr/>
        </p:nvSpPr>
        <p:spPr>
          <a:xfrm>
            <a:off x="548640" y="26170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88720" y="26134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Строительство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188720" y="2854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стройкой, нормативная документация, платформа для УК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48640" y="3284524"/>
            <a:ext cx="3931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0"/>
          <p:cNvSpPr/>
          <p:nvPr/>
        </p:nvSpPr>
        <p:spPr>
          <a:xfrm>
            <a:off x="548640" y="3421684"/>
            <a:ext cx="411480" cy="36576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1"/>
          <p:cNvSpPr/>
          <p:nvPr/>
        </p:nvSpPr>
        <p:spPr>
          <a:xfrm>
            <a:off x="548640" y="342168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188720" y="3418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Ритейл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188720" y="36595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 филиалов, управление оттоком, упущенный спрос, мониторинг отзывов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548640" y="4089196"/>
            <a:ext cx="3931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26"/>
          <p:cNvSpPr/>
          <p:nvPr/>
        </p:nvSpPr>
        <p:spPr>
          <a:xfrm>
            <a:off x="548640" y="4226356"/>
            <a:ext cx="411480" cy="365760"/>
          </a:xfrm>
          <a:prstGeom prst="rect">
            <a:avLst/>
          </a:prstGeom>
          <a:solidFill>
            <a:srgbClr val="E306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7"/>
          <p:cNvSpPr/>
          <p:nvPr/>
        </p:nvSpPr>
        <p:spPr>
          <a:xfrm>
            <a:off x="548640" y="4226356"/>
            <a:ext cx="411480" cy="36576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1188720" y="4222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Нефтегаз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1188720" y="44641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Отчётность по выбросам, антикризисная платформа, мониторинг цен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4709160" y="1007668"/>
            <a:ext cx="411480" cy="365760"/>
          </a:xfrm>
          <a:prstGeom prst="rect">
            <a:avLst/>
          </a:prstGeom>
          <a:solidFill>
            <a:srgbClr val="E306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2"/>
          <p:cNvSpPr/>
          <p:nvPr/>
        </p:nvSpPr>
        <p:spPr>
          <a:xfrm>
            <a:off x="4709160" y="1007668"/>
            <a:ext cx="411480" cy="36576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5349240" y="10041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Транспорт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5349240" y="12454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ресурсами, автоизмерение грузов, поддержка водителей</a:t>
            </a:r>
            <a:endParaRPr lang="en-US" sz="800" dirty="0"/>
          </a:p>
        </p:txBody>
      </p:sp>
      <p:sp>
        <p:nvSpPr>
          <p:cNvPr id="44" name="Shape 36"/>
          <p:cNvSpPr/>
          <p:nvPr/>
        </p:nvSpPr>
        <p:spPr>
          <a:xfrm>
            <a:off x="4709160" y="1675180"/>
            <a:ext cx="3931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Shape 37"/>
          <p:cNvSpPr/>
          <p:nvPr/>
        </p:nvSpPr>
        <p:spPr>
          <a:xfrm>
            <a:off x="4709160" y="1812340"/>
            <a:ext cx="411480" cy="36576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6" name="Text 38"/>
          <p:cNvSpPr/>
          <p:nvPr/>
        </p:nvSpPr>
        <p:spPr>
          <a:xfrm>
            <a:off x="4709160" y="18123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100" dirty="0"/>
          </a:p>
        </p:txBody>
      </p:sp>
      <p:sp>
        <p:nvSpPr>
          <p:cNvPr id="49" name="Text 40"/>
          <p:cNvSpPr/>
          <p:nvPr/>
        </p:nvSpPr>
        <p:spPr>
          <a:xfrm>
            <a:off x="5349240" y="18088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Металлургия</a:t>
            </a:r>
            <a:endParaRPr lang="en-US" sz="1200" dirty="0"/>
          </a:p>
        </p:txBody>
      </p:sp>
      <p:sp>
        <p:nvSpPr>
          <p:cNvPr id="50" name="Text 41"/>
          <p:cNvSpPr/>
          <p:nvPr/>
        </p:nvSpPr>
        <p:spPr>
          <a:xfrm>
            <a:off x="5349240" y="2050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контрагентов, удержание, советник по коммуникациям</a:t>
            </a:r>
            <a:endParaRPr lang="en-US" sz="800" dirty="0"/>
          </a:p>
        </p:txBody>
      </p:sp>
      <p:sp>
        <p:nvSpPr>
          <p:cNvPr id="51" name="Shape 42"/>
          <p:cNvSpPr/>
          <p:nvPr/>
        </p:nvSpPr>
        <p:spPr>
          <a:xfrm>
            <a:off x="4709160" y="2479852"/>
            <a:ext cx="3931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Shape 43"/>
          <p:cNvSpPr/>
          <p:nvPr/>
        </p:nvSpPr>
        <p:spPr>
          <a:xfrm>
            <a:off x="4709160" y="2617012"/>
            <a:ext cx="411480" cy="36576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3" name="Text 44"/>
          <p:cNvSpPr/>
          <p:nvPr/>
        </p:nvSpPr>
        <p:spPr>
          <a:xfrm>
            <a:off x="4709160" y="26170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100" dirty="0"/>
          </a:p>
        </p:txBody>
      </p:sp>
      <p:sp>
        <p:nvSpPr>
          <p:cNvPr id="56" name="Text 46"/>
          <p:cNvSpPr/>
          <p:nvPr/>
        </p:nvSpPr>
        <p:spPr>
          <a:xfrm>
            <a:off x="5349240" y="26134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Маркетплейсы</a:t>
            </a:r>
            <a:endParaRPr lang="en-US" sz="1200" dirty="0"/>
          </a:p>
        </p:txBody>
      </p:sp>
      <p:sp>
        <p:nvSpPr>
          <p:cNvPr id="57" name="Text 47"/>
          <p:cNvSpPr/>
          <p:nvPr/>
        </p:nvSpPr>
        <p:spPr>
          <a:xfrm>
            <a:off x="5349240" y="2854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 наценки, адаптация к акциям, ассистент закупщика</a:t>
            </a:r>
            <a:endParaRPr lang="en-US" sz="800" dirty="0"/>
          </a:p>
        </p:txBody>
      </p:sp>
      <p:sp>
        <p:nvSpPr>
          <p:cNvPr id="58" name="Shape 48"/>
          <p:cNvSpPr/>
          <p:nvPr/>
        </p:nvSpPr>
        <p:spPr>
          <a:xfrm>
            <a:off x="4709160" y="3284524"/>
            <a:ext cx="3931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9" name="Shape 49"/>
          <p:cNvSpPr/>
          <p:nvPr/>
        </p:nvSpPr>
        <p:spPr>
          <a:xfrm>
            <a:off x="4709160" y="3421684"/>
            <a:ext cx="411480" cy="36576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0" name="Text 50"/>
          <p:cNvSpPr/>
          <p:nvPr/>
        </p:nvSpPr>
        <p:spPr>
          <a:xfrm>
            <a:off x="4709160" y="342168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100" dirty="0"/>
          </a:p>
        </p:txBody>
      </p:sp>
      <p:sp>
        <p:nvSpPr>
          <p:cNvPr id="63" name="Text 52"/>
          <p:cNvSpPr/>
          <p:nvPr/>
        </p:nvSpPr>
        <p:spPr>
          <a:xfrm>
            <a:off x="5349240" y="3418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Закупки</a:t>
            </a:r>
            <a:endParaRPr lang="en-US" sz="1200" dirty="0"/>
          </a:p>
        </p:txBody>
      </p:sp>
      <p:sp>
        <p:nvSpPr>
          <p:cNvPr id="64" name="Text 53"/>
          <p:cNvSpPr/>
          <p:nvPr/>
        </p:nvSpPr>
        <p:spPr>
          <a:xfrm>
            <a:off x="5349240" y="36595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Поиск тендеров, автосборка заявок, скоринг контрагентов</a:t>
            </a:r>
            <a:endParaRPr lang="en-US" sz="800" dirty="0"/>
          </a:p>
        </p:txBody>
      </p:sp>
      <p:sp>
        <p:nvSpPr>
          <p:cNvPr id="65" name="Shape 54"/>
          <p:cNvSpPr/>
          <p:nvPr/>
        </p:nvSpPr>
        <p:spPr>
          <a:xfrm>
            <a:off x="4709160" y="4089196"/>
            <a:ext cx="39319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6" name="Shape 55"/>
          <p:cNvSpPr/>
          <p:nvPr/>
        </p:nvSpPr>
        <p:spPr>
          <a:xfrm>
            <a:off x="4709160" y="4226356"/>
            <a:ext cx="411480" cy="36576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7" name="Text 56"/>
          <p:cNvSpPr/>
          <p:nvPr/>
        </p:nvSpPr>
        <p:spPr>
          <a:xfrm>
            <a:off x="4709160" y="42263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100" dirty="0"/>
          </a:p>
        </p:txBody>
      </p:sp>
      <p:sp>
        <p:nvSpPr>
          <p:cNvPr id="70" name="Text 58"/>
          <p:cNvSpPr/>
          <p:nvPr/>
        </p:nvSpPr>
        <p:spPr>
          <a:xfrm>
            <a:off x="5349240" y="4222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Образование</a:t>
            </a:r>
            <a:endParaRPr lang="en-US" sz="1200" dirty="0"/>
          </a:p>
        </p:txBody>
      </p:sp>
      <p:sp>
        <p:nvSpPr>
          <p:cNvPr id="71" name="Text 59"/>
          <p:cNvSpPr/>
          <p:nvPr/>
        </p:nvSpPr>
        <p:spPr>
          <a:xfrm>
            <a:off x="5349240" y="44641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Генерация документов, скоринг выпускников, прогноз оттока</a:t>
            </a:r>
            <a:endParaRPr lang="en-US" sz="800" dirty="0"/>
          </a:p>
        </p:txBody>
      </p:sp>
      <p:sp>
        <p:nvSpPr>
          <p:cNvPr id="72" name="Shape 60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4" name="Shape 0">
            <a:extLst>
              <a:ext uri="{FF2B5EF4-FFF2-40B4-BE49-F238E27FC236}">
                <a16:creationId xmlns:a16="http://schemas.microsoft.com/office/drawing/2014/main" id="{2782D567-9C28-8966-525D-1261802CC768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5" name="Text 2">
            <a:extLst>
              <a:ext uri="{FF2B5EF4-FFF2-40B4-BE49-F238E27FC236}">
                <a16:creationId xmlns:a16="http://schemas.microsoft.com/office/drawing/2014/main" id="{B3684817-82F6-5440-69AA-A1ED5480ACDF}"/>
              </a:ext>
            </a:extLst>
          </p:cNvPr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76" name="Google Shape;86;g3c3fe6efce6_0_1108">
            <a:extLst>
              <a:ext uri="{FF2B5EF4-FFF2-40B4-BE49-F238E27FC236}">
                <a16:creationId xmlns:a16="http://schemas.microsoft.com/office/drawing/2014/main" id="{9611F541-0DEA-60B2-C790-6E197957D0B8}"/>
              </a:ext>
            </a:extLst>
          </p:cNvPr>
          <p:cNvSpPr txBox="1"/>
          <p:nvPr/>
        </p:nvSpPr>
        <p:spPr>
          <a:xfrm>
            <a:off x="548640" y="321034"/>
            <a:ext cx="4373400" cy="198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700" b="1" i="0" u="none" strike="noStrike" cap="none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Более 34 пилотных проектов</a:t>
            </a:r>
            <a:endParaRPr sz="700" b="1" i="0" u="none" strike="noStrike" cap="none" dirty="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3159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000" b="1" dirty="0">
                <a:solidFill>
                  <a:srgbClr val="000000"/>
                </a:solidFill>
                <a:latin typeface="Montserrat" pitchFamily="34" charset="0"/>
              </a:rPr>
              <a:t>Семь </a:t>
            </a:r>
            <a:r>
              <a:rPr lang="en-US" sz="2000" b="1" dirty="0" err="1">
                <a:solidFill>
                  <a:srgbClr val="000000"/>
                </a:solidFill>
                <a:latin typeface="Montserrat" pitchFamily="34" charset="0"/>
              </a:rPr>
              <a:t>шагов</a:t>
            </a:r>
            <a:r>
              <a:rPr lang="en-US" sz="2000" b="1" dirty="0">
                <a:solidFill>
                  <a:srgbClr val="000000"/>
                </a:solidFill>
                <a:latin typeface="Montserrat" pitchFamily="34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ontserrat" pitchFamily="34" charset="0"/>
              </a:rPr>
              <a:t>внедрения</a:t>
            </a:r>
            <a:r>
              <a:rPr lang="en-US" sz="2000" b="1" dirty="0">
                <a:solidFill>
                  <a:srgbClr val="000000"/>
                </a:solidFill>
                <a:latin typeface="Montserrat" pitchFamily="34" charset="0"/>
              </a:rPr>
              <a:t> ИИ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920240" cy="1828800"/>
          </a:xfrm>
          <a:prstGeom prst="rect">
            <a:avLst/>
          </a:prstGeom>
          <a:solidFill>
            <a:srgbClr val="FAFA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Исследование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828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ru-RU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Мы анализируем ваш бизнес, строим </a:t>
            </a:r>
            <a:r>
              <a:rPr lang="en-US" sz="800" dirty="0" err="1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карт</a:t>
            </a:r>
            <a:r>
              <a:rPr lang="ru-RU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</a:t>
            </a:r>
            <a:r>
              <a:rPr lang="en-US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00" dirty="0" err="1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процессов</a:t>
            </a:r>
            <a:r>
              <a:rPr lang="ru-RU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ищем</a:t>
            </a:r>
            <a:r>
              <a:rPr lang="en-US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зоны наибольшего эффекта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85800" y="2423160"/>
            <a:ext cx="1645920" cy="2011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685800" y="2423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3–5 дней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2487168" y="15544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30613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651760" y="914400"/>
            <a:ext cx="1920240" cy="1828800"/>
          </a:xfrm>
          <a:prstGeom prst="rect">
            <a:avLst/>
          </a:prstGeom>
          <a:solidFill>
            <a:srgbClr val="FAFA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278892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788920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Замер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78892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ru-RU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Замеряем текущий процесс, проводим интервью, смотрим аналитику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2788920" y="2423160"/>
            <a:ext cx="1645920" cy="2011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6"/>
          <p:cNvSpPr/>
          <p:nvPr/>
        </p:nvSpPr>
        <p:spPr>
          <a:xfrm>
            <a:off x="2788920" y="2423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3–5 дней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1" name="Text 17"/>
          <p:cNvSpPr/>
          <p:nvPr/>
        </p:nvSpPr>
        <p:spPr>
          <a:xfrm>
            <a:off x="4590288" y="15544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30613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754880" y="914400"/>
            <a:ext cx="1920240" cy="1828800"/>
          </a:xfrm>
          <a:prstGeom prst="rect">
            <a:avLst/>
          </a:prstGeom>
          <a:solidFill>
            <a:srgbClr val="FAFA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Text 20"/>
          <p:cNvSpPr/>
          <p:nvPr/>
        </p:nvSpPr>
        <p:spPr>
          <a:xfrm>
            <a:off x="489204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892040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</a:t>
            </a:r>
            <a:r>
              <a:rPr lang="ru-RU" sz="1300" b="1" dirty="0" err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тирование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89204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Архитектура решения, выбор моделей и стека, расчёт эффекта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892040" y="2423160"/>
            <a:ext cx="1645920" cy="2011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4"/>
          <p:cNvSpPr/>
          <p:nvPr/>
        </p:nvSpPr>
        <p:spPr>
          <a:xfrm>
            <a:off x="4892040" y="2423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3-5 дней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30" name="Text 25"/>
          <p:cNvSpPr/>
          <p:nvPr/>
        </p:nvSpPr>
        <p:spPr>
          <a:xfrm>
            <a:off x="6693408" y="15544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30613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6858000" y="914400"/>
            <a:ext cx="1920240" cy="1828800"/>
          </a:xfrm>
          <a:prstGeom prst="rect">
            <a:avLst/>
          </a:prstGeom>
          <a:solidFill>
            <a:srgbClr val="FAFA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5" name="Text 29"/>
          <p:cNvSpPr/>
          <p:nvPr/>
        </p:nvSpPr>
        <p:spPr>
          <a:xfrm>
            <a:off x="6995160" y="1554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699516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Запуск на </a:t>
            </a:r>
            <a:r>
              <a:rPr lang="en-US" sz="800" dirty="0" err="1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реальных</a:t>
            </a:r>
            <a:r>
              <a:rPr lang="en-US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00" dirty="0" err="1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данных</a:t>
            </a:r>
            <a:r>
              <a:rPr lang="en-US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00" dirty="0" err="1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работающ</a:t>
            </a:r>
            <a:r>
              <a:rPr lang="ru-RU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его</a:t>
            </a:r>
            <a:r>
              <a:rPr lang="en-US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00" dirty="0" err="1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прототип</a:t>
            </a:r>
            <a:r>
              <a:rPr lang="ru-RU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6995160" y="2423160"/>
            <a:ext cx="1645920" cy="2011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2"/>
          <p:cNvSpPr/>
          <p:nvPr/>
        </p:nvSpPr>
        <p:spPr>
          <a:xfrm>
            <a:off x="6995160" y="2423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2–4 недели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39" name="Shape 33"/>
          <p:cNvSpPr/>
          <p:nvPr/>
        </p:nvSpPr>
        <p:spPr>
          <a:xfrm>
            <a:off x="548640" y="2926080"/>
            <a:ext cx="2606040" cy="1828800"/>
          </a:xfrm>
          <a:prstGeom prst="rect">
            <a:avLst/>
          </a:prstGeom>
          <a:solidFill>
            <a:srgbClr val="FAFA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1" name="Text 35"/>
          <p:cNvSpPr/>
          <p:nvPr/>
        </p:nvSpPr>
        <p:spPr>
          <a:xfrm>
            <a:off x="6858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685800" y="35661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результатов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685800" y="3840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Повторный замер, сравнение «до/после», решение по масштабированию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685800" y="4434840"/>
            <a:ext cx="2331720" cy="2011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6" name="Text 39"/>
          <p:cNvSpPr/>
          <p:nvPr/>
        </p:nvSpPr>
        <p:spPr>
          <a:xfrm>
            <a:off x="685800" y="44348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3–5 дней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47" name="Text 40"/>
          <p:cNvSpPr/>
          <p:nvPr/>
        </p:nvSpPr>
        <p:spPr>
          <a:xfrm>
            <a:off x="3172968" y="35661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30613"/>
                </a:solidFill>
              </a:rPr>
              <a:t>→</a:t>
            </a:r>
            <a:endParaRPr lang="en-US" sz="1600" dirty="0"/>
          </a:p>
        </p:txBody>
      </p:sp>
      <p:sp>
        <p:nvSpPr>
          <p:cNvPr id="48" name="Shape 41"/>
          <p:cNvSpPr/>
          <p:nvPr/>
        </p:nvSpPr>
        <p:spPr>
          <a:xfrm>
            <a:off x="3337560" y="2926080"/>
            <a:ext cx="2606040" cy="1828800"/>
          </a:xfrm>
          <a:prstGeom prst="rect">
            <a:avLst/>
          </a:prstGeom>
          <a:solidFill>
            <a:srgbClr val="FAFA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0" name="Text 43"/>
          <p:cNvSpPr/>
          <p:nvPr/>
        </p:nvSpPr>
        <p:spPr>
          <a:xfrm>
            <a:off x="34747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52" name="Text 44"/>
          <p:cNvSpPr/>
          <p:nvPr/>
        </p:nvSpPr>
        <p:spPr>
          <a:xfrm>
            <a:off x="3474720" y="35661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Обучение и внедрение</a:t>
            </a:r>
            <a:endParaRPr lang="en-US" sz="1300" dirty="0"/>
          </a:p>
        </p:txBody>
      </p:sp>
      <p:sp>
        <p:nvSpPr>
          <p:cNvPr id="53" name="Text 45"/>
          <p:cNvSpPr/>
          <p:nvPr/>
        </p:nvSpPr>
        <p:spPr>
          <a:xfrm>
            <a:off x="3474720" y="3840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Обучение команды, документация, передача компетенций</a:t>
            </a:r>
            <a:endParaRPr lang="en-US" sz="800" dirty="0"/>
          </a:p>
        </p:txBody>
      </p:sp>
      <p:sp>
        <p:nvSpPr>
          <p:cNvPr id="54" name="Shape 46"/>
          <p:cNvSpPr/>
          <p:nvPr/>
        </p:nvSpPr>
        <p:spPr>
          <a:xfrm>
            <a:off x="3474720" y="4434840"/>
            <a:ext cx="2331720" cy="2011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5" name="Text 47"/>
          <p:cNvSpPr/>
          <p:nvPr/>
        </p:nvSpPr>
        <p:spPr>
          <a:xfrm>
            <a:off x="3474720" y="44348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2-3</a:t>
            </a:r>
            <a:r>
              <a:rPr 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00" b="1" dirty="0" err="1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недел</a:t>
            </a:r>
            <a:r>
              <a:rPr lang="ru-RU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56" name="Text 48"/>
          <p:cNvSpPr/>
          <p:nvPr/>
        </p:nvSpPr>
        <p:spPr>
          <a:xfrm>
            <a:off x="5961888" y="35661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30613"/>
                </a:solidFill>
              </a:rPr>
              <a:t>→</a:t>
            </a:r>
            <a:endParaRPr lang="en-US" sz="1600" dirty="0"/>
          </a:p>
        </p:txBody>
      </p:sp>
      <p:sp>
        <p:nvSpPr>
          <p:cNvPr id="57" name="Shape 49"/>
          <p:cNvSpPr/>
          <p:nvPr/>
        </p:nvSpPr>
        <p:spPr>
          <a:xfrm>
            <a:off x="6126480" y="2926080"/>
            <a:ext cx="2606040" cy="1828800"/>
          </a:xfrm>
          <a:prstGeom prst="rect">
            <a:avLst/>
          </a:prstGeom>
          <a:solidFill>
            <a:srgbClr val="FAFA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9" name="Text 51"/>
          <p:cNvSpPr/>
          <p:nvPr/>
        </p:nvSpPr>
        <p:spPr>
          <a:xfrm>
            <a:off x="62636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400" dirty="0"/>
          </a:p>
        </p:txBody>
      </p:sp>
      <p:sp>
        <p:nvSpPr>
          <p:cNvPr id="61" name="Text 52"/>
          <p:cNvSpPr/>
          <p:nvPr/>
        </p:nvSpPr>
        <p:spPr>
          <a:xfrm>
            <a:off x="6263640" y="35661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Цикл</a:t>
            </a:r>
            <a:r>
              <a:rPr lang="ru-RU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улучшений</a:t>
            </a:r>
            <a:endParaRPr lang="en-US" sz="1300" dirty="0"/>
          </a:p>
        </p:txBody>
      </p:sp>
      <p:sp>
        <p:nvSpPr>
          <p:cNvPr id="62" name="Text 53"/>
          <p:cNvSpPr/>
          <p:nvPr/>
        </p:nvSpPr>
        <p:spPr>
          <a:xfrm>
            <a:off x="6263640" y="3840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Масштабирование на новые </a:t>
            </a:r>
            <a:r>
              <a:rPr lang="en-US" sz="800" dirty="0" err="1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процессы</a:t>
            </a:r>
            <a:r>
              <a:rPr lang="en-US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</a:t>
            </a:r>
            <a:r>
              <a:rPr lang="ru-RU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цикл</a:t>
            </a:r>
            <a:r>
              <a:rPr lang="en-US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00" dirty="0" err="1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непрерывно</a:t>
            </a:r>
            <a:r>
              <a:rPr lang="ru-RU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</a:t>
            </a:r>
            <a:r>
              <a:rPr lang="en-US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00" dirty="0" err="1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улучшени</a:t>
            </a:r>
            <a:r>
              <a:rPr lang="ru-RU" sz="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 процесса</a:t>
            </a:r>
            <a:endParaRPr lang="en-US" sz="800" dirty="0"/>
          </a:p>
        </p:txBody>
      </p:sp>
      <p:sp>
        <p:nvSpPr>
          <p:cNvPr id="63" name="Shape 54"/>
          <p:cNvSpPr/>
          <p:nvPr/>
        </p:nvSpPr>
        <p:spPr>
          <a:xfrm>
            <a:off x="6263640" y="4434840"/>
            <a:ext cx="2331720" cy="20116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4" name="Text 55"/>
          <p:cNvSpPr/>
          <p:nvPr/>
        </p:nvSpPr>
        <p:spPr>
          <a:xfrm>
            <a:off x="6263640" y="44348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постоянно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65" name="Shape 56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7" name="Shape 0">
            <a:extLst>
              <a:ext uri="{FF2B5EF4-FFF2-40B4-BE49-F238E27FC236}">
                <a16:creationId xmlns:a16="http://schemas.microsoft.com/office/drawing/2014/main" id="{E28087C0-AF4B-95BA-0161-D1ACAC9A80B3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17625011-C215-9DF4-D158-B98B0F3E5140}"/>
              </a:ext>
            </a:extLst>
          </p:cNvPr>
          <p:cNvGrpSpPr/>
          <p:nvPr/>
        </p:nvGrpSpPr>
        <p:grpSpPr>
          <a:xfrm>
            <a:off x="685800" y="1038758"/>
            <a:ext cx="411480" cy="365760"/>
            <a:chOff x="548640" y="868680"/>
            <a:chExt cx="411480" cy="365760"/>
          </a:xfrm>
        </p:grpSpPr>
        <p:sp>
          <p:nvSpPr>
            <p:cNvPr id="69" name="Shape 2">
              <a:extLst>
                <a:ext uri="{FF2B5EF4-FFF2-40B4-BE49-F238E27FC236}">
                  <a16:creationId xmlns:a16="http://schemas.microsoft.com/office/drawing/2014/main" id="{6887A4E3-9CC3-B25A-1121-268BE76E2D4A}"/>
                </a:ext>
              </a:extLst>
            </p:cNvPr>
            <p:cNvSpPr/>
            <p:nvPr/>
          </p:nvSpPr>
          <p:spPr>
            <a:xfrm>
              <a:off x="548640" y="868680"/>
              <a:ext cx="411480" cy="365760"/>
            </a:xfrm>
            <a:prstGeom prst="rect">
              <a:avLst/>
            </a:prstGeom>
            <a:solidFill>
              <a:srgbClr val="FF0000"/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70" name="Text 3">
              <a:extLst>
                <a:ext uri="{FF2B5EF4-FFF2-40B4-BE49-F238E27FC236}">
                  <a16:creationId xmlns:a16="http://schemas.microsoft.com/office/drawing/2014/main" id="{0CC28152-B8C5-CA49-D5DD-1B5EA03714C8}"/>
                </a:ext>
              </a:extLst>
            </p:cNvPr>
            <p:cNvSpPr/>
            <p:nvPr/>
          </p:nvSpPr>
          <p:spPr>
            <a:xfrm>
              <a:off x="548640" y="868680"/>
              <a:ext cx="411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01</a:t>
              </a:r>
              <a:endParaRPr lang="en-US" sz="1100" dirty="0"/>
            </a:p>
          </p:txBody>
        </p: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B84E3E45-226B-F425-CE21-CC476588CB32}"/>
              </a:ext>
            </a:extLst>
          </p:cNvPr>
          <p:cNvGrpSpPr/>
          <p:nvPr/>
        </p:nvGrpSpPr>
        <p:grpSpPr>
          <a:xfrm>
            <a:off x="2761488" y="1038758"/>
            <a:ext cx="411480" cy="365760"/>
            <a:chOff x="548640" y="868680"/>
            <a:chExt cx="411480" cy="365760"/>
          </a:xfrm>
        </p:grpSpPr>
        <p:sp>
          <p:nvSpPr>
            <p:cNvPr id="73" name="Shape 2">
              <a:extLst>
                <a:ext uri="{FF2B5EF4-FFF2-40B4-BE49-F238E27FC236}">
                  <a16:creationId xmlns:a16="http://schemas.microsoft.com/office/drawing/2014/main" id="{25BA4F20-611D-6698-C858-560B9E156BD7}"/>
                </a:ext>
              </a:extLst>
            </p:cNvPr>
            <p:cNvSpPr/>
            <p:nvPr/>
          </p:nvSpPr>
          <p:spPr>
            <a:xfrm>
              <a:off x="548640" y="868680"/>
              <a:ext cx="411480" cy="365760"/>
            </a:xfrm>
            <a:prstGeom prst="rect">
              <a:avLst/>
            </a:prstGeom>
            <a:solidFill>
              <a:srgbClr val="FF0000"/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74" name="Text 3">
              <a:extLst>
                <a:ext uri="{FF2B5EF4-FFF2-40B4-BE49-F238E27FC236}">
                  <a16:creationId xmlns:a16="http://schemas.microsoft.com/office/drawing/2014/main" id="{25307109-D4B4-67C0-789E-B5BCBA965246}"/>
                </a:ext>
              </a:extLst>
            </p:cNvPr>
            <p:cNvSpPr/>
            <p:nvPr/>
          </p:nvSpPr>
          <p:spPr>
            <a:xfrm>
              <a:off x="548640" y="868680"/>
              <a:ext cx="411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</a:t>
              </a:r>
              <a:r>
                <a:rPr lang="ru-RU" sz="11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100" dirty="0"/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F0AF3FF1-E5DE-0FE3-359E-B811982B9D17}"/>
              </a:ext>
            </a:extLst>
          </p:cNvPr>
          <p:cNvGrpSpPr/>
          <p:nvPr/>
        </p:nvGrpSpPr>
        <p:grpSpPr>
          <a:xfrm>
            <a:off x="4859122" y="1038758"/>
            <a:ext cx="411480" cy="365760"/>
            <a:chOff x="548640" y="868680"/>
            <a:chExt cx="411480" cy="365760"/>
          </a:xfrm>
        </p:grpSpPr>
        <p:sp>
          <p:nvSpPr>
            <p:cNvPr id="76" name="Shape 2">
              <a:extLst>
                <a:ext uri="{FF2B5EF4-FFF2-40B4-BE49-F238E27FC236}">
                  <a16:creationId xmlns:a16="http://schemas.microsoft.com/office/drawing/2014/main" id="{C0499E32-A7C3-3123-63A3-A5BA449C8D40}"/>
                </a:ext>
              </a:extLst>
            </p:cNvPr>
            <p:cNvSpPr/>
            <p:nvPr/>
          </p:nvSpPr>
          <p:spPr>
            <a:xfrm>
              <a:off x="548640" y="868680"/>
              <a:ext cx="411480" cy="365760"/>
            </a:xfrm>
            <a:prstGeom prst="rect">
              <a:avLst/>
            </a:prstGeom>
            <a:solidFill>
              <a:srgbClr val="FF0000"/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77" name="Text 3">
              <a:extLst>
                <a:ext uri="{FF2B5EF4-FFF2-40B4-BE49-F238E27FC236}">
                  <a16:creationId xmlns:a16="http://schemas.microsoft.com/office/drawing/2014/main" id="{F77B61F6-46FE-4547-3C63-A1B2AC8645C9}"/>
                </a:ext>
              </a:extLst>
            </p:cNvPr>
            <p:cNvSpPr/>
            <p:nvPr/>
          </p:nvSpPr>
          <p:spPr>
            <a:xfrm>
              <a:off x="548640" y="868680"/>
              <a:ext cx="411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</a:t>
              </a:r>
              <a:r>
                <a:rPr lang="ru-RU" sz="11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100" dirty="0"/>
            </a:p>
          </p:txBody>
        </p:sp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729C43E2-D467-4990-32C8-C9E08723D727}"/>
              </a:ext>
            </a:extLst>
          </p:cNvPr>
          <p:cNvGrpSpPr/>
          <p:nvPr/>
        </p:nvGrpSpPr>
        <p:grpSpPr>
          <a:xfrm>
            <a:off x="6995160" y="1038758"/>
            <a:ext cx="411480" cy="365760"/>
            <a:chOff x="548640" y="868680"/>
            <a:chExt cx="411480" cy="365760"/>
          </a:xfrm>
        </p:grpSpPr>
        <p:sp>
          <p:nvSpPr>
            <p:cNvPr id="79" name="Shape 2">
              <a:extLst>
                <a:ext uri="{FF2B5EF4-FFF2-40B4-BE49-F238E27FC236}">
                  <a16:creationId xmlns:a16="http://schemas.microsoft.com/office/drawing/2014/main" id="{EA34E3EB-46F3-2E17-FDAD-7C224FDE40CF}"/>
                </a:ext>
              </a:extLst>
            </p:cNvPr>
            <p:cNvSpPr/>
            <p:nvPr/>
          </p:nvSpPr>
          <p:spPr>
            <a:xfrm>
              <a:off x="548640" y="868680"/>
              <a:ext cx="411480" cy="365760"/>
            </a:xfrm>
            <a:prstGeom prst="rect">
              <a:avLst/>
            </a:prstGeom>
            <a:solidFill>
              <a:srgbClr val="FF0000"/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80" name="Text 3">
              <a:extLst>
                <a:ext uri="{FF2B5EF4-FFF2-40B4-BE49-F238E27FC236}">
                  <a16:creationId xmlns:a16="http://schemas.microsoft.com/office/drawing/2014/main" id="{5D0A7407-A3D7-1270-78BC-8C5D59A1BDE9}"/>
                </a:ext>
              </a:extLst>
            </p:cNvPr>
            <p:cNvSpPr/>
            <p:nvPr/>
          </p:nvSpPr>
          <p:spPr>
            <a:xfrm>
              <a:off x="548640" y="868680"/>
              <a:ext cx="411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</a:t>
              </a:r>
              <a:r>
                <a:rPr lang="ru-RU" sz="11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100" dirty="0"/>
            </a:p>
          </p:txBody>
        </p:sp>
      </p:grpSp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3D995E95-D738-9818-68B1-A6E3A4A19D9E}"/>
              </a:ext>
            </a:extLst>
          </p:cNvPr>
          <p:cNvGrpSpPr/>
          <p:nvPr/>
        </p:nvGrpSpPr>
        <p:grpSpPr>
          <a:xfrm>
            <a:off x="667512" y="3037638"/>
            <a:ext cx="411480" cy="365760"/>
            <a:chOff x="548640" y="868680"/>
            <a:chExt cx="411480" cy="365760"/>
          </a:xfrm>
        </p:grpSpPr>
        <p:sp>
          <p:nvSpPr>
            <p:cNvPr id="82" name="Shape 2">
              <a:extLst>
                <a:ext uri="{FF2B5EF4-FFF2-40B4-BE49-F238E27FC236}">
                  <a16:creationId xmlns:a16="http://schemas.microsoft.com/office/drawing/2014/main" id="{18BAC72A-3BD2-E59B-E355-9B2E04724E05}"/>
                </a:ext>
              </a:extLst>
            </p:cNvPr>
            <p:cNvSpPr/>
            <p:nvPr/>
          </p:nvSpPr>
          <p:spPr>
            <a:xfrm>
              <a:off x="548640" y="868680"/>
              <a:ext cx="411480" cy="365760"/>
            </a:xfrm>
            <a:prstGeom prst="rect">
              <a:avLst/>
            </a:prstGeom>
            <a:solidFill>
              <a:srgbClr val="FF0000"/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83" name="Text 3">
              <a:extLst>
                <a:ext uri="{FF2B5EF4-FFF2-40B4-BE49-F238E27FC236}">
                  <a16:creationId xmlns:a16="http://schemas.microsoft.com/office/drawing/2014/main" id="{52862FF7-5F05-0E4D-A1DC-B627E2410E44}"/>
                </a:ext>
              </a:extLst>
            </p:cNvPr>
            <p:cNvSpPr/>
            <p:nvPr/>
          </p:nvSpPr>
          <p:spPr>
            <a:xfrm>
              <a:off x="548640" y="868680"/>
              <a:ext cx="411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</a:t>
              </a:r>
              <a:r>
                <a:rPr lang="ru-RU" sz="11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</a:t>
              </a:r>
              <a:endParaRPr lang="en-US" sz="1100" dirty="0"/>
            </a:p>
          </p:txBody>
        </p:sp>
      </p:grpSp>
      <p:grpSp>
        <p:nvGrpSpPr>
          <p:cNvPr id="84" name="Группа 83">
            <a:extLst>
              <a:ext uri="{FF2B5EF4-FFF2-40B4-BE49-F238E27FC236}">
                <a16:creationId xmlns:a16="http://schemas.microsoft.com/office/drawing/2014/main" id="{F0266909-757A-E239-104D-D0320F4CCAC7}"/>
              </a:ext>
            </a:extLst>
          </p:cNvPr>
          <p:cNvGrpSpPr/>
          <p:nvPr/>
        </p:nvGrpSpPr>
        <p:grpSpPr>
          <a:xfrm>
            <a:off x="3483864" y="3037638"/>
            <a:ext cx="411480" cy="365760"/>
            <a:chOff x="548640" y="868680"/>
            <a:chExt cx="411480" cy="365760"/>
          </a:xfrm>
        </p:grpSpPr>
        <p:sp>
          <p:nvSpPr>
            <p:cNvPr id="85" name="Shape 2">
              <a:extLst>
                <a:ext uri="{FF2B5EF4-FFF2-40B4-BE49-F238E27FC236}">
                  <a16:creationId xmlns:a16="http://schemas.microsoft.com/office/drawing/2014/main" id="{2E870ACF-51BC-07A3-EB7E-295CC029E8D3}"/>
                </a:ext>
              </a:extLst>
            </p:cNvPr>
            <p:cNvSpPr/>
            <p:nvPr/>
          </p:nvSpPr>
          <p:spPr>
            <a:xfrm>
              <a:off x="548640" y="868680"/>
              <a:ext cx="411480" cy="365760"/>
            </a:xfrm>
            <a:prstGeom prst="rect">
              <a:avLst/>
            </a:prstGeom>
            <a:solidFill>
              <a:srgbClr val="FF0000"/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86" name="Text 3">
              <a:extLst>
                <a:ext uri="{FF2B5EF4-FFF2-40B4-BE49-F238E27FC236}">
                  <a16:creationId xmlns:a16="http://schemas.microsoft.com/office/drawing/2014/main" id="{AC59F7CB-2FC0-38DD-6894-1368C12CEB46}"/>
                </a:ext>
              </a:extLst>
            </p:cNvPr>
            <p:cNvSpPr/>
            <p:nvPr/>
          </p:nvSpPr>
          <p:spPr>
            <a:xfrm>
              <a:off x="548640" y="868680"/>
              <a:ext cx="411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ru-RU" sz="11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06</a:t>
              </a:r>
              <a:endParaRPr lang="en-US" sz="1100" dirty="0"/>
            </a:p>
          </p:txBody>
        </p:sp>
      </p:grpSp>
      <p:grpSp>
        <p:nvGrpSpPr>
          <p:cNvPr id="87" name="Группа 86">
            <a:extLst>
              <a:ext uri="{FF2B5EF4-FFF2-40B4-BE49-F238E27FC236}">
                <a16:creationId xmlns:a16="http://schemas.microsoft.com/office/drawing/2014/main" id="{0FFBD02E-AEAE-3028-A91C-9EA4BA24B96D}"/>
              </a:ext>
            </a:extLst>
          </p:cNvPr>
          <p:cNvGrpSpPr/>
          <p:nvPr/>
        </p:nvGrpSpPr>
        <p:grpSpPr>
          <a:xfrm>
            <a:off x="6263640" y="3037638"/>
            <a:ext cx="411480" cy="365760"/>
            <a:chOff x="548640" y="868680"/>
            <a:chExt cx="411480" cy="365760"/>
          </a:xfrm>
        </p:grpSpPr>
        <p:sp>
          <p:nvSpPr>
            <p:cNvPr id="88" name="Shape 2">
              <a:extLst>
                <a:ext uri="{FF2B5EF4-FFF2-40B4-BE49-F238E27FC236}">
                  <a16:creationId xmlns:a16="http://schemas.microsoft.com/office/drawing/2014/main" id="{33656114-ADE0-FEC5-075E-D1258FFDBD58}"/>
                </a:ext>
              </a:extLst>
            </p:cNvPr>
            <p:cNvSpPr/>
            <p:nvPr/>
          </p:nvSpPr>
          <p:spPr>
            <a:xfrm>
              <a:off x="548640" y="868680"/>
              <a:ext cx="411480" cy="365760"/>
            </a:xfrm>
            <a:prstGeom prst="rect">
              <a:avLst/>
            </a:prstGeom>
            <a:solidFill>
              <a:srgbClr val="FF0000"/>
            </a:solidFill>
            <a:ln/>
          </p:spPr>
          <p:txBody>
            <a:bodyPr/>
            <a:lstStyle/>
            <a:p>
              <a:endParaRPr lang="ru-RU"/>
            </a:p>
          </p:txBody>
        </p:sp>
        <p:sp>
          <p:nvSpPr>
            <p:cNvPr id="89" name="Text 3">
              <a:extLst>
                <a:ext uri="{FF2B5EF4-FFF2-40B4-BE49-F238E27FC236}">
                  <a16:creationId xmlns:a16="http://schemas.microsoft.com/office/drawing/2014/main" id="{36E17A8F-ED5C-63C4-A591-8C344AED6FF6}"/>
                </a:ext>
              </a:extLst>
            </p:cNvPr>
            <p:cNvSpPr/>
            <p:nvPr/>
          </p:nvSpPr>
          <p:spPr>
            <a:xfrm>
              <a:off x="548640" y="868680"/>
              <a:ext cx="411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</a:t>
              </a:r>
              <a:r>
                <a:rPr lang="ru-RU" sz="11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7</a:t>
              </a:r>
              <a:endParaRPr lang="en-US" sz="1100" dirty="0"/>
            </a:p>
          </p:txBody>
        </p:sp>
      </p:grpSp>
      <p:sp>
        <p:nvSpPr>
          <p:cNvPr id="90" name="Text 2">
            <a:extLst>
              <a:ext uri="{FF2B5EF4-FFF2-40B4-BE49-F238E27FC236}">
                <a16:creationId xmlns:a16="http://schemas.microsoft.com/office/drawing/2014/main" id="{82B7EDEE-1A1A-507F-30AF-5E5C2B4EF509}"/>
              </a:ext>
            </a:extLst>
          </p:cNvPr>
          <p:cNvSpPr/>
          <p:nvPr/>
        </p:nvSpPr>
        <p:spPr>
          <a:xfrm>
            <a:off x="6400800" y="49331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600" dirty="0"/>
          </a:p>
        </p:txBody>
      </p:sp>
      <p:sp>
        <p:nvSpPr>
          <p:cNvPr id="99" name="Google Shape;86;g3c3fe6efce6_0_1108">
            <a:extLst>
              <a:ext uri="{FF2B5EF4-FFF2-40B4-BE49-F238E27FC236}">
                <a16:creationId xmlns:a16="http://schemas.microsoft.com/office/drawing/2014/main" id="{BC595024-941A-567B-8CDB-7AF251DD3739}"/>
              </a:ext>
            </a:extLst>
          </p:cNvPr>
          <p:cNvSpPr txBox="1"/>
          <p:nvPr/>
        </p:nvSpPr>
        <p:spPr>
          <a:xfrm>
            <a:off x="548640" y="321034"/>
            <a:ext cx="4373400" cy="198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700" b="1" i="0" u="none" strike="noStrike" cap="none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Метод 7КЛ</a:t>
            </a:r>
            <a:endParaRPr sz="700" b="1" i="0" u="none" strike="noStrike" cap="none" dirty="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Google Shape;103;g3cb51f55c2a_0_0"/>
          <p:cNvGraphicFramePr/>
          <p:nvPr/>
        </p:nvGraphicFramePr>
        <p:xfrm>
          <a:off x="834772" y="1476259"/>
          <a:ext cx="7894950" cy="34951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8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4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Финтех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5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Государственный сектор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4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Промышленность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5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Ритейл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5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ИТ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5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Крупные компании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4" name="Google Shape;104;g3cb51f55c2a_0_0" title="8c16b35fd872774a200380a28bdff400.jpg"/>
          <p:cNvPicPr preferRelativeResize="0"/>
          <p:nvPr/>
        </p:nvPicPr>
        <p:blipFill rotWithShape="1">
          <a:blip r:embed="rId3">
            <a:alphaModFix/>
          </a:blip>
          <a:srcRect l="34902" t="39661" r="34790" b="37636"/>
          <a:stretch/>
        </p:blipFill>
        <p:spPr>
          <a:xfrm>
            <a:off x="7117113" y="2658050"/>
            <a:ext cx="686547" cy="3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cb51f55c2a_0_0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>
                <a:latin typeface="Montserrat"/>
                <a:ea typeface="Montserrat"/>
                <a:cs typeface="Montserrat"/>
                <a:sym typeface="Montserrat"/>
              </a:rPr>
              <a:t>Нам доверяют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g3cb51f55c2a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2750" y="3314252"/>
            <a:ext cx="817456" cy="13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cb51f55c2a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5986" y="3290819"/>
            <a:ext cx="596990" cy="16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3cb51f55c2a_0_0"/>
          <p:cNvPicPr preferRelativeResize="0"/>
          <p:nvPr/>
        </p:nvPicPr>
        <p:blipFill rotWithShape="1">
          <a:blip r:embed="rId6">
            <a:alphaModFix/>
          </a:blip>
          <a:srcRect b="4589"/>
          <a:stretch/>
        </p:blipFill>
        <p:spPr>
          <a:xfrm>
            <a:off x="2574171" y="1644129"/>
            <a:ext cx="849398" cy="187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cb51f55c2a_0_0"/>
          <p:cNvPicPr preferRelativeResize="0"/>
          <p:nvPr/>
        </p:nvPicPr>
        <p:blipFill rotWithShape="1">
          <a:blip r:embed="rId7">
            <a:alphaModFix/>
          </a:blip>
          <a:srcRect l="13459" t="21331" r="13114" b="22267"/>
          <a:stretch/>
        </p:blipFill>
        <p:spPr>
          <a:xfrm>
            <a:off x="4989865" y="1602313"/>
            <a:ext cx="560951" cy="24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cb51f55c2a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89887" y="2694116"/>
            <a:ext cx="720504" cy="256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cb51f55c2a_0_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97627" y="2208149"/>
            <a:ext cx="647700" cy="188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cb51f55c2a_0_0"/>
          <p:cNvPicPr preferRelativeResize="0"/>
          <p:nvPr/>
        </p:nvPicPr>
        <p:blipFill rotWithShape="1">
          <a:blip r:embed="rId10">
            <a:alphaModFix/>
          </a:blip>
          <a:srcRect t="27044" b="22520"/>
          <a:stretch/>
        </p:blipFill>
        <p:spPr>
          <a:xfrm>
            <a:off x="6046999" y="2181298"/>
            <a:ext cx="1017145" cy="200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cb51f55c2a_0_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17114" y="1667911"/>
            <a:ext cx="769084" cy="14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cb51f55c2a_0_0" title="raiffeisenbank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046991" y="1538490"/>
            <a:ext cx="769080" cy="39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cb51f55c2a_0_0" title="alfa-bank-e1566973775405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673746" y="1582258"/>
            <a:ext cx="917371" cy="311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cb51f55c2a_0_0" title="cik.jp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120438" y="2156545"/>
            <a:ext cx="1017151" cy="249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cb51f55c2a_0_0" title="min.jp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677870" y="2208149"/>
            <a:ext cx="868818" cy="146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cb51f55c2a_0_0" title="f8271aca70114f9936bdba13dabd7e72.jpg"/>
          <p:cNvPicPr preferRelativeResize="0"/>
          <p:nvPr/>
        </p:nvPicPr>
        <p:blipFill rotWithShape="1">
          <a:blip r:embed="rId16">
            <a:alphaModFix/>
          </a:blip>
          <a:srcRect t="23874" b="24170"/>
          <a:stretch/>
        </p:blipFill>
        <p:spPr>
          <a:xfrm>
            <a:off x="4961561" y="2148739"/>
            <a:ext cx="810821" cy="28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cb51f55c2a_0_0" title="okhl4gqfinvxn2kpm9rxfrxx132257u2.png"/>
          <p:cNvPicPr preferRelativeResize="0"/>
          <p:nvPr/>
        </p:nvPicPr>
        <p:blipFill rotWithShape="1">
          <a:blip r:embed="rId17">
            <a:alphaModFix/>
          </a:blip>
          <a:srcRect t="28149" b="28770"/>
          <a:stretch/>
        </p:blipFill>
        <p:spPr>
          <a:xfrm>
            <a:off x="2680000" y="2690025"/>
            <a:ext cx="637747" cy="27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cb51f55c2a_0_0" title="Логотип__Уралкалия_.jpg"/>
          <p:cNvPicPr preferRelativeResize="0"/>
          <p:nvPr/>
        </p:nvPicPr>
        <p:blipFill rotWithShape="1">
          <a:blip r:embed="rId18">
            <a:alphaModFix/>
          </a:blip>
          <a:srcRect l="9572" t="39640" r="7913" b="40173"/>
          <a:stretch/>
        </p:blipFill>
        <p:spPr>
          <a:xfrm>
            <a:off x="3677875" y="2737487"/>
            <a:ext cx="1038915" cy="17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cb51f55c2a_0_0" title="3b700d37ad825ed5818f7eb257bf4cf2.png"/>
          <p:cNvPicPr preferRelativeResize="0"/>
          <p:nvPr/>
        </p:nvPicPr>
        <p:blipFill rotWithShape="1">
          <a:blip r:embed="rId19">
            <a:alphaModFix/>
          </a:blip>
          <a:srcRect l="17518" t="24750" r="17719" b="23730"/>
          <a:stretch/>
        </p:blipFill>
        <p:spPr>
          <a:xfrm>
            <a:off x="6047000" y="2706934"/>
            <a:ext cx="686551" cy="266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cb51f55c2a_0_0" title="1uqwj892u58ofsuc60a4tnk03su0ty2s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673751" y="3300595"/>
            <a:ext cx="836111" cy="157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cb51f55c2a_0_0" title="ozon png.png"/>
          <p:cNvPicPr preferRelativeResize="0"/>
          <p:nvPr/>
        </p:nvPicPr>
        <p:blipFill rotWithShape="1">
          <a:blip r:embed="rId21">
            <a:alphaModFix/>
          </a:blip>
          <a:srcRect t="25740" b="26654"/>
          <a:stretch/>
        </p:blipFill>
        <p:spPr>
          <a:xfrm>
            <a:off x="4848572" y="3283980"/>
            <a:ext cx="955648" cy="199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cb51f55c2a_0_0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7164201" y="3247464"/>
            <a:ext cx="540785" cy="2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cb51f55c2a_0_0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Более 200 компаний знают нас как надежного интегратора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g3cb51f55c2a_0_0"/>
          <p:cNvSpPr/>
          <p:nvPr/>
        </p:nvSpPr>
        <p:spPr>
          <a:xfrm>
            <a:off x="8168656" y="1584200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+20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g3cb51f55c2a_0_0"/>
          <p:cNvSpPr/>
          <p:nvPr/>
        </p:nvSpPr>
        <p:spPr>
          <a:xfrm>
            <a:off x="8168656" y="2135275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+35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g3cb51f55c2a_0_0"/>
          <p:cNvSpPr/>
          <p:nvPr/>
        </p:nvSpPr>
        <p:spPr>
          <a:xfrm>
            <a:off x="8168656" y="2686338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+50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g3cb51f55c2a_0_0"/>
          <p:cNvSpPr/>
          <p:nvPr/>
        </p:nvSpPr>
        <p:spPr>
          <a:xfrm>
            <a:off x="8168656" y="3208938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+15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g3cb51f55c2a_0_0" title="КРОК Green Logo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4847487" y="3801877"/>
            <a:ext cx="917375" cy="47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cb51f55c2a_0_0" title="logortk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2612751" y="3856635"/>
            <a:ext cx="810824" cy="298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cb51f55c2a_0_0" title="usetech_logo_bl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7190475" y="3936886"/>
            <a:ext cx="735901" cy="17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cb51f55c2a_0_0" title="Mask_group_63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3673750" y="3967774"/>
            <a:ext cx="917376" cy="211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cb51f55c2a_0_0"/>
          <p:cNvSpPr/>
          <p:nvPr/>
        </p:nvSpPr>
        <p:spPr>
          <a:xfrm>
            <a:off x="8168656" y="3883425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+60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" name="Google Shape;135;g3cb51f55c2a_0_0" title="Merlion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6063588" y="3931890"/>
            <a:ext cx="735899" cy="16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cb51f55c2a_0_0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2580822" y="4531234"/>
            <a:ext cx="836127" cy="26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cb51f55c2a_0_0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5006875" y="4481048"/>
            <a:ext cx="686526" cy="36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cb51f55c2a_0_0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7164205" y="4440419"/>
            <a:ext cx="592360" cy="441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cb51f55c2a_0_0"/>
          <p:cNvPicPr preferRelativeResize="0"/>
          <p:nvPr/>
        </p:nvPicPr>
        <p:blipFill rotWithShape="1">
          <a:blip r:embed="rId31">
            <a:alphaModFix/>
          </a:blip>
          <a:srcRect t="30366" b="28946"/>
          <a:stretch/>
        </p:blipFill>
        <p:spPr>
          <a:xfrm>
            <a:off x="3545425" y="4505424"/>
            <a:ext cx="1149210" cy="311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cb51f55c2a_0_0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6044274" y="4440435"/>
            <a:ext cx="769074" cy="39391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cb51f55c2a_0_0"/>
          <p:cNvSpPr/>
          <p:nvPr/>
        </p:nvSpPr>
        <p:spPr>
          <a:xfrm>
            <a:off x="8163006" y="4507363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+80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g3cb51f55c2a_0_0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572000" y="457200"/>
            <a:ext cx="0" cy="42291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Контакты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Подготовим идеи ИИ решений для вас!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+7 (495) 198-14-77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info@7rlines.com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7rlines.ru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119049, Москва, ул. Шаболовка, 23к3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0"/>
            <a:ext cx="420624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r>
              <a:rPr lang="en-US" sz="22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r>
              <a:rPr lang="en-US" sz="2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553</Words>
  <Application>Microsoft Office PowerPoint</Application>
  <PresentationFormat>Экран (16:9)</PresentationFormat>
  <Paragraphs>153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Montserrat</vt:lpstr>
      <vt:lpstr>Poppins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Нам доверяют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Внедряем автоматизацию с ИИ
любой сложности</dc:title>
  <dc:subject>PptxGenJS Presentation</dc:subject>
  <dc:creator>7 Красных Линий</dc:creator>
  <cp:lastModifiedBy>a1227</cp:lastModifiedBy>
  <cp:revision>6</cp:revision>
  <dcterms:created xsi:type="dcterms:W3CDTF">2026-04-15T10:48:26Z</dcterms:created>
  <dcterms:modified xsi:type="dcterms:W3CDTF">2026-04-16T14:10:45Z</dcterms:modified>
</cp:coreProperties>
</file>