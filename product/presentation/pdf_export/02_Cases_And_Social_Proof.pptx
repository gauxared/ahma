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9144" cy="42291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914400"/>
            <a:ext cx="18288" cy="33147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Record и Социальные Доказательства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Разбор реальных кейсов внедрения СтройИнтеллект: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Входные данные, Аналитика ИИ и Возврат инвестиций.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Доказано на практике.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250 млрд 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Аудировано смет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340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Агентов ИИ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промышленной эксплуатации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104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0104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4.2%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104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рост EBITDA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Проблема: Слепая зона девелопмента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нашей статистике, средний процент завышения стоимости в актах КС-2 составляет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3.8% от бюджета строительства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 не в математике, а в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скрытых махинациях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Подрядчики искусственно прячут маржу в дополнительных работах, используют схему двойного учета или подменяют дорогие материалы дешевыми аналогами.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Сметчик физически не может сверить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10 000 строк акта КС-2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 всей историей проекта за 3 дня закрытия месяца. Искусственный интеллект — может.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Среднее завышение актов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83870000" dist="161290000" dir="486000000000">
              <a:srgbClr val="000000">
                <a:alpha val="6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8600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860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Строк в одном акте КС-2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145149000000" dist="2048383000000" dir="29160000000000000">
              <a:srgbClr val="000000">
                <a:alpha val="6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часа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Уходит на ручную проверку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алгоритмы получают на вход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8043392300000000" dist="26014464100000000" dir="1.7496e+21">
              <a:srgbClr val="000000">
                <a:alpha val="60000000000000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Спецификации и BIM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Проектная документация и выгрузки из информационных моделей.
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Форматы: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XML, IFC, Excel.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Агенты ИИ анализируют эти данные для формирования эталонного бенчмарка объемов и цен.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3657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991151082210000000000" dist="330383694070000000000" dir="1.04976e+26">
              <a:srgbClr val="000000">
                <a:alpha val="6e+2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Сканы с печатями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акты КС-2 от подрядчиков, которые часто приходят в виде кривых PDF или фотографий.
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Особенность: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Синие печати и подписи перекрывают текст.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LayoutLM успешно восстанавливает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данные сквозь визуальный шум.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3657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.2587618744067e+25" dist="4.195872914689e+24" dir="6.29856e+30">
              <a:srgbClr val="000000">
                <a:alpha val="6e+2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05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Разрозненные прайсы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Коммерческие предложения от поставщиков в неструктурированном виде.
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Агент-Снабженец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приводит сотни разных наименований (от кабелей до цемента) к единому номенклатурному справочнику компании за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считанные минуты.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 1: Жилищный комплекс (2 млрд ₽)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клиента: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Федеральный застройщик.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Постоянный кассовый разрыв к концу года. Подозревали, что подрядчик по монолиту систематически завышает объемы.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Глубокий ретроспективный аудит закрывающих актов за 6 месяцев строительства. Вручную ПТО тратил на это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дней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без видимых результатов.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98627580496509e+29" dist="5.3287586016550295e+28" dir="3.779136e+35">
              <a:srgbClr val="000000">
                <a:alpha val="6e+3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МЛРД 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проекта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302570272305663e+33" dist="6.767523424101888e+32" dir="2.2674816e+40">
              <a:srgbClr val="000000">
                <a:alpha val="5.9999999999999995e+3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8600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860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АКТОВ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Проанализировано ИИ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578426424582819e+37" dist="8.594754748609397e+36" dir="1.36048896e+45">
              <a:srgbClr val="000000">
                <a:alpha val="5.999999999999999e+4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МЕС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Ретроспективный период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Обнаружение Двойного Учета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БЫЛО (Ручной процесс)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Сметчик ПТО проверяет акты изолированно друг от друга.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акте за март согласована "Аренда строительных лесов" на 5 млн руб.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акте за май эта же позиция названа "Монтаж временных конструкций".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Из-за разницы формулировок человек пропускает дубликат.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СТАЛО (СтройИнтеллект)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46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Векторная база знаний Qdrant хранит всю историю стройки.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 семантического поиска (RAG) понимает смысл слов, а не просто ищет совпадения.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распознал 98% смысловую схожесть двух позиций.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 был заблокирован до выяснения обстоятельств.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 аудита (Кейс 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2746015592201804e+41" dist="1.0915338530733935e+41" dir="8.16293376e+49">
              <a:srgbClr val="000000">
                <a:alpha val="6e+48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аудита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Снижено с 14 дней ручного труда до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часов машинного времени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6136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158743980209629e+45" dist="1.3862479934032098e+45" dir="4.897760256e+54">
              <a:srgbClr val="000000">
                <a:alpha val="6e+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136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1856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 проверки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280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 проверки 10% самых дорогих строк "по верхам", ИИ проверил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документации.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6552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281604854866228e+49" dist="1.7605349516220764e+49" dir="2.9386561536e+59">
              <a:srgbClr val="000000">
                <a:alpha val="6e+5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06552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272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696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Математика сложения и налогов проверялась детерминированным модулем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Decimal без галлюцинаций.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70763816568011e+53" dist="2.235879388560037e+53" dir="1.76319369216e+64">
              <a:srgbClr val="000000">
                <a:alpha val="6.000000000000001e+6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Сохраненная маржа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Заказчик отказался выплачивать переплаты на сумму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 млн рублей.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518700470413739e+57" dist="2.839566823471247e+57" dir="1.057916215296e+69">
              <a:srgbClr val="000000">
                <a:alpha val="6e+6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Внедрения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Инвестиции в СтройИнтеллект окупились на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217% за первый месяц использования.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7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081874959742545e+62" dist="3.606249865808484e+61" dir="6.347497291776e+73">
              <a:srgbClr val="000000">
                <a:alpha val="6e+7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373981198873032e+66" dist="4.579937329576775e+65" dir="3.8084983750656e+78">
              <a:srgbClr val="000000">
                <a:alpha val="6.0000000000000005e+7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7449561225687507e+70" dist="5.816520408562504e+69" dir="2.28509902503936e+83">
              <a:srgbClr val="000000">
                <a:alpha val="6.000000000000001e+8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2160942756623134e+74" dist="7.38698091887438e+73" dir="1.371059415023616e+88">
              <a:srgbClr val="000000">
                <a:alpha val="6.000000000000001e+8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9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814439730091138e+78" dist="9.381465766970462e+77" dir="8.226356490141696e+92">
              <a:srgbClr val="000000">
                <a:alpha val="6.0000000000000005e+9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574338457215745e+82" dist="1.1914461524052487e+82" dir="4.9358138940850176e+97">
              <a:srgbClr val="000000">
                <a:alpha val="6e+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539409840663996e+86" dist="1.5131366135546659e+86" dir="2.9614883364510103e+102">
              <a:srgbClr val="000000">
                <a:alpha val="6e+10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765050497643275e+90" dist="1.9216834992144256e+90" dir="1.7768930018706063e+107">
              <a:srgbClr val="000000">
                <a:alpha val="6e+10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321614132006959e+94" dist="2.4405380440023207e+94" dir="1.0661358011223639e+112">
              <a:srgbClr val="000000">
                <a:alpha val="5.9999999999999994e+11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298449947648839e+98" dist="3.099483315882947e+98" dir="6.396814806734183e+116">
              <a:srgbClr val="000000">
                <a:alpha val="5.999999999999999e+11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809031433514024e+103" dist="3.9363438111713427e+102" dir="3.83808888404051e+121">
              <a:srgbClr val="000000">
                <a:alpha val="5.999999999999999e+12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99746992056281e+107" dist="4.9991566401876055e+106" dir="2.302853330424306e+126">
              <a:srgbClr val="000000">
                <a:alpha val="5.999999999999999e+12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904678679911477e+111" dist="6.348928933038258e+110" dir="1.3817119982545836e+131">
              <a:srgbClr val="000000">
                <a:alpha val="5.999999999999999e+13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418941923487576e+115" dist="8.063139744958588e+114" dir="8.290271989527502e+135">
              <a:srgbClr val="000000">
                <a:alpha val="5.999999999999999e+13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0720562428292216e+119" dist="1.0240187476097407e+119" dir="4.974163193716501e+140">
              <a:srgbClr val="000000">
                <a:alpha val="5.999999999999999e+14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9015114283931116e+123" dist="1.3005038094643706e+123" dir="2.9844979162299e+145">
              <a:srgbClr val="000000">
                <a:alpha val="5.999999999999999e+14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15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954919514059251e+127" dist="1.6516398380197506e+127" dir="1.79069874973794e+150">
              <a:srgbClr val="000000">
                <a:alpha val="5.999999999999999e+1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2927477828552495e+131" dist="2.097582594285083e+131" dir="1.074419249842764e+155">
              <a:srgbClr val="000000">
                <a:alpha val="5.999999999999999e+15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16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991789684226167e+135" dist="2.6639298947420556e+135" dir="6.4465154990565844e+159">
              <a:srgbClr val="000000">
                <a:alpha val="5.999999999999999e+16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0149572898967231e+140" dist="3.3831909663224106e+139" dir="3.8679092994339505e+164">
              <a:srgbClr val="000000">
                <a:alpha val="5.999999999999999e+16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17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889957581688384e+144" dist="4.296652527229462e+143" dir="2.3207455796603705e+169">
              <a:srgbClr val="000000">
                <a:alpha val="5.999999999999998e+17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6370246128744248e+148" dist="5.4567487095814166e+147" dir="1.3924473477962223e+174">
              <a:srgbClr val="000000">
                <a:alpha val="5.999999999999998e+17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790212583505195e+152" dist="6.9300708611684e+151" dir="8.354684086777334e+178">
              <a:srgbClr val="000000">
                <a:alpha val="5.999999999999998e+18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64035699810516e+156" dist="8.801189993683867e+155" dir="5.0128104520664e+183">
              <a:srgbClr val="000000">
                <a:alpha val="5.999999999999998e+18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19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353253387593553e+160" dist="1.117751129197851e+160" dir="3.00768627123984e+188">
              <a:srgbClr val="000000">
                <a:alpha val="5.9999999999999976e+19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2586318022438123e+164" dist="1.4195439340812709e+164" dir="1.804611762743904e+193">
              <a:srgbClr val="000000">
                <a:alpha val="5.999999999999997e+1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20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408462388849642e+168" dist="1.802820796283214e+168" dir="1.0827670576463424e+198">
              <a:srgbClr val="000000">
                <a:alpha val="5.999999999999997e+20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868747233839046e+172" dist="2.289582411279682e+172" dir="6.496602345878055e+202">
              <a:srgbClr val="000000">
                <a:alpha val="5.999999999999997e+20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21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723308986975589e+176" dist="2.907769662325196e+176" dir="3.897961407526833e+207">
              <a:srgbClr val="000000">
                <a:alpha val="5.999999999999997e+21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078602413458997e+181" dist="3.692867471152999e+180" dir="2.3387768445161e+212">
              <a:srgbClr val="000000">
                <a:alpha val="5.999999999999997e+21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22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069825065092926e+185" dist="4.689941688364309e+184" dir="1.40326610670966e+217">
              <a:srgbClr val="000000">
                <a:alpha val="5.999999999999997e+22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7868677832668018e+189" dist="5.956225944222673e+188" dir="8.41959664025796e+221">
              <a:srgbClr val="000000">
                <a:alpha val="5.999999999999997e+22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23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2693220847488382e+193" dist="7.564406949162794e+192" dir="5.051757984154776e+226">
              <a:srgbClr val="000000">
                <a:alpha val="5.999999999999997e+23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8820390476310245e+197" dist="9.606796825436748e+196" dir="3.0310547904928656e+231">
              <a:srgbClr val="000000">
                <a:alpha val="5.999999999999996e+23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Глубокая аналитика: Пример 24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 ИИ позволяют выявлять скрытые потери, которые невозможно заметить невооруженным глазом.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счет интеграции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 (обработки естественного языка)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строгих логических правил, мы автоматизируем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85%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рутинных задач сметчика.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6601895904914013e+201" dist="1.220063196830467e+201" dir="1.8186328742957194e+236">
              <a:srgbClr val="000000">
                <a:alpha val="5.999999999999996e+24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648440779924079e+205" dist="1.5494802599746932e+205" dir="1.0911797245774316e+241">
              <a:srgbClr val="000000">
                <a:alpha val="5.999999999999996e+24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процессов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Поможем подобрать решения под ваши бизнес-задачи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(495) 198-14-77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info@7rlines.com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7rlines.ru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119049, Москва, ул. Шаболовка, 23к3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2026-08-11T22:48:19Z</dcterms:created>
  <dcterms:modified xsi:type="dcterms:W3CDTF">2026-08-11T22:48:19Z</dcterms:modified>
</cp:coreProperties>
</file>