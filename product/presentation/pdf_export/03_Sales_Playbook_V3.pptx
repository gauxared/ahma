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9144" cy="4229100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914400"/>
            <a:ext cx="18288" cy="3314700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0" y="18288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Playbook v3.0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Скрипты, BANT-скоринг и психология ЛПР. Мы продаём не софт, а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сохранённую EBITDA.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4114800"/>
            <a:ext cx="158496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4160520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 Use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4434840"/>
            <a:ext cx="158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Только для команды продаж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34000" y="4114800"/>
            <a:ext cx="158496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5334000" y="4160520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6-9 месяцев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0" y="4434840"/>
            <a:ext cx="158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Средний цикл сделки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010400" y="4114800"/>
            <a:ext cx="158496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7010400" y="4160520"/>
            <a:ext cx="158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10400" y="4434840"/>
            <a:ext cx="158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Архитектура внедрения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Сдвиг парадигмы в продажах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Перестаньте продавать "ИИ-агентов". Клиентам плевать на нейросети. Им не плевать на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кассовые разрывы и воровство подрядчиков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Неправильный питч: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"У нас есть 9 агентов на базе LLM, которые читают PDF и интегрируются по API".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Правильный питч: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"Среднее завышение сметы — 3.8%. При бюджете 5 млрд вы теряете 190 млн. Наш алгоритм находит эти деньги до подписания актов КС-2."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9035197905035806e+209" dist="1.9678399301678603e+209" dir="6.54707834746459e+245">
              <a:srgbClr val="000000">
                <a:alpha val="5.999999999999996e+25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ОШИБКА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Продавать фичи ИИ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.497470133939547e+213" dist="2.4991567113131827e+213" dir="3.928247008478754e+250">
              <a:srgbClr val="000000">
                <a:alpha val="5.999999999999996e+25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УСПЕХ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Продавать рост EBITDA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BANT-Скоринг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212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.521787070103225e+217" dist="3.173929023367742e+217" dir="2.3569482050872525e+255">
              <a:srgbClr val="000000">
                <a:alpha val="5.999999999999995e+263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207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 - Budget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Сделка предполагает единовременный CAPEX. Нет бюджета — нет пилота. Ищем компании, способные оплатить с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экономии ФОТ.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61360" y="1005840"/>
            <a:ext cx="26212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2092669579031096e+222" dist="4.030889859677033e+221" dir="1.4141689230523514e+260">
              <a:srgbClr val="000000">
                <a:alpha val="5.9999999999999954e+268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1360" y="1005840"/>
            <a:ext cx="365760" cy="3657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26136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18560" y="1005840"/>
            <a:ext cx="207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- Authority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52800" y="146304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Линейный инженер ПТО никогда не купит систему (это угроза). Спонсор проекта всегда на уровне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C-Level (CEO, CFO).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65520" y="1005840"/>
            <a:ext cx="26212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5357690365369493e+226" dist="5.1192301217898315e+225" dir="8.485013538314108e+264">
              <a:srgbClr val="000000">
                <a:alpha val="5.999999999999995e+27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65520" y="1005840"/>
            <a:ext cx="365760" cy="3657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06552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22720" y="1005840"/>
            <a:ext cx="207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 - Need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56960" y="146304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Боль должна быть оцифрована. "Нам нужен ИИ" — не боль.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"Кассовые разрывы" — боль.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950426676401926e+230" dist="6.501422254673086e+229" dir="5.091008122988465e+269">
              <a:srgbClr val="000000">
                <a:alpha val="5.999999999999995e+278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⏳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 - Timeline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Готовность выделить серверы для развёртывания Этапа 1 (Инфраструктура) в ближайшие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месяца.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97180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4770418790304458e+234" dist="8.256806263434819e+233" dir="3.054604873793079e+274">
              <a:srgbClr val="000000">
                <a:alpha val="5.999999999999995e+283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971800"/>
            <a:ext cx="365760" cy="3657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KPI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Вывести ЛПР на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Слепой Тест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исторической сметы для демонстрации потерь.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Цикл сделки Enterprise (6-9 мес)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66800" y="1344168"/>
            <a:ext cx="70104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Shape 2"/>
          <p:cNvSpPr/>
          <p:nvPr/>
        </p:nvSpPr>
        <p:spPr>
          <a:xfrm>
            <a:off x="883920" y="118872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88392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2192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27432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67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 (Мес 1)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103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Сбор BANT. Поиск спонсора (CFO). Получение NDA.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03632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06240"/>
            <a:ext cx="103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0" y="118872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59280" y="1920240"/>
            <a:ext cx="12192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1950720" y="2011680"/>
            <a:ext cx="27432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95072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🧪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16480" y="2011680"/>
            <a:ext cx="67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Blind Test (Мес 2-3)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50720" y="2468880"/>
            <a:ext cx="103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сметы. Показ </a:t>
            </a:r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упущенной выгоды.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50720" y="4206240"/>
            <a:ext cx="103632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1950720" y="4206240"/>
            <a:ext cx="103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PRE-SALE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88080" y="118872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3688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61360" y="1920240"/>
            <a:ext cx="12192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3352800" y="2011680"/>
            <a:ext cx="27432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335280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18560" y="2011680"/>
            <a:ext cx="67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 of Value (Мес 4-6)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52800" y="2468880"/>
            <a:ext cx="103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 на "живом" объекте в Shadow Mode. </a:t>
            </a:r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Платный пилот.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52800" y="4206240"/>
            <a:ext cx="103632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3352800" y="4206240"/>
            <a:ext cx="103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90160" y="118872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509016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1920240"/>
            <a:ext cx="12192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2011680"/>
            <a:ext cx="27432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📊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2011680"/>
            <a:ext cx="67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Бюджетирование (Мес 7)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2468880"/>
            <a:ext cx="103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Прохождение инвесткомитета Заказчика.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4206240"/>
            <a:ext cx="103632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4206240"/>
            <a:ext cx="103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92240" y="118872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65520" y="1920240"/>
            <a:ext cx="12192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3" name="Shape 41"/>
          <p:cNvSpPr/>
          <p:nvPr/>
        </p:nvSpPr>
        <p:spPr>
          <a:xfrm>
            <a:off x="6156960" y="2011680"/>
            <a:ext cx="27432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615696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22720" y="2011680"/>
            <a:ext cx="67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Аудит (Мес 8)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56960" y="2468880"/>
            <a:ext cx="103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Секьюрити-ревью кода и архитектуры. Zero Trust.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56960" y="4206240"/>
            <a:ext cx="103632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6156960" y="4206240"/>
            <a:ext cx="103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894320" y="118872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789432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467600" y="1920240"/>
            <a:ext cx="12192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2" name="Shape 50"/>
          <p:cNvSpPr/>
          <p:nvPr/>
        </p:nvSpPr>
        <p:spPr>
          <a:xfrm>
            <a:off x="7559040" y="2011680"/>
            <a:ext cx="27432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755904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✍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924800" y="2011680"/>
            <a:ext cx="67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Контракт (Мес 9)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559040" y="2468880"/>
            <a:ext cx="103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Подписание, получение аванса и старт.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559040" y="4206240"/>
            <a:ext cx="103632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7559040" y="4206240"/>
            <a:ext cx="103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Отработка возражения: "У нас есть 1С"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БЫЛО (Ручной процесс)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46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 считает, что 1С:ERP решает все проблемы автоматизации.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 1С — это отличный маршрутизатор.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 передаёт PDF-файл от подрядчика к технадзору.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 не умеет "читать смысл" и искать завышения цен.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СТАЛО (СтройИнтеллект)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246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Мы не заменяем 1С, мы встаем перед ней.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 работает как умный фильтр безопасности.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 проверяет математику и смысл документа ДО того, как он попадет в 1С для оплаты.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6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145843186368666e+238" dist="1.048614395456222e+238" dir="1.8327629242758474e+279">
              <a:srgbClr val="000000">
                <a:alpha val="5.999999999999995e+28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995220846688206e+242" dist="1.331740282229402e+242" dir="1.0996577545655084e+284">
              <a:srgbClr val="000000">
                <a:alpha val="5.999999999999995e+29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7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0739304752940216e+246" dist="1.6913101584313407e+246" dir="6.59794652739305e+288">
              <a:srgbClr val="000000">
                <a:alpha val="5.999999999999995e+2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.443891703623408e+250" dist="2.1479639012078026e+250" dir="3.95876791643583e+293">
              <a:srgbClr val="000000">
                <a:alpha val="5.999999999999995e+30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8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.183742463601727e+254" dist="2.7279141545339093e+254" dir="2.375260749861498e+298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0393352928774194e+259" dist="3.4644509762580647e+258" dir="1.4251564499168988e+303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9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3199558219543225e+263" dist="4.3998527398477425e+262" dir="8.550938699501393e+307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6763438938819895e+267" dist="5.587812979606632e+266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10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1289567452301266e+271" dist="7.096522484100423e+270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7037750664422608e+275" dist="9.012583554807537e+274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11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433794334381671e+279" dist="1.1445981114605571e+279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360918804664722e+283" dist="1.4536396015549076e+283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12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538366881924197e+287" dist="1.8461222939747328e+287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.033725940043731e+291" dist="2.3445753133479108e+291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13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.932831943855538e+295" dist="2.9776106479518466e+295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1344696568696533e+300" dist="3.781565522898845e+299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14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4407764642244596e+304" dist="4.802588214081534e+303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6.099287031883548e+307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15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16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17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18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19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20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21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22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23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 продаж: Инструмент 24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забывайте про работу с ИТ-департаментом (CISO).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страх ИБ — передача коммерческой тайны в публичные нейросети. Мы решаем это через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On-Premise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алгоритмы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маскирования данных.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On-Premise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ядро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56616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Контакты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Поможем подобрать решения под ваши бизнес-задачи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 (495) 198-14-77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info@7rlines.com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7rlines.ru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119049, Москва, ул. Шаболовка, 23к3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ctr" indent="0" marL="0">
              <a:buNone/>
            </a:pPr>
            <a:r>
              <a:rPr lang="en-US" sz="2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2026-08-11T22:48:19Z</dcterms:created>
  <dcterms:modified xsi:type="dcterms:W3CDTF">2026-08-11T22:48:19Z</dcterms:modified>
</cp:coreProperties>
</file>