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1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0014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minimal_corporate_abstract_background_sce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2926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900" dirty="0"/>
          </a:p>
        </p:txBody>
      </p:sp>
      <p:sp>
        <p:nvSpPr>
          <p:cNvPr id="4" name="Shape 1"/>
          <p:cNvSpPr/>
          <p:nvPr/>
        </p:nvSpPr>
        <p:spPr>
          <a:xfrm>
            <a:off x="804672" y="310896"/>
            <a:ext cx="0" cy="283464"/>
          </a:xfrm>
          <a:prstGeom prst="line">
            <a:avLst/>
          </a:prstGeom>
          <a:noFill/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2"/>
          <p:cNvSpPr/>
          <p:nvPr/>
        </p:nvSpPr>
        <p:spPr>
          <a:xfrm>
            <a:off x="932688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КРАСНЫХ ЛИНИЙ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1228832" y="63550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11827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75488" y="1325880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900" b="1" dirty="0">
                <a:solidFill>
                  <a:srgbClr val="111827"/>
                </a:solidFill>
              </a:rPr>
              <a:t>СтройИнтеллект</a:t>
            </a:r>
            <a:endParaRPr lang="en-US" sz="4900" dirty="0"/>
          </a:p>
        </p:txBody>
      </p:sp>
      <p:sp>
        <p:nvSpPr>
          <p:cNvPr id="8" name="Shape 5"/>
          <p:cNvSpPr/>
          <p:nvPr/>
        </p:nvSpPr>
        <p:spPr>
          <a:xfrm>
            <a:off x="512064" y="2240280"/>
            <a:ext cx="2651760" cy="0"/>
          </a:xfrm>
          <a:prstGeom prst="line">
            <a:avLst/>
          </a:prstGeom>
          <a:noFill/>
          <a:ln w="254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/>
          <p:nvPr/>
        </p:nvSpPr>
        <p:spPr>
          <a:xfrm>
            <a:off x="512064" y="2542032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dirty="0">
                <a:solidFill>
                  <a:srgbClr val="111827"/>
                </a:solidFill>
              </a:rPr>
              <a:t>Цифровая служба технического заказчика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512064" y="33375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4B5563"/>
                </a:solidFill>
              </a:rPr>
              <a:t>Быстрее финансово-технический контроль. Меньше ручной работы.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4B5563"/>
                </a:solidFill>
              </a:rPr>
              <a:t>Единая координация функций и действий по объекту.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512064" y="4617720"/>
            <a:ext cx="1901952" cy="1143000"/>
          </a:xfrm>
          <a:prstGeom prst="roundRect">
            <a:avLst>
              <a:gd name="adj" fmla="val 6400"/>
            </a:avLst>
          </a:prstGeom>
          <a:solidFill>
            <a:srgbClr val="FFFFFF">
              <a:alpha val="96000"/>
            </a:srgbClr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9"/>
          <p:cNvSpPr/>
          <p:nvPr/>
        </p:nvSpPr>
        <p:spPr>
          <a:xfrm>
            <a:off x="694944" y="4782312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E30613"/>
                </a:solidFill>
              </a:rPr>
              <a:t>9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694944" y="5321808"/>
            <a:ext cx="15819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ИИ-агентов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642616" y="4617720"/>
            <a:ext cx="1901952" cy="1143000"/>
          </a:xfrm>
          <a:prstGeom prst="roundRect">
            <a:avLst>
              <a:gd name="adj" fmla="val 6400"/>
            </a:avLst>
          </a:prstGeom>
          <a:solidFill>
            <a:srgbClr val="FFFFFF">
              <a:alpha val="96000"/>
            </a:srgbClr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2825496" y="4782312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E30613"/>
                </a:solidFill>
              </a:rPr>
              <a:t>250+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2825496" y="5321808"/>
            <a:ext cx="15819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объектов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в обучающем массиве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773168" y="4617720"/>
            <a:ext cx="1901952" cy="1143000"/>
          </a:xfrm>
          <a:prstGeom prst="roundRect">
            <a:avLst>
              <a:gd name="adj" fmla="val 6400"/>
            </a:avLst>
          </a:prstGeom>
          <a:solidFill>
            <a:srgbClr val="FFFFFF">
              <a:alpha val="96000"/>
            </a:srgbClr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5"/>
          <p:cNvSpPr/>
          <p:nvPr/>
        </p:nvSpPr>
        <p:spPr>
          <a:xfrm>
            <a:off x="4956048" y="4782312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E30613"/>
                </a:solidFill>
              </a:rPr>
              <a:t>0 ₽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4956048" y="5321808"/>
            <a:ext cx="15819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абонентских платежей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за использование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903720" y="4617720"/>
            <a:ext cx="1901952" cy="1143000"/>
          </a:xfrm>
          <a:prstGeom prst="roundRect">
            <a:avLst>
              <a:gd name="adj" fmla="val 6400"/>
            </a:avLst>
          </a:prstGeom>
          <a:solidFill>
            <a:srgbClr val="FFFFFF">
              <a:alpha val="96000"/>
            </a:srgbClr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8"/>
          <p:cNvSpPr/>
          <p:nvPr/>
        </p:nvSpPr>
        <p:spPr>
          <a:xfrm>
            <a:off x="7086600" y="4782312"/>
            <a:ext cx="1581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E30613"/>
                </a:solidFill>
              </a:rPr>
              <a:t>локально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7086600" y="5321808"/>
            <a:ext cx="15819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размещение в контуре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заказчика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minimal_corporate_abstract_background_sce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2926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900" dirty="0"/>
          </a:p>
        </p:txBody>
      </p:sp>
      <p:sp>
        <p:nvSpPr>
          <p:cNvPr id="4" name="Shape 1"/>
          <p:cNvSpPr/>
          <p:nvPr/>
        </p:nvSpPr>
        <p:spPr>
          <a:xfrm>
            <a:off x="804672" y="310896"/>
            <a:ext cx="0" cy="283464"/>
          </a:xfrm>
          <a:prstGeom prst="line">
            <a:avLst/>
          </a:prstGeom>
          <a:noFill/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2"/>
          <p:cNvSpPr/>
          <p:nvPr/>
        </p:nvSpPr>
        <p:spPr>
          <a:xfrm>
            <a:off x="932688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КРАСНЫХ ЛИНИЙ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1228832" y="63550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11827"/>
                </a:solidFill>
              </a:rPr>
              <a:t>2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38912" y="86868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Существующий процесс требует много времени, труда и согласований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457200" y="1655064"/>
            <a:ext cx="2011680" cy="0"/>
          </a:xfrm>
          <a:prstGeom prst="line">
            <a:avLst/>
          </a:prstGeom>
          <a:noFill/>
          <a:ln w="2032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/>
          <p:nvPr/>
        </p:nvSpPr>
        <p:spPr>
          <a:xfrm>
            <a:off x="475488" y="1810512"/>
            <a:ext cx="95097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Финансово-технический контроль распределён между функциями и во многом собирается вручную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94360" y="253288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30613"/>
                </a:solidFill>
              </a:rPr>
              <a:t>01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1325880" y="2496312"/>
            <a:ext cx="0" cy="502920"/>
          </a:xfrm>
          <a:prstGeom prst="line">
            <a:avLst/>
          </a:prstGeom>
          <a:noFill/>
          <a:ln w="1524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9"/>
          <p:cNvSpPr/>
          <p:nvPr/>
        </p:nvSpPr>
        <p:spPr>
          <a:xfrm>
            <a:off x="1572768" y="2487168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11827"/>
                </a:solidFill>
              </a:rPr>
              <a:t>Время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4434840" y="2496312"/>
            <a:ext cx="4983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проверки и согласования проходят последовательно между подразделениями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85216" y="3136392"/>
            <a:ext cx="80010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594360" y="335584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30613"/>
                </a:solidFill>
              </a:rPr>
              <a:t>02</a:t>
            </a:r>
            <a:endParaRPr lang="en-US" sz="1900" dirty="0"/>
          </a:p>
        </p:txBody>
      </p:sp>
      <p:sp>
        <p:nvSpPr>
          <p:cNvPr id="16" name="Shape 13"/>
          <p:cNvSpPr/>
          <p:nvPr/>
        </p:nvSpPr>
        <p:spPr>
          <a:xfrm>
            <a:off x="1325880" y="3319272"/>
            <a:ext cx="0" cy="502920"/>
          </a:xfrm>
          <a:prstGeom prst="line">
            <a:avLst/>
          </a:prstGeom>
          <a:noFill/>
          <a:ln w="1524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/>
          <p:nvPr/>
        </p:nvSpPr>
        <p:spPr>
          <a:xfrm>
            <a:off x="1572768" y="3310128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11827"/>
                </a:solidFill>
              </a:rPr>
              <a:t>Трудозатраты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4434840" y="3319272"/>
            <a:ext cx="4983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сметы, КП, договоры и экономика объекта сопоставляются вручную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85216" y="3959352"/>
            <a:ext cx="80010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7"/>
          <p:cNvSpPr/>
          <p:nvPr/>
        </p:nvSpPr>
        <p:spPr>
          <a:xfrm>
            <a:off x="594360" y="417880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30613"/>
                </a:solidFill>
              </a:rPr>
              <a:t>03</a:t>
            </a:r>
            <a:endParaRPr lang="en-US" sz="1900" dirty="0"/>
          </a:p>
        </p:txBody>
      </p:sp>
      <p:sp>
        <p:nvSpPr>
          <p:cNvPr id="21" name="Shape 18"/>
          <p:cNvSpPr/>
          <p:nvPr/>
        </p:nvSpPr>
        <p:spPr>
          <a:xfrm>
            <a:off x="1325880" y="4142232"/>
            <a:ext cx="0" cy="502920"/>
          </a:xfrm>
          <a:prstGeom prst="line">
            <a:avLst/>
          </a:prstGeom>
          <a:noFill/>
          <a:ln w="1524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19"/>
          <p:cNvSpPr/>
          <p:nvPr/>
        </p:nvSpPr>
        <p:spPr>
          <a:xfrm>
            <a:off x="1572768" y="4133088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11827"/>
                </a:solidFill>
              </a:rPr>
              <a:t>Межфункциональные разрывы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4434840" y="4142232"/>
            <a:ext cx="4983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технические, финансовые и договорные функции смотрят на объект отдельно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85216" y="4782312"/>
            <a:ext cx="80010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2"/>
          <p:cNvSpPr/>
          <p:nvPr/>
        </p:nvSpPr>
        <p:spPr>
          <a:xfrm>
            <a:off x="594360" y="500176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30613"/>
                </a:solidFill>
              </a:rPr>
              <a:t>04</a:t>
            </a:r>
            <a:endParaRPr lang="en-US" sz="1900" dirty="0"/>
          </a:p>
        </p:txBody>
      </p:sp>
      <p:sp>
        <p:nvSpPr>
          <p:cNvPr id="26" name="Shape 23"/>
          <p:cNvSpPr/>
          <p:nvPr/>
        </p:nvSpPr>
        <p:spPr>
          <a:xfrm>
            <a:off x="1325880" y="4965192"/>
            <a:ext cx="0" cy="502920"/>
          </a:xfrm>
          <a:prstGeom prst="line">
            <a:avLst/>
          </a:prstGeom>
          <a:noFill/>
          <a:ln w="1524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Text 24"/>
          <p:cNvSpPr/>
          <p:nvPr/>
        </p:nvSpPr>
        <p:spPr>
          <a:xfrm>
            <a:off x="1572768" y="4956048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11827"/>
                </a:solidFill>
              </a:rPr>
              <a:t>Позднее выявление отклонений</a:t>
            </a:r>
            <a:endParaRPr lang="en-US" sz="1550" dirty="0"/>
          </a:p>
        </p:txBody>
      </p:sp>
      <p:sp>
        <p:nvSpPr>
          <p:cNvPr id="28" name="Text 25"/>
          <p:cNvSpPr/>
          <p:nvPr/>
        </p:nvSpPr>
        <p:spPr>
          <a:xfrm>
            <a:off x="4434840" y="4965192"/>
            <a:ext cx="4983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финансово значимые проблемы могут проявиться после выбора подрядчика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594360" y="5742432"/>
            <a:ext cx="8823960" cy="502920"/>
          </a:xfrm>
          <a:prstGeom prst="roundRect">
            <a:avLst>
              <a:gd name="adj" fmla="val 14545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Text 27"/>
          <p:cNvSpPr/>
          <p:nvPr/>
        </p:nvSpPr>
        <p:spPr>
          <a:xfrm>
            <a:off x="868680" y="5870448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111827"/>
                </a:solidFill>
              </a:rPr>
              <a:t>На крупных объектах даже небольшое отклонение стоимости превращается в финансово существенную сумму.</a:t>
            </a:r>
            <a:endParaRPr lang="en-US" sz="12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minimal_corporate_abstract_background_sce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2926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900" dirty="0"/>
          </a:p>
        </p:txBody>
      </p:sp>
      <p:sp>
        <p:nvSpPr>
          <p:cNvPr id="4" name="Shape 1"/>
          <p:cNvSpPr/>
          <p:nvPr/>
        </p:nvSpPr>
        <p:spPr>
          <a:xfrm>
            <a:off x="804672" y="310896"/>
            <a:ext cx="0" cy="283464"/>
          </a:xfrm>
          <a:prstGeom prst="line">
            <a:avLst/>
          </a:prstGeom>
          <a:noFill/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2"/>
          <p:cNvSpPr/>
          <p:nvPr/>
        </p:nvSpPr>
        <p:spPr>
          <a:xfrm>
            <a:off x="932688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КРАСНЫХ ЛИНИЙ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1228832" y="63550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11827"/>
                </a:solidFill>
              </a:rPr>
              <a:t>3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38912" y="86868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меняется с цифровой службой технического заказчика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457200" y="1655064"/>
            <a:ext cx="2011680" cy="0"/>
          </a:xfrm>
          <a:prstGeom prst="line">
            <a:avLst/>
          </a:prstGeom>
          <a:noFill/>
          <a:ln w="2032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/>
          <p:nvPr/>
        </p:nvSpPr>
        <p:spPr>
          <a:xfrm>
            <a:off x="548640" y="18745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30613"/>
                </a:solidFill>
              </a:rPr>
              <a:t>СЕГОДНЯ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263640" y="187452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30613"/>
                </a:solidFill>
              </a:rPr>
              <a:t>СО СТРОЙИНТЕЛЛЕКТОМ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66928" y="2148840"/>
            <a:ext cx="4526280" cy="3611880"/>
          </a:xfrm>
          <a:prstGeom prst="roundRect">
            <a:avLst>
              <a:gd name="adj" fmla="val 2025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9"/>
          <p:cNvSpPr/>
          <p:nvPr/>
        </p:nvSpPr>
        <p:spPr>
          <a:xfrm>
            <a:off x="859536" y="240487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</a:rPr>
              <a:t>Сметчик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960120" y="262432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↓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59536" y="286207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</a:rPr>
              <a:t>ПТО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960120" y="308152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↓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59536" y="331927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</a:rPr>
              <a:t>Закупки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960120" y="353872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↓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59536" y="377647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</a:rPr>
              <a:t>Финансы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960120" y="399592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↓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59536" y="423367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</a:rPr>
              <a:t>Юрист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960120" y="445312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↓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59536" y="469087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</a:rPr>
              <a:t>Руководитель проекта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2926080" y="507492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4B5563"/>
                </a:solidFill>
              </a:rPr>
              <a:t>ручное объединение выводов</a:t>
            </a:r>
            <a:endParaRPr lang="en-US" sz="1080" dirty="0"/>
          </a:p>
        </p:txBody>
      </p:sp>
      <p:sp>
        <p:nvSpPr>
          <p:cNvPr id="24" name="Shape 21"/>
          <p:cNvSpPr/>
          <p:nvPr/>
        </p:nvSpPr>
        <p:spPr>
          <a:xfrm>
            <a:off x="5349240" y="3886200"/>
            <a:ext cx="502920" cy="0"/>
          </a:xfrm>
          <a:prstGeom prst="line">
            <a:avLst/>
          </a:prstGeom>
          <a:noFill/>
          <a:ln w="20320">
            <a:solidFill>
              <a:srgbClr val="E3061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25" name="Shape 22"/>
          <p:cNvSpPr/>
          <p:nvPr/>
        </p:nvSpPr>
        <p:spPr>
          <a:xfrm>
            <a:off x="6080760" y="2148840"/>
            <a:ext cx="4709160" cy="3611880"/>
          </a:xfrm>
          <a:prstGeom prst="roundRect">
            <a:avLst>
              <a:gd name="adj" fmla="val 2025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Text 23"/>
          <p:cNvSpPr/>
          <p:nvPr/>
        </p:nvSpPr>
        <p:spPr>
          <a:xfrm>
            <a:off x="6400800" y="24231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4B5563"/>
                </a:solidFill>
              </a:rPr>
              <a:t>Документы и данные объекта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8183880" y="270662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30613"/>
                </a:solidFill>
              </a:rPr>
              <a:t>↓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446520" y="301752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30613"/>
                </a:solidFill>
              </a:rPr>
              <a:t>Цифровая служба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E30613"/>
                </a:solidFill>
              </a:rPr>
              <a:t>технического заказчика</a:t>
            </a:r>
            <a:endParaRPr lang="en-US" sz="1700" dirty="0"/>
          </a:p>
        </p:txBody>
      </p:sp>
      <p:sp>
        <p:nvSpPr>
          <p:cNvPr id="29" name="Text 26"/>
          <p:cNvSpPr/>
          <p:nvPr/>
        </p:nvSpPr>
        <p:spPr>
          <a:xfrm>
            <a:off x="6446520" y="36576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40" dirty="0">
                <a:solidFill>
                  <a:srgbClr val="4B5563"/>
                </a:solidFill>
              </a:rPr>
              <a:t>параллельный анализ профильными ИИ-агентами</a:t>
            </a:r>
            <a:endParaRPr lang="en-US" sz="1240" dirty="0"/>
          </a:p>
        </p:txBody>
      </p:sp>
      <p:sp>
        <p:nvSpPr>
          <p:cNvPr id="30" name="Text 27"/>
          <p:cNvSpPr/>
          <p:nvPr/>
        </p:nvSpPr>
        <p:spPr>
          <a:xfrm>
            <a:off x="8183880" y="395020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30613"/>
                </a:solidFill>
              </a:rPr>
              <a:t>↓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400800" y="43159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11827"/>
                </a:solidFill>
              </a:rPr>
              <a:t>Единый финансово-технический вывод</a:t>
            </a:r>
            <a:endParaRPr lang="en-US" sz="1450" dirty="0"/>
          </a:p>
        </p:txBody>
      </p:sp>
      <p:sp>
        <p:nvSpPr>
          <p:cNvPr id="32" name="Text 29"/>
          <p:cNvSpPr/>
          <p:nvPr/>
        </p:nvSpPr>
        <p:spPr>
          <a:xfrm>
            <a:off x="6400800" y="477316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4B5563"/>
                </a:solidFill>
              </a:rPr>
              <a:t>отклонения → деньги и сроки → действия → ответственные → контрольные даты</a:t>
            </a:r>
            <a:endParaRPr lang="en-US" sz="1140" dirty="0"/>
          </a:p>
        </p:txBody>
      </p:sp>
      <p:sp>
        <p:nvSpPr>
          <p:cNvPr id="33" name="Shape 30"/>
          <p:cNvSpPr/>
          <p:nvPr/>
        </p:nvSpPr>
        <p:spPr>
          <a:xfrm>
            <a:off x="914400" y="6035040"/>
            <a:ext cx="9601200" cy="438912"/>
          </a:xfrm>
          <a:prstGeom prst="roundRect">
            <a:avLst>
              <a:gd name="adj" fmla="val 16667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4" name="Text 31"/>
          <p:cNvSpPr/>
          <p:nvPr/>
        </p:nvSpPr>
        <p:spPr>
          <a:xfrm>
            <a:off x="1143000" y="6163056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111827"/>
                </a:solidFill>
              </a:rPr>
              <a:t>Не отдельные заключения разных функций — единая позиция службы технического заказчика по объекту</a:t>
            </a:r>
            <a:endParaRPr lang="en-US" sz="12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minimal_corporate_abstract_background_sce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2926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900" dirty="0"/>
          </a:p>
        </p:txBody>
      </p:sp>
      <p:sp>
        <p:nvSpPr>
          <p:cNvPr id="4" name="Shape 1"/>
          <p:cNvSpPr/>
          <p:nvPr/>
        </p:nvSpPr>
        <p:spPr>
          <a:xfrm>
            <a:off x="804672" y="310896"/>
            <a:ext cx="0" cy="283464"/>
          </a:xfrm>
          <a:prstGeom prst="line">
            <a:avLst/>
          </a:prstGeom>
          <a:noFill/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2"/>
          <p:cNvSpPr/>
          <p:nvPr/>
        </p:nvSpPr>
        <p:spPr>
          <a:xfrm>
            <a:off x="932688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КРАСНЫХ ЛИНИЙ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1228832" y="63550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11827"/>
                </a:solidFill>
              </a:rPr>
              <a:t>4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38912" y="8686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Клиентская ценность СтройИнтеллекта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457200" y="1655064"/>
            <a:ext cx="2011680" cy="0"/>
          </a:xfrm>
          <a:prstGeom prst="line">
            <a:avLst/>
          </a:prstGeom>
          <a:noFill/>
          <a:ln w="2032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/>
          <p:nvPr/>
        </p:nvSpPr>
        <p:spPr>
          <a:xfrm>
            <a:off x="475488" y="1755648"/>
            <a:ext cx="84124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последовательной разрозненной экспертизы — к единой цифровой работе службы технического заказчика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13232" y="256032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30613"/>
                </a:solidFill>
              </a:rPr>
              <a:t>↓ Время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063240" y="2542032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11827"/>
                </a:solidFill>
              </a:rPr>
              <a:t>короче цикл финансово-технической проверки и подготовки комплексного вывода</a:t>
            </a:r>
            <a:endParaRPr lang="en-US" sz="1270" dirty="0"/>
          </a:p>
        </p:txBody>
      </p:sp>
      <p:sp>
        <p:nvSpPr>
          <p:cNvPr id="12" name="Shape 9"/>
          <p:cNvSpPr/>
          <p:nvPr/>
        </p:nvSpPr>
        <p:spPr>
          <a:xfrm>
            <a:off x="685800" y="2999232"/>
            <a:ext cx="85953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713232" y="321868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30613"/>
                </a:solidFill>
              </a:rPr>
              <a:t>↓ Трудозатраты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063240" y="320040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11827"/>
                </a:solidFill>
              </a:rPr>
              <a:t>меньше ручного поиска, извлечения, сверки, расчётов и сводных материалов</a:t>
            </a:r>
            <a:endParaRPr lang="en-US" sz="1270" dirty="0"/>
          </a:p>
        </p:txBody>
      </p:sp>
      <p:sp>
        <p:nvSpPr>
          <p:cNvPr id="15" name="Shape 12"/>
          <p:cNvSpPr/>
          <p:nvPr/>
        </p:nvSpPr>
        <p:spPr>
          <a:xfrm>
            <a:off x="685800" y="3657600"/>
            <a:ext cx="85953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3"/>
          <p:cNvSpPr/>
          <p:nvPr/>
        </p:nvSpPr>
        <p:spPr>
          <a:xfrm>
            <a:off x="713232" y="387705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30613"/>
                </a:solidFill>
              </a:rPr>
              <a:t>↓ Организационная сложность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3063240" y="385876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11827"/>
                </a:solidFill>
              </a:rPr>
              <a:t>техническая, сметная, финансовая и договорная оценки формируются на единой фактуре</a:t>
            </a:r>
            <a:endParaRPr lang="en-US" sz="1270" dirty="0"/>
          </a:p>
        </p:txBody>
      </p:sp>
      <p:sp>
        <p:nvSpPr>
          <p:cNvPr id="18" name="Shape 15"/>
          <p:cNvSpPr/>
          <p:nvPr/>
        </p:nvSpPr>
        <p:spPr>
          <a:xfrm>
            <a:off x="685800" y="4315968"/>
            <a:ext cx="85953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6"/>
          <p:cNvSpPr/>
          <p:nvPr/>
        </p:nvSpPr>
        <p:spPr>
          <a:xfrm>
            <a:off x="713232" y="453542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30613"/>
                </a:solidFill>
              </a:rPr>
              <a:t>↑ Управляемость действий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3063240" y="4517136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11827"/>
                </a:solidFill>
              </a:rPr>
              <a:t>единый перечень отклонений, вопросов, корректирующих мер, ответственных и дат</a:t>
            </a:r>
            <a:endParaRPr lang="en-US" sz="1270" dirty="0"/>
          </a:p>
        </p:txBody>
      </p:sp>
      <p:sp>
        <p:nvSpPr>
          <p:cNvPr id="21" name="Shape 18"/>
          <p:cNvSpPr/>
          <p:nvPr/>
        </p:nvSpPr>
        <p:spPr>
          <a:xfrm>
            <a:off x="685800" y="4974336"/>
            <a:ext cx="85953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19"/>
          <p:cNvSpPr/>
          <p:nvPr/>
        </p:nvSpPr>
        <p:spPr>
          <a:xfrm>
            <a:off x="713232" y="5193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30613"/>
                </a:solidFill>
              </a:rPr>
              <a:t>↓ Финансовые риски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3063240" y="5175504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11827"/>
                </a:solidFill>
              </a:rPr>
              <a:t>раньше выявляются потенциальные переплаты и их влияние на экономику проекта</a:t>
            </a:r>
            <a:endParaRPr lang="en-US" sz="1270" dirty="0"/>
          </a:p>
        </p:txBody>
      </p:sp>
      <p:sp>
        <p:nvSpPr>
          <p:cNvPr id="24" name="Shape 21"/>
          <p:cNvSpPr/>
          <p:nvPr/>
        </p:nvSpPr>
        <p:spPr>
          <a:xfrm>
            <a:off x="685800" y="6080760"/>
            <a:ext cx="9052560" cy="457200"/>
          </a:xfrm>
          <a:prstGeom prst="roundRect">
            <a:avLst>
              <a:gd name="adj" fmla="val 16000"/>
            </a:avLst>
          </a:prstGeom>
          <a:solidFill>
            <a:srgbClr val="F9FAFB">
              <a:alpha val="98000"/>
            </a:srgbClr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2"/>
          <p:cNvSpPr/>
          <p:nvPr/>
        </p:nvSpPr>
        <p:spPr>
          <a:xfrm>
            <a:off x="896112" y="620877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111827"/>
                </a:solidFill>
              </a:rPr>
              <a:t>Четыре повторяющихся эффекта: быстрее проверять • меньше ручного труда • проще координировать функции • раньше видеть последствия</a:t>
            </a:r>
            <a:endParaRPr lang="en-US" sz="11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minimal_corporate_abstract_background_sce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2926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900" dirty="0"/>
          </a:p>
        </p:txBody>
      </p:sp>
      <p:sp>
        <p:nvSpPr>
          <p:cNvPr id="4" name="Shape 1"/>
          <p:cNvSpPr/>
          <p:nvPr/>
        </p:nvSpPr>
        <p:spPr>
          <a:xfrm>
            <a:off x="804672" y="310896"/>
            <a:ext cx="0" cy="283464"/>
          </a:xfrm>
          <a:prstGeom prst="line">
            <a:avLst/>
          </a:prstGeom>
          <a:noFill/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2"/>
          <p:cNvSpPr/>
          <p:nvPr/>
        </p:nvSpPr>
        <p:spPr>
          <a:xfrm>
            <a:off x="932688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КРАСНЫХ ЛИНИЙ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1228832" y="63550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11827"/>
                </a:solidFill>
              </a:rPr>
              <a:t>5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38912" y="8686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Быстрее получить комплексный результат</a:t>
            </a:r>
            <a:endParaRPr lang="en-US" sz="3500" dirty="0"/>
          </a:p>
        </p:txBody>
      </p:sp>
      <p:sp>
        <p:nvSpPr>
          <p:cNvPr id="8" name="Shape 5"/>
          <p:cNvSpPr/>
          <p:nvPr/>
        </p:nvSpPr>
        <p:spPr>
          <a:xfrm>
            <a:off x="457200" y="1655064"/>
            <a:ext cx="2011680" cy="0"/>
          </a:xfrm>
          <a:prstGeom prst="line">
            <a:avLst/>
          </a:prstGeom>
          <a:noFill/>
          <a:ln w="2032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/>
          <p:nvPr/>
        </p:nvSpPr>
        <p:spPr>
          <a:xfrm>
            <a:off x="475488" y="1737360"/>
            <a:ext cx="76809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Время формирования ответа системы при согласованной инфраструктуре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85800" y="256032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96000"/>
            </a:srgbClr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868680" y="272491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E30613"/>
                </a:solidFill>
              </a:rPr>
              <a:t>до 15 мин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868680" y="3264408"/>
            <a:ext cx="21488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Экспресс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429000" y="256032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96000"/>
            </a:srgbClr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1"/>
          <p:cNvSpPr/>
          <p:nvPr/>
        </p:nvSpPr>
        <p:spPr>
          <a:xfrm>
            <a:off x="3611880" y="272491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E30613"/>
                </a:solidFill>
              </a:rPr>
              <a:t>до 1 ч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3611880" y="3264408"/>
            <a:ext cx="21488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Стандарт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172200" y="256032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96000"/>
            </a:srgbClr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/>
          <p:nvPr/>
        </p:nvSpPr>
        <p:spPr>
          <a:xfrm>
            <a:off x="6355080" y="272491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E30613"/>
                </a:solidFill>
              </a:rPr>
              <a:t>до 5 ч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6355080" y="3264408"/>
            <a:ext cx="21488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Эксперт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13232" y="45902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30613"/>
                </a:solidFill>
              </a:rPr>
              <a:t>ЗА СЧЁТ ЧЕГО СОКРАЩАЕТСЯ ЦИКЛ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13232" y="4983480"/>
            <a:ext cx="7132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111827"/>
                </a:solidFill>
              </a:rPr>
              <a:t>› параллельный анализ документов по функциональным направлениям
› автоматическое извлечение, сопоставление и расчёты
› объединение результатов агентов в единый вывод
› подготовка выгрузок и материалов для решения</a:t>
            </a:r>
            <a:endParaRPr lang="en-US" sz="1360" dirty="0"/>
          </a:p>
        </p:txBody>
      </p:sp>
      <p:sp>
        <p:nvSpPr>
          <p:cNvPr id="21" name="Text 18"/>
          <p:cNvSpPr/>
          <p:nvPr/>
        </p:nvSpPr>
        <p:spPr>
          <a:xfrm>
            <a:off x="713232" y="62636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</a:rPr>
              <a:t>Важно: это не обещание «полной экспертизы объекта за 15 минут», а режимы формирования ответа системы.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minimal_corporate_abstract_background_sce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2926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900" dirty="0"/>
          </a:p>
        </p:txBody>
      </p:sp>
      <p:sp>
        <p:nvSpPr>
          <p:cNvPr id="4" name="Shape 1"/>
          <p:cNvSpPr/>
          <p:nvPr/>
        </p:nvSpPr>
        <p:spPr>
          <a:xfrm>
            <a:off x="804672" y="310896"/>
            <a:ext cx="0" cy="283464"/>
          </a:xfrm>
          <a:prstGeom prst="line">
            <a:avLst/>
          </a:prstGeom>
          <a:noFill/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2"/>
          <p:cNvSpPr/>
          <p:nvPr/>
        </p:nvSpPr>
        <p:spPr>
          <a:xfrm>
            <a:off x="932688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КРАСНЫХ ЛИНИЙ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1228832" y="63550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11827"/>
                </a:solidFill>
              </a:rPr>
              <a:t>6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38912" y="8686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Меньше ручной работы специалистов</a:t>
            </a:r>
            <a:endParaRPr lang="en-US" sz="3500" dirty="0"/>
          </a:p>
        </p:txBody>
      </p:sp>
      <p:sp>
        <p:nvSpPr>
          <p:cNvPr id="8" name="Shape 5"/>
          <p:cNvSpPr/>
          <p:nvPr/>
        </p:nvSpPr>
        <p:spPr>
          <a:xfrm>
            <a:off x="457200" y="1655064"/>
            <a:ext cx="2011680" cy="0"/>
          </a:xfrm>
          <a:prstGeom prst="line">
            <a:avLst/>
          </a:prstGeom>
          <a:noFill/>
          <a:ln w="2032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/>
          <p:nvPr/>
        </p:nvSpPr>
        <p:spPr>
          <a:xfrm>
            <a:off x="685800" y="18745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30613"/>
                </a:solidFill>
              </a:rPr>
              <a:t>БЫЛО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080760" y="18745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30613"/>
                </a:solidFill>
              </a:rPr>
              <a:t>СТАЛО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58368" y="2240280"/>
            <a:ext cx="4389120" cy="3520440"/>
          </a:xfrm>
          <a:prstGeom prst="roundRect">
            <a:avLst>
              <a:gd name="adj" fmla="val 2078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9"/>
          <p:cNvSpPr/>
          <p:nvPr/>
        </p:nvSpPr>
        <p:spPr>
          <a:xfrm>
            <a:off x="914400" y="2514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Специалист вручную: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14400" y="2999232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11827"/>
                </a:solidFill>
              </a:rPr>
              <a:t>› ищет данные
› переносит их между файлами
› нормализует позиции
› сопоставляет КП
› проверяет арифметику
› готовит заключение</a:t>
            </a:r>
            <a:endParaRPr lang="en-US" sz="1280" dirty="0"/>
          </a:p>
        </p:txBody>
      </p:sp>
      <p:sp>
        <p:nvSpPr>
          <p:cNvPr id="14" name="Shape 11"/>
          <p:cNvSpPr/>
          <p:nvPr/>
        </p:nvSpPr>
        <p:spPr>
          <a:xfrm>
            <a:off x="5349240" y="4041648"/>
            <a:ext cx="502920" cy="0"/>
          </a:xfrm>
          <a:prstGeom prst="line">
            <a:avLst/>
          </a:prstGeom>
          <a:noFill/>
          <a:ln w="20320">
            <a:solidFill>
              <a:srgbClr val="E30613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2"/>
          <p:cNvSpPr/>
          <p:nvPr/>
        </p:nvSpPr>
        <p:spPr>
          <a:xfrm>
            <a:off x="5989320" y="2240280"/>
            <a:ext cx="4480560" cy="3520440"/>
          </a:xfrm>
          <a:prstGeom prst="roundRect">
            <a:avLst>
              <a:gd name="adj" fmla="val 2078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3"/>
          <p:cNvSpPr/>
          <p:nvPr/>
        </p:nvSpPr>
        <p:spPr>
          <a:xfrm>
            <a:off x="6281928" y="2514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30613"/>
                </a:solidFill>
              </a:rPr>
              <a:t>СтройИнтеллект готовит: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281928" y="2999232"/>
            <a:ext cx="3611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11827"/>
                </a:solidFill>
              </a:rPr>
              <a:t>› структурированные данные
› сопоставление позиций
› расчёты и отклонения
› сводный вывод функций
› реестр вопросов и действий</a:t>
            </a:r>
            <a:endParaRPr lang="en-US" sz="1280" dirty="0"/>
          </a:p>
        </p:txBody>
      </p:sp>
      <p:sp>
        <p:nvSpPr>
          <p:cNvPr id="18" name="Shape 15"/>
          <p:cNvSpPr/>
          <p:nvPr/>
        </p:nvSpPr>
        <p:spPr>
          <a:xfrm>
            <a:off x="6281928" y="4983480"/>
            <a:ext cx="352044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6"/>
          <p:cNvSpPr/>
          <p:nvPr/>
        </p:nvSpPr>
        <p:spPr>
          <a:xfrm>
            <a:off x="6281928" y="519379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</a:rPr>
              <a:t>Эксперт проверяет результат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</a:rPr>
              <a:t>и применяет профессиональное суждение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85800" y="6080760"/>
            <a:ext cx="9875520" cy="438912"/>
          </a:xfrm>
          <a:prstGeom prst="roundRect">
            <a:avLst>
              <a:gd name="adj" fmla="val 16667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8"/>
          <p:cNvSpPr/>
          <p:nvPr/>
        </p:nvSpPr>
        <p:spPr>
          <a:xfrm>
            <a:off x="914400" y="6208776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70" b="1" dirty="0">
                <a:solidFill>
                  <a:srgbClr val="111827"/>
                </a:solidFill>
              </a:rPr>
              <a:t>Экспертное время переносится с механической обработки информации на проверку выводов и подготовку решения.</a:t>
            </a:r>
            <a:endParaRPr lang="en-US" sz="127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minimal_corporate_abstract_background_sce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2926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900" dirty="0"/>
          </a:p>
        </p:txBody>
      </p:sp>
      <p:sp>
        <p:nvSpPr>
          <p:cNvPr id="4" name="Shape 1"/>
          <p:cNvSpPr/>
          <p:nvPr/>
        </p:nvSpPr>
        <p:spPr>
          <a:xfrm>
            <a:off x="804672" y="310896"/>
            <a:ext cx="0" cy="283464"/>
          </a:xfrm>
          <a:prstGeom prst="line">
            <a:avLst/>
          </a:prstGeom>
          <a:noFill/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2"/>
          <p:cNvSpPr/>
          <p:nvPr/>
        </p:nvSpPr>
        <p:spPr>
          <a:xfrm>
            <a:off x="932688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КРАСНЫХ ЛИНИЙ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1228832" y="63550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11827"/>
                </a:solidFill>
              </a:rPr>
              <a:t>7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38912" y="868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только выявить отклонение — организовать действие</a:t>
            </a:r>
            <a:endParaRPr lang="en-US" sz="3300" dirty="0"/>
          </a:p>
        </p:txBody>
      </p:sp>
      <p:sp>
        <p:nvSpPr>
          <p:cNvPr id="8" name="Shape 5"/>
          <p:cNvSpPr/>
          <p:nvPr/>
        </p:nvSpPr>
        <p:spPr>
          <a:xfrm>
            <a:off x="457200" y="1655064"/>
            <a:ext cx="2011680" cy="0"/>
          </a:xfrm>
          <a:prstGeom prst="line">
            <a:avLst/>
          </a:prstGeom>
          <a:noFill/>
          <a:ln w="2032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6"/>
          <p:cNvSpPr/>
          <p:nvPr/>
        </p:nvSpPr>
        <p:spPr>
          <a:xfrm>
            <a:off x="566928" y="2331720"/>
            <a:ext cx="1783080" cy="1874520"/>
          </a:xfrm>
          <a:prstGeom prst="roundRect">
            <a:avLst>
              <a:gd name="adj" fmla="val 4103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7"/>
          <p:cNvSpPr/>
          <p:nvPr/>
        </p:nvSpPr>
        <p:spPr>
          <a:xfrm>
            <a:off x="713232" y="252374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30613"/>
                </a:solidFill>
              </a:rPr>
              <a:t>1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713232" y="29077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827"/>
                </a:solidFill>
              </a:rPr>
              <a:t>Выявить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713232" y="3383280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4B5563"/>
                </a:solidFill>
              </a:rPr>
              <a:t>переплата / ошибка / риск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2377440" y="3246120"/>
            <a:ext cx="228600" cy="0"/>
          </a:xfrm>
          <a:prstGeom prst="line">
            <a:avLst/>
          </a:prstGeom>
          <a:noFill/>
          <a:ln w="15240">
            <a:solidFill>
              <a:srgbClr val="E30613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14" name="Shape 11"/>
          <p:cNvSpPr/>
          <p:nvPr/>
        </p:nvSpPr>
        <p:spPr>
          <a:xfrm>
            <a:off x="2606040" y="2331720"/>
            <a:ext cx="1783080" cy="1874520"/>
          </a:xfrm>
          <a:prstGeom prst="roundRect">
            <a:avLst>
              <a:gd name="adj" fmla="val 4103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2752344" y="252374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30613"/>
                </a:solidFill>
              </a:rPr>
              <a:t>2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2752344" y="29077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827"/>
                </a:solidFill>
              </a:rPr>
              <a:t>Оценить</a:t>
            </a:r>
            <a:endParaRPr lang="en-US" sz="1320" dirty="0"/>
          </a:p>
        </p:txBody>
      </p:sp>
      <p:sp>
        <p:nvSpPr>
          <p:cNvPr id="17" name="Text 14"/>
          <p:cNvSpPr/>
          <p:nvPr/>
        </p:nvSpPr>
        <p:spPr>
          <a:xfrm>
            <a:off x="2752344" y="3383280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4B5563"/>
                </a:solidFill>
              </a:rPr>
              <a:t>влияние в ₽ и на сроки</a:t>
            </a:r>
            <a:endParaRPr lang="en-US" sz="1080" dirty="0"/>
          </a:p>
        </p:txBody>
      </p:sp>
      <p:sp>
        <p:nvSpPr>
          <p:cNvPr id="18" name="Shape 15"/>
          <p:cNvSpPr/>
          <p:nvPr/>
        </p:nvSpPr>
        <p:spPr>
          <a:xfrm>
            <a:off x="4416552" y="3246120"/>
            <a:ext cx="228600" cy="0"/>
          </a:xfrm>
          <a:prstGeom prst="line">
            <a:avLst/>
          </a:prstGeom>
          <a:noFill/>
          <a:ln w="15240">
            <a:solidFill>
              <a:srgbClr val="E30613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19" name="Shape 16"/>
          <p:cNvSpPr/>
          <p:nvPr/>
        </p:nvSpPr>
        <p:spPr>
          <a:xfrm>
            <a:off x="4645152" y="2331720"/>
            <a:ext cx="1783080" cy="1874520"/>
          </a:xfrm>
          <a:prstGeom prst="roundRect">
            <a:avLst>
              <a:gd name="adj" fmla="val 4103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7"/>
          <p:cNvSpPr/>
          <p:nvPr/>
        </p:nvSpPr>
        <p:spPr>
          <a:xfrm>
            <a:off x="4791456" y="252374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30613"/>
                </a:solidFill>
              </a:rPr>
              <a:t>3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4791456" y="29077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827"/>
                </a:solidFill>
              </a:rPr>
              <a:t>Определить действие</a:t>
            </a:r>
            <a:endParaRPr lang="en-US" sz="1320" dirty="0"/>
          </a:p>
        </p:txBody>
      </p:sp>
      <p:sp>
        <p:nvSpPr>
          <p:cNvPr id="22" name="Text 19"/>
          <p:cNvSpPr/>
          <p:nvPr/>
        </p:nvSpPr>
        <p:spPr>
          <a:xfrm>
            <a:off x="4791456" y="3383280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4B5563"/>
                </a:solidFill>
              </a:rPr>
              <a:t>уточнить / пересчитать / провести переговоры</a:t>
            </a:r>
            <a:endParaRPr lang="en-US" sz="1080" dirty="0"/>
          </a:p>
        </p:txBody>
      </p:sp>
      <p:sp>
        <p:nvSpPr>
          <p:cNvPr id="23" name="Shape 20"/>
          <p:cNvSpPr/>
          <p:nvPr/>
        </p:nvSpPr>
        <p:spPr>
          <a:xfrm>
            <a:off x="6455664" y="3246120"/>
            <a:ext cx="228600" cy="0"/>
          </a:xfrm>
          <a:prstGeom prst="line">
            <a:avLst/>
          </a:prstGeom>
          <a:noFill/>
          <a:ln w="15240">
            <a:solidFill>
              <a:srgbClr val="E30613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24" name="Shape 21"/>
          <p:cNvSpPr/>
          <p:nvPr/>
        </p:nvSpPr>
        <p:spPr>
          <a:xfrm>
            <a:off x="6684264" y="2331720"/>
            <a:ext cx="1783080" cy="1874520"/>
          </a:xfrm>
          <a:prstGeom prst="roundRect">
            <a:avLst>
              <a:gd name="adj" fmla="val 4103"/>
            </a:avLst>
          </a:prstGeom>
          <a:solidFill>
            <a:srgbClr val="FFF7F7">
              <a:alpha val="98000"/>
            </a:srgbClr>
          </a:solidFill>
          <a:ln w="1016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2"/>
          <p:cNvSpPr/>
          <p:nvPr/>
        </p:nvSpPr>
        <p:spPr>
          <a:xfrm>
            <a:off x="6830568" y="252374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30613"/>
                </a:solidFill>
              </a:rPr>
              <a:t>4</a:t>
            </a:r>
            <a:endParaRPr lang="en-US" sz="1900" dirty="0"/>
          </a:p>
        </p:txBody>
      </p:sp>
      <p:sp>
        <p:nvSpPr>
          <p:cNvPr id="26" name="Text 23"/>
          <p:cNvSpPr/>
          <p:nvPr/>
        </p:nvSpPr>
        <p:spPr>
          <a:xfrm>
            <a:off x="6830568" y="29077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827"/>
                </a:solidFill>
              </a:rPr>
              <a:t>Организовать</a:t>
            </a:r>
            <a:endParaRPr lang="en-US" sz="1320" dirty="0"/>
          </a:p>
        </p:txBody>
      </p:sp>
      <p:sp>
        <p:nvSpPr>
          <p:cNvPr id="27" name="Text 24"/>
          <p:cNvSpPr/>
          <p:nvPr/>
        </p:nvSpPr>
        <p:spPr>
          <a:xfrm>
            <a:off x="6830568" y="3383280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4B5563"/>
                </a:solidFill>
              </a:rPr>
              <a:t>вопрос → действие → ответственный → срок</a:t>
            </a:r>
            <a:endParaRPr lang="en-US" sz="1080" dirty="0"/>
          </a:p>
        </p:txBody>
      </p:sp>
      <p:sp>
        <p:nvSpPr>
          <p:cNvPr id="28" name="Shape 25"/>
          <p:cNvSpPr/>
          <p:nvPr/>
        </p:nvSpPr>
        <p:spPr>
          <a:xfrm>
            <a:off x="8494776" y="3246120"/>
            <a:ext cx="228600" cy="0"/>
          </a:xfrm>
          <a:prstGeom prst="line">
            <a:avLst/>
          </a:prstGeom>
          <a:noFill/>
          <a:ln w="15240">
            <a:solidFill>
              <a:srgbClr val="E30613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29" name="Shape 26"/>
          <p:cNvSpPr/>
          <p:nvPr/>
        </p:nvSpPr>
        <p:spPr>
          <a:xfrm>
            <a:off x="8723376" y="2331720"/>
            <a:ext cx="1783080" cy="1874520"/>
          </a:xfrm>
          <a:prstGeom prst="roundRect">
            <a:avLst>
              <a:gd name="adj" fmla="val 4103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Text 27"/>
          <p:cNvSpPr/>
          <p:nvPr/>
        </p:nvSpPr>
        <p:spPr>
          <a:xfrm>
            <a:off x="8869680" y="252374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30613"/>
                </a:solidFill>
              </a:rPr>
              <a:t>5</a:t>
            </a:r>
            <a:endParaRPr lang="en-US" sz="1900" dirty="0"/>
          </a:p>
        </p:txBody>
      </p:sp>
      <p:sp>
        <p:nvSpPr>
          <p:cNvPr id="31" name="Text 28"/>
          <p:cNvSpPr/>
          <p:nvPr/>
        </p:nvSpPr>
        <p:spPr>
          <a:xfrm>
            <a:off x="8869680" y="29077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827"/>
                </a:solidFill>
              </a:rPr>
              <a:t>Контролировать</a:t>
            </a:r>
            <a:endParaRPr lang="en-US" sz="1320" dirty="0"/>
          </a:p>
        </p:txBody>
      </p:sp>
      <p:sp>
        <p:nvSpPr>
          <p:cNvPr id="32" name="Text 29"/>
          <p:cNvSpPr/>
          <p:nvPr/>
        </p:nvSpPr>
        <p:spPr>
          <a:xfrm>
            <a:off x="8869680" y="3383280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4B5563"/>
                </a:solidFill>
              </a:rPr>
              <a:t>реестр открытых вопросов и дат</a:t>
            </a:r>
            <a:endParaRPr lang="en-US" sz="1080" dirty="0"/>
          </a:p>
        </p:txBody>
      </p:sp>
      <p:sp>
        <p:nvSpPr>
          <p:cNvPr id="33" name="Shape 30"/>
          <p:cNvSpPr/>
          <p:nvPr/>
        </p:nvSpPr>
        <p:spPr>
          <a:xfrm>
            <a:off x="777240" y="4956048"/>
            <a:ext cx="9052560" cy="804672"/>
          </a:xfrm>
          <a:prstGeom prst="roundRect">
            <a:avLst>
              <a:gd name="adj" fmla="val 9091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4" name="Text 31"/>
          <p:cNvSpPr/>
          <p:nvPr/>
        </p:nvSpPr>
        <p:spPr>
          <a:xfrm>
            <a:off x="1042416" y="524865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30" b="1" dirty="0">
                <a:solidFill>
                  <a:srgbClr val="111827"/>
                </a:solidFill>
              </a:rPr>
              <a:t>Цифровая служба технического заказчика превращает результаты проверки в организованный процесс корректирующих действий.</a:t>
            </a:r>
            <a:endParaRPr lang="en-US" sz="1530" dirty="0"/>
          </a:p>
        </p:txBody>
      </p:sp>
      <p:sp>
        <p:nvSpPr>
          <p:cNvPr id="35" name="Text 32"/>
          <p:cNvSpPr/>
          <p:nvPr/>
        </p:nvSpPr>
        <p:spPr>
          <a:xfrm>
            <a:off x="1024128" y="59253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</a:rPr>
              <a:t>Результат: меньше межфункциональных «разрывов» и понятнее, кто, что и к какому сроку должен сделать по объекту.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minimal_corporate_abstract_background_sce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2926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900" dirty="0"/>
          </a:p>
        </p:txBody>
      </p:sp>
      <p:sp>
        <p:nvSpPr>
          <p:cNvPr id="4" name="Shape 1"/>
          <p:cNvSpPr/>
          <p:nvPr/>
        </p:nvSpPr>
        <p:spPr>
          <a:xfrm>
            <a:off x="804672" y="310896"/>
            <a:ext cx="0" cy="283464"/>
          </a:xfrm>
          <a:prstGeom prst="line">
            <a:avLst/>
          </a:prstGeom>
          <a:noFill/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2"/>
          <p:cNvSpPr/>
          <p:nvPr/>
        </p:nvSpPr>
        <p:spPr>
          <a:xfrm>
            <a:off x="932688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КРАСНЫХ ЛИНИЙ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1228832" y="63550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11827"/>
                </a:solidFill>
              </a:rPr>
              <a:t>8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38912" y="86868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Финансовый результат: последствия, а не только отклонение</a:t>
            </a:r>
            <a:endParaRPr lang="en-US" sz="3100" dirty="0"/>
          </a:p>
        </p:txBody>
      </p:sp>
      <p:sp>
        <p:nvSpPr>
          <p:cNvPr id="8" name="Shape 5"/>
          <p:cNvSpPr/>
          <p:nvPr/>
        </p:nvSpPr>
        <p:spPr>
          <a:xfrm>
            <a:off x="457200" y="1655064"/>
            <a:ext cx="2011680" cy="0"/>
          </a:xfrm>
          <a:prstGeom prst="line">
            <a:avLst/>
          </a:prstGeom>
          <a:noFill/>
          <a:ln w="2032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6"/>
          <p:cNvSpPr/>
          <p:nvPr/>
        </p:nvSpPr>
        <p:spPr>
          <a:xfrm>
            <a:off x="502920" y="2240280"/>
            <a:ext cx="1828800" cy="1920240"/>
          </a:xfrm>
          <a:prstGeom prst="roundRect">
            <a:avLst>
              <a:gd name="adj" fmla="val 4000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7"/>
          <p:cNvSpPr/>
          <p:nvPr/>
        </p:nvSpPr>
        <p:spPr>
          <a:xfrm>
            <a:off x="640080" y="257860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111827"/>
                </a:solidFill>
              </a:rPr>
              <a:t>Смета / КП</a:t>
            </a:r>
            <a:endParaRPr lang="en-US" sz="1340" dirty="0"/>
          </a:p>
          <a:p>
            <a:pPr marL="0" indent="0" algn="ctr">
              <a:buNone/>
            </a:pPr>
            <a:r>
              <a:rPr lang="en-US" sz="1340" b="1" dirty="0">
                <a:solidFill>
                  <a:srgbClr val="111827"/>
                </a:solidFill>
              </a:rPr>
              <a:t>подрядчика</a:t>
            </a:r>
            <a:endParaRPr lang="en-US" sz="1340" dirty="0"/>
          </a:p>
        </p:txBody>
      </p:sp>
      <p:sp>
        <p:nvSpPr>
          <p:cNvPr id="11" name="Text 8"/>
          <p:cNvSpPr/>
          <p:nvPr/>
        </p:nvSpPr>
        <p:spPr>
          <a:xfrm>
            <a:off x="640080" y="335584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B5563"/>
                </a:solidFill>
              </a:rPr>
              <a:t>входные документы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331720" y="3200400"/>
            <a:ext cx="256032" cy="0"/>
          </a:xfrm>
          <a:prstGeom prst="line">
            <a:avLst/>
          </a:prstGeom>
          <a:noFill/>
          <a:ln w="15240">
            <a:solidFill>
              <a:srgbClr val="E30613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10"/>
          <p:cNvSpPr/>
          <p:nvPr/>
        </p:nvSpPr>
        <p:spPr>
          <a:xfrm>
            <a:off x="2587752" y="2240280"/>
            <a:ext cx="1828800" cy="1920240"/>
          </a:xfrm>
          <a:prstGeom prst="roundRect">
            <a:avLst>
              <a:gd name="adj" fmla="val 4000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1"/>
          <p:cNvSpPr/>
          <p:nvPr/>
        </p:nvSpPr>
        <p:spPr>
          <a:xfrm>
            <a:off x="2724912" y="257860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111827"/>
                </a:solidFill>
              </a:rPr>
              <a:t>Собственная</a:t>
            </a:r>
            <a:endParaRPr lang="en-US" sz="1340" dirty="0"/>
          </a:p>
          <a:p>
            <a:pPr marL="0" indent="0" algn="ctr">
              <a:buNone/>
            </a:pPr>
            <a:r>
              <a:rPr lang="en-US" sz="1340" b="1" dirty="0">
                <a:solidFill>
                  <a:srgbClr val="111827"/>
                </a:solidFill>
              </a:rPr>
              <a:t>оценка</a:t>
            </a:r>
            <a:endParaRPr lang="en-US" sz="1340" dirty="0"/>
          </a:p>
        </p:txBody>
      </p:sp>
      <p:sp>
        <p:nvSpPr>
          <p:cNvPr id="15" name="Text 12"/>
          <p:cNvSpPr/>
          <p:nvPr/>
        </p:nvSpPr>
        <p:spPr>
          <a:xfrm>
            <a:off x="2724912" y="335584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B5563"/>
                </a:solidFill>
              </a:rPr>
              <a:t>расчётно-аналитическая модель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416552" y="3200400"/>
            <a:ext cx="256032" cy="0"/>
          </a:xfrm>
          <a:prstGeom prst="line">
            <a:avLst/>
          </a:prstGeom>
          <a:noFill/>
          <a:ln w="15240">
            <a:solidFill>
              <a:srgbClr val="E30613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17" name="Shape 14"/>
          <p:cNvSpPr/>
          <p:nvPr/>
        </p:nvSpPr>
        <p:spPr>
          <a:xfrm>
            <a:off x="4672584" y="2240280"/>
            <a:ext cx="1828800" cy="1920240"/>
          </a:xfrm>
          <a:prstGeom prst="roundRect">
            <a:avLst>
              <a:gd name="adj" fmla="val 4000"/>
            </a:avLst>
          </a:prstGeom>
          <a:solidFill>
            <a:srgbClr val="FFF7F7">
              <a:alpha val="98000"/>
            </a:srgbClr>
          </a:solidFill>
          <a:ln w="1016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5"/>
          <p:cNvSpPr/>
          <p:nvPr/>
        </p:nvSpPr>
        <p:spPr>
          <a:xfrm>
            <a:off x="4809744" y="257860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E30613"/>
                </a:solidFill>
              </a:rPr>
              <a:t>Потенциальное</a:t>
            </a:r>
            <a:endParaRPr lang="en-US" sz="1340" dirty="0"/>
          </a:p>
          <a:p>
            <a:pPr marL="0" indent="0" algn="ctr">
              <a:buNone/>
            </a:pPr>
            <a:r>
              <a:rPr lang="en-US" sz="1340" b="1" dirty="0">
                <a:solidFill>
                  <a:srgbClr val="E30613"/>
                </a:solidFill>
              </a:rPr>
              <a:t>отклонение, ₽</a:t>
            </a:r>
            <a:endParaRPr lang="en-US" sz="1340" dirty="0"/>
          </a:p>
        </p:txBody>
      </p:sp>
      <p:sp>
        <p:nvSpPr>
          <p:cNvPr id="19" name="Text 16"/>
          <p:cNvSpPr/>
          <p:nvPr/>
        </p:nvSpPr>
        <p:spPr>
          <a:xfrm>
            <a:off x="4809744" y="335584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B5563"/>
                </a:solidFill>
              </a:rPr>
              <a:t>сумма и причина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501384" y="3200400"/>
            <a:ext cx="256032" cy="0"/>
          </a:xfrm>
          <a:prstGeom prst="line">
            <a:avLst/>
          </a:prstGeom>
          <a:noFill/>
          <a:ln w="15240">
            <a:solidFill>
              <a:srgbClr val="E30613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21" name="Shape 18"/>
          <p:cNvSpPr/>
          <p:nvPr/>
        </p:nvSpPr>
        <p:spPr>
          <a:xfrm>
            <a:off x="6757416" y="2240280"/>
            <a:ext cx="1828800" cy="1920240"/>
          </a:xfrm>
          <a:prstGeom prst="roundRect">
            <a:avLst>
              <a:gd name="adj" fmla="val 4000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19"/>
          <p:cNvSpPr/>
          <p:nvPr/>
        </p:nvSpPr>
        <p:spPr>
          <a:xfrm>
            <a:off x="6894576" y="257860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111827"/>
                </a:solidFill>
              </a:rPr>
              <a:t>Влияние</a:t>
            </a:r>
            <a:endParaRPr lang="en-US" sz="1340" dirty="0"/>
          </a:p>
          <a:p>
            <a:pPr marL="0" indent="0" algn="ctr">
              <a:buNone/>
            </a:pPr>
            <a:r>
              <a:rPr lang="en-US" sz="1340" b="1" dirty="0">
                <a:solidFill>
                  <a:srgbClr val="111827"/>
                </a:solidFill>
              </a:rPr>
              <a:t>на экономику</a:t>
            </a:r>
            <a:endParaRPr lang="en-US" sz="1340" dirty="0"/>
          </a:p>
        </p:txBody>
      </p:sp>
      <p:sp>
        <p:nvSpPr>
          <p:cNvPr id="23" name="Text 20"/>
          <p:cNvSpPr/>
          <p:nvPr/>
        </p:nvSpPr>
        <p:spPr>
          <a:xfrm>
            <a:off x="6894576" y="335584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B5563"/>
                </a:solidFill>
              </a:rPr>
              <a:t>себестоимость, маржа, БДДС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586216" y="3200400"/>
            <a:ext cx="256032" cy="0"/>
          </a:xfrm>
          <a:prstGeom prst="line">
            <a:avLst/>
          </a:prstGeom>
          <a:noFill/>
          <a:ln w="15240">
            <a:solidFill>
              <a:srgbClr val="E30613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25" name="Shape 22"/>
          <p:cNvSpPr/>
          <p:nvPr/>
        </p:nvSpPr>
        <p:spPr>
          <a:xfrm>
            <a:off x="8842248" y="2240280"/>
            <a:ext cx="1828800" cy="1920240"/>
          </a:xfrm>
          <a:prstGeom prst="roundRect">
            <a:avLst>
              <a:gd name="adj" fmla="val 4000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Text 23"/>
          <p:cNvSpPr/>
          <p:nvPr/>
        </p:nvSpPr>
        <p:spPr>
          <a:xfrm>
            <a:off x="8979408" y="257860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111827"/>
                </a:solidFill>
              </a:rPr>
              <a:t>Основа</a:t>
            </a:r>
            <a:endParaRPr lang="en-US" sz="1340" dirty="0"/>
          </a:p>
          <a:p>
            <a:pPr marL="0" indent="0" algn="ctr">
              <a:buNone/>
            </a:pPr>
            <a:r>
              <a:rPr lang="en-US" sz="1340" b="1" dirty="0">
                <a:solidFill>
                  <a:srgbClr val="111827"/>
                </a:solidFill>
              </a:rPr>
              <a:t>для решения</a:t>
            </a:r>
            <a:endParaRPr lang="en-US" sz="1340" dirty="0"/>
          </a:p>
        </p:txBody>
      </p:sp>
      <p:sp>
        <p:nvSpPr>
          <p:cNvPr id="27" name="Text 24"/>
          <p:cNvSpPr/>
          <p:nvPr/>
        </p:nvSpPr>
        <p:spPr>
          <a:xfrm>
            <a:off x="8979408" y="335584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B5563"/>
                </a:solidFill>
              </a:rPr>
              <a:t>переговоры / корректировка / проверка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960120" y="4937760"/>
            <a:ext cx="8961120" cy="786384"/>
          </a:xfrm>
          <a:prstGeom prst="roundRect">
            <a:avLst>
              <a:gd name="adj" fmla="val 9302"/>
            </a:avLst>
          </a:prstGeom>
          <a:solidFill>
            <a:srgbClr val="F9FAFB">
              <a:alpha val="98000"/>
            </a:srgbClr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Text 26"/>
          <p:cNvSpPr/>
          <p:nvPr/>
        </p:nvSpPr>
        <p:spPr>
          <a:xfrm>
            <a:off x="1207008" y="5230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30" b="1" dirty="0">
                <a:solidFill>
                  <a:srgbClr val="111827"/>
                </a:solidFill>
              </a:rPr>
              <a:t>СтройИнтеллект показывает не только, где есть отклонение, но и сколько оно может стоить проекту.</a:t>
            </a:r>
            <a:endParaRPr lang="en-US" sz="1530" dirty="0"/>
          </a:p>
        </p:txBody>
      </p:sp>
      <p:sp>
        <p:nvSpPr>
          <p:cNvPr id="30" name="Text 27"/>
          <p:cNvSpPr/>
          <p:nvPr/>
        </p:nvSpPr>
        <p:spPr>
          <a:xfrm>
            <a:off x="1207008" y="58338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B5563"/>
                </a:solidFill>
              </a:rPr>
              <a:t>цепочка влияния: отклонение → себестоимость → маржа → проектное финансирование → бюджет движения денежных средств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minimal_corporate_abstract_background_sce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2926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900" dirty="0"/>
          </a:p>
        </p:txBody>
      </p:sp>
      <p:sp>
        <p:nvSpPr>
          <p:cNvPr id="4" name="Shape 1"/>
          <p:cNvSpPr/>
          <p:nvPr/>
        </p:nvSpPr>
        <p:spPr>
          <a:xfrm>
            <a:off x="804672" y="310896"/>
            <a:ext cx="0" cy="283464"/>
          </a:xfrm>
          <a:prstGeom prst="line">
            <a:avLst/>
          </a:prstGeom>
          <a:noFill/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2"/>
          <p:cNvSpPr/>
          <p:nvPr/>
        </p:nvSpPr>
        <p:spPr>
          <a:xfrm>
            <a:off x="932688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КРАСНЫХ ЛИНИЙ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1228832" y="63550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11827"/>
                </a:solidFill>
              </a:rPr>
              <a:t>9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38912" y="86868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Цифровая служба технического заказчика: 9 специализированных ИИ-агентов</a:t>
            </a:r>
            <a:endParaRPr lang="en-US" sz="2900" dirty="0"/>
          </a:p>
        </p:txBody>
      </p:sp>
      <p:sp>
        <p:nvSpPr>
          <p:cNvPr id="8" name="Shape 5"/>
          <p:cNvSpPr/>
          <p:nvPr/>
        </p:nvSpPr>
        <p:spPr>
          <a:xfrm>
            <a:off x="457200" y="1655064"/>
            <a:ext cx="2011680" cy="0"/>
          </a:xfrm>
          <a:prstGeom prst="line">
            <a:avLst/>
          </a:prstGeom>
          <a:noFill/>
          <a:ln w="2032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6"/>
          <p:cNvSpPr/>
          <p:nvPr/>
        </p:nvSpPr>
        <p:spPr>
          <a:xfrm>
            <a:off x="548640" y="2029968"/>
            <a:ext cx="2788920" cy="1188720"/>
          </a:xfrm>
          <a:prstGeom prst="roundRect">
            <a:avLst>
              <a:gd name="adj" fmla="val 6154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7"/>
          <p:cNvSpPr/>
          <p:nvPr/>
        </p:nvSpPr>
        <p:spPr>
          <a:xfrm>
            <a:off x="749808" y="2231136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b="1" dirty="0">
                <a:solidFill>
                  <a:srgbClr val="E30613"/>
                </a:solidFill>
              </a:rPr>
              <a:t>Технический контроль</a:t>
            </a:r>
            <a:endParaRPr lang="en-US" sz="1330" dirty="0"/>
          </a:p>
        </p:txBody>
      </p:sp>
      <p:sp>
        <p:nvSpPr>
          <p:cNvPr id="11" name="Text 8"/>
          <p:cNvSpPr/>
          <p:nvPr/>
        </p:nvSpPr>
        <p:spPr>
          <a:xfrm>
            <a:off x="749808" y="2624328"/>
            <a:ext cx="2386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11827"/>
                </a:solidFill>
              </a:rPr>
              <a:t>Главный инженер проекта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111827"/>
                </a:solidFill>
              </a:rPr>
              <a:t>Инженер ПТО</a:t>
            </a:r>
            <a:endParaRPr lang="en-US" sz="1130" dirty="0"/>
          </a:p>
        </p:txBody>
      </p:sp>
      <p:sp>
        <p:nvSpPr>
          <p:cNvPr id="12" name="Shape 9"/>
          <p:cNvSpPr/>
          <p:nvPr/>
        </p:nvSpPr>
        <p:spPr>
          <a:xfrm>
            <a:off x="3749040" y="2029968"/>
            <a:ext cx="2788920" cy="1188720"/>
          </a:xfrm>
          <a:prstGeom prst="roundRect">
            <a:avLst>
              <a:gd name="adj" fmla="val 6154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3950208" y="2231136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b="1" dirty="0">
                <a:solidFill>
                  <a:srgbClr val="E30613"/>
                </a:solidFill>
              </a:rPr>
              <a:t>Стоимость и подрядчики</a:t>
            </a:r>
            <a:endParaRPr lang="en-US" sz="1330" dirty="0"/>
          </a:p>
        </p:txBody>
      </p:sp>
      <p:sp>
        <p:nvSpPr>
          <p:cNvPr id="14" name="Text 11"/>
          <p:cNvSpPr/>
          <p:nvPr/>
        </p:nvSpPr>
        <p:spPr>
          <a:xfrm>
            <a:off x="3950208" y="2624328"/>
            <a:ext cx="2386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11827"/>
                </a:solidFill>
              </a:rPr>
              <a:t>Сметчик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111827"/>
                </a:solidFill>
              </a:rPr>
              <a:t>Снабжение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111827"/>
                </a:solidFill>
              </a:rPr>
              <a:t>Поиск подрядчиков</a:t>
            </a:r>
            <a:endParaRPr lang="en-US" sz="1130" dirty="0"/>
          </a:p>
        </p:txBody>
      </p:sp>
      <p:sp>
        <p:nvSpPr>
          <p:cNvPr id="15" name="Shape 12"/>
          <p:cNvSpPr/>
          <p:nvPr/>
        </p:nvSpPr>
        <p:spPr>
          <a:xfrm>
            <a:off x="6949440" y="2029968"/>
            <a:ext cx="2788920" cy="1188720"/>
          </a:xfrm>
          <a:prstGeom prst="roundRect">
            <a:avLst>
              <a:gd name="adj" fmla="val 6154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3"/>
          <p:cNvSpPr/>
          <p:nvPr/>
        </p:nvSpPr>
        <p:spPr>
          <a:xfrm>
            <a:off x="7150608" y="2231136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b="1" dirty="0">
                <a:solidFill>
                  <a:srgbClr val="E30613"/>
                </a:solidFill>
              </a:rPr>
              <a:t>Экономика</a:t>
            </a:r>
            <a:endParaRPr lang="en-US" sz="1330" dirty="0"/>
          </a:p>
        </p:txBody>
      </p:sp>
      <p:sp>
        <p:nvSpPr>
          <p:cNvPr id="17" name="Text 14"/>
          <p:cNvSpPr/>
          <p:nvPr/>
        </p:nvSpPr>
        <p:spPr>
          <a:xfrm>
            <a:off x="7150608" y="2624328"/>
            <a:ext cx="2386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11827"/>
                </a:solidFill>
              </a:rPr>
              <a:t>Экономист</a:t>
            </a:r>
            <a:endParaRPr lang="en-US" sz="1130" dirty="0"/>
          </a:p>
        </p:txBody>
      </p:sp>
      <p:sp>
        <p:nvSpPr>
          <p:cNvPr id="18" name="Shape 15"/>
          <p:cNvSpPr/>
          <p:nvPr/>
        </p:nvSpPr>
        <p:spPr>
          <a:xfrm>
            <a:off x="548640" y="379476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6"/>
          <p:cNvSpPr/>
          <p:nvPr/>
        </p:nvSpPr>
        <p:spPr>
          <a:xfrm>
            <a:off x="749808" y="3995928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b="1" dirty="0">
                <a:solidFill>
                  <a:srgbClr val="E30613"/>
                </a:solidFill>
              </a:rPr>
              <a:t>Договорные риски</a:t>
            </a:r>
            <a:endParaRPr lang="en-US" sz="1330" dirty="0"/>
          </a:p>
        </p:txBody>
      </p:sp>
      <p:sp>
        <p:nvSpPr>
          <p:cNvPr id="20" name="Text 17"/>
          <p:cNvSpPr/>
          <p:nvPr/>
        </p:nvSpPr>
        <p:spPr>
          <a:xfrm>
            <a:off x="749808" y="4389120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11827"/>
                </a:solidFill>
              </a:rPr>
              <a:t>Юрист</a:t>
            </a:r>
            <a:endParaRPr lang="en-US" sz="1130" dirty="0"/>
          </a:p>
        </p:txBody>
      </p:sp>
      <p:sp>
        <p:nvSpPr>
          <p:cNvPr id="21" name="Shape 18"/>
          <p:cNvSpPr/>
          <p:nvPr/>
        </p:nvSpPr>
        <p:spPr>
          <a:xfrm>
            <a:off x="4800600" y="379476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19"/>
          <p:cNvSpPr/>
          <p:nvPr/>
        </p:nvSpPr>
        <p:spPr>
          <a:xfrm>
            <a:off x="5001768" y="3995928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b="1" dirty="0">
                <a:solidFill>
                  <a:srgbClr val="E30613"/>
                </a:solidFill>
              </a:rPr>
              <a:t>Управление</a:t>
            </a:r>
            <a:endParaRPr lang="en-US" sz="1330" dirty="0"/>
          </a:p>
        </p:txBody>
      </p:sp>
      <p:sp>
        <p:nvSpPr>
          <p:cNvPr id="23" name="Text 20"/>
          <p:cNvSpPr/>
          <p:nvPr/>
        </p:nvSpPr>
        <p:spPr>
          <a:xfrm>
            <a:off x="5001768" y="4389120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11827"/>
                </a:solidFill>
              </a:rPr>
              <a:t>Руководитель проекта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111827"/>
                </a:solidFill>
              </a:rPr>
              <a:t>Администратор</a:t>
            </a:r>
            <a:endParaRPr lang="en-US" sz="1130" dirty="0"/>
          </a:p>
        </p:txBody>
      </p:sp>
      <p:sp>
        <p:nvSpPr>
          <p:cNvPr id="24" name="Shape 21"/>
          <p:cNvSpPr/>
          <p:nvPr/>
        </p:nvSpPr>
        <p:spPr>
          <a:xfrm>
            <a:off x="5623560" y="5257800"/>
            <a:ext cx="4114800" cy="585216"/>
          </a:xfrm>
          <a:prstGeom prst="roundRect">
            <a:avLst>
              <a:gd name="adj" fmla="val 12500"/>
            </a:avLst>
          </a:prstGeom>
          <a:solidFill>
            <a:srgbClr val="FFF7F7">
              <a:alpha val="98000"/>
            </a:srgbClr>
          </a:solidFill>
          <a:ln w="1016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2"/>
          <p:cNvSpPr/>
          <p:nvPr/>
        </p:nvSpPr>
        <p:spPr>
          <a:xfrm>
            <a:off x="5815584" y="54681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70" b="1" dirty="0">
                <a:solidFill>
                  <a:srgbClr val="E30613"/>
                </a:solidFill>
              </a:rPr>
              <a:t>Единая цифровая информационная модель объекта</a:t>
            </a:r>
            <a:endParaRPr lang="en-US" sz="1270" dirty="0"/>
          </a:p>
        </p:txBody>
      </p:sp>
      <p:sp>
        <p:nvSpPr>
          <p:cNvPr id="26" name="Shape 23"/>
          <p:cNvSpPr/>
          <p:nvPr/>
        </p:nvSpPr>
        <p:spPr>
          <a:xfrm>
            <a:off x="594360" y="5897880"/>
            <a:ext cx="4572000" cy="438912"/>
          </a:xfrm>
          <a:prstGeom prst="roundRect">
            <a:avLst>
              <a:gd name="adj" fmla="val 16667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Text 24"/>
          <p:cNvSpPr/>
          <p:nvPr/>
        </p:nvSpPr>
        <p:spPr>
          <a:xfrm>
            <a:off x="795528" y="6016752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4B5563"/>
                </a:solidFill>
              </a:rPr>
              <a:t>Расчётный модуль + опорная база + собственная база данных + 250+ объектов обучающего массива</a:t>
            </a:r>
            <a:endParaRPr lang="en-US" sz="107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minimal_corporate_abstract_background_sce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2926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900" dirty="0"/>
          </a:p>
        </p:txBody>
      </p:sp>
      <p:sp>
        <p:nvSpPr>
          <p:cNvPr id="4" name="Shape 1"/>
          <p:cNvSpPr/>
          <p:nvPr/>
        </p:nvSpPr>
        <p:spPr>
          <a:xfrm>
            <a:off x="804672" y="310896"/>
            <a:ext cx="0" cy="283464"/>
          </a:xfrm>
          <a:prstGeom prst="line">
            <a:avLst/>
          </a:prstGeom>
          <a:noFill/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2"/>
          <p:cNvSpPr/>
          <p:nvPr/>
        </p:nvSpPr>
        <p:spPr>
          <a:xfrm>
            <a:off x="932688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КРАСНЫХ ЛИНИЙ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1228832" y="63550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11827"/>
                </a:solidFill>
              </a:rPr>
              <a:t>10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38912" y="8686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Внедрение и коммерческие условия</a:t>
            </a:r>
            <a:endParaRPr lang="en-US" sz="3500" dirty="0"/>
          </a:p>
        </p:txBody>
      </p:sp>
      <p:sp>
        <p:nvSpPr>
          <p:cNvPr id="8" name="Shape 5"/>
          <p:cNvSpPr/>
          <p:nvPr/>
        </p:nvSpPr>
        <p:spPr>
          <a:xfrm>
            <a:off x="457200" y="1655064"/>
            <a:ext cx="2011680" cy="0"/>
          </a:xfrm>
          <a:prstGeom prst="line">
            <a:avLst/>
          </a:prstGeom>
          <a:noFill/>
          <a:ln w="2032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6"/>
          <p:cNvSpPr/>
          <p:nvPr/>
        </p:nvSpPr>
        <p:spPr>
          <a:xfrm>
            <a:off x="594360" y="2011680"/>
            <a:ext cx="2697480" cy="1143000"/>
          </a:xfrm>
          <a:prstGeom prst="roundRect">
            <a:avLst>
              <a:gd name="adj" fmla="val 6400"/>
            </a:avLst>
          </a:prstGeom>
          <a:solidFill>
            <a:srgbClr val="FFFFFF">
              <a:alpha val="96000"/>
            </a:srgbClr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7"/>
          <p:cNvSpPr/>
          <p:nvPr/>
        </p:nvSpPr>
        <p:spPr>
          <a:xfrm>
            <a:off x="777240" y="217627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E30613"/>
                </a:solidFill>
              </a:rPr>
              <a:t>22,5 млн ₽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77240" y="2715768"/>
            <a:ext cx="2377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стоимость проекта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с НДС 22%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566160" y="2011680"/>
            <a:ext cx="2697480" cy="1143000"/>
          </a:xfrm>
          <a:prstGeom prst="roundRect">
            <a:avLst>
              <a:gd name="adj" fmla="val 6400"/>
            </a:avLst>
          </a:prstGeom>
          <a:solidFill>
            <a:srgbClr val="FFFFFF">
              <a:alpha val="96000"/>
            </a:srgbClr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3749040" y="217627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E30613"/>
                </a:solidFill>
              </a:rPr>
              <a:t>4,5 месяца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3749040" y="2715768"/>
            <a:ext cx="2377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срок реализации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135 календарных дней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37960" y="2011680"/>
            <a:ext cx="2697480" cy="1143000"/>
          </a:xfrm>
          <a:prstGeom prst="roundRect">
            <a:avLst>
              <a:gd name="adj" fmla="val 6400"/>
            </a:avLst>
          </a:prstGeom>
          <a:solidFill>
            <a:srgbClr val="FFFFFF">
              <a:alpha val="96000"/>
            </a:srgbClr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3"/>
          <p:cNvSpPr/>
          <p:nvPr/>
        </p:nvSpPr>
        <p:spPr>
          <a:xfrm>
            <a:off x="6720840" y="217627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E30613"/>
                </a:solidFill>
              </a:rPr>
              <a:t>9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6720840" y="2715768"/>
            <a:ext cx="2377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ИИ-агентов службы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технического заказчика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94360" y="3520440"/>
            <a:ext cx="2697480" cy="1143000"/>
          </a:xfrm>
          <a:prstGeom prst="roundRect">
            <a:avLst>
              <a:gd name="adj" fmla="val 6400"/>
            </a:avLst>
          </a:prstGeom>
          <a:solidFill>
            <a:srgbClr val="FFFFFF">
              <a:alpha val="96000"/>
            </a:srgbClr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6"/>
          <p:cNvSpPr/>
          <p:nvPr/>
        </p:nvSpPr>
        <p:spPr>
          <a:xfrm>
            <a:off x="777240" y="368503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E30613"/>
                </a:solidFill>
              </a:rPr>
              <a:t>250+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777240" y="4224528"/>
            <a:ext cx="2377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объектов в обучающем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массиве 7КЛ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566160" y="3520440"/>
            <a:ext cx="2697480" cy="1143000"/>
          </a:xfrm>
          <a:prstGeom prst="roundRect">
            <a:avLst>
              <a:gd name="adj" fmla="val 6400"/>
            </a:avLst>
          </a:prstGeom>
          <a:solidFill>
            <a:srgbClr val="FFFFFF">
              <a:alpha val="96000"/>
            </a:srgbClr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19"/>
          <p:cNvSpPr/>
          <p:nvPr/>
        </p:nvSpPr>
        <p:spPr>
          <a:xfrm>
            <a:off x="3749040" y="368503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E30613"/>
                </a:solidFill>
              </a:rPr>
              <a:t>12 месяцев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3749040" y="4224528"/>
            <a:ext cx="2377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гарантийного сопровождения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без доплаты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537960" y="3520440"/>
            <a:ext cx="2697480" cy="1143000"/>
          </a:xfrm>
          <a:prstGeom prst="roundRect">
            <a:avLst>
              <a:gd name="adj" fmla="val 6400"/>
            </a:avLst>
          </a:prstGeom>
          <a:solidFill>
            <a:srgbClr val="FFFFFF">
              <a:alpha val="96000"/>
            </a:srgbClr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2"/>
          <p:cNvSpPr/>
          <p:nvPr/>
        </p:nvSpPr>
        <p:spPr>
          <a:xfrm>
            <a:off x="6720840" y="368503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E30613"/>
                </a:solidFill>
              </a:rPr>
              <a:t>0 ₽</a:t>
            </a:r>
            <a:endParaRPr lang="en-US" sz="2600" dirty="0"/>
          </a:p>
        </p:txBody>
      </p:sp>
      <p:sp>
        <p:nvSpPr>
          <p:cNvPr id="26" name="Text 23"/>
          <p:cNvSpPr/>
          <p:nvPr/>
        </p:nvSpPr>
        <p:spPr>
          <a:xfrm>
            <a:off x="6720840" y="4224528"/>
            <a:ext cx="2377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лицензионных и абонентских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платежей за использование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85800" y="5166360"/>
            <a:ext cx="8961120" cy="585216"/>
          </a:xfrm>
          <a:prstGeom prst="roundRect">
            <a:avLst>
              <a:gd name="adj" fmla="val 12500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5"/>
          <p:cNvSpPr/>
          <p:nvPr/>
        </p:nvSpPr>
        <p:spPr>
          <a:xfrm>
            <a:off x="896112" y="5367528"/>
            <a:ext cx="8549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dirty="0">
                <a:solidFill>
                  <a:srgbClr val="4B5563"/>
                </a:solidFill>
              </a:rPr>
              <a:t>Размещение в инфраструктуре заказчика • Интеграционный контур: StorHaus + API + структурированные файлы • Приёмка минимум на 2 реальных объектах</a:t>
            </a:r>
            <a:endParaRPr lang="en-US" sz="1160" dirty="0"/>
          </a:p>
        </p:txBody>
      </p:sp>
      <p:sp>
        <p:nvSpPr>
          <p:cNvPr id="29" name="Shape 26"/>
          <p:cNvSpPr/>
          <p:nvPr/>
        </p:nvSpPr>
        <p:spPr>
          <a:xfrm>
            <a:off x="685800" y="5989320"/>
            <a:ext cx="201168" cy="0"/>
          </a:xfrm>
          <a:prstGeom prst="line">
            <a:avLst/>
          </a:prstGeom>
          <a:noFill/>
          <a:ln w="19050">
            <a:solidFill>
              <a:srgbClr val="E30613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30" name="Text 27"/>
          <p:cNvSpPr/>
          <p:nvPr/>
        </p:nvSpPr>
        <p:spPr>
          <a:xfrm>
            <a:off x="1024128" y="58795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111827"/>
                </a:solidFill>
              </a:rPr>
              <a:t>Следующий шаг — подтвердить эффект цифровой службы технического заказчика на данных АПРИ</a:t>
            </a:r>
            <a:endParaRPr lang="en-US" sz="1520" dirty="0"/>
          </a:p>
        </p:txBody>
      </p:sp>
      <p:sp>
        <p:nvSpPr>
          <p:cNvPr id="31" name="Text 28"/>
          <p:cNvSpPr/>
          <p:nvPr/>
        </p:nvSpPr>
        <p:spPr>
          <a:xfrm>
            <a:off x="1024128" y="624535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контрольные объекты → расчёт → сравнение с фактом → фиксация времени, трудозатрат, отклонений и качества → промышленная эксплуатация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811</Words>
  <Application>Microsoft Office PowerPoint</Application>
  <PresentationFormat>Широкоэкранный</PresentationFormat>
  <Paragraphs>203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ООО «7 Красных Линий»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СтройИнтеллект — ценностное предложение</dc:title>
  <dc:subject>СтройИнтеллект — цифровая служба технического заказчика</dc:subject>
  <dc:creator>7 Красных Линий / OpenAI</dc:creator>
  <cp:lastModifiedBy>v320</cp:lastModifiedBy>
  <cp:revision>2</cp:revision>
  <dcterms:created xsi:type="dcterms:W3CDTF">2026-08-11T16:54:12Z</dcterms:created>
  <dcterms:modified xsi:type="dcterms:W3CDTF">2026-08-11T17:01:43Z</dcterms:modified>
</cp:coreProperties>
</file>